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6.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9.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寄与</c:v>
                </c:pt>
              </c:strCache>
            </c:strRef>
          </c:tx>
          <c:spPr>
            <a:solidFill>
              <a:schemeClr val="accent1"/>
            </a:solidFill>
            <a:ln w="9525" cap="flat">
              <a:solidFill>
                <a:srgbClr val="F9F9F9"/>
              </a:solidFill>
              <a:prstDash val="solid"/>
              <a:round/>
            </a:ln>
            <a:effectLst/>
          </c:spPr>
          <c:dPt>
            <c:idx val="0"/>
            <c:bubble3D val="0"/>
            <c:spPr>
              <a:solidFill>
                <a:srgbClr val="E76F51"/>
              </a:solidFill>
              <a:ln w="19050" cap="flat">
                <a:solidFill>
                  <a:srgbClr val="22223B"/>
                </a:solidFill>
                <a:prstDash val="solid"/>
                <a:round/>
              </a:ln>
              <a:effectLst/>
            </c:spPr>
          </c:dPt>
          <c:dPt>
            <c:idx val="1"/>
            <c:bubble3D val="0"/>
            <c:spPr>
              <a:solidFill>
                <a:srgbClr val="2A9D8F"/>
              </a:solidFill>
              <a:ln w="19050" cap="flat">
                <a:solidFill>
                  <a:srgbClr val="22223B"/>
                </a:solidFill>
                <a:prstDash val="solid"/>
                <a:round/>
              </a:ln>
              <a:effectLst/>
            </c:spPr>
          </c:dPt>
          <c:dPt>
            <c:idx val="2"/>
            <c:bubble3D val="0"/>
            <c:spPr>
              <a:solidFill>
                <a:srgbClr val="8D6A9F"/>
              </a:solidFill>
              <a:ln w="19050" cap="flat">
                <a:solidFill>
                  <a:srgbClr val="22223B"/>
                </a:solidFill>
                <a:prstDash val="solid"/>
                <a:round/>
              </a:ln>
              <a:effectLst/>
            </c:spPr>
          </c:dPt>
          <c:dLbls>
            <c:dLbl>
              <c:idx val="0"/>
              <c:numFmt formatCode="0%" sourceLinked="0"/>
              <c:spPr/>
              <c:txPr>
                <a:bodyPr/>
                <a:lstStyle/>
                <a:p>
                  <a:pPr>
                    <a:defRPr sz="1400" b="1" i="0" u="none" strike="noStrike">
                      <a:solidFill>
                        <a:srgbClr val="FFFFFF"/>
                      </a:solidFill>
                      <a:latin typeface="BIZ UDGothic"/>
                    </a:defRPr>
                  </a:pPr>
                </a:p>
              </c:txPr>
              <c:showLegendKey val="0"/>
              <c:showVal val="0"/>
              <c:showCatName val="0"/>
              <c:showSerName val="0"/>
              <c:showPercent val="1"/>
              <c:showBubbleSize val="0"/>
            </c:dLbl>
            <c:dLbl>
              <c:idx val="1"/>
              <c:numFmt formatCode="0%" sourceLinked="0"/>
              <c:spPr/>
              <c:txPr>
                <a:bodyPr/>
                <a:lstStyle/>
                <a:p>
                  <a:pPr>
                    <a:defRPr sz="1400" b="1" i="0" u="none" strike="noStrike">
                      <a:solidFill>
                        <a:srgbClr val="FFFFFF"/>
                      </a:solidFill>
                      <a:latin typeface="BIZ UDGothic"/>
                    </a:defRPr>
                  </a:pPr>
                </a:p>
              </c:txPr>
              <c:showLegendKey val="0"/>
              <c:showVal val="0"/>
              <c:showCatName val="0"/>
              <c:showSerName val="0"/>
              <c:showPercent val="1"/>
              <c:showBubbleSize val="0"/>
            </c:dLbl>
            <c:dLbl>
              <c:idx val="2"/>
              <c:numFmt formatCode="0%" sourceLinked="0"/>
              <c:spPr/>
              <c:txPr>
                <a:bodyPr/>
                <a:lstStyle/>
                <a:p>
                  <a:pPr>
                    <a:defRPr sz="1400" b="1" i="0" u="none" strike="noStrike">
                      <a:solidFill>
                        <a:srgbClr val="FFFFFF"/>
                      </a:solidFill>
                      <a:latin typeface="BIZ UDGothic"/>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X1 単独の効果</c:v>
                </c:pt>
                <c:pt idx="1">
                  <c:v>X2 単独の効果</c:v>
                </c:pt>
                <c:pt idx="2">
                  <c:v>X1×X3 の交互作用</c:v>
                </c:pt>
              </c:strCache>
            </c:strRef>
          </c:cat>
          <c:val>
            <c:numRef>
              <c:f>Sheet1!$B$2:$B$4</c:f>
              <c:numCache>
                <c:ptCount val="3"/>
                <c:pt idx="0">
                  <c:v>31.4</c:v>
                </c:pt>
                <c:pt idx="1">
                  <c:v>44.2</c:v>
                </c:pt>
                <c:pt idx="2">
                  <c:v>24.4</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X1 単独</c:v>
                </c:pt>
              </c:strCache>
            </c:strRef>
          </c:tx>
          <c:spPr>
            <a:solidFill>
              <a:srgbClr val="E76F51"/>
            </a:solidFill>
            <a:effectLst/>
          </c:spPr>
          <c:invertIfNegative val="0"/>
          <c:dLbls>
            <c:numFmt formatCode="0.0&quot;%&quot;" sourceLinked="0"/>
            <c:txPr>
              <a:bodyPr/>
              <a:lstStyle/>
              <a:p>
                <a:pPr>
                  <a:defRPr b="1" i="0" strike="noStrike" sz="1400" u="none">
                    <a:solidFill>
                      <a:srgbClr val="FFFFFF"/>
                    </a:solidFill>
                    <a:latin typeface="BIZ UDGothic"/>
                  </a:defRPr>
                </a:pPr>
              </a:p>
            </c:txPr>
            <c:dLblPos val="ctr"/>
            <c:showLegendKey val="0"/>
            <c:showVal val="1"/>
            <c:showCatName val="0"/>
            <c:showSerName val="0"/>
            <c:showPercent val="0"/>
            <c:showBubbleSize val="0"/>
            <c:showLeaderLines val="0"/>
          </c:dLbls>
          <c:cat>
            <c:multiLvlStrRef>
              <c:f>Sheet1!$A$2:$A$2</c:f>
              <c:multiLvlStrCache>
                <c:ptCount val="1"/>
                <c:lvl>
                  <c:pt idx="0">
                    <c:v/>
                  </c:pt>
                </c:lvl>
              </c:multiLvlStrCache>
            </c:multiLvlStrRef>
          </c:cat>
          <c:val>
            <c:numRef>
              <c:f>Sheet1!$B$2:$B$2</c:f>
              <c:numCache>
                <c:formatCode>General</c:formatCode>
                <c:ptCount val="1"/>
                <c:pt idx="0">
                  <c:v>31.4</c:v>
                </c:pt>
              </c:numCache>
            </c:numRef>
          </c:val>
        </c:ser>
        <c:ser>
          <c:idx val="1"/>
          <c:order val="1"/>
          <c:tx>
            <c:strRef>
              <c:f>Sheet1!$C$1</c:f>
              <c:strCache>
                <c:ptCount val="1"/>
                <c:pt idx="0">
                  <c:v>X2 単独</c:v>
                </c:pt>
              </c:strCache>
            </c:strRef>
          </c:tx>
          <c:spPr>
            <a:solidFill>
              <a:srgbClr val="2A9D8F"/>
            </a:solidFill>
            <a:effectLst/>
          </c:spPr>
          <c:invertIfNegative val="0"/>
          <c:dLbls>
            <c:numFmt formatCode="0.0&quot;%&quot;" sourceLinked="0"/>
            <c:txPr>
              <a:bodyPr/>
              <a:lstStyle/>
              <a:p>
                <a:pPr>
                  <a:defRPr b="1" i="0" strike="noStrike" sz="1400" u="none">
                    <a:solidFill>
                      <a:srgbClr val="FFFFFF"/>
                    </a:solidFill>
                    <a:latin typeface="BIZ UDGothic"/>
                  </a:defRPr>
                </a:pPr>
              </a:p>
            </c:txPr>
            <c:dLblPos val="ctr"/>
            <c:showLegendKey val="0"/>
            <c:showVal val="1"/>
            <c:showCatName val="0"/>
            <c:showSerName val="0"/>
            <c:showPercent val="0"/>
            <c:showBubbleSize val="0"/>
            <c:showLeaderLines val="0"/>
          </c:dLbls>
          <c:cat>
            <c:multiLvlStrRef>
              <c:f>Sheet1!$A$2:$A$2</c:f>
              <c:multiLvlStrCache>
                <c:ptCount val="1"/>
                <c:lvl>
                  <c:pt idx="0">
                    <c:v/>
                  </c:pt>
                </c:lvl>
              </c:multiLvlStrCache>
            </c:multiLvlStrRef>
          </c:cat>
          <c:val>
            <c:numRef>
              <c:f>Sheet1!$C$2:$C$2</c:f>
              <c:numCache>
                <c:formatCode>General</c:formatCode>
                <c:ptCount val="1"/>
                <c:pt idx="0">
                  <c:v>44.2</c:v>
                </c:pt>
              </c:numCache>
            </c:numRef>
          </c:val>
        </c:ser>
        <c:ser>
          <c:idx val="2"/>
          <c:order val="2"/>
          <c:tx>
            <c:strRef>
              <c:f>Sheet1!$D$1</c:f>
              <c:strCache>
                <c:ptCount val="1"/>
                <c:pt idx="0">
                  <c:v>X1×X3 交互作用</c:v>
                </c:pt>
              </c:strCache>
            </c:strRef>
          </c:tx>
          <c:spPr>
            <a:solidFill>
              <a:srgbClr val="8D6A9F"/>
            </a:solidFill>
            <a:effectLst/>
          </c:spPr>
          <c:invertIfNegative val="0"/>
          <c:dLbls>
            <c:numFmt formatCode="0.0&quot;%&quot;" sourceLinked="0"/>
            <c:txPr>
              <a:bodyPr/>
              <a:lstStyle/>
              <a:p>
                <a:pPr>
                  <a:defRPr b="1" i="0" strike="noStrike" sz="1400" u="none">
                    <a:solidFill>
                      <a:srgbClr val="FFFFFF"/>
                    </a:solidFill>
                    <a:latin typeface="BIZ UDGothic"/>
                  </a:defRPr>
                </a:pPr>
              </a:p>
            </c:txPr>
            <c:dLblPos val="ctr"/>
            <c:showLegendKey val="0"/>
            <c:showVal val="1"/>
            <c:showCatName val="0"/>
            <c:showSerName val="0"/>
            <c:showPercent val="0"/>
            <c:showBubbleSize val="0"/>
            <c:showLeaderLines val="0"/>
          </c:dLbls>
          <c:cat>
            <c:multiLvlStrRef>
              <c:f>Sheet1!$A$2:$A$2</c:f>
              <c:multiLvlStrCache>
                <c:ptCount val="1"/>
                <c:lvl>
                  <c:pt idx="0">
                    <c:v/>
                  </c:pt>
                </c:lvl>
              </c:multiLvlStrCache>
            </c:multiLvlStrRef>
          </c:cat>
          <c:val>
            <c:numRef>
              <c:f>Sheet1!$D$2:$D$2</c:f>
              <c:numCache>
                <c:formatCode>General</c:formatCode>
                <c:ptCount val="1"/>
                <c:pt idx="0">
                  <c:v>24.4</c:v>
                </c:pt>
              </c:numCache>
            </c:numRef>
          </c:val>
        </c:ser>
        <c:dLbls>
          <c:numFmt formatCode="0.0&quot;%&quot;" sourceLinked="0"/>
          <c:txPr>
            <a:bodyPr/>
            <a:lstStyle/>
            <a:p>
              <a:pPr>
                <a:defRPr b="1" i="0" strike="noStrike" sz="1400" u="none">
                  <a:solidFill>
                    <a:srgbClr val="FFFFFF"/>
                  </a:solidFill>
                  <a:latin typeface="BIZ UDGothic"/>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A4E69"/>
              </a:solidFill>
              <a:latin typeface="BIZ UDGothic"/>
              <a:cs typeface="BIZ UDGothic"/>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サンプル</c:v>
                </c:pt>
              </c:strCache>
            </c:strRef>
          </c:tx>
          <c:spPr>
            <a:solidFill>
              <a:srgbClr val="F2B5A4"/>
            </a:solidFill>
            <a:ln>
              <a:noFill/>
            </a:ln>
            <a:effectLst/>
          </c:spPr>
          <c:marker>
            <c:symbol val="circle"/>
            <c:size val="5"/>
            <c:spPr>
              <a:solidFill>
                <a:srgbClr val="F2B5A4"/>
              </a:solidFill>
              <a:ln w="9525" cap="flat">
                <a:solidFill>
                  <a:srgbClr val="F2B5A4"/>
                </a:solidFill>
                <a:prstDash val="solid"/>
                <a:round/>
              </a:ln>
              <a:effectLst/>
            </c:spPr>
          </c:marker>
          <c:xVal>
            <c:numRef>
              <c:f>Sheet1!$A$2:$A$301</c:f>
              <c:numCache>
                <c:formatCode>General</c:formatCode>
                <c:ptCount val="300"/>
                <c:pt idx="0">
                  <c:v>-2.647</c:v>
                </c:pt>
                <c:pt idx="1">
                  <c:v>0.822</c:v>
                </c:pt>
                <c:pt idx="2">
                  <c:v>1.189</c:v>
                </c:pt>
                <c:pt idx="3">
                  <c:v>-3.035</c:v>
                </c:pt>
                <c:pt idx="4">
                  <c:v>2.754</c:v>
                </c:pt>
                <c:pt idx="5">
                  <c:v>-0.275</c:v>
                </c:pt>
                <c:pt idx="6">
                  <c:v>-0.363</c:v>
                </c:pt>
                <c:pt idx="7">
                  <c:v>-1.831</c:v>
                </c:pt>
                <c:pt idx="8">
                  <c:v>0.436</c:v>
                </c:pt>
                <c:pt idx="9">
                  <c:v>2.66</c:v>
                </c:pt>
                <c:pt idx="10">
                  <c:v>3.001</c:v>
                </c:pt>
                <c:pt idx="11">
                  <c:v>0.549</c:v>
                </c:pt>
                <c:pt idx="12">
                  <c:v>-0.932</c:v>
                </c:pt>
                <c:pt idx="13">
                  <c:v>0.103</c:v>
                </c:pt>
                <c:pt idx="14">
                  <c:v>2.14</c:v>
                </c:pt>
                <c:pt idx="15">
                  <c:v>-1.897</c:v>
                </c:pt>
                <c:pt idx="16">
                  <c:v>2.725</c:v>
                </c:pt>
                <c:pt idx="17">
                  <c:v>-0.041</c:v>
                </c:pt>
                <c:pt idx="18">
                  <c:v>-1.518</c:v>
                </c:pt>
                <c:pt idx="19">
                  <c:v>-1.629</c:v>
                </c:pt>
                <c:pt idx="20">
                  <c:v>-2.385</c:v>
                </c:pt>
                <c:pt idx="21">
                  <c:v>2.636</c:v>
                </c:pt>
                <c:pt idx="22">
                  <c:v>-2.984</c:v>
                </c:pt>
                <c:pt idx="23">
                  <c:v>0.782</c:v>
                </c:pt>
                <c:pt idx="24">
                  <c:v>-0.062</c:v>
                </c:pt>
                <c:pt idx="25">
                  <c:v>-2.41</c:v>
                </c:pt>
                <c:pt idx="26">
                  <c:v>-0.201</c:v>
                </c:pt>
                <c:pt idx="27">
                  <c:v>-2.861</c:v>
                </c:pt>
                <c:pt idx="28">
                  <c:v>-2.376</c:v>
                </c:pt>
                <c:pt idx="29">
                  <c:v>-0.148</c:v>
                </c:pt>
                <c:pt idx="30">
                  <c:v>1.954</c:v>
                </c:pt>
                <c:pt idx="31">
                  <c:v>-1.322</c:v>
                </c:pt>
                <c:pt idx="32">
                  <c:v>1.053</c:v>
                </c:pt>
                <c:pt idx="33">
                  <c:v>-1.117</c:v>
                </c:pt>
                <c:pt idx="34">
                  <c:v>-1.555</c:v>
                </c:pt>
                <c:pt idx="35">
                  <c:v>1.89</c:v>
                </c:pt>
                <c:pt idx="36">
                  <c:v>0.02</c:v>
                </c:pt>
                <c:pt idx="37">
                  <c:v>2.975</c:v>
                </c:pt>
                <c:pt idx="38">
                  <c:v>-1.903</c:v>
                </c:pt>
                <c:pt idx="39">
                  <c:v>-2.312</c:v>
                </c:pt>
                <c:pt idx="40">
                  <c:v>0.195</c:v>
                </c:pt>
                <c:pt idx="41">
                  <c:v>-0.497</c:v>
                </c:pt>
                <c:pt idx="42">
                  <c:v>-0.064</c:v>
                </c:pt>
                <c:pt idx="43">
                  <c:v>2.352</c:v>
                </c:pt>
                <c:pt idx="44">
                  <c:v>-0.122</c:v>
                </c:pt>
                <c:pt idx="45">
                  <c:v>0.852</c:v>
                </c:pt>
                <c:pt idx="46">
                  <c:v>2.228</c:v>
                </c:pt>
                <c:pt idx="47">
                  <c:v>-1.502</c:v>
                </c:pt>
                <c:pt idx="48">
                  <c:v>0.382</c:v>
                </c:pt>
                <c:pt idx="49">
                  <c:v>2.547</c:v>
                </c:pt>
                <c:pt idx="50">
                  <c:v>1.416</c:v>
                </c:pt>
                <c:pt idx="51">
                  <c:v>-2.841</c:v>
                </c:pt>
                <c:pt idx="52">
                  <c:v>0.948</c:v>
                </c:pt>
                <c:pt idx="53">
                  <c:v>-1.367</c:v>
                </c:pt>
                <c:pt idx="54">
                  <c:v>0.907</c:v>
                </c:pt>
                <c:pt idx="55">
                  <c:v>2.669</c:v>
                </c:pt>
                <c:pt idx="56">
                  <c:v>-2.682</c:v>
                </c:pt>
                <c:pt idx="57">
                  <c:v>-2.767</c:v>
                </c:pt>
                <c:pt idx="58">
                  <c:v>-1.369</c:v>
                </c:pt>
                <c:pt idx="59">
                  <c:v>1.245</c:v>
                </c:pt>
                <c:pt idx="60">
                  <c:v>0.736</c:v>
                </c:pt>
                <c:pt idx="61">
                  <c:v>-2.756</c:v>
                </c:pt>
                <c:pt idx="62">
                  <c:v>-0.1</c:v>
                </c:pt>
                <c:pt idx="63">
                  <c:v>2.318</c:v>
                </c:pt>
                <c:pt idx="64">
                  <c:v>-0.104</c:v>
                </c:pt>
                <c:pt idx="65">
                  <c:v>2.588</c:v>
                </c:pt>
                <c:pt idx="66">
                  <c:v>1.917</c:v>
                </c:pt>
                <c:pt idx="67">
                  <c:v>2.27</c:v>
                </c:pt>
                <c:pt idx="68">
                  <c:v>-1.515</c:v>
                </c:pt>
                <c:pt idx="69">
                  <c:v>2.631</c:v>
                </c:pt>
                <c:pt idx="70">
                  <c:v>-3.011</c:v>
                </c:pt>
                <c:pt idx="71">
                  <c:v>0.441</c:v>
                </c:pt>
                <c:pt idx="72">
                  <c:v>0.078</c:v>
                </c:pt>
                <c:pt idx="73">
                  <c:v>-2.575</c:v>
                </c:pt>
                <c:pt idx="74">
                  <c:v>1.507</c:v>
                </c:pt>
                <c:pt idx="75">
                  <c:v>-0.707</c:v>
                </c:pt>
                <c:pt idx="76">
                  <c:v>-1.514</c:v>
                </c:pt>
                <c:pt idx="77">
                  <c:v>1.269</c:v>
                </c:pt>
                <c:pt idx="78">
                  <c:v>0.902</c:v>
                </c:pt>
                <c:pt idx="79">
                  <c:v>-3.011</c:v>
                </c:pt>
                <c:pt idx="80">
                  <c:v>-0.731</c:v>
                </c:pt>
                <c:pt idx="81">
                  <c:v>-0.013</c:v>
                </c:pt>
                <c:pt idx="82">
                  <c:v>-2.345</c:v>
                </c:pt>
                <c:pt idx="83">
                  <c:v>-3.01</c:v>
                </c:pt>
                <c:pt idx="84">
                  <c:v>2.219</c:v>
                </c:pt>
                <c:pt idx="85">
                  <c:v>2.421</c:v>
                </c:pt>
                <c:pt idx="86">
                  <c:v>-2.601</c:v>
                </c:pt>
                <c:pt idx="87">
                  <c:v>-0.302</c:v>
                </c:pt>
                <c:pt idx="88">
                  <c:v>-1.511</c:v>
                </c:pt>
                <c:pt idx="89">
                  <c:v>-1.976</c:v>
                </c:pt>
                <c:pt idx="90">
                  <c:v>2.953</c:v>
                </c:pt>
                <c:pt idx="91">
                  <c:v>-2.084</c:v>
                </c:pt>
                <c:pt idx="92">
                  <c:v>1.153</c:v>
                </c:pt>
                <c:pt idx="93">
                  <c:v>-1.264</c:v>
                </c:pt>
                <c:pt idx="94">
                  <c:v>2.821</c:v>
                </c:pt>
                <c:pt idx="95">
                  <c:v>0.764</c:v>
                </c:pt>
                <c:pt idx="96">
                  <c:v>2.326</c:v>
                </c:pt>
                <c:pt idx="97">
                  <c:v>1.085</c:v>
                </c:pt>
                <c:pt idx="98">
                  <c:v>0.347</c:v>
                </c:pt>
                <c:pt idx="99">
                  <c:v>0.969</c:v>
                </c:pt>
                <c:pt idx="100">
                  <c:v>1.656</c:v>
                </c:pt>
                <c:pt idx="101">
                  <c:v>-2.654</c:v>
                </c:pt>
                <c:pt idx="102">
                  <c:v>-1.193</c:v>
                </c:pt>
                <c:pt idx="103">
                  <c:v>-0.903</c:v>
                </c:pt>
                <c:pt idx="104">
                  <c:v>0.997</c:v>
                </c:pt>
                <c:pt idx="105">
                  <c:v>-1.456</c:v>
                </c:pt>
                <c:pt idx="106">
                  <c:v>-1.142</c:v>
                </c:pt>
                <c:pt idx="107">
                  <c:v>-2.742</c:v>
                </c:pt>
                <c:pt idx="108">
                  <c:v>0.413</c:v>
                </c:pt>
                <c:pt idx="109">
                  <c:v>0.607</c:v>
                </c:pt>
                <c:pt idx="110">
                  <c:v>-2.245</c:v>
                </c:pt>
                <c:pt idx="111">
                  <c:v>-1.573</c:v>
                </c:pt>
                <c:pt idx="112">
                  <c:v>-1.146</c:v>
                </c:pt>
                <c:pt idx="113">
                  <c:v>2.751</c:v>
                </c:pt>
                <c:pt idx="114">
                  <c:v>1.832</c:v>
                </c:pt>
                <c:pt idx="115">
                  <c:v>2.357</c:v>
                </c:pt>
                <c:pt idx="116">
                  <c:v>1.216</c:v>
                </c:pt>
                <c:pt idx="117">
                  <c:v>1.181</c:v>
                </c:pt>
                <c:pt idx="118">
                  <c:v>-1.827</c:v>
                </c:pt>
                <c:pt idx="119">
                  <c:v>1.178</c:v>
                </c:pt>
                <c:pt idx="120">
                  <c:v>1.321</c:v>
                </c:pt>
                <c:pt idx="121">
                  <c:v>-1.342</c:v>
                </c:pt>
                <c:pt idx="122">
                  <c:v>-2.099</c:v>
                </c:pt>
                <c:pt idx="123">
                  <c:v>3.084</c:v>
                </c:pt>
                <c:pt idx="124">
                  <c:v>1.636</c:v>
                </c:pt>
                <c:pt idx="125">
                  <c:v>2.556</c:v>
                </c:pt>
                <c:pt idx="126">
                  <c:v>-2.794</c:v>
                </c:pt>
                <c:pt idx="127">
                  <c:v>1.246</c:v>
                </c:pt>
                <c:pt idx="128">
                  <c:v>-0.691</c:v>
                </c:pt>
                <c:pt idx="129">
                  <c:v>2.476</c:v>
                </c:pt>
                <c:pt idx="130">
                  <c:v>1.008</c:v>
                </c:pt>
                <c:pt idx="131">
                  <c:v>-2.097</c:v>
                </c:pt>
                <c:pt idx="132">
                  <c:v>1.34</c:v>
                </c:pt>
                <c:pt idx="133">
                  <c:v>2.011</c:v>
                </c:pt>
                <c:pt idx="134">
                  <c:v>1.574</c:v>
                </c:pt>
                <c:pt idx="135">
                  <c:v>-1.405</c:v>
                </c:pt>
                <c:pt idx="136">
                  <c:v>-1.652</c:v>
                </c:pt>
                <c:pt idx="137">
                  <c:v>-0.274</c:v>
                </c:pt>
                <c:pt idx="138">
                  <c:v>1.054</c:v>
                </c:pt>
                <c:pt idx="139">
                  <c:v>-1.628</c:v>
                </c:pt>
                <c:pt idx="140">
                  <c:v>-2.887</c:v>
                </c:pt>
                <c:pt idx="141">
                  <c:v>2.598</c:v>
                </c:pt>
                <c:pt idx="142">
                  <c:v>1.859</c:v>
                </c:pt>
                <c:pt idx="143">
                  <c:v>0.749</c:v>
                </c:pt>
                <c:pt idx="144">
                  <c:v>0.608</c:v>
                </c:pt>
                <c:pt idx="145">
                  <c:v>0.312</c:v>
                </c:pt>
                <c:pt idx="146">
                  <c:v>0.281</c:v>
                </c:pt>
                <c:pt idx="147">
                  <c:v>2.878</c:v>
                </c:pt>
                <c:pt idx="148">
                  <c:v>-2.743</c:v>
                </c:pt>
                <c:pt idx="149">
                  <c:v>0.659</c:v>
                </c:pt>
                <c:pt idx="150">
                  <c:v>-1.091</c:v>
                </c:pt>
                <c:pt idx="151">
                  <c:v>2.526</c:v>
                </c:pt>
                <c:pt idx="152">
                  <c:v>-0.838</c:v>
                </c:pt>
                <c:pt idx="153">
                  <c:v>2.937</c:v>
                </c:pt>
                <c:pt idx="154">
                  <c:v>1.351</c:v>
                </c:pt>
                <c:pt idx="155">
                  <c:v>-1.997</c:v>
                </c:pt>
                <c:pt idx="156">
                  <c:v>-0.087</c:v>
                </c:pt>
                <c:pt idx="157">
                  <c:v>1.778</c:v>
                </c:pt>
                <c:pt idx="158">
                  <c:v>-1.559</c:v>
                </c:pt>
                <c:pt idx="159">
                  <c:v>-1.088</c:v>
                </c:pt>
                <c:pt idx="160">
                  <c:v>-2.043</c:v>
                </c:pt>
                <c:pt idx="161">
                  <c:v>-0.556</c:v>
                </c:pt>
                <c:pt idx="162">
                  <c:v>1.434</c:v>
                </c:pt>
                <c:pt idx="163">
                  <c:v>1.247</c:v>
                </c:pt>
                <c:pt idx="164">
                  <c:v>0.473</c:v>
                </c:pt>
                <c:pt idx="165">
                  <c:v>1.395</c:v>
                </c:pt>
                <c:pt idx="166">
                  <c:v>-0.288</c:v>
                </c:pt>
                <c:pt idx="167">
                  <c:v>-1.991</c:v>
                </c:pt>
                <c:pt idx="168">
                  <c:v>0.562</c:v>
                </c:pt>
                <c:pt idx="169">
                  <c:v>2.408</c:v>
                </c:pt>
                <c:pt idx="170">
                  <c:v>-0.635</c:v>
                </c:pt>
                <c:pt idx="171">
                  <c:v>0.641</c:v>
                </c:pt>
                <c:pt idx="172">
                  <c:v>-2.778</c:v>
                </c:pt>
                <c:pt idx="173">
                  <c:v>-2.706</c:v>
                </c:pt>
                <c:pt idx="174">
                  <c:v>1.944</c:v>
                </c:pt>
                <c:pt idx="175">
                  <c:v>2.911</c:v>
                </c:pt>
                <c:pt idx="176">
                  <c:v>-0.39</c:v>
                </c:pt>
                <c:pt idx="177">
                  <c:v>-2.414</c:v>
                </c:pt>
                <c:pt idx="178">
                  <c:v>-1.687</c:v>
                </c:pt>
                <c:pt idx="179">
                  <c:v>0.365</c:v>
                </c:pt>
                <c:pt idx="180">
                  <c:v>-1.067</c:v>
                </c:pt>
                <c:pt idx="181">
                  <c:v>-1.997</c:v>
                </c:pt>
                <c:pt idx="182">
                  <c:v>-0.463</c:v>
                </c:pt>
                <c:pt idx="183">
                  <c:v>-1.113</c:v>
                </c:pt>
                <c:pt idx="184">
                  <c:v>-0.195</c:v>
                </c:pt>
                <c:pt idx="185">
                  <c:v>1.174</c:v>
                </c:pt>
                <c:pt idx="186">
                  <c:v>-2.82</c:v>
                </c:pt>
                <c:pt idx="187">
                  <c:v>-1.29</c:v>
                </c:pt>
                <c:pt idx="188">
                  <c:v>0.038</c:v>
                </c:pt>
                <c:pt idx="189">
                  <c:v>1.736</c:v>
                </c:pt>
                <c:pt idx="190">
                  <c:v>0.568</c:v>
                </c:pt>
                <c:pt idx="191">
                  <c:v>0.547</c:v>
                </c:pt>
                <c:pt idx="192">
                  <c:v>-1.238</c:v>
                </c:pt>
                <c:pt idx="193">
                  <c:v>1.206</c:v>
                </c:pt>
                <c:pt idx="194">
                  <c:v>0.301</c:v>
                </c:pt>
                <c:pt idx="195">
                  <c:v>-0.453</c:v>
                </c:pt>
                <c:pt idx="196">
                  <c:v>1.651</c:v>
                </c:pt>
                <c:pt idx="197">
                  <c:v>0.506</c:v>
                </c:pt>
                <c:pt idx="198">
                  <c:v>-1.165</c:v>
                </c:pt>
                <c:pt idx="199">
                  <c:v>1.507</c:v>
                </c:pt>
                <c:pt idx="200">
                  <c:v>-2.605</c:v>
                </c:pt>
                <c:pt idx="201">
                  <c:v>2.623</c:v>
                </c:pt>
                <c:pt idx="202">
                  <c:v>1.887</c:v>
                </c:pt>
                <c:pt idx="203">
                  <c:v>-2.381</c:v>
                </c:pt>
                <c:pt idx="204">
                  <c:v>-2.472</c:v>
                </c:pt>
                <c:pt idx="205">
                  <c:v>-0.893</c:v>
                </c:pt>
                <c:pt idx="206">
                  <c:v>0.539</c:v>
                </c:pt>
                <c:pt idx="207">
                  <c:v>3.139</c:v>
                </c:pt>
                <c:pt idx="208">
                  <c:v>2.539</c:v>
                </c:pt>
                <c:pt idx="209">
                  <c:v>1.519</c:v>
                </c:pt>
                <c:pt idx="210">
                  <c:v>-0.457</c:v>
                </c:pt>
                <c:pt idx="211">
                  <c:v>1.145</c:v>
                </c:pt>
                <c:pt idx="212">
                  <c:v>2.844</c:v>
                </c:pt>
                <c:pt idx="213">
                  <c:v>0.603</c:v>
                </c:pt>
                <c:pt idx="214">
                  <c:v>0.095</c:v>
                </c:pt>
                <c:pt idx="215">
                  <c:v>-2.235</c:v>
                </c:pt>
                <c:pt idx="216">
                  <c:v>1.881</c:v>
                </c:pt>
                <c:pt idx="217">
                  <c:v>1.748</c:v>
                </c:pt>
                <c:pt idx="218">
                  <c:v>1.282</c:v>
                </c:pt>
                <c:pt idx="219">
                  <c:v>0.946</c:v>
                </c:pt>
                <c:pt idx="220">
                  <c:v>0.013</c:v>
                </c:pt>
                <c:pt idx="221">
                  <c:v>-0.152</c:v>
                </c:pt>
                <c:pt idx="222">
                  <c:v>0.869</c:v>
                </c:pt>
                <c:pt idx="223">
                  <c:v>0.035</c:v>
                </c:pt>
                <c:pt idx="224">
                  <c:v>-1.062</c:v>
                </c:pt>
                <c:pt idx="225">
                  <c:v>1.354</c:v>
                </c:pt>
                <c:pt idx="226">
                  <c:v>3.007</c:v>
                </c:pt>
                <c:pt idx="227">
                  <c:v>0.088</c:v>
                </c:pt>
                <c:pt idx="228">
                  <c:v>0.188</c:v>
                </c:pt>
                <c:pt idx="229">
                  <c:v>0.318</c:v>
                </c:pt>
                <c:pt idx="230">
                  <c:v>-1.365</c:v>
                </c:pt>
                <c:pt idx="231">
                  <c:v>-1.856</c:v>
                </c:pt>
                <c:pt idx="232">
                  <c:v>1.218</c:v>
                </c:pt>
                <c:pt idx="233">
                  <c:v>2.552</c:v>
                </c:pt>
                <c:pt idx="234">
                  <c:v>0.759</c:v>
                </c:pt>
                <c:pt idx="235">
                  <c:v>1.952</c:v>
                </c:pt>
                <c:pt idx="236">
                  <c:v>-0.172</c:v>
                </c:pt>
                <c:pt idx="237">
                  <c:v>0.563</c:v>
                </c:pt>
                <c:pt idx="238">
                  <c:v>-0.667</c:v>
                </c:pt>
                <c:pt idx="239">
                  <c:v>-1.72</c:v>
                </c:pt>
                <c:pt idx="240">
                  <c:v>1.416</c:v>
                </c:pt>
                <c:pt idx="241">
                  <c:v>2.175</c:v>
                </c:pt>
                <c:pt idx="242">
                  <c:v>2.007</c:v>
                </c:pt>
                <c:pt idx="243">
                  <c:v>-1.652</c:v>
                </c:pt>
                <c:pt idx="244">
                  <c:v>-0.244</c:v>
                </c:pt>
                <c:pt idx="245">
                  <c:v>-0.222</c:v>
                </c:pt>
                <c:pt idx="246">
                  <c:v>0.195</c:v>
                </c:pt>
                <c:pt idx="247">
                  <c:v>2.566</c:v>
                </c:pt>
                <c:pt idx="248">
                  <c:v>1.264</c:v>
                </c:pt>
                <c:pt idx="249">
                  <c:v>-2.58</c:v>
                </c:pt>
                <c:pt idx="250">
                  <c:v>1.216</c:v>
                </c:pt>
                <c:pt idx="251">
                  <c:v>2.383</c:v>
                </c:pt>
                <c:pt idx="252">
                  <c:v>0.761</c:v>
                </c:pt>
                <c:pt idx="253">
                  <c:v>-1.373</c:v>
                </c:pt>
                <c:pt idx="254">
                  <c:v>2.072</c:v>
                </c:pt>
                <c:pt idx="255">
                  <c:v>0.108</c:v>
                </c:pt>
                <c:pt idx="256">
                  <c:v>-3.06</c:v>
                </c:pt>
                <c:pt idx="257">
                  <c:v>2.248</c:v>
                </c:pt>
                <c:pt idx="258">
                  <c:v>-2.742</c:v>
                </c:pt>
                <c:pt idx="259">
                  <c:v>-2.08</c:v>
                </c:pt>
                <c:pt idx="260">
                  <c:v>0.461</c:v>
                </c:pt>
                <c:pt idx="261">
                  <c:v>0.656</c:v>
                </c:pt>
                <c:pt idx="262">
                  <c:v>2.433</c:v>
                </c:pt>
                <c:pt idx="263">
                  <c:v>-0.102</c:v>
                </c:pt>
                <c:pt idx="264">
                  <c:v>-1.112</c:v>
                </c:pt>
                <c:pt idx="265">
                  <c:v>1.445</c:v>
                </c:pt>
                <c:pt idx="266">
                  <c:v>-0.353</c:v>
                </c:pt>
                <c:pt idx="267">
                  <c:v>0.275</c:v>
                </c:pt>
                <c:pt idx="268">
                  <c:v>-0.604</c:v>
                </c:pt>
                <c:pt idx="269">
                  <c:v>-2.207</c:v>
                </c:pt>
                <c:pt idx="270">
                  <c:v>1.224</c:v>
                </c:pt>
                <c:pt idx="271">
                  <c:v>2.455</c:v>
                </c:pt>
                <c:pt idx="272">
                  <c:v>1.178</c:v>
                </c:pt>
                <c:pt idx="273">
                  <c:v>-2.246</c:v>
                </c:pt>
                <c:pt idx="274">
                  <c:v>0.817</c:v>
                </c:pt>
                <c:pt idx="275">
                  <c:v>3.023</c:v>
                </c:pt>
                <c:pt idx="276">
                  <c:v>0.863</c:v>
                </c:pt>
                <c:pt idx="277">
                  <c:v>-3.104</c:v>
                </c:pt>
                <c:pt idx="278">
                  <c:v>-0.32</c:v>
                </c:pt>
                <c:pt idx="279">
                  <c:v>2.848</c:v>
                </c:pt>
                <c:pt idx="280">
                  <c:v>1.07</c:v>
                </c:pt>
                <c:pt idx="281">
                  <c:v>-2.929</c:v>
                </c:pt>
                <c:pt idx="282">
                  <c:v>-2.052</c:v>
                </c:pt>
                <c:pt idx="283">
                  <c:v>1.198</c:v>
                </c:pt>
                <c:pt idx="284">
                  <c:v>0.275</c:v>
                </c:pt>
                <c:pt idx="285">
                  <c:v>1.981</c:v>
                </c:pt>
                <c:pt idx="286">
                  <c:v>-1.587</c:v>
                </c:pt>
                <c:pt idx="287">
                  <c:v>2.554</c:v>
                </c:pt>
                <c:pt idx="288">
                  <c:v>-2.587</c:v>
                </c:pt>
                <c:pt idx="289">
                  <c:v>-1.525</c:v>
                </c:pt>
                <c:pt idx="290">
                  <c:v>-1.937</c:v>
                </c:pt>
                <c:pt idx="291">
                  <c:v>2.114</c:v>
                </c:pt>
                <c:pt idx="292">
                  <c:v>2.461</c:v>
                </c:pt>
                <c:pt idx="293">
                  <c:v>1.886</c:v>
                </c:pt>
                <c:pt idx="294">
                  <c:v>0.375</c:v>
                </c:pt>
                <c:pt idx="295">
                  <c:v>3.004</c:v>
                </c:pt>
                <c:pt idx="296">
                  <c:v>-3.051</c:v>
                </c:pt>
                <c:pt idx="297">
                  <c:v>-1.836</c:v>
                </c:pt>
                <c:pt idx="298">
                  <c:v>2.135</c:v>
                </c:pt>
                <c:pt idx="299">
                  <c:v>1.346</c:v>
                </c:pt>
              </c:numCache>
            </c:numRef>
          </c:xVal>
          <c:yVal>
            <c:numRef>
              <c:f>Sheet1!$B$2:$B$301</c:f>
              <c:numCache>
                <c:formatCode>General</c:formatCode>
                <c:ptCount val="300"/>
                <c:pt idx="0">
                  <c:v>6.454</c:v>
                </c:pt>
                <c:pt idx="1">
                  <c:v>13.295</c:v>
                </c:pt>
                <c:pt idx="2">
                  <c:v>4.365</c:v>
                </c:pt>
                <c:pt idx="3">
                  <c:v>6.891</c:v>
                </c:pt>
                <c:pt idx="4">
                  <c:v>7.241</c:v>
                </c:pt>
                <c:pt idx="5">
                  <c:v>5.356</c:v>
                </c:pt>
                <c:pt idx="6">
                  <c:v>4.179</c:v>
                </c:pt>
                <c:pt idx="7">
                  <c:v>-7.805</c:v>
                </c:pt>
                <c:pt idx="8">
                  <c:v>2.881</c:v>
                </c:pt>
                <c:pt idx="9">
                  <c:v>6.295</c:v>
                </c:pt>
                <c:pt idx="10">
                  <c:v>1.529</c:v>
                </c:pt>
                <c:pt idx="11">
                  <c:v>4.731</c:v>
                </c:pt>
                <c:pt idx="12">
                  <c:v>4.793</c:v>
                </c:pt>
                <c:pt idx="13">
                  <c:v>0.157</c:v>
                </c:pt>
                <c:pt idx="14">
                  <c:v>8.896</c:v>
                </c:pt>
                <c:pt idx="15">
                  <c:v>4.216</c:v>
                </c:pt>
                <c:pt idx="16">
                  <c:v>5.313</c:v>
                </c:pt>
                <c:pt idx="17">
                  <c:v>1.691</c:v>
                </c:pt>
                <c:pt idx="18">
                  <c:v>1.426</c:v>
                </c:pt>
                <c:pt idx="19">
                  <c:v>-1.179</c:v>
                </c:pt>
                <c:pt idx="20">
                  <c:v>-0.11</c:v>
                </c:pt>
                <c:pt idx="21">
                  <c:v>6.354</c:v>
                </c:pt>
                <c:pt idx="22">
                  <c:v>0.343</c:v>
                </c:pt>
                <c:pt idx="23">
                  <c:v>8.104</c:v>
                </c:pt>
                <c:pt idx="24">
                  <c:v>0.275</c:v>
                </c:pt>
                <c:pt idx="25">
                  <c:v>5.755</c:v>
                </c:pt>
                <c:pt idx="26">
                  <c:v>6.624</c:v>
                </c:pt>
                <c:pt idx="27">
                  <c:v>0.452</c:v>
                </c:pt>
                <c:pt idx="28">
                  <c:v>-0.523</c:v>
                </c:pt>
                <c:pt idx="29">
                  <c:v>-0.035</c:v>
                </c:pt>
                <c:pt idx="30">
                  <c:v>1.58</c:v>
                </c:pt>
                <c:pt idx="31">
                  <c:v>0.528</c:v>
                </c:pt>
                <c:pt idx="32">
                  <c:v>5.979</c:v>
                </c:pt>
                <c:pt idx="33">
                  <c:v>1.258</c:v>
                </c:pt>
                <c:pt idx="34">
                  <c:v>-1.789</c:v>
                </c:pt>
                <c:pt idx="35">
                  <c:v>16.057</c:v>
                </c:pt>
                <c:pt idx="36">
                  <c:v>2.039</c:v>
                </c:pt>
                <c:pt idx="37">
                  <c:v>5.533</c:v>
                </c:pt>
                <c:pt idx="38">
                  <c:v>5.706</c:v>
                </c:pt>
                <c:pt idx="39">
                  <c:v>-0.86</c:v>
                </c:pt>
                <c:pt idx="40">
                  <c:v>6.597</c:v>
                </c:pt>
                <c:pt idx="41">
                  <c:v>6.13</c:v>
                </c:pt>
                <c:pt idx="42">
                  <c:v>0.237</c:v>
                </c:pt>
                <c:pt idx="43">
                  <c:v>7.963</c:v>
                </c:pt>
                <c:pt idx="44">
                  <c:v>1.06</c:v>
                </c:pt>
                <c:pt idx="45">
                  <c:v>10.278</c:v>
                </c:pt>
                <c:pt idx="46">
                  <c:v>3.638</c:v>
                </c:pt>
                <c:pt idx="47">
                  <c:v>0.728</c:v>
                </c:pt>
                <c:pt idx="48">
                  <c:v>8.711</c:v>
                </c:pt>
                <c:pt idx="49">
                  <c:v>10.596</c:v>
                </c:pt>
                <c:pt idx="50">
                  <c:v>1.207</c:v>
                </c:pt>
                <c:pt idx="51">
                  <c:v>-0.006</c:v>
                </c:pt>
                <c:pt idx="52">
                  <c:v>2.521</c:v>
                </c:pt>
                <c:pt idx="53">
                  <c:v>2.457</c:v>
                </c:pt>
                <c:pt idx="54">
                  <c:v>3.653</c:v>
                </c:pt>
                <c:pt idx="55">
                  <c:v>6.228</c:v>
                </c:pt>
                <c:pt idx="56">
                  <c:v>6.008</c:v>
                </c:pt>
                <c:pt idx="57">
                  <c:v>-0.611</c:v>
                </c:pt>
                <c:pt idx="58">
                  <c:v>1.535</c:v>
                </c:pt>
                <c:pt idx="59">
                  <c:v>6.529</c:v>
                </c:pt>
                <c:pt idx="60">
                  <c:v>1.034</c:v>
                </c:pt>
                <c:pt idx="61">
                  <c:v>-0.843</c:v>
                </c:pt>
                <c:pt idx="62">
                  <c:v>0.557</c:v>
                </c:pt>
                <c:pt idx="63">
                  <c:v>7.55</c:v>
                </c:pt>
                <c:pt idx="64">
                  <c:v>6.051</c:v>
                </c:pt>
                <c:pt idx="65">
                  <c:v>9.364</c:v>
                </c:pt>
                <c:pt idx="66">
                  <c:v>1.46</c:v>
                </c:pt>
                <c:pt idx="67">
                  <c:v>6.403</c:v>
                </c:pt>
                <c:pt idx="68">
                  <c:v>-0.768</c:v>
                </c:pt>
                <c:pt idx="69">
                  <c:v>3.208</c:v>
                </c:pt>
                <c:pt idx="70">
                  <c:v>4.262</c:v>
                </c:pt>
                <c:pt idx="71">
                  <c:v>1.168</c:v>
                </c:pt>
                <c:pt idx="72">
                  <c:v>1.296</c:v>
                </c:pt>
                <c:pt idx="73">
                  <c:v>6.463</c:v>
                </c:pt>
                <c:pt idx="74">
                  <c:v>9.588</c:v>
                </c:pt>
                <c:pt idx="75">
                  <c:v>5.727</c:v>
                </c:pt>
                <c:pt idx="76">
                  <c:v>5.06</c:v>
                </c:pt>
                <c:pt idx="77">
                  <c:v>8.55</c:v>
                </c:pt>
                <c:pt idx="78">
                  <c:v>10.161</c:v>
                </c:pt>
                <c:pt idx="79">
                  <c:v>-1.086</c:v>
                </c:pt>
                <c:pt idx="80">
                  <c:v>-0.284</c:v>
                </c:pt>
                <c:pt idx="81">
                  <c:v>5.971</c:v>
                </c:pt>
                <c:pt idx="82">
                  <c:v>-0.326</c:v>
                </c:pt>
                <c:pt idx="83">
                  <c:v>4.576</c:v>
                </c:pt>
                <c:pt idx="84">
                  <c:v>2.934</c:v>
                </c:pt>
                <c:pt idx="85">
                  <c:v>7.476</c:v>
                </c:pt>
                <c:pt idx="86">
                  <c:v>3.883</c:v>
                </c:pt>
                <c:pt idx="87">
                  <c:v>1.582</c:v>
                </c:pt>
                <c:pt idx="88">
                  <c:v>3.832</c:v>
                </c:pt>
                <c:pt idx="89">
                  <c:v>0.023</c:v>
                </c:pt>
                <c:pt idx="90">
                  <c:v>7.161</c:v>
                </c:pt>
                <c:pt idx="91">
                  <c:v>4.844</c:v>
                </c:pt>
                <c:pt idx="92">
                  <c:v>3.601</c:v>
                </c:pt>
                <c:pt idx="93">
                  <c:v>0.903</c:v>
                </c:pt>
                <c:pt idx="94">
                  <c:v>3.208</c:v>
                </c:pt>
                <c:pt idx="95">
                  <c:v>5.237</c:v>
                </c:pt>
                <c:pt idx="96">
                  <c:v>4.513</c:v>
                </c:pt>
                <c:pt idx="97">
                  <c:v>3.428</c:v>
                </c:pt>
                <c:pt idx="98">
                  <c:v>3.572</c:v>
                </c:pt>
                <c:pt idx="99">
                  <c:v>7.721</c:v>
                </c:pt>
                <c:pt idx="100">
                  <c:v>8.426</c:v>
                </c:pt>
                <c:pt idx="101">
                  <c:v>3.758</c:v>
                </c:pt>
                <c:pt idx="102">
                  <c:v>-2.086</c:v>
                </c:pt>
                <c:pt idx="103">
                  <c:v>1.855</c:v>
                </c:pt>
                <c:pt idx="104">
                  <c:v>0.91</c:v>
                </c:pt>
                <c:pt idx="105">
                  <c:v>-1.333</c:v>
                </c:pt>
                <c:pt idx="106">
                  <c:v>-4.508</c:v>
                </c:pt>
                <c:pt idx="107">
                  <c:v>6.442</c:v>
                </c:pt>
                <c:pt idx="108">
                  <c:v>0.493</c:v>
                </c:pt>
                <c:pt idx="109">
                  <c:v>0.641</c:v>
                </c:pt>
                <c:pt idx="110">
                  <c:v>5.71</c:v>
                </c:pt>
                <c:pt idx="111">
                  <c:v>-0.807</c:v>
                </c:pt>
                <c:pt idx="112">
                  <c:v>3.84</c:v>
                </c:pt>
                <c:pt idx="113">
                  <c:v>6.686</c:v>
                </c:pt>
                <c:pt idx="114">
                  <c:v>7.366</c:v>
                </c:pt>
                <c:pt idx="115">
                  <c:v>4.836</c:v>
                </c:pt>
                <c:pt idx="116">
                  <c:v>1.113</c:v>
                </c:pt>
                <c:pt idx="117">
                  <c:v>6.782</c:v>
                </c:pt>
                <c:pt idx="118">
                  <c:v>5.964</c:v>
                </c:pt>
                <c:pt idx="119">
                  <c:v>7.128</c:v>
                </c:pt>
                <c:pt idx="120">
                  <c:v>14.483</c:v>
                </c:pt>
                <c:pt idx="121">
                  <c:v>0.368</c:v>
                </c:pt>
                <c:pt idx="122">
                  <c:v>-0.856</c:v>
                </c:pt>
                <c:pt idx="123">
                  <c:v>5.002</c:v>
                </c:pt>
                <c:pt idx="124">
                  <c:v>4.084</c:v>
                </c:pt>
                <c:pt idx="125">
                  <c:v>2.197</c:v>
                </c:pt>
                <c:pt idx="126">
                  <c:v>4.671</c:v>
                </c:pt>
                <c:pt idx="127">
                  <c:v>9.587</c:v>
                </c:pt>
                <c:pt idx="128">
                  <c:v>3.503</c:v>
                </c:pt>
                <c:pt idx="129">
                  <c:v>7.487</c:v>
                </c:pt>
                <c:pt idx="130">
                  <c:v>5.25</c:v>
                </c:pt>
                <c:pt idx="131">
                  <c:v>-0.729</c:v>
                </c:pt>
                <c:pt idx="132">
                  <c:v>3.16</c:v>
                </c:pt>
                <c:pt idx="133">
                  <c:v>4.11</c:v>
                </c:pt>
                <c:pt idx="134">
                  <c:v>7.948</c:v>
                </c:pt>
                <c:pt idx="135">
                  <c:v>2.206</c:v>
                </c:pt>
                <c:pt idx="136">
                  <c:v>5.48</c:v>
                </c:pt>
                <c:pt idx="137">
                  <c:v>6.49</c:v>
                </c:pt>
                <c:pt idx="138">
                  <c:v>4.429</c:v>
                </c:pt>
                <c:pt idx="139">
                  <c:v>3.779</c:v>
                </c:pt>
                <c:pt idx="140">
                  <c:v>2.881</c:v>
                </c:pt>
                <c:pt idx="141">
                  <c:v>7.44</c:v>
                </c:pt>
                <c:pt idx="142">
                  <c:v>1.02</c:v>
                </c:pt>
                <c:pt idx="143">
                  <c:v>3.992</c:v>
                </c:pt>
                <c:pt idx="144">
                  <c:v>9.124</c:v>
                </c:pt>
                <c:pt idx="145">
                  <c:v>8.462</c:v>
                </c:pt>
                <c:pt idx="146">
                  <c:v>6.423</c:v>
                </c:pt>
                <c:pt idx="147">
                  <c:v>5.882</c:v>
                </c:pt>
                <c:pt idx="148">
                  <c:v>1.365</c:v>
                </c:pt>
                <c:pt idx="149">
                  <c:v>0.883</c:v>
                </c:pt>
                <c:pt idx="150">
                  <c:v>5.982</c:v>
                </c:pt>
                <c:pt idx="151">
                  <c:v>5.461</c:v>
                </c:pt>
                <c:pt idx="152">
                  <c:v>0.209</c:v>
                </c:pt>
                <c:pt idx="153">
                  <c:v>6.015</c:v>
                </c:pt>
                <c:pt idx="154">
                  <c:v>9.316</c:v>
                </c:pt>
                <c:pt idx="155">
                  <c:v>0.71</c:v>
                </c:pt>
                <c:pt idx="156">
                  <c:v>6.446</c:v>
                </c:pt>
                <c:pt idx="157">
                  <c:v>5.092</c:v>
                </c:pt>
                <c:pt idx="158">
                  <c:v>1.026</c:v>
                </c:pt>
                <c:pt idx="159">
                  <c:v>-2.269</c:v>
                </c:pt>
                <c:pt idx="160">
                  <c:v>2.853</c:v>
                </c:pt>
                <c:pt idx="161">
                  <c:v>-0.672</c:v>
                </c:pt>
                <c:pt idx="162">
                  <c:v>6.559</c:v>
                </c:pt>
                <c:pt idx="163">
                  <c:v>2.065</c:v>
                </c:pt>
                <c:pt idx="164">
                  <c:v>6.13</c:v>
                </c:pt>
                <c:pt idx="165">
                  <c:v>7.652</c:v>
                </c:pt>
                <c:pt idx="166">
                  <c:v>-0.097</c:v>
                </c:pt>
                <c:pt idx="167">
                  <c:v>-5.741</c:v>
                </c:pt>
                <c:pt idx="168">
                  <c:v>6.202</c:v>
                </c:pt>
                <c:pt idx="169">
                  <c:v>2.82</c:v>
                </c:pt>
                <c:pt idx="170">
                  <c:v>-1.009</c:v>
                </c:pt>
                <c:pt idx="171">
                  <c:v>5.969</c:v>
                </c:pt>
                <c:pt idx="172">
                  <c:v>-1.093</c:v>
                </c:pt>
                <c:pt idx="173">
                  <c:v>-2.324</c:v>
                </c:pt>
                <c:pt idx="174">
                  <c:v>6.105</c:v>
                </c:pt>
                <c:pt idx="175">
                  <c:v>2.964</c:v>
                </c:pt>
                <c:pt idx="176">
                  <c:v>0.609</c:v>
                </c:pt>
                <c:pt idx="177">
                  <c:v>1.348</c:v>
                </c:pt>
                <c:pt idx="178">
                  <c:v>-0.075</c:v>
                </c:pt>
                <c:pt idx="179">
                  <c:v>7.191</c:v>
                </c:pt>
                <c:pt idx="180">
                  <c:v>-1.609</c:v>
                </c:pt>
                <c:pt idx="181">
                  <c:v>-1.911</c:v>
                </c:pt>
                <c:pt idx="182">
                  <c:v>1.464</c:v>
                </c:pt>
                <c:pt idx="183">
                  <c:v>-7.967</c:v>
                </c:pt>
                <c:pt idx="184">
                  <c:v>-0.102</c:v>
                </c:pt>
                <c:pt idx="185">
                  <c:v>3.202</c:v>
                </c:pt>
                <c:pt idx="186">
                  <c:v>-1.275</c:v>
                </c:pt>
                <c:pt idx="187">
                  <c:v>-1.41</c:v>
                </c:pt>
                <c:pt idx="188">
                  <c:v>0.219</c:v>
                </c:pt>
                <c:pt idx="189">
                  <c:v>3.396</c:v>
                </c:pt>
                <c:pt idx="190">
                  <c:v>0.842</c:v>
                </c:pt>
                <c:pt idx="191">
                  <c:v>0.555</c:v>
                </c:pt>
                <c:pt idx="192">
                  <c:v>3.671</c:v>
                </c:pt>
                <c:pt idx="193">
                  <c:v>10.09</c:v>
                </c:pt>
                <c:pt idx="194">
                  <c:v>2.226</c:v>
                </c:pt>
                <c:pt idx="195">
                  <c:v>5.193</c:v>
                </c:pt>
                <c:pt idx="196">
                  <c:v>3.518</c:v>
                </c:pt>
                <c:pt idx="197">
                  <c:v>4.154</c:v>
                </c:pt>
                <c:pt idx="198">
                  <c:v>2.029</c:v>
                </c:pt>
                <c:pt idx="199">
                  <c:v>7.773</c:v>
                </c:pt>
                <c:pt idx="200">
                  <c:v>5.341</c:v>
                </c:pt>
                <c:pt idx="201">
                  <c:v>10.279</c:v>
                </c:pt>
                <c:pt idx="202">
                  <c:v>1.044</c:v>
                </c:pt>
                <c:pt idx="203">
                  <c:v>-2.363</c:v>
                </c:pt>
                <c:pt idx="204">
                  <c:v>-1.182</c:v>
                </c:pt>
                <c:pt idx="205">
                  <c:v>5.817</c:v>
                </c:pt>
                <c:pt idx="206">
                  <c:v>7.047</c:v>
                </c:pt>
                <c:pt idx="207">
                  <c:v>4.744</c:v>
                </c:pt>
                <c:pt idx="208">
                  <c:v>5.912</c:v>
                </c:pt>
                <c:pt idx="209">
                  <c:v>7.32</c:v>
                </c:pt>
                <c:pt idx="210">
                  <c:v>1.043</c:v>
                </c:pt>
                <c:pt idx="211">
                  <c:v>6.105</c:v>
                </c:pt>
                <c:pt idx="212">
                  <c:v>2.324</c:v>
                </c:pt>
                <c:pt idx="213">
                  <c:v>7.209</c:v>
                </c:pt>
                <c:pt idx="214">
                  <c:v>5.447</c:v>
                </c:pt>
                <c:pt idx="215">
                  <c:v>5.958</c:v>
                </c:pt>
                <c:pt idx="216">
                  <c:v>1.641</c:v>
                </c:pt>
                <c:pt idx="217">
                  <c:v>9.223</c:v>
                </c:pt>
                <c:pt idx="218">
                  <c:v>1.274</c:v>
                </c:pt>
                <c:pt idx="219">
                  <c:v>3.485</c:v>
                </c:pt>
                <c:pt idx="220">
                  <c:v>5.72</c:v>
                </c:pt>
                <c:pt idx="221">
                  <c:v>5.62</c:v>
                </c:pt>
                <c:pt idx="222">
                  <c:v>0.947</c:v>
                </c:pt>
                <c:pt idx="223">
                  <c:v>0.312</c:v>
                </c:pt>
                <c:pt idx="224">
                  <c:v>0.393</c:v>
                </c:pt>
                <c:pt idx="225">
                  <c:v>0.984</c:v>
                </c:pt>
                <c:pt idx="226">
                  <c:v>5.974</c:v>
                </c:pt>
                <c:pt idx="227">
                  <c:v>6.919</c:v>
                </c:pt>
                <c:pt idx="228">
                  <c:v>4.472</c:v>
                </c:pt>
                <c:pt idx="229">
                  <c:v>9.966</c:v>
                </c:pt>
                <c:pt idx="230">
                  <c:v>-0.676</c:v>
                </c:pt>
                <c:pt idx="231">
                  <c:v>1.736</c:v>
                </c:pt>
                <c:pt idx="232">
                  <c:v>4.361</c:v>
                </c:pt>
                <c:pt idx="233">
                  <c:v>5.452</c:v>
                </c:pt>
                <c:pt idx="234">
                  <c:v>1.069</c:v>
                </c:pt>
                <c:pt idx="235">
                  <c:v>7.551</c:v>
                </c:pt>
                <c:pt idx="236">
                  <c:v>6.139</c:v>
                </c:pt>
                <c:pt idx="237">
                  <c:v>8.969</c:v>
                </c:pt>
                <c:pt idx="238">
                  <c:v>2.558</c:v>
                </c:pt>
                <c:pt idx="239">
                  <c:v>4.94</c:v>
                </c:pt>
                <c:pt idx="240">
                  <c:v>12.364</c:v>
                </c:pt>
                <c:pt idx="241">
                  <c:v>1.606</c:v>
                </c:pt>
                <c:pt idx="242">
                  <c:v>7.853</c:v>
                </c:pt>
                <c:pt idx="243">
                  <c:v>-1.026</c:v>
                </c:pt>
                <c:pt idx="244">
                  <c:v>-0.114</c:v>
                </c:pt>
                <c:pt idx="245">
                  <c:v>-0.062</c:v>
                </c:pt>
                <c:pt idx="246">
                  <c:v>0.194</c:v>
                </c:pt>
                <c:pt idx="247">
                  <c:v>5.161</c:v>
                </c:pt>
                <c:pt idx="248">
                  <c:v>7.941</c:v>
                </c:pt>
                <c:pt idx="249">
                  <c:v>-1.274</c:v>
                </c:pt>
                <c:pt idx="250">
                  <c:v>6.187</c:v>
                </c:pt>
                <c:pt idx="251">
                  <c:v>1.997</c:v>
                </c:pt>
                <c:pt idx="252">
                  <c:v>7.177</c:v>
                </c:pt>
                <c:pt idx="253">
                  <c:v>5.713</c:v>
                </c:pt>
                <c:pt idx="254">
                  <c:v>4.113</c:v>
                </c:pt>
                <c:pt idx="255">
                  <c:v>1.41</c:v>
                </c:pt>
                <c:pt idx="256">
                  <c:v>0.081</c:v>
                </c:pt>
                <c:pt idx="257">
                  <c:v>5.459</c:v>
                </c:pt>
                <c:pt idx="258">
                  <c:v>2.522</c:v>
                </c:pt>
                <c:pt idx="259">
                  <c:v>-1.155</c:v>
                </c:pt>
                <c:pt idx="260">
                  <c:v>7.368</c:v>
                </c:pt>
                <c:pt idx="261">
                  <c:v>2.699</c:v>
                </c:pt>
                <c:pt idx="262">
                  <c:v>13.242</c:v>
                </c:pt>
                <c:pt idx="263">
                  <c:v>5.142</c:v>
                </c:pt>
                <c:pt idx="264">
                  <c:v>0.451</c:v>
                </c:pt>
                <c:pt idx="265">
                  <c:v>7.832</c:v>
                </c:pt>
                <c:pt idx="266">
                  <c:v>1.897</c:v>
                </c:pt>
                <c:pt idx="267">
                  <c:v>4.391</c:v>
                </c:pt>
                <c:pt idx="268">
                  <c:v>4.727</c:v>
                </c:pt>
                <c:pt idx="269">
                  <c:v>5.5</c:v>
                </c:pt>
                <c:pt idx="270">
                  <c:v>1.239</c:v>
                </c:pt>
                <c:pt idx="271">
                  <c:v>7.664</c:v>
                </c:pt>
                <c:pt idx="272">
                  <c:v>2.401</c:v>
                </c:pt>
                <c:pt idx="273">
                  <c:v>-1.83</c:v>
                </c:pt>
                <c:pt idx="274">
                  <c:v>13.083</c:v>
                </c:pt>
                <c:pt idx="275">
                  <c:v>2.718</c:v>
                </c:pt>
                <c:pt idx="276">
                  <c:v>8.722</c:v>
                </c:pt>
                <c:pt idx="277">
                  <c:v>1.681</c:v>
                </c:pt>
                <c:pt idx="278">
                  <c:v>-0.259</c:v>
                </c:pt>
                <c:pt idx="279">
                  <c:v>1.199</c:v>
                </c:pt>
                <c:pt idx="280">
                  <c:v>10.521</c:v>
                </c:pt>
                <c:pt idx="281">
                  <c:v>-0.154</c:v>
                </c:pt>
                <c:pt idx="282">
                  <c:v>-2.079</c:v>
                </c:pt>
                <c:pt idx="283">
                  <c:v>7.328</c:v>
                </c:pt>
                <c:pt idx="284">
                  <c:v>7.259</c:v>
                </c:pt>
                <c:pt idx="285">
                  <c:v>2.845</c:v>
                </c:pt>
                <c:pt idx="286">
                  <c:v>5.448</c:v>
                </c:pt>
                <c:pt idx="287">
                  <c:v>6.685</c:v>
                </c:pt>
                <c:pt idx="288">
                  <c:v>3.979</c:v>
                </c:pt>
                <c:pt idx="289">
                  <c:v>2.382</c:v>
                </c:pt>
                <c:pt idx="290">
                  <c:v>-0.81</c:v>
                </c:pt>
                <c:pt idx="291">
                  <c:v>6.331</c:v>
                </c:pt>
                <c:pt idx="292">
                  <c:v>0.655</c:v>
                </c:pt>
                <c:pt idx="293">
                  <c:v>7.554</c:v>
                </c:pt>
                <c:pt idx="294">
                  <c:v>6.467</c:v>
                </c:pt>
                <c:pt idx="295">
                  <c:v>6.083</c:v>
                </c:pt>
                <c:pt idx="296">
                  <c:v>3.853</c:v>
                </c:pt>
                <c:pt idx="297">
                  <c:v>2.248</c:v>
                </c:pt>
                <c:pt idx="298">
                  <c:v>7.198</c:v>
                </c:pt>
                <c:pt idx="299">
                  <c:v>6.328</c:v>
                </c:pt>
              </c:numCache>
            </c:numRef>
          </c:yVal>
          <c:smooth val="0"/>
        </c:ser>
        <c:ser>
          <c:idx val="1"/>
          <c:order val="1"/>
          <c:tx>
            <c:strRef>
              <c:f>Sheet1!$C$1</c:f>
              <c:strCache>
                <c:ptCount val="1"/>
                <c:pt idx="0">
                  <c:v>条件付き平均</c:v>
                </c:pt>
              </c:strCache>
            </c:strRef>
          </c:tx>
          <c:spPr>
            <a:solidFill>
              <a:srgbClr val="E76F51"/>
            </a:solidFill>
            <a:ln>
              <a:noFill/>
            </a:ln>
            <a:effectLst/>
          </c:spPr>
          <c:marker>
            <c:symbol val="circle"/>
            <c:size val="5"/>
            <c:spPr>
              <a:solidFill>
                <a:srgbClr val="E76F51"/>
              </a:solidFill>
              <a:ln w="9525" cap="flat">
                <a:solidFill>
                  <a:srgbClr val="E76F51"/>
                </a:solidFill>
                <a:prstDash val="solid"/>
                <a:round/>
              </a:ln>
              <a:effectLst/>
            </c:spPr>
          </c:marker>
          <c:xVal>
            <c:numRef>
              <c:f>Sheet1!$A$2:$A$301</c:f>
              <c:numCache>
                <c:formatCode>General</c:formatCode>
                <c:ptCount val="300"/>
                <c:pt idx="0">
                  <c:v>-2.647</c:v>
                </c:pt>
                <c:pt idx="1">
                  <c:v>0.822</c:v>
                </c:pt>
                <c:pt idx="2">
                  <c:v>1.189</c:v>
                </c:pt>
                <c:pt idx="3">
                  <c:v>-3.035</c:v>
                </c:pt>
                <c:pt idx="4">
                  <c:v>2.754</c:v>
                </c:pt>
                <c:pt idx="5">
                  <c:v>-0.275</c:v>
                </c:pt>
                <c:pt idx="6">
                  <c:v>-0.363</c:v>
                </c:pt>
                <c:pt idx="7">
                  <c:v>-1.831</c:v>
                </c:pt>
                <c:pt idx="8">
                  <c:v>0.436</c:v>
                </c:pt>
                <c:pt idx="9">
                  <c:v>2.66</c:v>
                </c:pt>
                <c:pt idx="10">
                  <c:v>3.001</c:v>
                </c:pt>
                <c:pt idx="11">
                  <c:v>0.549</c:v>
                </c:pt>
                <c:pt idx="12">
                  <c:v>-0.932</c:v>
                </c:pt>
                <c:pt idx="13">
                  <c:v>0.103</c:v>
                </c:pt>
                <c:pt idx="14">
                  <c:v>2.14</c:v>
                </c:pt>
                <c:pt idx="15">
                  <c:v>-1.897</c:v>
                </c:pt>
                <c:pt idx="16">
                  <c:v>2.725</c:v>
                </c:pt>
                <c:pt idx="17">
                  <c:v>-0.041</c:v>
                </c:pt>
                <c:pt idx="18">
                  <c:v>-1.518</c:v>
                </c:pt>
                <c:pt idx="19">
                  <c:v>-1.629</c:v>
                </c:pt>
                <c:pt idx="20">
                  <c:v>-2.385</c:v>
                </c:pt>
                <c:pt idx="21">
                  <c:v>2.636</c:v>
                </c:pt>
                <c:pt idx="22">
                  <c:v>-2.984</c:v>
                </c:pt>
                <c:pt idx="23">
                  <c:v>0.782</c:v>
                </c:pt>
                <c:pt idx="24">
                  <c:v>-0.062</c:v>
                </c:pt>
                <c:pt idx="25">
                  <c:v>-2.41</c:v>
                </c:pt>
                <c:pt idx="26">
                  <c:v>-0.201</c:v>
                </c:pt>
                <c:pt idx="27">
                  <c:v>-2.861</c:v>
                </c:pt>
                <c:pt idx="28">
                  <c:v>-2.376</c:v>
                </c:pt>
                <c:pt idx="29">
                  <c:v>-0.148</c:v>
                </c:pt>
                <c:pt idx="30">
                  <c:v>1.954</c:v>
                </c:pt>
                <c:pt idx="31">
                  <c:v>-1.322</c:v>
                </c:pt>
                <c:pt idx="32">
                  <c:v>1.053</c:v>
                </c:pt>
                <c:pt idx="33">
                  <c:v>-1.117</c:v>
                </c:pt>
                <c:pt idx="34">
                  <c:v>-1.555</c:v>
                </c:pt>
                <c:pt idx="35">
                  <c:v>1.89</c:v>
                </c:pt>
                <c:pt idx="36">
                  <c:v>0.02</c:v>
                </c:pt>
                <c:pt idx="37">
                  <c:v>2.975</c:v>
                </c:pt>
                <c:pt idx="38">
                  <c:v>-1.903</c:v>
                </c:pt>
                <c:pt idx="39">
                  <c:v>-2.312</c:v>
                </c:pt>
                <c:pt idx="40">
                  <c:v>0.195</c:v>
                </c:pt>
                <c:pt idx="41">
                  <c:v>-0.497</c:v>
                </c:pt>
                <c:pt idx="42">
                  <c:v>-0.064</c:v>
                </c:pt>
                <c:pt idx="43">
                  <c:v>2.352</c:v>
                </c:pt>
                <c:pt idx="44">
                  <c:v>-0.122</c:v>
                </c:pt>
                <c:pt idx="45">
                  <c:v>0.852</c:v>
                </c:pt>
                <c:pt idx="46">
                  <c:v>2.228</c:v>
                </c:pt>
                <c:pt idx="47">
                  <c:v>-1.502</c:v>
                </c:pt>
                <c:pt idx="48">
                  <c:v>0.382</c:v>
                </c:pt>
                <c:pt idx="49">
                  <c:v>2.547</c:v>
                </c:pt>
                <c:pt idx="50">
                  <c:v>1.416</c:v>
                </c:pt>
                <c:pt idx="51">
                  <c:v>-2.841</c:v>
                </c:pt>
                <c:pt idx="52">
                  <c:v>0.948</c:v>
                </c:pt>
                <c:pt idx="53">
                  <c:v>-1.367</c:v>
                </c:pt>
                <c:pt idx="54">
                  <c:v>0.907</c:v>
                </c:pt>
                <c:pt idx="55">
                  <c:v>2.669</c:v>
                </c:pt>
                <c:pt idx="56">
                  <c:v>-2.682</c:v>
                </c:pt>
                <c:pt idx="57">
                  <c:v>-2.767</c:v>
                </c:pt>
                <c:pt idx="58">
                  <c:v>-1.369</c:v>
                </c:pt>
                <c:pt idx="59">
                  <c:v>1.245</c:v>
                </c:pt>
                <c:pt idx="60">
                  <c:v>0.736</c:v>
                </c:pt>
                <c:pt idx="61">
                  <c:v>-2.756</c:v>
                </c:pt>
                <c:pt idx="62">
                  <c:v>-0.1</c:v>
                </c:pt>
                <c:pt idx="63">
                  <c:v>2.318</c:v>
                </c:pt>
                <c:pt idx="64">
                  <c:v>-0.104</c:v>
                </c:pt>
                <c:pt idx="65">
                  <c:v>2.588</c:v>
                </c:pt>
                <c:pt idx="66">
                  <c:v>1.917</c:v>
                </c:pt>
                <c:pt idx="67">
                  <c:v>2.27</c:v>
                </c:pt>
                <c:pt idx="68">
                  <c:v>-1.515</c:v>
                </c:pt>
                <c:pt idx="69">
                  <c:v>2.631</c:v>
                </c:pt>
                <c:pt idx="70">
                  <c:v>-3.011</c:v>
                </c:pt>
                <c:pt idx="71">
                  <c:v>0.441</c:v>
                </c:pt>
                <c:pt idx="72">
                  <c:v>0.078</c:v>
                </c:pt>
                <c:pt idx="73">
                  <c:v>-2.575</c:v>
                </c:pt>
                <c:pt idx="74">
                  <c:v>1.507</c:v>
                </c:pt>
                <c:pt idx="75">
                  <c:v>-0.707</c:v>
                </c:pt>
                <c:pt idx="76">
                  <c:v>-1.514</c:v>
                </c:pt>
                <c:pt idx="77">
                  <c:v>1.269</c:v>
                </c:pt>
                <c:pt idx="78">
                  <c:v>0.902</c:v>
                </c:pt>
                <c:pt idx="79">
                  <c:v>-3.011</c:v>
                </c:pt>
                <c:pt idx="80">
                  <c:v>-0.731</c:v>
                </c:pt>
                <c:pt idx="81">
                  <c:v>-0.013</c:v>
                </c:pt>
                <c:pt idx="82">
                  <c:v>-2.345</c:v>
                </c:pt>
                <c:pt idx="83">
                  <c:v>-3.01</c:v>
                </c:pt>
                <c:pt idx="84">
                  <c:v>2.219</c:v>
                </c:pt>
                <c:pt idx="85">
                  <c:v>2.421</c:v>
                </c:pt>
                <c:pt idx="86">
                  <c:v>-2.601</c:v>
                </c:pt>
                <c:pt idx="87">
                  <c:v>-0.302</c:v>
                </c:pt>
                <c:pt idx="88">
                  <c:v>-1.511</c:v>
                </c:pt>
                <c:pt idx="89">
                  <c:v>-1.976</c:v>
                </c:pt>
                <c:pt idx="90">
                  <c:v>2.953</c:v>
                </c:pt>
                <c:pt idx="91">
                  <c:v>-2.084</c:v>
                </c:pt>
                <c:pt idx="92">
                  <c:v>1.153</c:v>
                </c:pt>
                <c:pt idx="93">
                  <c:v>-1.264</c:v>
                </c:pt>
                <c:pt idx="94">
                  <c:v>2.821</c:v>
                </c:pt>
                <c:pt idx="95">
                  <c:v>0.764</c:v>
                </c:pt>
                <c:pt idx="96">
                  <c:v>2.326</c:v>
                </c:pt>
                <c:pt idx="97">
                  <c:v>1.085</c:v>
                </c:pt>
                <c:pt idx="98">
                  <c:v>0.347</c:v>
                </c:pt>
                <c:pt idx="99">
                  <c:v>0.969</c:v>
                </c:pt>
                <c:pt idx="100">
                  <c:v>1.656</c:v>
                </c:pt>
                <c:pt idx="101">
                  <c:v>-2.654</c:v>
                </c:pt>
                <c:pt idx="102">
                  <c:v>-1.193</c:v>
                </c:pt>
                <c:pt idx="103">
                  <c:v>-0.903</c:v>
                </c:pt>
                <c:pt idx="104">
                  <c:v>0.997</c:v>
                </c:pt>
                <c:pt idx="105">
                  <c:v>-1.456</c:v>
                </c:pt>
                <c:pt idx="106">
                  <c:v>-1.142</c:v>
                </c:pt>
                <c:pt idx="107">
                  <c:v>-2.742</c:v>
                </c:pt>
                <c:pt idx="108">
                  <c:v>0.413</c:v>
                </c:pt>
                <c:pt idx="109">
                  <c:v>0.607</c:v>
                </c:pt>
                <c:pt idx="110">
                  <c:v>-2.245</c:v>
                </c:pt>
                <c:pt idx="111">
                  <c:v>-1.573</c:v>
                </c:pt>
                <c:pt idx="112">
                  <c:v>-1.146</c:v>
                </c:pt>
                <c:pt idx="113">
                  <c:v>2.751</c:v>
                </c:pt>
                <c:pt idx="114">
                  <c:v>1.832</c:v>
                </c:pt>
                <c:pt idx="115">
                  <c:v>2.357</c:v>
                </c:pt>
                <c:pt idx="116">
                  <c:v>1.216</c:v>
                </c:pt>
                <c:pt idx="117">
                  <c:v>1.181</c:v>
                </c:pt>
                <c:pt idx="118">
                  <c:v>-1.827</c:v>
                </c:pt>
                <c:pt idx="119">
                  <c:v>1.178</c:v>
                </c:pt>
                <c:pt idx="120">
                  <c:v>1.321</c:v>
                </c:pt>
                <c:pt idx="121">
                  <c:v>-1.342</c:v>
                </c:pt>
                <c:pt idx="122">
                  <c:v>-2.099</c:v>
                </c:pt>
                <c:pt idx="123">
                  <c:v>3.084</c:v>
                </c:pt>
                <c:pt idx="124">
                  <c:v>1.636</c:v>
                </c:pt>
                <c:pt idx="125">
                  <c:v>2.556</c:v>
                </c:pt>
                <c:pt idx="126">
                  <c:v>-2.794</c:v>
                </c:pt>
                <c:pt idx="127">
                  <c:v>1.246</c:v>
                </c:pt>
                <c:pt idx="128">
                  <c:v>-0.691</c:v>
                </c:pt>
                <c:pt idx="129">
                  <c:v>2.476</c:v>
                </c:pt>
                <c:pt idx="130">
                  <c:v>1.008</c:v>
                </c:pt>
                <c:pt idx="131">
                  <c:v>-2.097</c:v>
                </c:pt>
                <c:pt idx="132">
                  <c:v>1.34</c:v>
                </c:pt>
                <c:pt idx="133">
                  <c:v>2.011</c:v>
                </c:pt>
                <c:pt idx="134">
                  <c:v>1.574</c:v>
                </c:pt>
                <c:pt idx="135">
                  <c:v>-1.405</c:v>
                </c:pt>
                <c:pt idx="136">
                  <c:v>-1.652</c:v>
                </c:pt>
                <c:pt idx="137">
                  <c:v>-0.274</c:v>
                </c:pt>
                <c:pt idx="138">
                  <c:v>1.054</c:v>
                </c:pt>
                <c:pt idx="139">
                  <c:v>-1.628</c:v>
                </c:pt>
                <c:pt idx="140">
                  <c:v>-2.887</c:v>
                </c:pt>
                <c:pt idx="141">
                  <c:v>2.598</c:v>
                </c:pt>
                <c:pt idx="142">
                  <c:v>1.859</c:v>
                </c:pt>
                <c:pt idx="143">
                  <c:v>0.749</c:v>
                </c:pt>
                <c:pt idx="144">
                  <c:v>0.608</c:v>
                </c:pt>
                <c:pt idx="145">
                  <c:v>0.312</c:v>
                </c:pt>
                <c:pt idx="146">
                  <c:v>0.281</c:v>
                </c:pt>
                <c:pt idx="147">
                  <c:v>2.878</c:v>
                </c:pt>
                <c:pt idx="148">
                  <c:v>-2.743</c:v>
                </c:pt>
                <c:pt idx="149">
                  <c:v>0.659</c:v>
                </c:pt>
                <c:pt idx="150">
                  <c:v>-1.091</c:v>
                </c:pt>
                <c:pt idx="151">
                  <c:v>2.526</c:v>
                </c:pt>
                <c:pt idx="152">
                  <c:v>-0.838</c:v>
                </c:pt>
                <c:pt idx="153">
                  <c:v>2.937</c:v>
                </c:pt>
                <c:pt idx="154">
                  <c:v>1.351</c:v>
                </c:pt>
                <c:pt idx="155">
                  <c:v>-1.997</c:v>
                </c:pt>
                <c:pt idx="156">
                  <c:v>-0.087</c:v>
                </c:pt>
                <c:pt idx="157">
                  <c:v>1.778</c:v>
                </c:pt>
                <c:pt idx="158">
                  <c:v>-1.559</c:v>
                </c:pt>
                <c:pt idx="159">
                  <c:v>-1.088</c:v>
                </c:pt>
                <c:pt idx="160">
                  <c:v>-2.043</c:v>
                </c:pt>
                <c:pt idx="161">
                  <c:v>-0.556</c:v>
                </c:pt>
                <c:pt idx="162">
                  <c:v>1.434</c:v>
                </c:pt>
                <c:pt idx="163">
                  <c:v>1.247</c:v>
                </c:pt>
                <c:pt idx="164">
                  <c:v>0.473</c:v>
                </c:pt>
                <c:pt idx="165">
                  <c:v>1.395</c:v>
                </c:pt>
                <c:pt idx="166">
                  <c:v>-0.288</c:v>
                </c:pt>
                <c:pt idx="167">
                  <c:v>-1.991</c:v>
                </c:pt>
                <c:pt idx="168">
                  <c:v>0.562</c:v>
                </c:pt>
                <c:pt idx="169">
                  <c:v>2.408</c:v>
                </c:pt>
                <c:pt idx="170">
                  <c:v>-0.635</c:v>
                </c:pt>
                <c:pt idx="171">
                  <c:v>0.641</c:v>
                </c:pt>
                <c:pt idx="172">
                  <c:v>-2.778</c:v>
                </c:pt>
                <c:pt idx="173">
                  <c:v>-2.706</c:v>
                </c:pt>
                <c:pt idx="174">
                  <c:v>1.944</c:v>
                </c:pt>
                <c:pt idx="175">
                  <c:v>2.911</c:v>
                </c:pt>
                <c:pt idx="176">
                  <c:v>-0.39</c:v>
                </c:pt>
                <c:pt idx="177">
                  <c:v>-2.414</c:v>
                </c:pt>
                <c:pt idx="178">
                  <c:v>-1.687</c:v>
                </c:pt>
                <c:pt idx="179">
                  <c:v>0.365</c:v>
                </c:pt>
                <c:pt idx="180">
                  <c:v>-1.067</c:v>
                </c:pt>
                <c:pt idx="181">
                  <c:v>-1.997</c:v>
                </c:pt>
                <c:pt idx="182">
                  <c:v>-0.463</c:v>
                </c:pt>
                <c:pt idx="183">
                  <c:v>-1.113</c:v>
                </c:pt>
                <c:pt idx="184">
                  <c:v>-0.195</c:v>
                </c:pt>
                <c:pt idx="185">
                  <c:v>1.174</c:v>
                </c:pt>
                <c:pt idx="186">
                  <c:v>-2.82</c:v>
                </c:pt>
                <c:pt idx="187">
                  <c:v>-1.29</c:v>
                </c:pt>
                <c:pt idx="188">
                  <c:v>0.038</c:v>
                </c:pt>
                <c:pt idx="189">
                  <c:v>1.736</c:v>
                </c:pt>
                <c:pt idx="190">
                  <c:v>0.568</c:v>
                </c:pt>
                <c:pt idx="191">
                  <c:v>0.547</c:v>
                </c:pt>
                <c:pt idx="192">
                  <c:v>-1.238</c:v>
                </c:pt>
                <c:pt idx="193">
                  <c:v>1.206</c:v>
                </c:pt>
                <c:pt idx="194">
                  <c:v>0.301</c:v>
                </c:pt>
                <c:pt idx="195">
                  <c:v>-0.453</c:v>
                </c:pt>
                <c:pt idx="196">
                  <c:v>1.651</c:v>
                </c:pt>
                <c:pt idx="197">
                  <c:v>0.506</c:v>
                </c:pt>
                <c:pt idx="198">
                  <c:v>-1.165</c:v>
                </c:pt>
                <c:pt idx="199">
                  <c:v>1.507</c:v>
                </c:pt>
                <c:pt idx="200">
                  <c:v>-2.605</c:v>
                </c:pt>
                <c:pt idx="201">
                  <c:v>2.623</c:v>
                </c:pt>
                <c:pt idx="202">
                  <c:v>1.887</c:v>
                </c:pt>
                <c:pt idx="203">
                  <c:v>-2.381</c:v>
                </c:pt>
                <c:pt idx="204">
                  <c:v>-2.472</c:v>
                </c:pt>
                <c:pt idx="205">
                  <c:v>-0.893</c:v>
                </c:pt>
                <c:pt idx="206">
                  <c:v>0.539</c:v>
                </c:pt>
                <c:pt idx="207">
                  <c:v>3.139</c:v>
                </c:pt>
                <c:pt idx="208">
                  <c:v>2.539</c:v>
                </c:pt>
                <c:pt idx="209">
                  <c:v>1.519</c:v>
                </c:pt>
                <c:pt idx="210">
                  <c:v>-0.457</c:v>
                </c:pt>
                <c:pt idx="211">
                  <c:v>1.145</c:v>
                </c:pt>
                <c:pt idx="212">
                  <c:v>2.844</c:v>
                </c:pt>
                <c:pt idx="213">
                  <c:v>0.603</c:v>
                </c:pt>
                <c:pt idx="214">
                  <c:v>0.095</c:v>
                </c:pt>
                <c:pt idx="215">
                  <c:v>-2.235</c:v>
                </c:pt>
                <c:pt idx="216">
                  <c:v>1.881</c:v>
                </c:pt>
                <c:pt idx="217">
                  <c:v>1.748</c:v>
                </c:pt>
                <c:pt idx="218">
                  <c:v>1.282</c:v>
                </c:pt>
                <c:pt idx="219">
                  <c:v>0.946</c:v>
                </c:pt>
                <c:pt idx="220">
                  <c:v>0.013</c:v>
                </c:pt>
                <c:pt idx="221">
                  <c:v>-0.152</c:v>
                </c:pt>
                <c:pt idx="222">
                  <c:v>0.869</c:v>
                </c:pt>
                <c:pt idx="223">
                  <c:v>0.035</c:v>
                </c:pt>
                <c:pt idx="224">
                  <c:v>-1.062</c:v>
                </c:pt>
                <c:pt idx="225">
                  <c:v>1.354</c:v>
                </c:pt>
                <c:pt idx="226">
                  <c:v>3.007</c:v>
                </c:pt>
                <c:pt idx="227">
                  <c:v>0.088</c:v>
                </c:pt>
                <c:pt idx="228">
                  <c:v>0.188</c:v>
                </c:pt>
                <c:pt idx="229">
                  <c:v>0.318</c:v>
                </c:pt>
                <c:pt idx="230">
                  <c:v>-1.365</c:v>
                </c:pt>
                <c:pt idx="231">
                  <c:v>-1.856</c:v>
                </c:pt>
                <c:pt idx="232">
                  <c:v>1.218</c:v>
                </c:pt>
                <c:pt idx="233">
                  <c:v>2.552</c:v>
                </c:pt>
                <c:pt idx="234">
                  <c:v>0.759</c:v>
                </c:pt>
                <c:pt idx="235">
                  <c:v>1.952</c:v>
                </c:pt>
                <c:pt idx="236">
                  <c:v>-0.172</c:v>
                </c:pt>
                <c:pt idx="237">
                  <c:v>0.563</c:v>
                </c:pt>
                <c:pt idx="238">
                  <c:v>-0.667</c:v>
                </c:pt>
                <c:pt idx="239">
                  <c:v>-1.72</c:v>
                </c:pt>
                <c:pt idx="240">
                  <c:v>1.416</c:v>
                </c:pt>
                <c:pt idx="241">
                  <c:v>2.175</c:v>
                </c:pt>
                <c:pt idx="242">
                  <c:v>2.007</c:v>
                </c:pt>
                <c:pt idx="243">
                  <c:v>-1.652</c:v>
                </c:pt>
                <c:pt idx="244">
                  <c:v>-0.244</c:v>
                </c:pt>
                <c:pt idx="245">
                  <c:v>-0.222</c:v>
                </c:pt>
                <c:pt idx="246">
                  <c:v>0.195</c:v>
                </c:pt>
                <c:pt idx="247">
                  <c:v>2.566</c:v>
                </c:pt>
                <c:pt idx="248">
                  <c:v>1.264</c:v>
                </c:pt>
                <c:pt idx="249">
                  <c:v>-2.58</c:v>
                </c:pt>
                <c:pt idx="250">
                  <c:v>1.216</c:v>
                </c:pt>
                <c:pt idx="251">
                  <c:v>2.383</c:v>
                </c:pt>
                <c:pt idx="252">
                  <c:v>0.761</c:v>
                </c:pt>
                <c:pt idx="253">
                  <c:v>-1.373</c:v>
                </c:pt>
                <c:pt idx="254">
                  <c:v>2.072</c:v>
                </c:pt>
                <c:pt idx="255">
                  <c:v>0.108</c:v>
                </c:pt>
                <c:pt idx="256">
                  <c:v>-3.06</c:v>
                </c:pt>
                <c:pt idx="257">
                  <c:v>2.248</c:v>
                </c:pt>
                <c:pt idx="258">
                  <c:v>-2.742</c:v>
                </c:pt>
                <c:pt idx="259">
                  <c:v>-2.08</c:v>
                </c:pt>
                <c:pt idx="260">
                  <c:v>0.461</c:v>
                </c:pt>
                <c:pt idx="261">
                  <c:v>0.656</c:v>
                </c:pt>
                <c:pt idx="262">
                  <c:v>2.433</c:v>
                </c:pt>
                <c:pt idx="263">
                  <c:v>-0.102</c:v>
                </c:pt>
                <c:pt idx="264">
                  <c:v>-1.112</c:v>
                </c:pt>
                <c:pt idx="265">
                  <c:v>1.445</c:v>
                </c:pt>
                <c:pt idx="266">
                  <c:v>-0.353</c:v>
                </c:pt>
                <c:pt idx="267">
                  <c:v>0.275</c:v>
                </c:pt>
                <c:pt idx="268">
                  <c:v>-0.604</c:v>
                </c:pt>
                <c:pt idx="269">
                  <c:v>-2.207</c:v>
                </c:pt>
                <c:pt idx="270">
                  <c:v>1.224</c:v>
                </c:pt>
                <c:pt idx="271">
                  <c:v>2.455</c:v>
                </c:pt>
                <c:pt idx="272">
                  <c:v>1.178</c:v>
                </c:pt>
                <c:pt idx="273">
                  <c:v>-2.246</c:v>
                </c:pt>
                <c:pt idx="274">
                  <c:v>0.817</c:v>
                </c:pt>
                <c:pt idx="275">
                  <c:v>3.023</c:v>
                </c:pt>
                <c:pt idx="276">
                  <c:v>0.863</c:v>
                </c:pt>
                <c:pt idx="277">
                  <c:v>-3.104</c:v>
                </c:pt>
                <c:pt idx="278">
                  <c:v>-0.32</c:v>
                </c:pt>
                <c:pt idx="279">
                  <c:v>2.848</c:v>
                </c:pt>
                <c:pt idx="280">
                  <c:v>1.07</c:v>
                </c:pt>
                <c:pt idx="281">
                  <c:v>-2.929</c:v>
                </c:pt>
                <c:pt idx="282">
                  <c:v>-2.052</c:v>
                </c:pt>
                <c:pt idx="283">
                  <c:v>1.198</c:v>
                </c:pt>
                <c:pt idx="284">
                  <c:v>0.275</c:v>
                </c:pt>
                <c:pt idx="285">
                  <c:v>1.981</c:v>
                </c:pt>
                <c:pt idx="286">
                  <c:v>-1.587</c:v>
                </c:pt>
                <c:pt idx="287">
                  <c:v>2.554</c:v>
                </c:pt>
                <c:pt idx="288">
                  <c:v>-2.587</c:v>
                </c:pt>
                <c:pt idx="289">
                  <c:v>-1.525</c:v>
                </c:pt>
                <c:pt idx="290">
                  <c:v>-1.937</c:v>
                </c:pt>
                <c:pt idx="291">
                  <c:v>2.114</c:v>
                </c:pt>
                <c:pt idx="292">
                  <c:v>2.461</c:v>
                </c:pt>
                <c:pt idx="293">
                  <c:v>1.886</c:v>
                </c:pt>
                <c:pt idx="294">
                  <c:v>0.375</c:v>
                </c:pt>
                <c:pt idx="295">
                  <c:v>3.004</c:v>
                </c:pt>
                <c:pt idx="296">
                  <c:v>-3.051</c:v>
                </c:pt>
                <c:pt idx="297">
                  <c:v>-1.836</c:v>
                </c:pt>
                <c:pt idx="298">
                  <c:v>2.135</c:v>
                </c:pt>
                <c:pt idx="299">
                  <c:v>1.346</c:v>
                </c:pt>
              </c:numCache>
            </c:numRef>
          </c:xVal>
          <c:yVal>
            <c:numRef>
              <c:f>Sheet1!$C$2:$C$301</c:f>
              <c:numCache>
                <c:formatCode>General</c:formatCode>
                <c:ptCount val="300"/>
                <c:pt idx="0">
                  <c:v>2.101</c:v>
                </c:pt>
                <c:pt idx="1">
                  <c:v>5.66</c:v>
                </c:pt>
                <c:pt idx="2">
                  <c:v>6.236</c:v>
                </c:pt>
                <c:pt idx="3">
                  <c:v>3.186</c:v>
                </c:pt>
                <c:pt idx="4">
                  <c:v>4.614</c:v>
                </c:pt>
                <c:pt idx="5">
                  <c:v>2.699</c:v>
                </c:pt>
                <c:pt idx="6">
                  <c:v>2.453</c:v>
                </c:pt>
                <c:pt idx="7">
                  <c:v>0.651</c:v>
                </c:pt>
                <c:pt idx="8">
                  <c:v>4.745</c:v>
                </c:pt>
                <c:pt idx="9">
                  <c:v>4.866</c:v>
                </c:pt>
                <c:pt idx="10">
                  <c:v>3.913</c:v>
                </c:pt>
                <c:pt idx="11">
                  <c:v>5.038</c:v>
                </c:pt>
                <c:pt idx="12">
                  <c:v>1.133</c:v>
                </c:pt>
                <c:pt idx="13">
                  <c:v>3.803</c:v>
                </c:pt>
                <c:pt idx="14">
                  <c:v>5.983</c:v>
                </c:pt>
                <c:pt idx="15">
                  <c:v>0.707</c:v>
                </c:pt>
                <c:pt idx="16">
                  <c:v>4.693</c:v>
                </c:pt>
                <c:pt idx="17">
                  <c:v>3.379</c:v>
                </c:pt>
                <c:pt idx="18">
                  <c:v>0.556</c:v>
                </c:pt>
                <c:pt idx="19">
                  <c:v>0.557</c:v>
                </c:pt>
                <c:pt idx="20">
                  <c:v>1.476</c:v>
                </c:pt>
                <c:pt idx="21">
                  <c:v>4.928</c:v>
                </c:pt>
                <c:pt idx="22">
                  <c:v>3.037</c:v>
                </c:pt>
                <c:pt idx="23">
                  <c:v>5.578</c:v>
                </c:pt>
                <c:pt idx="24">
                  <c:v>3.317</c:v>
                </c:pt>
                <c:pt idx="25">
                  <c:v>1.53</c:v>
                </c:pt>
                <c:pt idx="26">
                  <c:v>2.911</c:v>
                </c:pt>
                <c:pt idx="27">
                  <c:v>2.684</c:v>
                </c:pt>
                <c:pt idx="28">
                  <c:v>1.457</c:v>
                </c:pt>
                <c:pt idx="29">
                  <c:v>3.065</c:v>
                </c:pt>
                <c:pt idx="30">
                  <c:v>6.234</c:v>
                </c:pt>
                <c:pt idx="31">
                  <c:v>0.643</c:v>
                </c:pt>
                <c:pt idx="32">
                  <c:v>6.062</c:v>
                </c:pt>
                <c:pt idx="33">
                  <c:v>0.85</c:v>
                </c:pt>
                <c:pt idx="34">
                  <c:v>0.552</c:v>
                </c:pt>
                <c:pt idx="35">
                  <c:v>6.299</c:v>
                </c:pt>
                <c:pt idx="36">
                  <c:v>3.559</c:v>
                </c:pt>
                <c:pt idx="37">
                  <c:v>3.989</c:v>
                </c:pt>
                <c:pt idx="38">
                  <c:v>0.713</c:v>
                </c:pt>
                <c:pt idx="39">
                  <c:v>1.325</c:v>
                </c:pt>
                <c:pt idx="40">
                  <c:v>4.071</c:v>
                </c:pt>
                <c:pt idx="41">
                  <c:v>2.094</c:v>
                </c:pt>
                <c:pt idx="42">
                  <c:v>3.311</c:v>
                </c:pt>
                <c:pt idx="43">
                  <c:v>5.593</c:v>
                </c:pt>
                <c:pt idx="44">
                  <c:v>3.141</c:v>
                </c:pt>
                <c:pt idx="45">
                  <c:v>5.719</c:v>
                </c:pt>
                <c:pt idx="46">
                  <c:v>5.834</c:v>
                </c:pt>
                <c:pt idx="47">
                  <c:v>0.559</c:v>
                </c:pt>
                <c:pt idx="48">
                  <c:v>4.599</c:v>
                </c:pt>
                <c:pt idx="49">
                  <c:v>5.151</c:v>
                </c:pt>
                <c:pt idx="50">
                  <c:v>6.413</c:v>
                </c:pt>
                <c:pt idx="51">
                  <c:v>2.627</c:v>
                </c:pt>
                <c:pt idx="52">
                  <c:v>5.895</c:v>
                </c:pt>
                <c:pt idx="53">
                  <c:v>0.613</c:v>
                </c:pt>
                <c:pt idx="54">
                  <c:v>5.822</c:v>
                </c:pt>
                <c:pt idx="55">
                  <c:v>4.842</c:v>
                </c:pt>
                <c:pt idx="56">
                  <c:v>2.192</c:v>
                </c:pt>
                <c:pt idx="57">
                  <c:v>2.421</c:v>
                </c:pt>
                <c:pt idx="58">
                  <c:v>0.612</c:v>
                </c:pt>
                <c:pt idx="59">
                  <c:v>6.293</c:v>
                </c:pt>
                <c:pt idx="60">
                  <c:v>5.479</c:v>
                </c:pt>
                <c:pt idx="61">
                  <c:v>2.391</c:v>
                </c:pt>
                <c:pt idx="62">
                  <c:v>3.206</c:v>
                </c:pt>
                <c:pt idx="63">
                  <c:v>5.663</c:v>
                </c:pt>
                <c:pt idx="64">
                  <c:v>3.194</c:v>
                </c:pt>
                <c:pt idx="65">
                  <c:v>5.05</c:v>
                </c:pt>
                <c:pt idx="66">
                  <c:v>6.273</c:v>
                </c:pt>
                <c:pt idx="67">
                  <c:v>5.756</c:v>
                </c:pt>
                <c:pt idx="68">
                  <c:v>0.556</c:v>
                </c:pt>
                <c:pt idx="69">
                  <c:v>4.941</c:v>
                </c:pt>
                <c:pt idx="70">
                  <c:v>3.116</c:v>
                </c:pt>
                <c:pt idx="71">
                  <c:v>4.758</c:v>
                </c:pt>
                <c:pt idx="72">
                  <c:v>3.73</c:v>
                </c:pt>
                <c:pt idx="73">
                  <c:v>1.918</c:v>
                </c:pt>
                <c:pt idx="74">
                  <c:v>6.442</c:v>
                </c:pt>
                <c:pt idx="75">
                  <c:v>1.585</c:v>
                </c:pt>
                <c:pt idx="76">
                  <c:v>0.557</c:v>
                </c:pt>
                <c:pt idx="77">
                  <c:v>6.315</c:v>
                </c:pt>
                <c:pt idx="78">
                  <c:v>5.813</c:v>
                </c:pt>
                <c:pt idx="79">
                  <c:v>3.116</c:v>
                </c:pt>
                <c:pt idx="80">
                  <c:v>1.532</c:v>
                </c:pt>
                <c:pt idx="81">
                  <c:v>3.462</c:v>
                </c:pt>
                <c:pt idx="82">
                  <c:v>1.392</c:v>
                </c:pt>
                <c:pt idx="83">
                  <c:v>3.113</c:v>
                </c:pt>
                <c:pt idx="84">
                  <c:v>5.85</c:v>
                </c:pt>
                <c:pt idx="85">
                  <c:v>5.445</c:v>
                </c:pt>
                <c:pt idx="86">
                  <c:v>1.983</c:v>
                </c:pt>
                <c:pt idx="87">
                  <c:v>2.623</c:v>
                </c:pt>
                <c:pt idx="88">
                  <c:v>0.557</c:v>
                </c:pt>
                <c:pt idx="89">
                  <c:v>0.791</c:v>
                </c:pt>
                <c:pt idx="90">
                  <c:v>4.053</c:v>
                </c:pt>
                <c:pt idx="91">
                  <c:v>0.932</c:v>
                </c:pt>
                <c:pt idx="92">
                  <c:v>6.195</c:v>
                </c:pt>
                <c:pt idx="93">
                  <c:v>0.689</c:v>
                </c:pt>
                <c:pt idx="94">
                  <c:v>4.429</c:v>
                </c:pt>
                <c:pt idx="95">
                  <c:v>5.54</c:v>
                </c:pt>
                <c:pt idx="96">
                  <c:v>5.647</c:v>
                </c:pt>
                <c:pt idx="97">
                  <c:v>6.107</c:v>
                </c:pt>
                <c:pt idx="98">
                  <c:v>4.503</c:v>
                </c:pt>
                <c:pt idx="99">
                  <c:v>5.93</c:v>
                </c:pt>
                <c:pt idx="100">
                  <c:v>6.437</c:v>
                </c:pt>
                <c:pt idx="101">
                  <c:v>2.119</c:v>
                </c:pt>
                <c:pt idx="102">
                  <c:v>0.76</c:v>
                </c:pt>
                <c:pt idx="103">
                  <c:v>1.185</c:v>
                </c:pt>
                <c:pt idx="104">
                  <c:v>5.976</c:v>
                </c:pt>
                <c:pt idx="105">
                  <c:v>0.571</c:v>
                </c:pt>
                <c:pt idx="106">
                  <c:v>0.819</c:v>
                </c:pt>
                <c:pt idx="107">
                  <c:v>2.353</c:v>
                </c:pt>
                <c:pt idx="108">
                  <c:v>4.683</c:v>
                </c:pt>
                <c:pt idx="109">
                  <c:v>5.182</c:v>
                </c:pt>
                <c:pt idx="110">
                  <c:v>1.197</c:v>
                </c:pt>
                <c:pt idx="111">
                  <c:v>0.552</c:v>
                </c:pt>
                <c:pt idx="112">
                  <c:v>0.814</c:v>
                </c:pt>
                <c:pt idx="113">
                  <c:v>4.622</c:v>
                </c:pt>
                <c:pt idx="114">
                  <c:v>6.348</c:v>
                </c:pt>
                <c:pt idx="115">
                  <c:v>5.583</c:v>
                </c:pt>
                <c:pt idx="116">
                  <c:v>6.265</c:v>
                </c:pt>
                <c:pt idx="117">
                  <c:v>6.227</c:v>
                </c:pt>
                <c:pt idx="118">
                  <c:v>0.648</c:v>
                </c:pt>
                <c:pt idx="119">
                  <c:v>6.224</c:v>
                </c:pt>
                <c:pt idx="120">
                  <c:v>6.357</c:v>
                </c:pt>
                <c:pt idx="121">
                  <c:v>0.629</c:v>
                </c:pt>
                <c:pt idx="122">
                  <c:v>0.954</c:v>
                </c:pt>
                <c:pt idx="123">
                  <c:v>3.67</c:v>
                </c:pt>
                <c:pt idx="124">
                  <c:v>6.442</c:v>
                </c:pt>
                <c:pt idx="125">
                  <c:v>5.129</c:v>
                </c:pt>
                <c:pt idx="126">
                  <c:v>2.496</c:v>
                </c:pt>
                <c:pt idx="127">
                  <c:v>6.294</c:v>
                </c:pt>
                <c:pt idx="128">
                  <c:v>1.621</c:v>
                </c:pt>
                <c:pt idx="129">
                  <c:v>5.321</c:v>
                </c:pt>
                <c:pt idx="130">
                  <c:v>5.993</c:v>
                </c:pt>
                <c:pt idx="131">
                  <c:v>0.951</c:v>
                </c:pt>
                <c:pt idx="132">
                  <c:v>6.37</c:v>
                </c:pt>
                <c:pt idx="133">
                  <c:v>6.167</c:v>
                </c:pt>
                <c:pt idx="134">
                  <c:v>6.448</c:v>
                </c:pt>
                <c:pt idx="135">
                  <c:v>0.592</c:v>
                </c:pt>
                <c:pt idx="136">
                  <c:v>0.562</c:v>
                </c:pt>
                <c:pt idx="137">
                  <c:v>2.702</c:v>
                </c:pt>
                <c:pt idx="138">
                  <c:v>6.063</c:v>
                </c:pt>
                <c:pt idx="139">
                  <c:v>0.557</c:v>
                </c:pt>
                <c:pt idx="140">
                  <c:v>2.757</c:v>
                </c:pt>
                <c:pt idx="141">
                  <c:v>5.025</c:v>
                </c:pt>
                <c:pt idx="142">
                  <c:v>6.327</c:v>
                </c:pt>
                <c:pt idx="143">
                  <c:v>5.507</c:v>
                </c:pt>
                <c:pt idx="144">
                  <c:v>5.184</c:v>
                </c:pt>
                <c:pt idx="145">
                  <c:v>4.405</c:v>
                </c:pt>
                <c:pt idx="146">
                  <c:v>4.318</c:v>
                </c:pt>
                <c:pt idx="147">
                  <c:v>4.268</c:v>
                </c:pt>
                <c:pt idx="148">
                  <c:v>2.356</c:v>
                </c:pt>
                <c:pt idx="149">
                  <c:v>5.305</c:v>
                </c:pt>
                <c:pt idx="150">
                  <c:v>0.885</c:v>
                </c:pt>
                <c:pt idx="151">
                  <c:v>5.202</c:v>
                </c:pt>
                <c:pt idx="152">
                  <c:v>1.309</c:v>
                </c:pt>
                <c:pt idx="153">
                  <c:v>4.099</c:v>
                </c:pt>
                <c:pt idx="154">
                  <c:v>6.377</c:v>
                </c:pt>
                <c:pt idx="155">
                  <c:v>0.816</c:v>
                </c:pt>
                <c:pt idx="156">
                  <c:v>3.244</c:v>
                </c:pt>
                <c:pt idx="157">
                  <c:v>6.385</c:v>
                </c:pt>
                <c:pt idx="158">
                  <c:v>0.552</c:v>
                </c:pt>
                <c:pt idx="159">
                  <c:v>0.889</c:v>
                </c:pt>
                <c:pt idx="160">
                  <c:v>0.874</c:v>
                </c:pt>
                <c:pt idx="161">
                  <c:v>1.944</c:v>
                </c:pt>
                <c:pt idx="162">
                  <c:v>6.421</c:v>
                </c:pt>
                <c:pt idx="163">
                  <c:v>6.295</c:v>
                </c:pt>
                <c:pt idx="164">
                  <c:v>4.843</c:v>
                </c:pt>
                <c:pt idx="165">
                  <c:v>6.403</c:v>
                </c:pt>
                <c:pt idx="166">
                  <c:v>2.663</c:v>
                </c:pt>
                <c:pt idx="167">
                  <c:v>0.808</c:v>
                </c:pt>
                <c:pt idx="168">
                  <c:v>5.071</c:v>
                </c:pt>
                <c:pt idx="169">
                  <c:v>5.474</c:v>
                </c:pt>
                <c:pt idx="170">
                  <c:v>1.751</c:v>
                </c:pt>
                <c:pt idx="171">
                  <c:v>5.263</c:v>
                </c:pt>
                <c:pt idx="172">
                  <c:v>2.452</c:v>
                </c:pt>
                <c:pt idx="173">
                  <c:v>2.256</c:v>
                </c:pt>
                <c:pt idx="174">
                  <c:v>6.245</c:v>
                </c:pt>
                <c:pt idx="175">
                  <c:v>4.174</c:v>
                </c:pt>
                <c:pt idx="176">
                  <c:v>2.379</c:v>
                </c:pt>
                <c:pt idx="177">
                  <c:v>1.539</c:v>
                </c:pt>
                <c:pt idx="178">
                  <c:v>0.572</c:v>
                </c:pt>
                <c:pt idx="179">
                  <c:v>4.552</c:v>
                </c:pt>
                <c:pt idx="180">
                  <c:v>0.918</c:v>
                </c:pt>
                <c:pt idx="181">
                  <c:v>0.816</c:v>
                </c:pt>
                <c:pt idx="182">
                  <c:v>2.183</c:v>
                </c:pt>
                <c:pt idx="183">
                  <c:v>0.855</c:v>
                </c:pt>
                <c:pt idx="184">
                  <c:v>2.929</c:v>
                </c:pt>
                <c:pt idx="185">
                  <c:v>6.219</c:v>
                </c:pt>
                <c:pt idx="186">
                  <c:v>2.568</c:v>
                </c:pt>
                <c:pt idx="187">
                  <c:v>0.667</c:v>
                </c:pt>
                <c:pt idx="188">
                  <c:v>3.612</c:v>
                </c:pt>
                <c:pt idx="189">
                  <c:v>6.408</c:v>
                </c:pt>
                <c:pt idx="190">
                  <c:v>5.086</c:v>
                </c:pt>
                <c:pt idx="191">
                  <c:v>5.033</c:v>
                </c:pt>
                <c:pt idx="192">
                  <c:v>0.714</c:v>
                </c:pt>
                <c:pt idx="193">
                  <c:v>6.254</c:v>
                </c:pt>
                <c:pt idx="194">
                  <c:v>4.374</c:v>
                </c:pt>
                <c:pt idx="195">
                  <c:v>2.21</c:v>
                </c:pt>
                <c:pt idx="196">
                  <c:v>6.439</c:v>
                </c:pt>
                <c:pt idx="197">
                  <c:v>4.929</c:v>
                </c:pt>
                <c:pt idx="198">
                  <c:v>0.791</c:v>
                </c:pt>
                <c:pt idx="199">
                  <c:v>6.442</c:v>
                </c:pt>
                <c:pt idx="200">
                  <c:v>1.993</c:v>
                </c:pt>
                <c:pt idx="201">
                  <c:v>4.961</c:v>
                </c:pt>
                <c:pt idx="202">
                  <c:v>6.302</c:v>
                </c:pt>
                <c:pt idx="203">
                  <c:v>1.468</c:v>
                </c:pt>
                <c:pt idx="204">
                  <c:v>1.67</c:v>
                </c:pt>
                <c:pt idx="205">
                  <c:v>1.203</c:v>
                </c:pt>
                <c:pt idx="206">
                  <c:v>5.013</c:v>
                </c:pt>
                <c:pt idx="207">
                  <c:v>3.508</c:v>
                </c:pt>
                <c:pt idx="208">
                  <c:v>5.171</c:v>
                </c:pt>
                <c:pt idx="209">
                  <c:v>6.444</c:v>
                </c:pt>
                <c:pt idx="210">
                  <c:v>2.199</c:v>
                </c:pt>
                <c:pt idx="211">
                  <c:v>6.185</c:v>
                </c:pt>
                <c:pt idx="212">
                  <c:v>4.364</c:v>
                </c:pt>
                <c:pt idx="213">
                  <c:v>5.172</c:v>
                </c:pt>
                <c:pt idx="214">
                  <c:v>3.78</c:v>
                </c:pt>
                <c:pt idx="215">
                  <c:v>1.179</c:v>
                </c:pt>
                <c:pt idx="216">
                  <c:v>6.307</c:v>
                </c:pt>
                <c:pt idx="217">
                  <c:v>6.402</c:v>
                </c:pt>
                <c:pt idx="218">
                  <c:v>6.326</c:v>
                </c:pt>
                <c:pt idx="219">
                  <c:v>5.891</c:v>
                </c:pt>
                <c:pt idx="220">
                  <c:v>3.538</c:v>
                </c:pt>
                <c:pt idx="221">
                  <c:v>3.054</c:v>
                </c:pt>
                <c:pt idx="222">
                  <c:v>5.751</c:v>
                </c:pt>
                <c:pt idx="223">
                  <c:v>3.603</c:v>
                </c:pt>
                <c:pt idx="224">
                  <c:v>0.925</c:v>
                </c:pt>
                <c:pt idx="225">
                  <c:v>6.379</c:v>
                </c:pt>
                <c:pt idx="226">
                  <c:v>3.896</c:v>
                </c:pt>
                <c:pt idx="227">
                  <c:v>3.759</c:v>
                </c:pt>
                <c:pt idx="228">
                  <c:v>4.051</c:v>
                </c:pt>
                <c:pt idx="229">
                  <c:v>4.422</c:v>
                </c:pt>
                <c:pt idx="230">
                  <c:v>0.614</c:v>
                </c:pt>
                <c:pt idx="231">
                  <c:v>0.671</c:v>
                </c:pt>
                <c:pt idx="232">
                  <c:v>6.267</c:v>
                </c:pt>
                <c:pt idx="233">
                  <c:v>5.139</c:v>
                </c:pt>
                <c:pt idx="234">
                  <c:v>5.529</c:v>
                </c:pt>
                <c:pt idx="235">
                  <c:v>6.237</c:v>
                </c:pt>
                <c:pt idx="236">
                  <c:v>2.995</c:v>
                </c:pt>
                <c:pt idx="237">
                  <c:v>5.074</c:v>
                </c:pt>
                <c:pt idx="238">
                  <c:v>1.676</c:v>
                </c:pt>
                <c:pt idx="239">
                  <c:v>0.585</c:v>
                </c:pt>
                <c:pt idx="240">
                  <c:v>6.413</c:v>
                </c:pt>
                <c:pt idx="241">
                  <c:v>5.926</c:v>
                </c:pt>
                <c:pt idx="242">
                  <c:v>6.172</c:v>
                </c:pt>
                <c:pt idx="243">
                  <c:v>0.562</c:v>
                </c:pt>
                <c:pt idx="244">
                  <c:v>2.788</c:v>
                </c:pt>
                <c:pt idx="245">
                  <c:v>2.851</c:v>
                </c:pt>
                <c:pt idx="246">
                  <c:v>4.071</c:v>
                </c:pt>
                <c:pt idx="247">
                  <c:v>5.105</c:v>
                </c:pt>
                <c:pt idx="248">
                  <c:v>6.311</c:v>
                </c:pt>
                <c:pt idx="249">
                  <c:v>1.93</c:v>
                </c:pt>
                <c:pt idx="250">
                  <c:v>6.265</c:v>
                </c:pt>
                <c:pt idx="251">
                  <c:v>5.528</c:v>
                </c:pt>
                <c:pt idx="252">
                  <c:v>5.533</c:v>
                </c:pt>
                <c:pt idx="253">
                  <c:v>0.609</c:v>
                </c:pt>
                <c:pt idx="254">
                  <c:v>6.086</c:v>
                </c:pt>
                <c:pt idx="255">
                  <c:v>3.818</c:v>
                </c:pt>
                <c:pt idx="256">
                  <c:v>3.26</c:v>
                </c:pt>
                <c:pt idx="257">
                  <c:v>5.798</c:v>
                </c:pt>
                <c:pt idx="258">
                  <c:v>2.353</c:v>
                </c:pt>
                <c:pt idx="259">
                  <c:v>0.926</c:v>
                </c:pt>
                <c:pt idx="260">
                  <c:v>4.811</c:v>
                </c:pt>
                <c:pt idx="261">
                  <c:v>5.298</c:v>
                </c:pt>
                <c:pt idx="262">
                  <c:v>5.419</c:v>
                </c:pt>
                <c:pt idx="263">
                  <c:v>3.2</c:v>
                </c:pt>
                <c:pt idx="264">
                  <c:v>0.857</c:v>
                </c:pt>
                <c:pt idx="265">
                  <c:v>6.425</c:v>
                </c:pt>
                <c:pt idx="266">
                  <c:v>2.481</c:v>
                </c:pt>
                <c:pt idx="267">
                  <c:v>4.301</c:v>
                </c:pt>
                <c:pt idx="268">
                  <c:v>1.826</c:v>
                </c:pt>
                <c:pt idx="269">
                  <c:v>1.129</c:v>
                </c:pt>
                <c:pt idx="270">
                  <c:v>6.273</c:v>
                </c:pt>
                <c:pt idx="271">
                  <c:v>5.369</c:v>
                </c:pt>
                <c:pt idx="272">
                  <c:v>6.224</c:v>
                </c:pt>
                <c:pt idx="273">
                  <c:v>1.199</c:v>
                </c:pt>
                <c:pt idx="274">
                  <c:v>5.65</c:v>
                </c:pt>
                <c:pt idx="275">
                  <c:v>3.849</c:v>
                </c:pt>
                <c:pt idx="276">
                  <c:v>5.74</c:v>
                </c:pt>
                <c:pt idx="277">
                  <c:v>3.389</c:v>
                </c:pt>
                <c:pt idx="278">
                  <c:v>2.573</c:v>
                </c:pt>
                <c:pt idx="279">
                  <c:v>4.353</c:v>
                </c:pt>
                <c:pt idx="280">
                  <c:v>6.086</c:v>
                </c:pt>
                <c:pt idx="281">
                  <c:v>2.878</c:v>
                </c:pt>
                <c:pt idx="282">
                  <c:v>0.887</c:v>
                </c:pt>
                <c:pt idx="283">
                  <c:v>6.246</c:v>
                </c:pt>
                <c:pt idx="284">
                  <c:v>4.301</c:v>
                </c:pt>
                <c:pt idx="285">
                  <c:v>6.204</c:v>
                </c:pt>
                <c:pt idx="286">
                  <c:v>0.552</c:v>
                </c:pt>
                <c:pt idx="287">
                  <c:v>5.134</c:v>
                </c:pt>
                <c:pt idx="288">
                  <c:v>1.947</c:v>
                </c:pt>
                <c:pt idx="289">
                  <c:v>0.555</c:v>
                </c:pt>
                <c:pt idx="290">
                  <c:v>0.747</c:v>
                </c:pt>
                <c:pt idx="291">
                  <c:v>6.024</c:v>
                </c:pt>
                <c:pt idx="292">
                  <c:v>5.355</c:v>
                </c:pt>
                <c:pt idx="293">
                  <c:v>6.303</c:v>
                </c:pt>
                <c:pt idx="294">
                  <c:v>4.58</c:v>
                </c:pt>
                <c:pt idx="295">
                  <c:v>3.904</c:v>
                </c:pt>
                <c:pt idx="296">
                  <c:v>3.233</c:v>
                </c:pt>
                <c:pt idx="297">
                  <c:v>0.655</c:v>
                </c:pt>
                <c:pt idx="298">
                  <c:v>5.991</c:v>
                </c:pt>
                <c:pt idx="299">
                  <c:v>6.374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4"/>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C6F7F"/>
                </a:solidFill>
                <a:latin typeface="Arial"/>
              </a:defRPr>
            </a:pPr>
            <a:endParaRPr lang="en-US"/>
          </a:p>
        </c:txPr>
        <c:crossAx val="2094734552"/>
        <c:crosses val="min"/>
        <c:auto val="1"/>
        <c:lblAlgn val="ctr"/>
        <c:noMultiLvlLbl val="1"/>
        <c:majorUnit val="2"/>
      </c:valAx>
      <c:valAx>
        <c:axId val="2094734552"/>
        <c:scaling>
          <c:orientation val="minMax"/>
          <c:max val="20"/>
          <c:min val="-12"/>
        </c:scaling>
        <c:delete val="0"/>
        <c:axPos val="l"/>
        <c:majorGridlines>
          <c:spPr>
            <a:ln w="6350" cap="flat">
              <a:solidFill>
                <a:srgbClr val="E6E8E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C6F7F"/>
                </a:solidFill>
                <a:latin typeface="Arial"/>
              </a:defRPr>
            </a:pPr>
            <a:endParaRPr lang="en-US"/>
          </a:p>
        </c:txPr>
        <c:crossAx val="2094734554"/>
        <c:crosses val="min"/>
        <c:crossBetween val="midCat"/>
        <c:majorUnit val="8"/>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サンプル</c:v>
                </c:pt>
              </c:strCache>
            </c:strRef>
          </c:tx>
          <c:spPr>
            <a:solidFill>
              <a:srgbClr val="9ED3CB"/>
            </a:solidFill>
            <a:ln>
              <a:noFill/>
            </a:ln>
            <a:effectLst/>
          </c:spPr>
          <c:marker>
            <c:symbol val="circle"/>
            <c:size val="5"/>
            <c:spPr>
              <a:solidFill>
                <a:srgbClr val="9ED3CB"/>
              </a:solidFill>
              <a:ln w="9525" cap="flat">
                <a:solidFill>
                  <a:srgbClr val="9ED3CB"/>
                </a:solidFill>
                <a:prstDash val="solid"/>
                <a:round/>
              </a:ln>
              <a:effectLst/>
            </c:spPr>
          </c:marker>
          <c:xVal>
            <c:numRef>
              <c:f>Sheet1!$A$2:$A$301</c:f>
              <c:numCache>
                <c:formatCode>General</c:formatCode>
                <c:ptCount val="300"/>
                <c:pt idx="0">
                  <c:v>-1.47</c:v>
                </c:pt>
                <c:pt idx="1">
                  <c:v>1.795</c:v>
                </c:pt>
                <c:pt idx="2">
                  <c:v>-2.406</c:v>
                </c:pt>
                <c:pt idx="3">
                  <c:v>-1.591</c:v>
                </c:pt>
                <c:pt idx="4">
                  <c:v>1.712</c:v>
                </c:pt>
                <c:pt idx="5">
                  <c:v>1.512</c:v>
                </c:pt>
                <c:pt idx="6">
                  <c:v>-1.655</c:v>
                </c:pt>
                <c:pt idx="7">
                  <c:v>0.41</c:v>
                </c:pt>
                <c:pt idx="8">
                  <c:v>-2.517</c:v>
                </c:pt>
                <c:pt idx="9">
                  <c:v>-1.149</c:v>
                </c:pt>
                <c:pt idx="10">
                  <c:v>2.68</c:v>
                </c:pt>
                <c:pt idx="11">
                  <c:v>2.756</c:v>
                </c:pt>
                <c:pt idx="12">
                  <c:v>-1.158</c:v>
                </c:pt>
                <c:pt idx="13">
                  <c:v>0.025</c:v>
                </c:pt>
                <c:pt idx="14">
                  <c:v>2.269</c:v>
                </c:pt>
                <c:pt idx="15">
                  <c:v>1.547</c:v>
                </c:pt>
                <c:pt idx="16">
                  <c:v>0.848</c:v>
                </c:pt>
                <c:pt idx="17">
                  <c:v>0.521</c:v>
                </c:pt>
                <c:pt idx="18">
                  <c:v>0.637</c:v>
                </c:pt>
                <c:pt idx="19">
                  <c:v>-2.807</c:v>
                </c:pt>
                <c:pt idx="20">
                  <c:v>2.68</c:v>
                </c:pt>
                <c:pt idx="21">
                  <c:v>-2.258</c:v>
                </c:pt>
                <c:pt idx="22">
                  <c:v>2.788</c:v>
                </c:pt>
                <c:pt idx="23">
                  <c:v>-0.902</c:v>
                </c:pt>
                <c:pt idx="24">
                  <c:v>-2.893</c:v>
                </c:pt>
                <c:pt idx="25">
                  <c:v>-1.322</c:v>
                </c:pt>
                <c:pt idx="26">
                  <c:v>1.425</c:v>
                </c:pt>
                <c:pt idx="27">
                  <c:v>-0.443</c:v>
                </c:pt>
                <c:pt idx="28">
                  <c:v>-0.16</c:v>
                </c:pt>
                <c:pt idx="29">
                  <c:v>0.247</c:v>
                </c:pt>
                <c:pt idx="30">
                  <c:v>0.296</c:v>
                </c:pt>
                <c:pt idx="31">
                  <c:v>2.661</c:v>
                </c:pt>
                <c:pt idx="32">
                  <c:v>-0.855</c:v>
                </c:pt>
                <c:pt idx="33">
                  <c:v>-2.089</c:v>
                </c:pt>
                <c:pt idx="34">
                  <c:v>-0.307</c:v>
                </c:pt>
                <c:pt idx="35">
                  <c:v>-1.486</c:v>
                </c:pt>
                <c:pt idx="36">
                  <c:v>2.575</c:v>
                </c:pt>
                <c:pt idx="37">
                  <c:v>2.075</c:v>
                </c:pt>
                <c:pt idx="38">
                  <c:v>1.795</c:v>
                </c:pt>
                <c:pt idx="39">
                  <c:v>0.714</c:v>
                </c:pt>
                <c:pt idx="40">
                  <c:v>-1.868</c:v>
                </c:pt>
                <c:pt idx="41">
                  <c:v>1.699</c:v>
                </c:pt>
                <c:pt idx="42">
                  <c:v>0.209</c:v>
                </c:pt>
                <c:pt idx="43">
                  <c:v>1.566</c:v>
                </c:pt>
                <c:pt idx="44">
                  <c:v>-0.499</c:v>
                </c:pt>
                <c:pt idx="45">
                  <c:v>2.155</c:v>
                </c:pt>
                <c:pt idx="46">
                  <c:v>-0.136</c:v>
                </c:pt>
                <c:pt idx="47">
                  <c:v>-2.554</c:v>
                </c:pt>
                <c:pt idx="48">
                  <c:v>1.775</c:v>
                </c:pt>
                <c:pt idx="49">
                  <c:v>1.335</c:v>
                </c:pt>
                <c:pt idx="50">
                  <c:v>-0.027</c:v>
                </c:pt>
                <c:pt idx="51">
                  <c:v>-0.21</c:v>
                </c:pt>
                <c:pt idx="52">
                  <c:v>-0.384</c:v>
                </c:pt>
                <c:pt idx="53">
                  <c:v>-1.955</c:v>
                </c:pt>
                <c:pt idx="54">
                  <c:v>0.018</c:v>
                </c:pt>
                <c:pt idx="55">
                  <c:v>-1.137</c:v>
                </c:pt>
                <c:pt idx="56">
                  <c:v>1.849</c:v>
                </c:pt>
                <c:pt idx="57">
                  <c:v>-0.321</c:v>
                </c:pt>
                <c:pt idx="58">
                  <c:v>0.808</c:v>
                </c:pt>
                <c:pt idx="59">
                  <c:v>-2.066</c:v>
                </c:pt>
                <c:pt idx="60">
                  <c:v>-0.193</c:v>
                </c:pt>
                <c:pt idx="61">
                  <c:v>2.905</c:v>
                </c:pt>
                <c:pt idx="62">
                  <c:v>-2.827</c:v>
                </c:pt>
                <c:pt idx="63">
                  <c:v>-1.781</c:v>
                </c:pt>
                <c:pt idx="64">
                  <c:v>-1.483</c:v>
                </c:pt>
                <c:pt idx="65">
                  <c:v>1.5</c:v>
                </c:pt>
                <c:pt idx="66">
                  <c:v>-0.201</c:v>
                </c:pt>
                <c:pt idx="67">
                  <c:v>1.114</c:v>
                </c:pt>
                <c:pt idx="68">
                  <c:v>1.271</c:v>
                </c:pt>
                <c:pt idx="69">
                  <c:v>-2.505</c:v>
                </c:pt>
                <c:pt idx="70">
                  <c:v>-1.031</c:v>
                </c:pt>
                <c:pt idx="71">
                  <c:v>2.876</c:v>
                </c:pt>
                <c:pt idx="72">
                  <c:v>2.712</c:v>
                </c:pt>
                <c:pt idx="73">
                  <c:v>1.576</c:v>
                </c:pt>
                <c:pt idx="74">
                  <c:v>0.553</c:v>
                </c:pt>
                <c:pt idx="75">
                  <c:v>-1.857</c:v>
                </c:pt>
                <c:pt idx="76">
                  <c:v>1.946</c:v>
                </c:pt>
                <c:pt idx="77">
                  <c:v>-0.631</c:v>
                </c:pt>
                <c:pt idx="78">
                  <c:v>1.684</c:v>
                </c:pt>
                <c:pt idx="79">
                  <c:v>-0.08</c:v>
                </c:pt>
                <c:pt idx="80">
                  <c:v>1.987</c:v>
                </c:pt>
                <c:pt idx="81">
                  <c:v>1.181</c:v>
                </c:pt>
                <c:pt idx="82">
                  <c:v>2.885</c:v>
                </c:pt>
                <c:pt idx="83">
                  <c:v>2.152</c:v>
                </c:pt>
                <c:pt idx="84">
                  <c:v>-2.584</c:v>
                </c:pt>
                <c:pt idx="85">
                  <c:v>1.306</c:v>
                </c:pt>
                <c:pt idx="86">
                  <c:v>-1.038</c:v>
                </c:pt>
                <c:pt idx="87">
                  <c:v>-0.646</c:v>
                </c:pt>
                <c:pt idx="88">
                  <c:v>-2.094</c:v>
                </c:pt>
                <c:pt idx="89">
                  <c:v>2.663</c:v>
                </c:pt>
                <c:pt idx="90">
                  <c:v>1.508</c:v>
                </c:pt>
                <c:pt idx="91">
                  <c:v>-1.132</c:v>
                </c:pt>
                <c:pt idx="92">
                  <c:v>0.597</c:v>
                </c:pt>
                <c:pt idx="93">
                  <c:v>-1.328</c:v>
                </c:pt>
                <c:pt idx="94">
                  <c:v>2.526</c:v>
                </c:pt>
                <c:pt idx="95">
                  <c:v>0.001</c:v>
                </c:pt>
                <c:pt idx="96">
                  <c:v>-2.315</c:v>
                </c:pt>
                <c:pt idx="97">
                  <c:v>-0.519</c:v>
                </c:pt>
                <c:pt idx="98">
                  <c:v>0.746</c:v>
                </c:pt>
                <c:pt idx="99">
                  <c:v>1.449</c:v>
                </c:pt>
                <c:pt idx="100">
                  <c:v>1.04</c:v>
                </c:pt>
                <c:pt idx="101">
                  <c:v>-0.99</c:v>
                </c:pt>
                <c:pt idx="102">
                  <c:v>-0.658</c:v>
                </c:pt>
                <c:pt idx="103">
                  <c:v>0.672</c:v>
                </c:pt>
                <c:pt idx="104">
                  <c:v>3.045</c:v>
                </c:pt>
                <c:pt idx="105">
                  <c:v>3.11</c:v>
                </c:pt>
                <c:pt idx="106">
                  <c:v>-2.75</c:v>
                </c:pt>
                <c:pt idx="107">
                  <c:v>1.554</c:v>
                </c:pt>
                <c:pt idx="108">
                  <c:v>-3.098</c:v>
                </c:pt>
                <c:pt idx="109">
                  <c:v>3.041</c:v>
                </c:pt>
                <c:pt idx="110">
                  <c:v>-1.629</c:v>
                </c:pt>
                <c:pt idx="111">
                  <c:v>-2.968</c:v>
                </c:pt>
                <c:pt idx="112">
                  <c:v>-1.831</c:v>
                </c:pt>
                <c:pt idx="113">
                  <c:v>-2.041</c:v>
                </c:pt>
                <c:pt idx="114">
                  <c:v>1.889</c:v>
                </c:pt>
                <c:pt idx="115">
                  <c:v>0.789</c:v>
                </c:pt>
                <c:pt idx="116">
                  <c:v>-0.035</c:v>
                </c:pt>
                <c:pt idx="117">
                  <c:v>-0.779</c:v>
                </c:pt>
                <c:pt idx="118">
                  <c:v>1.584</c:v>
                </c:pt>
                <c:pt idx="119">
                  <c:v>-1.209</c:v>
                </c:pt>
                <c:pt idx="120">
                  <c:v>1.676</c:v>
                </c:pt>
                <c:pt idx="121">
                  <c:v>0.454</c:v>
                </c:pt>
                <c:pt idx="122">
                  <c:v>0.033</c:v>
                </c:pt>
                <c:pt idx="123">
                  <c:v>0.998</c:v>
                </c:pt>
                <c:pt idx="124">
                  <c:v>0.458</c:v>
                </c:pt>
                <c:pt idx="125">
                  <c:v>-2.648</c:v>
                </c:pt>
                <c:pt idx="126">
                  <c:v>-1.919</c:v>
                </c:pt>
                <c:pt idx="127">
                  <c:v>-2.207</c:v>
                </c:pt>
                <c:pt idx="128">
                  <c:v>0.883</c:v>
                </c:pt>
                <c:pt idx="129">
                  <c:v>-1.28</c:v>
                </c:pt>
                <c:pt idx="130">
                  <c:v>-0.916</c:v>
                </c:pt>
                <c:pt idx="131">
                  <c:v>0.14</c:v>
                </c:pt>
                <c:pt idx="132">
                  <c:v>-2.549</c:v>
                </c:pt>
                <c:pt idx="133">
                  <c:v>-0.557</c:v>
                </c:pt>
                <c:pt idx="134">
                  <c:v>1.48</c:v>
                </c:pt>
                <c:pt idx="135">
                  <c:v>-0.743</c:v>
                </c:pt>
                <c:pt idx="136">
                  <c:v>-1.313</c:v>
                </c:pt>
                <c:pt idx="137">
                  <c:v>1.387</c:v>
                </c:pt>
                <c:pt idx="138">
                  <c:v>-2.926</c:v>
                </c:pt>
                <c:pt idx="139">
                  <c:v>-1.153</c:v>
                </c:pt>
                <c:pt idx="140">
                  <c:v>0.829</c:v>
                </c:pt>
                <c:pt idx="141">
                  <c:v>-2.475</c:v>
                </c:pt>
                <c:pt idx="142">
                  <c:v>-3.048</c:v>
                </c:pt>
                <c:pt idx="143">
                  <c:v>0.409</c:v>
                </c:pt>
                <c:pt idx="144">
                  <c:v>1.853</c:v>
                </c:pt>
                <c:pt idx="145">
                  <c:v>1.157</c:v>
                </c:pt>
                <c:pt idx="146">
                  <c:v>1.214</c:v>
                </c:pt>
                <c:pt idx="147">
                  <c:v>-1.111</c:v>
                </c:pt>
                <c:pt idx="148">
                  <c:v>-0.545</c:v>
                </c:pt>
                <c:pt idx="149">
                  <c:v>2.946</c:v>
                </c:pt>
                <c:pt idx="150">
                  <c:v>1.706</c:v>
                </c:pt>
                <c:pt idx="151">
                  <c:v>-0.909</c:v>
                </c:pt>
                <c:pt idx="152">
                  <c:v>0.719</c:v>
                </c:pt>
                <c:pt idx="153">
                  <c:v>-2.043</c:v>
                </c:pt>
                <c:pt idx="154">
                  <c:v>-1.494</c:v>
                </c:pt>
                <c:pt idx="155">
                  <c:v>2.258</c:v>
                </c:pt>
                <c:pt idx="156">
                  <c:v>-1.31</c:v>
                </c:pt>
                <c:pt idx="157">
                  <c:v>2.575</c:v>
                </c:pt>
                <c:pt idx="158">
                  <c:v>0.568</c:v>
                </c:pt>
                <c:pt idx="159">
                  <c:v>-1.133</c:v>
                </c:pt>
                <c:pt idx="160">
                  <c:v>1.219</c:v>
                </c:pt>
                <c:pt idx="161">
                  <c:v>-3.052</c:v>
                </c:pt>
                <c:pt idx="162">
                  <c:v>2.041</c:v>
                </c:pt>
                <c:pt idx="163">
                  <c:v>0.063</c:v>
                </c:pt>
                <c:pt idx="164">
                  <c:v>-2.082</c:v>
                </c:pt>
                <c:pt idx="165">
                  <c:v>1.917</c:v>
                </c:pt>
                <c:pt idx="166">
                  <c:v>0.167</c:v>
                </c:pt>
                <c:pt idx="167">
                  <c:v>2.837</c:v>
                </c:pt>
                <c:pt idx="168">
                  <c:v>-2.089</c:v>
                </c:pt>
                <c:pt idx="169">
                  <c:v>2.895</c:v>
                </c:pt>
                <c:pt idx="170">
                  <c:v>-0.065</c:v>
                </c:pt>
                <c:pt idx="171">
                  <c:v>-2.075</c:v>
                </c:pt>
                <c:pt idx="172">
                  <c:v>0.346</c:v>
                </c:pt>
                <c:pt idx="173">
                  <c:v>3.076</c:v>
                </c:pt>
                <c:pt idx="174">
                  <c:v>-1.031</c:v>
                </c:pt>
                <c:pt idx="175">
                  <c:v>-0.665</c:v>
                </c:pt>
                <c:pt idx="176">
                  <c:v>0.471</c:v>
                </c:pt>
                <c:pt idx="177">
                  <c:v>-0.571</c:v>
                </c:pt>
                <c:pt idx="178">
                  <c:v>-2.731</c:v>
                </c:pt>
                <c:pt idx="179">
                  <c:v>1.396</c:v>
                </c:pt>
                <c:pt idx="180">
                  <c:v>1.669</c:v>
                </c:pt>
                <c:pt idx="181">
                  <c:v>0.211</c:v>
                </c:pt>
                <c:pt idx="182">
                  <c:v>2.475</c:v>
                </c:pt>
                <c:pt idx="183">
                  <c:v>-2.956</c:v>
                </c:pt>
                <c:pt idx="184">
                  <c:v>-0.302</c:v>
                </c:pt>
                <c:pt idx="185">
                  <c:v>0.238</c:v>
                </c:pt>
                <c:pt idx="186">
                  <c:v>2.944</c:v>
                </c:pt>
                <c:pt idx="187">
                  <c:v>2.763</c:v>
                </c:pt>
                <c:pt idx="188">
                  <c:v>3.008</c:v>
                </c:pt>
                <c:pt idx="189">
                  <c:v>-2.515</c:v>
                </c:pt>
                <c:pt idx="190">
                  <c:v>-0.079</c:v>
                </c:pt>
                <c:pt idx="191">
                  <c:v>3.071</c:v>
                </c:pt>
                <c:pt idx="192">
                  <c:v>1.209</c:v>
                </c:pt>
                <c:pt idx="193">
                  <c:v>0.811</c:v>
                </c:pt>
                <c:pt idx="194">
                  <c:v>-0.342</c:v>
                </c:pt>
                <c:pt idx="195">
                  <c:v>1.113</c:v>
                </c:pt>
                <c:pt idx="196">
                  <c:v>-3.135</c:v>
                </c:pt>
                <c:pt idx="197">
                  <c:v>2.364</c:v>
                </c:pt>
                <c:pt idx="198">
                  <c:v>-1.188</c:v>
                </c:pt>
                <c:pt idx="199">
                  <c:v>-2.651</c:v>
                </c:pt>
                <c:pt idx="200">
                  <c:v>-1.194</c:v>
                </c:pt>
                <c:pt idx="201">
                  <c:v>-1.967</c:v>
                </c:pt>
                <c:pt idx="202">
                  <c:v>3.026</c:v>
                </c:pt>
                <c:pt idx="203">
                  <c:v>2.395</c:v>
                </c:pt>
                <c:pt idx="204">
                  <c:v>0.944</c:v>
                </c:pt>
                <c:pt idx="205">
                  <c:v>-1.333</c:v>
                </c:pt>
                <c:pt idx="206">
                  <c:v>-1.832</c:v>
                </c:pt>
                <c:pt idx="207">
                  <c:v>2.175</c:v>
                </c:pt>
                <c:pt idx="208">
                  <c:v>1.06</c:v>
                </c:pt>
                <c:pt idx="209">
                  <c:v>-1.251</c:v>
                </c:pt>
                <c:pt idx="210">
                  <c:v>-2.572</c:v>
                </c:pt>
                <c:pt idx="211">
                  <c:v>-0.916</c:v>
                </c:pt>
                <c:pt idx="212">
                  <c:v>-2.603</c:v>
                </c:pt>
                <c:pt idx="213">
                  <c:v>-1.816</c:v>
                </c:pt>
                <c:pt idx="214">
                  <c:v>-2.208</c:v>
                </c:pt>
                <c:pt idx="215">
                  <c:v>-1.76</c:v>
                </c:pt>
                <c:pt idx="216">
                  <c:v>-0.156</c:v>
                </c:pt>
                <c:pt idx="217">
                  <c:v>1.316</c:v>
                </c:pt>
                <c:pt idx="218">
                  <c:v>2.928</c:v>
                </c:pt>
                <c:pt idx="219">
                  <c:v>0.666</c:v>
                </c:pt>
                <c:pt idx="220">
                  <c:v>2.017</c:v>
                </c:pt>
                <c:pt idx="221">
                  <c:v>-1.142</c:v>
                </c:pt>
                <c:pt idx="222">
                  <c:v>-2.988</c:v>
                </c:pt>
                <c:pt idx="223">
                  <c:v>2.942</c:v>
                </c:pt>
                <c:pt idx="224">
                  <c:v>1.255</c:v>
                </c:pt>
                <c:pt idx="225">
                  <c:v>-3.14</c:v>
                </c:pt>
                <c:pt idx="226">
                  <c:v>1.99</c:v>
                </c:pt>
                <c:pt idx="227">
                  <c:v>-1.82</c:v>
                </c:pt>
                <c:pt idx="228">
                  <c:v>-0.828</c:v>
                </c:pt>
                <c:pt idx="229">
                  <c:v>1.498</c:v>
                </c:pt>
                <c:pt idx="230">
                  <c:v>-2.847</c:v>
                </c:pt>
                <c:pt idx="231">
                  <c:v>-2.472</c:v>
                </c:pt>
                <c:pt idx="232">
                  <c:v>-0.774</c:v>
                </c:pt>
                <c:pt idx="233">
                  <c:v>0.986</c:v>
                </c:pt>
                <c:pt idx="234">
                  <c:v>-3.057</c:v>
                </c:pt>
                <c:pt idx="235">
                  <c:v>1.337</c:v>
                </c:pt>
                <c:pt idx="236">
                  <c:v>-1.252</c:v>
                </c:pt>
                <c:pt idx="237">
                  <c:v>-1.562</c:v>
                </c:pt>
                <c:pt idx="238">
                  <c:v>2.319</c:v>
                </c:pt>
                <c:pt idx="239">
                  <c:v>-1.973</c:v>
                </c:pt>
                <c:pt idx="240">
                  <c:v>1.906</c:v>
                </c:pt>
                <c:pt idx="241">
                  <c:v>2.876</c:v>
                </c:pt>
                <c:pt idx="242">
                  <c:v>1.208</c:v>
                </c:pt>
                <c:pt idx="243">
                  <c:v>-0.008</c:v>
                </c:pt>
                <c:pt idx="244">
                  <c:v>0.36</c:v>
                </c:pt>
                <c:pt idx="245">
                  <c:v>-0.325</c:v>
                </c:pt>
                <c:pt idx="246">
                  <c:v>-0.004</c:v>
                </c:pt>
                <c:pt idx="247">
                  <c:v>-2.194</c:v>
                </c:pt>
                <c:pt idx="248">
                  <c:v>-0.948</c:v>
                </c:pt>
                <c:pt idx="249">
                  <c:v>-0.759</c:v>
                </c:pt>
                <c:pt idx="250">
                  <c:v>2.095</c:v>
                </c:pt>
                <c:pt idx="251">
                  <c:v>-2.742</c:v>
                </c:pt>
                <c:pt idx="252">
                  <c:v>-1.897</c:v>
                </c:pt>
                <c:pt idx="253">
                  <c:v>1.782</c:v>
                </c:pt>
                <c:pt idx="254">
                  <c:v>-2.399</c:v>
                </c:pt>
                <c:pt idx="255">
                  <c:v>-2.833</c:v>
                </c:pt>
                <c:pt idx="256">
                  <c:v>-2.807</c:v>
                </c:pt>
                <c:pt idx="257">
                  <c:v>0.957</c:v>
                </c:pt>
                <c:pt idx="258">
                  <c:v>-1.183</c:v>
                </c:pt>
                <c:pt idx="259">
                  <c:v>0.702</c:v>
                </c:pt>
                <c:pt idx="260">
                  <c:v>1.112</c:v>
                </c:pt>
                <c:pt idx="261">
                  <c:v>-0.412</c:v>
                </c:pt>
                <c:pt idx="262">
                  <c:v>-1.662</c:v>
                </c:pt>
                <c:pt idx="263">
                  <c:v>2.095</c:v>
                </c:pt>
                <c:pt idx="264">
                  <c:v>-0.632</c:v>
                </c:pt>
                <c:pt idx="265">
                  <c:v>-1.419</c:v>
                </c:pt>
                <c:pt idx="266">
                  <c:v>-0.83</c:v>
                </c:pt>
                <c:pt idx="267">
                  <c:v>2.277</c:v>
                </c:pt>
                <c:pt idx="268">
                  <c:v>1.183</c:v>
                </c:pt>
                <c:pt idx="269">
                  <c:v>1.891</c:v>
                </c:pt>
                <c:pt idx="270">
                  <c:v>0.207</c:v>
                </c:pt>
                <c:pt idx="271">
                  <c:v>-1.46</c:v>
                </c:pt>
                <c:pt idx="272">
                  <c:v>0.214</c:v>
                </c:pt>
                <c:pt idx="273">
                  <c:v>-0.898</c:v>
                </c:pt>
                <c:pt idx="274">
                  <c:v>1.678</c:v>
                </c:pt>
                <c:pt idx="275">
                  <c:v>0.654</c:v>
                </c:pt>
                <c:pt idx="276">
                  <c:v>2</c:v>
                </c:pt>
                <c:pt idx="277">
                  <c:v>2.62</c:v>
                </c:pt>
                <c:pt idx="278">
                  <c:v>2.923</c:v>
                </c:pt>
                <c:pt idx="279">
                  <c:v>0.369</c:v>
                </c:pt>
                <c:pt idx="280">
                  <c:v>-1.256</c:v>
                </c:pt>
                <c:pt idx="281">
                  <c:v>-0.12</c:v>
                </c:pt>
                <c:pt idx="282">
                  <c:v>0.145</c:v>
                </c:pt>
                <c:pt idx="283">
                  <c:v>-0.741</c:v>
                </c:pt>
                <c:pt idx="284">
                  <c:v>-1.623</c:v>
                </c:pt>
                <c:pt idx="285">
                  <c:v>0.55</c:v>
                </c:pt>
                <c:pt idx="286">
                  <c:v>1.522</c:v>
                </c:pt>
                <c:pt idx="287">
                  <c:v>-1.169</c:v>
                </c:pt>
                <c:pt idx="288">
                  <c:v>-1.759</c:v>
                </c:pt>
                <c:pt idx="289">
                  <c:v>-0.986</c:v>
                </c:pt>
                <c:pt idx="290">
                  <c:v>-3.006</c:v>
                </c:pt>
                <c:pt idx="291">
                  <c:v>2.378</c:v>
                </c:pt>
                <c:pt idx="292">
                  <c:v>-3.08</c:v>
                </c:pt>
                <c:pt idx="293">
                  <c:v>1.811</c:v>
                </c:pt>
                <c:pt idx="294">
                  <c:v>-1.141</c:v>
                </c:pt>
                <c:pt idx="295">
                  <c:v>2.021</c:v>
                </c:pt>
                <c:pt idx="296">
                  <c:v>2.278</c:v>
                </c:pt>
                <c:pt idx="297">
                  <c:v>0.766</c:v>
                </c:pt>
                <c:pt idx="298">
                  <c:v>-1.88</c:v>
                </c:pt>
                <c:pt idx="299">
                  <c:v>-2.078</c:v>
                </c:pt>
              </c:numCache>
            </c:numRef>
          </c:xVal>
          <c:yVal>
            <c:numRef>
              <c:f>Sheet1!$B$2:$B$301</c:f>
              <c:numCache>
                <c:formatCode>General</c:formatCode>
                <c:ptCount val="300"/>
                <c:pt idx="0">
                  <c:v>6.454</c:v>
                </c:pt>
                <c:pt idx="1">
                  <c:v>13.295</c:v>
                </c:pt>
                <c:pt idx="2">
                  <c:v>4.365</c:v>
                </c:pt>
                <c:pt idx="3">
                  <c:v>6.891</c:v>
                </c:pt>
                <c:pt idx="4">
                  <c:v>7.241</c:v>
                </c:pt>
                <c:pt idx="5">
                  <c:v>5.356</c:v>
                </c:pt>
                <c:pt idx="6">
                  <c:v>4.179</c:v>
                </c:pt>
                <c:pt idx="7">
                  <c:v>-7.805</c:v>
                </c:pt>
                <c:pt idx="8">
                  <c:v>2.881</c:v>
                </c:pt>
                <c:pt idx="9">
                  <c:v>6.295</c:v>
                </c:pt>
                <c:pt idx="10">
                  <c:v>1.529</c:v>
                </c:pt>
                <c:pt idx="11">
                  <c:v>4.731</c:v>
                </c:pt>
                <c:pt idx="12">
                  <c:v>4.793</c:v>
                </c:pt>
                <c:pt idx="13">
                  <c:v>0.157</c:v>
                </c:pt>
                <c:pt idx="14">
                  <c:v>8.896</c:v>
                </c:pt>
                <c:pt idx="15">
                  <c:v>4.216</c:v>
                </c:pt>
                <c:pt idx="16">
                  <c:v>5.313</c:v>
                </c:pt>
                <c:pt idx="17">
                  <c:v>1.691</c:v>
                </c:pt>
                <c:pt idx="18">
                  <c:v>1.426</c:v>
                </c:pt>
                <c:pt idx="19">
                  <c:v>-1.179</c:v>
                </c:pt>
                <c:pt idx="20">
                  <c:v>-0.11</c:v>
                </c:pt>
                <c:pt idx="21">
                  <c:v>6.354</c:v>
                </c:pt>
                <c:pt idx="22">
                  <c:v>0.343</c:v>
                </c:pt>
                <c:pt idx="23">
                  <c:v>8.104</c:v>
                </c:pt>
                <c:pt idx="24">
                  <c:v>0.275</c:v>
                </c:pt>
                <c:pt idx="25">
                  <c:v>5.755</c:v>
                </c:pt>
                <c:pt idx="26">
                  <c:v>6.624</c:v>
                </c:pt>
                <c:pt idx="27">
                  <c:v>0.452</c:v>
                </c:pt>
                <c:pt idx="28">
                  <c:v>-0.523</c:v>
                </c:pt>
                <c:pt idx="29">
                  <c:v>-0.035</c:v>
                </c:pt>
                <c:pt idx="30">
                  <c:v>1.58</c:v>
                </c:pt>
                <c:pt idx="31">
                  <c:v>0.528</c:v>
                </c:pt>
                <c:pt idx="32">
                  <c:v>5.979</c:v>
                </c:pt>
                <c:pt idx="33">
                  <c:v>1.258</c:v>
                </c:pt>
                <c:pt idx="34">
                  <c:v>-1.789</c:v>
                </c:pt>
                <c:pt idx="35">
                  <c:v>16.057</c:v>
                </c:pt>
                <c:pt idx="36">
                  <c:v>2.039</c:v>
                </c:pt>
                <c:pt idx="37">
                  <c:v>5.533</c:v>
                </c:pt>
                <c:pt idx="38">
                  <c:v>5.706</c:v>
                </c:pt>
                <c:pt idx="39">
                  <c:v>-0.86</c:v>
                </c:pt>
                <c:pt idx="40">
                  <c:v>6.597</c:v>
                </c:pt>
                <c:pt idx="41">
                  <c:v>6.13</c:v>
                </c:pt>
                <c:pt idx="42">
                  <c:v>0.237</c:v>
                </c:pt>
                <c:pt idx="43">
                  <c:v>7.963</c:v>
                </c:pt>
                <c:pt idx="44">
                  <c:v>1.06</c:v>
                </c:pt>
                <c:pt idx="45">
                  <c:v>10.278</c:v>
                </c:pt>
                <c:pt idx="46">
                  <c:v>3.638</c:v>
                </c:pt>
                <c:pt idx="47">
                  <c:v>0.728</c:v>
                </c:pt>
                <c:pt idx="48">
                  <c:v>8.711</c:v>
                </c:pt>
                <c:pt idx="49">
                  <c:v>10.596</c:v>
                </c:pt>
                <c:pt idx="50">
                  <c:v>1.207</c:v>
                </c:pt>
                <c:pt idx="51">
                  <c:v>-0.006</c:v>
                </c:pt>
                <c:pt idx="52">
                  <c:v>2.521</c:v>
                </c:pt>
                <c:pt idx="53">
                  <c:v>2.457</c:v>
                </c:pt>
                <c:pt idx="54">
                  <c:v>3.653</c:v>
                </c:pt>
                <c:pt idx="55">
                  <c:v>6.228</c:v>
                </c:pt>
                <c:pt idx="56">
                  <c:v>6.008</c:v>
                </c:pt>
                <c:pt idx="57">
                  <c:v>-0.611</c:v>
                </c:pt>
                <c:pt idx="58">
                  <c:v>1.535</c:v>
                </c:pt>
                <c:pt idx="59">
                  <c:v>6.529</c:v>
                </c:pt>
                <c:pt idx="60">
                  <c:v>1.034</c:v>
                </c:pt>
                <c:pt idx="61">
                  <c:v>-0.843</c:v>
                </c:pt>
                <c:pt idx="62">
                  <c:v>0.557</c:v>
                </c:pt>
                <c:pt idx="63">
                  <c:v>7.55</c:v>
                </c:pt>
                <c:pt idx="64">
                  <c:v>6.051</c:v>
                </c:pt>
                <c:pt idx="65">
                  <c:v>9.364</c:v>
                </c:pt>
                <c:pt idx="66">
                  <c:v>1.46</c:v>
                </c:pt>
                <c:pt idx="67">
                  <c:v>6.403</c:v>
                </c:pt>
                <c:pt idx="68">
                  <c:v>-0.768</c:v>
                </c:pt>
                <c:pt idx="69">
                  <c:v>3.208</c:v>
                </c:pt>
                <c:pt idx="70">
                  <c:v>4.262</c:v>
                </c:pt>
                <c:pt idx="71">
                  <c:v>1.168</c:v>
                </c:pt>
                <c:pt idx="72">
                  <c:v>1.296</c:v>
                </c:pt>
                <c:pt idx="73">
                  <c:v>6.463</c:v>
                </c:pt>
                <c:pt idx="74">
                  <c:v>9.588</c:v>
                </c:pt>
                <c:pt idx="75">
                  <c:v>5.727</c:v>
                </c:pt>
                <c:pt idx="76">
                  <c:v>5.06</c:v>
                </c:pt>
                <c:pt idx="77">
                  <c:v>8.55</c:v>
                </c:pt>
                <c:pt idx="78">
                  <c:v>10.161</c:v>
                </c:pt>
                <c:pt idx="79">
                  <c:v>-1.086</c:v>
                </c:pt>
                <c:pt idx="80">
                  <c:v>-0.284</c:v>
                </c:pt>
                <c:pt idx="81">
                  <c:v>5.971</c:v>
                </c:pt>
                <c:pt idx="82">
                  <c:v>-0.326</c:v>
                </c:pt>
                <c:pt idx="83">
                  <c:v>4.576</c:v>
                </c:pt>
                <c:pt idx="84">
                  <c:v>2.934</c:v>
                </c:pt>
                <c:pt idx="85">
                  <c:v>7.476</c:v>
                </c:pt>
                <c:pt idx="86">
                  <c:v>3.883</c:v>
                </c:pt>
                <c:pt idx="87">
                  <c:v>1.582</c:v>
                </c:pt>
                <c:pt idx="88">
                  <c:v>3.832</c:v>
                </c:pt>
                <c:pt idx="89">
                  <c:v>0.023</c:v>
                </c:pt>
                <c:pt idx="90">
                  <c:v>7.161</c:v>
                </c:pt>
                <c:pt idx="91">
                  <c:v>4.844</c:v>
                </c:pt>
                <c:pt idx="92">
                  <c:v>3.601</c:v>
                </c:pt>
                <c:pt idx="93">
                  <c:v>0.903</c:v>
                </c:pt>
                <c:pt idx="94">
                  <c:v>3.208</c:v>
                </c:pt>
                <c:pt idx="95">
                  <c:v>5.237</c:v>
                </c:pt>
                <c:pt idx="96">
                  <c:v>4.513</c:v>
                </c:pt>
                <c:pt idx="97">
                  <c:v>3.428</c:v>
                </c:pt>
                <c:pt idx="98">
                  <c:v>3.572</c:v>
                </c:pt>
                <c:pt idx="99">
                  <c:v>7.721</c:v>
                </c:pt>
                <c:pt idx="100">
                  <c:v>8.426</c:v>
                </c:pt>
                <c:pt idx="101">
                  <c:v>3.758</c:v>
                </c:pt>
                <c:pt idx="102">
                  <c:v>-2.086</c:v>
                </c:pt>
                <c:pt idx="103">
                  <c:v>1.855</c:v>
                </c:pt>
                <c:pt idx="104">
                  <c:v>0.91</c:v>
                </c:pt>
                <c:pt idx="105">
                  <c:v>-1.333</c:v>
                </c:pt>
                <c:pt idx="106">
                  <c:v>-4.508</c:v>
                </c:pt>
                <c:pt idx="107">
                  <c:v>6.442</c:v>
                </c:pt>
                <c:pt idx="108">
                  <c:v>0.493</c:v>
                </c:pt>
                <c:pt idx="109">
                  <c:v>0.641</c:v>
                </c:pt>
                <c:pt idx="110">
                  <c:v>5.71</c:v>
                </c:pt>
                <c:pt idx="111">
                  <c:v>-0.807</c:v>
                </c:pt>
                <c:pt idx="112">
                  <c:v>3.84</c:v>
                </c:pt>
                <c:pt idx="113">
                  <c:v>6.686</c:v>
                </c:pt>
                <c:pt idx="114">
                  <c:v>7.366</c:v>
                </c:pt>
                <c:pt idx="115">
                  <c:v>4.836</c:v>
                </c:pt>
                <c:pt idx="116">
                  <c:v>1.113</c:v>
                </c:pt>
                <c:pt idx="117">
                  <c:v>6.782</c:v>
                </c:pt>
                <c:pt idx="118">
                  <c:v>5.964</c:v>
                </c:pt>
                <c:pt idx="119">
                  <c:v>7.128</c:v>
                </c:pt>
                <c:pt idx="120">
                  <c:v>14.483</c:v>
                </c:pt>
                <c:pt idx="121">
                  <c:v>0.368</c:v>
                </c:pt>
                <c:pt idx="122">
                  <c:v>-0.856</c:v>
                </c:pt>
                <c:pt idx="123">
                  <c:v>5.002</c:v>
                </c:pt>
                <c:pt idx="124">
                  <c:v>4.084</c:v>
                </c:pt>
                <c:pt idx="125">
                  <c:v>2.197</c:v>
                </c:pt>
                <c:pt idx="126">
                  <c:v>4.671</c:v>
                </c:pt>
                <c:pt idx="127">
                  <c:v>9.587</c:v>
                </c:pt>
                <c:pt idx="128">
                  <c:v>3.503</c:v>
                </c:pt>
                <c:pt idx="129">
                  <c:v>7.487</c:v>
                </c:pt>
                <c:pt idx="130">
                  <c:v>5.25</c:v>
                </c:pt>
                <c:pt idx="131">
                  <c:v>-0.729</c:v>
                </c:pt>
                <c:pt idx="132">
                  <c:v>3.16</c:v>
                </c:pt>
                <c:pt idx="133">
                  <c:v>4.11</c:v>
                </c:pt>
                <c:pt idx="134">
                  <c:v>7.948</c:v>
                </c:pt>
                <c:pt idx="135">
                  <c:v>2.206</c:v>
                </c:pt>
                <c:pt idx="136">
                  <c:v>5.48</c:v>
                </c:pt>
                <c:pt idx="137">
                  <c:v>6.49</c:v>
                </c:pt>
                <c:pt idx="138">
                  <c:v>4.429</c:v>
                </c:pt>
                <c:pt idx="139">
                  <c:v>3.779</c:v>
                </c:pt>
                <c:pt idx="140">
                  <c:v>2.881</c:v>
                </c:pt>
                <c:pt idx="141">
                  <c:v>7.44</c:v>
                </c:pt>
                <c:pt idx="142">
                  <c:v>1.02</c:v>
                </c:pt>
                <c:pt idx="143">
                  <c:v>3.992</c:v>
                </c:pt>
                <c:pt idx="144">
                  <c:v>9.124</c:v>
                </c:pt>
                <c:pt idx="145">
                  <c:v>8.462</c:v>
                </c:pt>
                <c:pt idx="146">
                  <c:v>6.423</c:v>
                </c:pt>
                <c:pt idx="147">
                  <c:v>5.882</c:v>
                </c:pt>
                <c:pt idx="148">
                  <c:v>1.365</c:v>
                </c:pt>
                <c:pt idx="149">
                  <c:v>0.883</c:v>
                </c:pt>
                <c:pt idx="150">
                  <c:v>5.982</c:v>
                </c:pt>
                <c:pt idx="151">
                  <c:v>5.461</c:v>
                </c:pt>
                <c:pt idx="152">
                  <c:v>0.209</c:v>
                </c:pt>
                <c:pt idx="153">
                  <c:v>6.015</c:v>
                </c:pt>
                <c:pt idx="154">
                  <c:v>9.316</c:v>
                </c:pt>
                <c:pt idx="155">
                  <c:v>0.71</c:v>
                </c:pt>
                <c:pt idx="156">
                  <c:v>6.446</c:v>
                </c:pt>
                <c:pt idx="157">
                  <c:v>5.092</c:v>
                </c:pt>
                <c:pt idx="158">
                  <c:v>1.026</c:v>
                </c:pt>
                <c:pt idx="159">
                  <c:v>-2.269</c:v>
                </c:pt>
                <c:pt idx="160">
                  <c:v>2.853</c:v>
                </c:pt>
                <c:pt idx="161">
                  <c:v>-0.672</c:v>
                </c:pt>
                <c:pt idx="162">
                  <c:v>6.559</c:v>
                </c:pt>
                <c:pt idx="163">
                  <c:v>2.065</c:v>
                </c:pt>
                <c:pt idx="164">
                  <c:v>6.13</c:v>
                </c:pt>
                <c:pt idx="165">
                  <c:v>7.652</c:v>
                </c:pt>
                <c:pt idx="166">
                  <c:v>-0.097</c:v>
                </c:pt>
                <c:pt idx="167">
                  <c:v>-5.741</c:v>
                </c:pt>
                <c:pt idx="168">
                  <c:v>6.202</c:v>
                </c:pt>
                <c:pt idx="169">
                  <c:v>2.82</c:v>
                </c:pt>
                <c:pt idx="170">
                  <c:v>-1.009</c:v>
                </c:pt>
                <c:pt idx="171">
                  <c:v>5.969</c:v>
                </c:pt>
                <c:pt idx="172">
                  <c:v>-1.093</c:v>
                </c:pt>
                <c:pt idx="173">
                  <c:v>-2.324</c:v>
                </c:pt>
                <c:pt idx="174">
                  <c:v>6.105</c:v>
                </c:pt>
                <c:pt idx="175">
                  <c:v>2.964</c:v>
                </c:pt>
                <c:pt idx="176">
                  <c:v>0.609</c:v>
                </c:pt>
                <c:pt idx="177">
                  <c:v>1.348</c:v>
                </c:pt>
                <c:pt idx="178">
                  <c:v>-0.075</c:v>
                </c:pt>
                <c:pt idx="179">
                  <c:v>7.191</c:v>
                </c:pt>
                <c:pt idx="180">
                  <c:v>-1.609</c:v>
                </c:pt>
                <c:pt idx="181">
                  <c:v>-1.911</c:v>
                </c:pt>
                <c:pt idx="182">
                  <c:v>1.464</c:v>
                </c:pt>
                <c:pt idx="183">
                  <c:v>-7.967</c:v>
                </c:pt>
                <c:pt idx="184">
                  <c:v>-0.102</c:v>
                </c:pt>
                <c:pt idx="185">
                  <c:v>3.202</c:v>
                </c:pt>
                <c:pt idx="186">
                  <c:v>-1.275</c:v>
                </c:pt>
                <c:pt idx="187">
                  <c:v>-1.41</c:v>
                </c:pt>
                <c:pt idx="188">
                  <c:v>0.219</c:v>
                </c:pt>
                <c:pt idx="189">
                  <c:v>3.396</c:v>
                </c:pt>
                <c:pt idx="190">
                  <c:v>0.842</c:v>
                </c:pt>
                <c:pt idx="191">
                  <c:v>0.555</c:v>
                </c:pt>
                <c:pt idx="192">
                  <c:v>3.671</c:v>
                </c:pt>
                <c:pt idx="193">
                  <c:v>10.09</c:v>
                </c:pt>
                <c:pt idx="194">
                  <c:v>2.226</c:v>
                </c:pt>
                <c:pt idx="195">
                  <c:v>5.193</c:v>
                </c:pt>
                <c:pt idx="196">
                  <c:v>3.518</c:v>
                </c:pt>
                <c:pt idx="197">
                  <c:v>4.154</c:v>
                </c:pt>
                <c:pt idx="198">
                  <c:v>2.029</c:v>
                </c:pt>
                <c:pt idx="199">
                  <c:v>7.773</c:v>
                </c:pt>
                <c:pt idx="200">
                  <c:v>5.341</c:v>
                </c:pt>
                <c:pt idx="201">
                  <c:v>10.279</c:v>
                </c:pt>
                <c:pt idx="202">
                  <c:v>1.044</c:v>
                </c:pt>
                <c:pt idx="203">
                  <c:v>-2.363</c:v>
                </c:pt>
                <c:pt idx="204">
                  <c:v>-1.182</c:v>
                </c:pt>
                <c:pt idx="205">
                  <c:v>5.817</c:v>
                </c:pt>
                <c:pt idx="206">
                  <c:v>7.047</c:v>
                </c:pt>
                <c:pt idx="207">
                  <c:v>4.744</c:v>
                </c:pt>
                <c:pt idx="208">
                  <c:v>5.912</c:v>
                </c:pt>
                <c:pt idx="209">
                  <c:v>7.32</c:v>
                </c:pt>
                <c:pt idx="210">
                  <c:v>1.043</c:v>
                </c:pt>
                <c:pt idx="211">
                  <c:v>6.105</c:v>
                </c:pt>
                <c:pt idx="212">
                  <c:v>2.324</c:v>
                </c:pt>
                <c:pt idx="213">
                  <c:v>7.209</c:v>
                </c:pt>
                <c:pt idx="214">
                  <c:v>5.447</c:v>
                </c:pt>
                <c:pt idx="215">
                  <c:v>5.958</c:v>
                </c:pt>
                <c:pt idx="216">
                  <c:v>1.641</c:v>
                </c:pt>
                <c:pt idx="217">
                  <c:v>9.223</c:v>
                </c:pt>
                <c:pt idx="218">
                  <c:v>1.274</c:v>
                </c:pt>
                <c:pt idx="219">
                  <c:v>3.485</c:v>
                </c:pt>
                <c:pt idx="220">
                  <c:v>5.72</c:v>
                </c:pt>
                <c:pt idx="221">
                  <c:v>5.62</c:v>
                </c:pt>
                <c:pt idx="222">
                  <c:v>0.947</c:v>
                </c:pt>
                <c:pt idx="223">
                  <c:v>0.312</c:v>
                </c:pt>
                <c:pt idx="224">
                  <c:v>0.393</c:v>
                </c:pt>
                <c:pt idx="225">
                  <c:v>0.984</c:v>
                </c:pt>
                <c:pt idx="226">
                  <c:v>5.974</c:v>
                </c:pt>
                <c:pt idx="227">
                  <c:v>6.919</c:v>
                </c:pt>
                <c:pt idx="228">
                  <c:v>4.472</c:v>
                </c:pt>
                <c:pt idx="229">
                  <c:v>9.966</c:v>
                </c:pt>
                <c:pt idx="230">
                  <c:v>-0.676</c:v>
                </c:pt>
                <c:pt idx="231">
                  <c:v>1.736</c:v>
                </c:pt>
                <c:pt idx="232">
                  <c:v>4.361</c:v>
                </c:pt>
                <c:pt idx="233">
                  <c:v>5.452</c:v>
                </c:pt>
                <c:pt idx="234">
                  <c:v>1.069</c:v>
                </c:pt>
                <c:pt idx="235">
                  <c:v>7.551</c:v>
                </c:pt>
                <c:pt idx="236">
                  <c:v>6.139</c:v>
                </c:pt>
                <c:pt idx="237">
                  <c:v>8.969</c:v>
                </c:pt>
                <c:pt idx="238">
                  <c:v>2.558</c:v>
                </c:pt>
                <c:pt idx="239">
                  <c:v>4.94</c:v>
                </c:pt>
                <c:pt idx="240">
                  <c:v>12.364</c:v>
                </c:pt>
                <c:pt idx="241">
                  <c:v>1.606</c:v>
                </c:pt>
                <c:pt idx="242">
                  <c:v>7.853</c:v>
                </c:pt>
                <c:pt idx="243">
                  <c:v>-1.026</c:v>
                </c:pt>
                <c:pt idx="244">
                  <c:v>-0.114</c:v>
                </c:pt>
                <c:pt idx="245">
                  <c:v>-0.062</c:v>
                </c:pt>
                <c:pt idx="246">
                  <c:v>0.194</c:v>
                </c:pt>
                <c:pt idx="247">
                  <c:v>5.161</c:v>
                </c:pt>
                <c:pt idx="248">
                  <c:v>7.941</c:v>
                </c:pt>
                <c:pt idx="249">
                  <c:v>-1.274</c:v>
                </c:pt>
                <c:pt idx="250">
                  <c:v>6.187</c:v>
                </c:pt>
                <c:pt idx="251">
                  <c:v>1.997</c:v>
                </c:pt>
                <c:pt idx="252">
                  <c:v>7.177</c:v>
                </c:pt>
                <c:pt idx="253">
                  <c:v>5.713</c:v>
                </c:pt>
                <c:pt idx="254">
                  <c:v>4.113</c:v>
                </c:pt>
                <c:pt idx="255">
                  <c:v>1.41</c:v>
                </c:pt>
                <c:pt idx="256">
                  <c:v>0.081</c:v>
                </c:pt>
                <c:pt idx="257">
                  <c:v>5.459</c:v>
                </c:pt>
                <c:pt idx="258">
                  <c:v>2.522</c:v>
                </c:pt>
                <c:pt idx="259">
                  <c:v>-1.155</c:v>
                </c:pt>
                <c:pt idx="260">
                  <c:v>7.368</c:v>
                </c:pt>
                <c:pt idx="261">
                  <c:v>2.699</c:v>
                </c:pt>
                <c:pt idx="262">
                  <c:v>13.242</c:v>
                </c:pt>
                <c:pt idx="263">
                  <c:v>5.142</c:v>
                </c:pt>
                <c:pt idx="264">
                  <c:v>0.451</c:v>
                </c:pt>
                <c:pt idx="265">
                  <c:v>7.832</c:v>
                </c:pt>
                <c:pt idx="266">
                  <c:v>1.897</c:v>
                </c:pt>
                <c:pt idx="267">
                  <c:v>4.391</c:v>
                </c:pt>
                <c:pt idx="268">
                  <c:v>4.727</c:v>
                </c:pt>
                <c:pt idx="269">
                  <c:v>5.5</c:v>
                </c:pt>
                <c:pt idx="270">
                  <c:v>1.239</c:v>
                </c:pt>
                <c:pt idx="271">
                  <c:v>7.664</c:v>
                </c:pt>
                <c:pt idx="272">
                  <c:v>2.401</c:v>
                </c:pt>
                <c:pt idx="273">
                  <c:v>-1.83</c:v>
                </c:pt>
                <c:pt idx="274">
                  <c:v>13.083</c:v>
                </c:pt>
                <c:pt idx="275">
                  <c:v>2.718</c:v>
                </c:pt>
                <c:pt idx="276">
                  <c:v>8.722</c:v>
                </c:pt>
                <c:pt idx="277">
                  <c:v>1.681</c:v>
                </c:pt>
                <c:pt idx="278">
                  <c:v>-0.259</c:v>
                </c:pt>
                <c:pt idx="279">
                  <c:v>1.199</c:v>
                </c:pt>
                <c:pt idx="280">
                  <c:v>10.521</c:v>
                </c:pt>
                <c:pt idx="281">
                  <c:v>-0.154</c:v>
                </c:pt>
                <c:pt idx="282">
                  <c:v>-2.079</c:v>
                </c:pt>
                <c:pt idx="283">
                  <c:v>7.328</c:v>
                </c:pt>
                <c:pt idx="284">
                  <c:v>7.259</c:v>
                </c:pt>
                <c:pt idx="285">
                  <c:v>2.845</c:v>
                </c:pt>
                <c:pt idx="286">
                  <c:v>5.448</c:v>
                </c:pt>
                <c:pt idx="287">
                  <c:v>6.685</c:v>
                </c:pt>
                <c:pt idx="288">
                  <c:v>3.979</c:v>
                </c:pt>
                <c:pt idx="289">
                  <c:v>2.382</c:v>
                </c:pt>
                <c:pt idx="290">
                  <c:v>-0.81</c:v>
                </c:pt>
                <c:pt idx="291">
                  <c:v>6.331</c:v>
                </c:pt>
                <c:pt idx="292">
                  <c:v>0.655</c:v>
                </c:pt>
                <c:pt idx="293">
                  <c:v>7.554</c:v>
                </c:pt>
                <c:pt idx="294">
                  <c:v>6.467</c:v>
                </c:pt>
                <c:pt idx="295">
                  <c:v>6.083</c:v>
                </c:pt>
                <c:pt idx="296">
                  <c:v>3.853</c:v>
                </c:pt>
                <c:pt idx="297">
                  <c:v>2.248</c:v>
                </c:pt>
                <c:pt idx="298">
                  <c:v>7.198</c:v>
                </c:pt>
                <c:pt idx="299">
                  <c:v>6.328</c:v>
                </c:pt>
              </c:numCache>
            </c:numRef>
          </c:yVal>
          <c:smooth val="0"/>
        </c:ser>
        <c:ser>
          <c:idx val="1"/>
          <c:order val="1"/>
          <c:tx>
            <c:strRef>
              <c:f>Sheet1!$C$1</c:f>
              <c:strCache>
                <c:ptCount val="1"/>
                <c:pt idx="0">
                  <c:v>条件付き平均</c:v>
                </c:pt>
              </c:strCache>
            </c:strRef>
          </c:tx>
          <c:spPr>
            <a:solidFill>
              <a:srgbClr val="2A9D8F"/>
            </a:solidFill>
            <a:ln>
              <a:noFill/>
            </a:ln>
            <a:effectLst/>
          </c:spPr>
          <c:marker>
            <c:symbol val="circle"/>
            <c:size val="5"/>
            <c:spPr>
              <a:solidFill>
                <a:srgbClr val="2A9D8F"/>
              </a:solidFill>
              <a:ln w="9525" cap="flat">
                <a:solidFill>
                  <a:srgbClr val="2A9D8F"/>
                </a:solidFill>
                <a:prstDash val="solid"/>
                <a:round/>
              </a:ln>
              <a:effectLst/>
            </c:spPr>
          </c:marker>
          <c:xVal>
            <c:numRef>
              <c:f>Sheet1!$A$2:$A$301</c:f>
              <c:numCache>
                <c:formatCode>General</c:formatCode>
                <c:ptCount val="300"/>
                <c:pt idx="0">
                  <c:v>-1.47</c:v>
                </c:pt>
                <c:pt idx="1">
                  <c:v>1.795</c:v>
                </c:pt>
                <c:pt idx="2">
                  <c:v>-2.406</c:v>
                </c:pt>
                <c:pt idx="3">
                  <c:v>-1.591</c:v>
                </c:pt>
                <c:pt idx="4">
                  <c:v>1.712</c:v>
                </c:pt>
                <c:pt idx="5">
                  <c:v>1.512</c:v>
                </c:pt>
                <c:pt idx="6">
                  <c:v>-1.655</c:v>
                </c:pt>
                <c:pt idx="7">
                  <c:v>0.41</c:v>
                </c:pt>
                <c:pt idx="8">
                  <c:v>-2.517</c:v>
                </c:pt>
                <c:pt idx="9">
                  <c:v>-1.149</c:v>
                </c:pt>
                <c:pt idx="10">
                  <c:v>2.68</c:v>
                </c:pt>
                <c:pt idx="11">
                  <c:v>2.756</c:v>
                </c:pt>
                <c:pt idx="12">
                  <c:v>-1.158</c:v>
                </c:pt>
                <c:pt idx="13">
                  <c:v>0.025</c:v>
                </c:pt>
                <c:pt idx="14">
                  <c:v>2.269</c:v>
                </c:pt>
                <c:pt idx="15">
                  <c:v>1.547</c:v>
                </c:pt>
                <c:pt idx="16">
                  <c:v>0.848</c:v>
                </c:pt>
                <c:pt idx="17">
                  <c:v>0.521</c:v>
                </c:pt>
                <c:pt idx="18">
                  <c:v>0.637</c:v>
                </c:pt>
                <c:pt idx="19">
                  <c:v>-2.807</c:v>
                </c:pt>
                <c:pt idx="20">
                  <c:v>2.68</c:v>
                </c:pt>
                <c:pt idx="21">
                  <c:v>-2.258</c:v>
                </c:pt>
                <c:pt idx="22">
                  <c:v>2.788</c:v>
                </c:pt>
                <c:pt idx="23">
                  <c:v>-0.902</c:v>
                </c:pt>
                <c:pt idx="24">
                  <c:v>-2.893</c:v>
                </c:pt>
                <c:pt idx="25">
                  <c:v>-1.322</c:v>
                </c:pt>
                <c:pt idx="26">
                  <c:v>1.425</c:v>
                </c:pt>
                <c:pt idx="27">
                  <c:v>-0.443</c:v>
                </c:pt>
                <c:pt idx="28">
                  <c:v>-0.16</c:v>
                </c:pt>
                <c:pt idx="29">
                  <c:v>0.247</c:v>
                </c:pt>
                <c:pt idx="30">
                  <c:v>0.296</c:v>
                </c:pt>
                <c:pt idx="31">
                  <c:v>2.661</c:v>
                </c:pt>
                <c:pt idx="32">
                  <c:v>-0.855</c:v>
                </c:pt>
                <c:pt idx="33">
                  <c:v>-2.089</c:v>
                </c:pt>
                <c:pt idx="34">
                  <c:v>-0.307</c:v>
                </c:pt>
                <c:pt idx="35">
                  <c:v>-1.486</c:v>
                </c:pt>
                <c:pt idx="36">
                  <c:v>2.575</c:v>
                </c:pt>
                <c:pt idx="37">
                  <c:v>2.075</c:v>
                </c:pt>
                <c:pt idx="38">
                  <c:v>1.795</c:v>
                </c:pt>
                <c:pt idx="39">
                  <c:v>0.714</c:v>
                </c:pt>
                <c:pt idx="40">
                  <c:v>-1.868</c:v>
                </c:pt>
                <c:pt idx="41">
                  <c:v>1.699</c:v>
                </c:pt>
                <c:pt idx="42">
                  <c:v>0.209</c:v>
                </c:pt>
                <c:pt idx="43">
                  <c:v>1.566</c:v>
                </c:pt>
                <c:pt idx="44">
                  <c:v>-0.499</c:v>
                </c:pt>
                <c:pt idx="45">
                  <c:v>2.155</c:v>
                </c:pt>
                <c:pt idx="46">
                  <c:v>-0.136</c:v>
                </c:pt>
                <c:pt idx="47">
                  <c:v>-2.554</c:v>
                </c:pt>
                <c:pt idx="48">
                  <c:v>1.775</c:v>
                </c:pt>
                <c:pt idx="49">
                  <c:v>1.335</c:v>
                </c:pt>
                <c:pt idx="50">
                  <c:v>-0.027</c:v>
                </c:pt>
                <c:pt idx="51">
                  <c:v>-0.21</c:v>
                </c:pt>
                <c:pt idx="52">
                  <c:v>-0.384</c:v>
                </c:pt>
                <c:pt idx="53">
                  <c:v>-1.955</c:v>
                </c:pt>
                <c:pt idx="54">
                  <c:v>0.018</c:v>
                </c:pt>
                <c:pt idx="55">
                  <c:v>-1.137</c:v>
                </c:pt>
                <c:pt idx="56">
                  <c:v>1.849</c:v>
                </c:pt>
                <c:pt idx="57">
                  <c:v>-0.321</c:v>
                </c:pt>
                <c:pt idx="58">
                  <c:v>0.808</c:v>
                </c:pt>
                <c:pt idx="59">
                  <c:v>-2.066</c:v>
                </c:pt>
                <c:pt idx="60">
                  <c:v>-0.193</c:v>
                </c:pt>
                <c:pt idx="61">
                  <c:v>2.905</c:v>
                </c:pt>
                <c:pt idx="62">
                  <c:v>-2.827</c:v>
                </c:pt>
                <c:pt idx="63">
                  <c:v>-1.781</c:v>
                </c:pt>
                <c:pt idx="64">
                  <c:v>-1.483</c:v>
                </c:pt>
                <c:pt idx="65">
                  <c:v>1.5</c:v>
                </c:pt>
                <c:pt idx="66">
                  <c:v>-0.201</c:v>
                </c:pt>
                <c:pt idx="67">
                  <c:v>1.114</c:v>
                </c:pt>
                <c:pt idx="68">
                  <c:v>1.271</c:v>
                </c:pt>
                <c:pt idx="69">
                  <c:v>-2.505</c:v>
                </c:pt>
                <c:pt idx="70">
                  <c:v>-1.031</c:v>
                </c:pt>
                <c:pt idx="71">
                  <c:v>2.876</c:v>
                </c:pt>
                <c:pt idx="72">
                  <c:v>2.712</c:v>
                </c:pt>
                <c:pt idx="73">
                  <c:v>1.576</c:v>
                </c:pt>
                <c:pt idx="74">
                  <c:v>0.553</c:v>
                </c:pt>
                <c:pt idx="75">
                  <c:v>-1.857</c:v>
                </c:pt>
                <c:pt idx="76">
                  <c:v>1.946</c:v>
                </c:pt>
                <c:pt idx="77">
                  <c:v>-0.631</c:v>
                </c:pt>
                <c:pt idx="78">
                  <c:v>1.684</c:v>
                </c:pt>
                <c:pt idx="79">
                  <c:v>-0.08</c:v>
                </c:pt>
                <c:pt idx="80">
                  <c:v>1.987</c:v>
                </c:pt>
                <c:pt idx="81">
                  <c:v>1.181</c:v>
                </c:pt>
                <c:pt idx="82">
                  <c:v>2.885</c:v>
                </c:pt>
                <c:pt idx="83">
                  <c:v>2.152</c:v>
                </c:pt>
                <c:pt idx="84">
                  <c:v>-2.584</c:v>
                </c:pt>
                <c:pt idx="85">
                  <c:v>1.306</c:v>
                </c:pt>
                <c:pt idx="86">
                  <c:v>-1.038</c:v>
                </c:pt>
                <c:pt idx="87">
                  <c:v>-0.646</c:v>
                </c:pt>
                <c:pt idx="88">
                  <c:v>-2.094</c:v>
                </c:pt>
                <c:pt idx="89">
                  <c:v>2.663</c:v>
                </c:pt>
                <c:pt idx="90">
                  <c:v>1.508</c:v>
                </c:pt>
                <c:pt idx="91">
                  <c:v>-1.132</c:v>
                </c:pt>
                <c:pt idx="92">
                  <c:v>0.597</c:v>
                </c:pt>
                <c:pt idx="93">
                  <c:v>-1.328</c:v>
                </c:pt>
                <c:pt idx="94">
                  <c:v>2.526</c:v>
                </c:pt>
                <c:pt idx="95">
                  <c:v>0.001</c:v>
                </c:pt>
                <c:pt idx="96">
                  <c:v>-2.315</c:v>
                </c:pt>
                <c:pt idx="97">
                  <c:v>-0.519</c:v>
                </c:pt>
                <c:pt idx="98">
                  <c:v>0.746</c:v>
                </c:pt>
                <c:pt idx="99">
                  <c:v>1.449</c:v>
                </c:pt>
                <c:pt idx="100">
                  <c:v>1.04</c:v>
                </c:pt>
                <c:pt idx="101">
                  <c:v>-0.99</c:v>
                </c:pt>
                <c:pt idx="102">
                  <c:v>-0.658</c:v>
                </c:pt>
                <c:pt idx="103">
                  <c:v>0.672</c:v>
                </c:pt>
                <c:pt idx="104">
                  <c:v>3.045</c:v>
                </c:pt>
                <c:pt idx="105">
                  <c:v>3.11</c:v>
                </c:pt>
                <c:pt idx="106">
                  <c:v>-2.75</c:v>
                </c:pt>
                <c:pt idx="107">
                  <c:v>1.554</c:v>
                </c:pt>
                <c:pt idx="108">
                  <c:v>-3.098</c:v>
                </c:pt>
                <c:pt idx="109">
                  <c:v>3.041</c:v>
                </c:pt>
                <c:pt idx="110">
                  <c:v>-1.629</c:v>
                </c:pt>
                <c:pt idx="111">
                  <c:v>-2.968</c:v>
                </c:pt>
                <c:pt idx="112">
                  <c:v>-1.831</c:v>
                </c:pt>
                <c:pt idx="113">
                  <c:v>-2.041</c:v>
                </c:pt>
                <c:pt idx="114">
                  <c:v>1.889</c:v>
                </c:pt>
                <c:pt idx="115">
                  <c:v>0.789</c:v>
                </c:pt>
                <c:pt idx="116">
                  <c:v>-0.035</c:v>
                </c:pt>
                <c:pt idx="117">
                  <c:v>-0.779</c:v>
                </c:pt>
                <c:pt idx="118">
                  <c:v>1.584</c:v>
                </c:pt>
                <c:pt idx="119">
                  <c:v>-1.209</c:v>
                </c:pt>
                <c:pt idx="120">
                  <c:v>1.676</c:v>
                </c:pt>
                <c:pt idx="121">
                  <c:v>0.454</c:v>
                </c:pt>
                <c:pt idx="122">
                  <c:v>0.033</c:v>
                </c:pt>
                <c:pt idx="123">
                  <c:v>0.998</c:v>
                </c:pt>
                <c:pt idx="124">
                  <c:v>0.458</c:v>
                </c:pt>
                <c:pt idx="125">
                  <c:v>-2.648</c:v>
                </c:pt>
                <c:pt idx="126">
                  <c:v>-1.919</c:v>
                </c:pt>
                <c:pt idx="127">
                  <c:v>-2.207</c:v>
                </c:pt>
                <c:pt idx="128">
                  <c:v>0.883</c:v>
                </c:pt>
                <c:pt idx="129">
                  <c:v>-1.28</c:v>
                </c:pt>
                <c:pt idx="130">
                  <c:v>-0.916</c:v>
                </c:pt>
                <c:pt idx="131">
                  <c:v>0.14</c:v>
                </c:pt>
                <c:pt idx="132">
                  <c:v>-2.549</c:v>
                </c:pt>
                <c:pt idx="133">
                  <c:v>-0.557</c:v>
                </c:pt>
                <c:pt idx="134">
                  <c:v>1.48</c:v>
                </c:pt>
                <c:pt idx="135">
                  <c:v>-0.743</c:v>
                </c:pt>
                <c:pt idx="136">
                  <c:v>-1.313</c:v>
                </c:pt>
                <c:pt idx="137">
                  <c:v>1.387</c:v>
                </c:pt>
                <c:pt idx="138">
                  <c:v>-2.926</c:v>
                </c:pt>
                <c:pt idx="139">
                  <c:v>-1.153</c:v>
                </c:pt>
                <c:pt idx="140">
                  <c:v>0.829</c:v>
                </c:pt>
                <c:pt idx="141">
                  <c:v>-2.475</c:v>
                </c:pt>
                <c:pt idx="142">
                  <c:v>-3.048</c:v>
                </c:pt>
                <c:pt idx="143">
                  <c:v>0.409</c:v>
                </c:pt>
                <c:pt idx="144">
                  <c:v>1.853</c:v>
                </c:pt>
                <c:pt idx="145">
                  <c:v>1.157</c:v>
                </c:pt>
                <c:pt idx="146">
                  <c:v>1.214</c:v>
                </c:pt>
                <c:pt idx="147">
                  <c:v>-1.111</c:v>
                </c:pt>
                <c:pt idx="148">
                  <c:v>-0.545</c:v>
                </c:pt>
                <c:pt idx="149">
                  <c:v>2.946</c:v>
                </c:pt>
                <c:pt idx="150">
                  <c:v>1.706</c:v>
                </c:pt>
                <c:pt idx="151">
                  <c:v>-0.909</c:v>
                </c:pt>
                <c:pt idx="152">
                  <c:v>0.719</c:v>
                </c:pt>
                <c:pt idx="153">
                  <c:v>-2.043</c:v>
                </c:pt>
                <c:pt idx="154">
                  <c:v>-1.494</c:v>
                </c:pt>
                <c:pt idx="155">
                  <c:v>2.258</c:v>
                </c:pt>
                <c:pt idx="156">
                  <c:v>-1.31</c:v>
                </c:pt>
                <c:pt idx="157">
                  <c:v>2.575</c:v>
                </c:pt>
                <c:pt idx="158">
                  <c:v>0.568</c:v>
                </c:pt>
                <c:pt idx="159">
                  <c:v>-1.133</c:v>
                </c:pt>
                <c:pt idx="160">
                  <c:v>1.219</c:v>
                </c:pt>
                <c:pt idx="161">
                  <c:v>-3.052</c:v>
                </c:pt>
                <c:pt idx="162">
                  <c:v>2.041</c:v>
                </c:pt>
                <c:pt idx="163">
                  <c:v>0.063</c:v>
                </c:pt>
                <c:pt idx="164">
                  <c:v>-2.082</c:v>
                </c:pt>
                <c:pt idx="165">
                  <c:v>1.917</c:v>
                </c:pt>
                <c:pt idx="166">
                  <c:v>0.167</c:v>
                </c:pt>
                <c:pt idx="167">
                  <c:v>2.837</c:v>
                </c:pt>
                <c:pt idx="168">
                  <c:v>-2.089</c:v>
                </c:pt>
                <c:pt idx="169">
                  <c:v>2.895</c:v>
                </c:pt>
                <c:pt idx="170">
                  <c:v>-0.065</c:v>
                </c:pt>
                <c:pt idx="171">
                  <c:v>-2.075</c:v>
                </c:pt>
                <c:pt idx="172">
                  <c:v>0.346</c:v>
                </c:pt>
                <c:pt idx="173">
                  <c:v>3.076</c:v>
                </c:pt>
                <c:pt idx="174">
                  <c:v>-1.031</c:v>
                </c:pt>
                <c:pt idx="175">
                  <c:v>-0.665</c:v>
                </c:pt>
                <c:pt idx="176">
                  <c:v>0.471</c:v>
                </c:pt>
                <c:pt idx="177">
                  <c:v>-0.571</c:v>
                </c:pt>
                <c:pt idx="178">
                  <c:v>-2.731</c:v>
                </c:pt>
                <c:pt idx="179">
                  <c:v>1.396</c:v>
                </c:pt>
                <c:pt idx="180">
                  <c:v>1.669</c:v>
                </c:pt>
                <c:pt idx="181">
                  <c:v>0.211</c:v>
                </c:pt>
                <c:pt idx="182">
                  <c:v>2.475</c:v>
                </c:pt>
                <c:pt idx="183">
                  <c:v>-2.956</c:v>
                </c:pt>
                <c:pt idx="184">
                  <c:v>-0.302</c:v>
                </c:pt>
                <c:pt idx="185">
                  <c:v>0.238</c:v>
                </c:pt>
                <c:pt idx="186">
                  <c:v>2.944</c:v>
                </c:pt>
                <c:pt idx="187">
                  <c:v>2.763</c:v>
                </c:pt>
                <c:pt idx="188">
                  <c:v>3.008</c:v>
                </c:pt>
                <c:pt idx="189">
                  <c:v>-2.515</c:v>
                </c:pt>
                <c:pt idx="190">
                  <c:v>-0.079</c:v>
                </c:pt>
                <c:pt idx="191">
                  <c:v>3.071</c:v>
                </c:pt>
                <c:pt idx="192">
                  <c:v>1.209</c:v>
                </c:pt>
                <c:pt idx="193">
                  <c:v>0.811</c:v>
                </c:pt>
                <c:pt idx="194">
                  <c:v>-0.342</c:v>
                </c:pt>
                <c:pt idx="195">
                  <c:v>1.113</c:v>
                </c:pt>
                <c:pt idx="196">
                  <c:v>-3.135</c:v>
                </c:pt>
                <c:pt idx="197">
                  <c:v>2.364</c:v>
                </c:pt>
                <c:pt idx="198">
                  <c:v>-1.188</c:v>
                </c:pt>
                <c:pt idx="199">
                  <c:v>-2.651</c:v>
                </c:pt>
                <c:pt idx="200">
                  <c:v>-1.194</c:v>
                </c:pt>
                <c:pt idx="201">
                  <c:v>-1.967</c:v>
                </c:pt>
                <c:pt idx="202">
                  <c:v>3.026</c:v>
                </c:pt>
                <c:pt idx="203">
                  <c:v>2.395</c:v>
                </c:pt>
                <c:pt idx="204">
                  <c:v>0.944</c:v>
                </c:pt>
                <c:pt idx="205">
                  <c:v>-1.333</c:v>
                </c:pt>
                <c:pt idx="206">
                  <c:v>-1.832</c:v>
                </c:pt>
                <c:pt idx="207">
                  <c:v>2.175</c:v>
                </c:pt>
                <c:pt idx="208">
                  <c:v>1.06</c:v>
                </c:pt>
                <c:pt idx="209">
                  <c:v>-1.251</c:v>
                </c:pt>
                <c:pt idx="210">
                  <c:v>-2.572</c:v>
                </c:pt>
                <c:pt idx="211">
                  <c:v>-0.916</c:v>
                </c:pt>
                <c:pt idx="212">
                  <c:v>-2.603</c:v>
                </c:pt>
                <c:pt idx="213">
                  <c:v>-1.816</c:v>
                </c:pt>
                <c:pt idx="214">
                  <c:v>-2.208</c:v>
                </c:pt>
                <c:pt idx="215">
                  <c:v>-1.76</c:v>
                </c:pt>
                <c:pt idx="216">
                  <c:v>-0.156</c:v>
                </c:pt>
                <c:pt idx="217">
                  <c:v>1.316</c:v>
                </c:pt>
                <c:pt idx="218">
                  <c:v>2.928</c:v>
                </c:pt>
                <c:pt idx="219">
                  <c:v>0.666</c:v>
                </c:pt>
                <c:pt idx="220">
                  <c:v>2.017</c:v>
                </c:pt>
                <c:pt idx="221">
                  <c:v>-1.142</c:v>
                </c:pt>
                <c:pt idx="222">
                  <c:v>-2.988</c:v>
                </c:pt>
                <c:pt idx="223">
                  <c:v>2.942</c:v>
                </c:pt>
                <c:pt idx="224">
                  <c:v>1.255</c:v>
                </c:pt>
                <c:pt idx="225">
                  <c:v>-3.14</c:v>
                </c:pt>
                <c:pt idx="226">
                  <c:v>1.99</c:v>
                </c:pt>
                <c:pt idx="227">
                  <c:v>-1.82</c:v>
                </c:pt>
                <c:pt idx="228">
                  <c:v>-0.828</c:v>
                </c:pt>
                <c:pt idx="229">
                  <c:v>1.498</c:v>
                </c:pt>
                <c:pt idx="230">
                  <c:v>-2.847</c:v>
                </c:pt>
                <c:pt idx="231">
                  <c:v>-2.472</c:v>
                </c:pt>
                <c:pt idx="232">
                  <c:v>-0.774</c:v>
                </c:pt>
                <c:pt idx="233">
                  <c:v>0.986</c:v>
                </c:pt>
                <c:pt idx="234">
                  <c:v>-3.057</c:v>
                </c:pt>
                <c:pt idx="235">
                  <c:v>1.337</c:v>
                </c:pt>
                <c:pt idx="236">
                  <c:v>-1.252</c:v>
                </c:pt>
                <c:pt idx="237">
                  <c:v>-1.562</c:v>
                </c:pt>
                <c:pt idx="238">
                  <c:v>2.319</c:v>
                </c:pt>
                <c:pt idx="239">
                  <c:v>-1.973</c:v>
                </c:pt>
                <c:pt idx="240">
                  <c:v>1.906</c:v>
                </c:pt>
                <c:pt idx="241">
                  <c:v>2.876</c:v>
                </c:pt>
                <c:pt idx="242">
                  <c:v>1.208</c:v>
                </c:pt>
                <c:pt idx="243">
                  <c:v>-0.008</c:v>
                </c:pt>
                <c:pt idx="244">
                  <c:v>0.36</c:v>
                </c:pt>
                <c:pt idx="245">
                  <c:v>-0.325</c:v>
                </c:pt>
                <c:pt idx="246">
                  <c:v>-0.004</c:v>
                </c:pt>
                <c:pt idx="247">
                  <c:v>-2.194</c:v>
                </c:pt>
                <c:pt idx="248">
                  <c:v>-0.948</c:v>
                </c:pt>
                <c:pt idx="249">
                  <c:v>-0.759</c:v>
                </c:pt>
                <c:pt idx="250">
                  <c:v>2.095</c:v>
                </c:pt>
                <c:pt idx="251">
                  <c:v>-2.742</c:v>
                </c:pt>
                <c:pt idx="252">
                  <c:v>-1.897</c:v>
                </c:pt>
                <c:pt idx="253">
                  <c:v>1.782</c:v>
                </c:pt>
                <c:pt idx="254">
                  <c:v>-2.399</c:v>
                </c:pt>
                <c:pt idx="255">
                  <c:v>-2.833</c:v>
                </c:pt>
                <c:pt idx="256">
                  <c:v>-2.807</c:v>
                </c:pt>
                <c:pt idx="257">
                  <c:v>0.957</c:v>
                </c:pt>
                <c:pt idx="258">
                  <c:v>-1.183</c:v>
                </c:pt>
                <c:pt idx="259">
                  <c:v>0.702</c:v>
                </c:pt>
                <c:pt idx="260">
                  <c:v>1.112</c:v>
                </c:pt>
                <c:pt idx="261">
                  <c:v>-0.412</c:v>
                </c:pt>
                <c:pt idx="262">
                  <c:v>-1.662</c:v>
                </c:pt>
                <c:pt idx="263">
                  <c:v>2.095</c:v>
                </c:pt>
                <c:pt idx="264">
                  <c:v>-0.632</c:v>
                </c:pt>
                <c:pt idx="265">
                  <c:v>-1.419</c:v>
                </c:pt>
                <c:pt idx="266">
                  <c:v>-0.83</c:v>
                </c:pt>
                <c:pt idx="267">
                  <c:v>2.277</c:v>
                </c:pt>
                <c:pt idx="268">
                  <c:v>1.183</c:v>
                </c:pt>
                <c:pt idx="269">
                  <c:v>1.891</c:v>
                </c:pt>
                <c:pt idx="270">
                  <c:v>0.207</c:v>
                </c:pt>
                <c:pt idx="271">
                  <c:v>-1.46</c:v>
                </c:pt>
                <c:pt idx="272">
                  <c:v>0.214</c:v>
                </c:pt>
                <c:pt idx="273">
                  <c:v>-0.898</c:v>
                </c:pt>
                <c:pt idx="274">
                  <c:v>1.678</c:v>
                </c:pt>
                <c:pt idx="275">
                  <c:v>0.654</c:v>
                </c:pt>
                <c:pt idx="276">
                  <c:v>2</c:v>
                </c:pt>
                <c:pt idx="277">
                  <c:v>2.62</c:v>
                </c:pt>
                <c:pt idx="278">
                  <c:v>2.923</c:v>
                </c:pt>
                <c:pt idx="279">
                  <c:v>0.369</c:v>
                </c:pt>
                <c:pt idx="280">
                  <c:v>-1.256</c:v>
                </c:pt>
                <c:pt idx="281">
                  <c:v>-0.12</c:v>
                </c:pt>
                <c:pt idx="282">
                  <c:v>0.145</c:v>
                </c:pt>
                <c:pt idx="283">
                  <c:v>-0.741</c:v>
                </c:pt>
                <c:pt idx="284">
                  <c:v>-1.623</c:v>
                </c:pt>
                <c:pt idx="285">
                  <c:v>0.55</c:v>
                </c:pt>
                <c:pt idx="286">
                  <c:v>1.522</c:v>
                </c:pt>
                <c:pt idx="287">
                  <c:v>-1.169</c:v>
                </c:pt>
                <c:pt idx="288">
                  <c:v>-1.759</c:v>
                </c:pt>
                <c:pt idx="289">
                  <c:v>-0.986</c:v>
                </c:pt>
                <c:pt idx="290">
                  <c:v>-3.006</c:v>
                </c:pt>
                <c:pt idx="291">
                  <c:v>2.378</c:v>
                </c:pt>
                <c:pt idx="292">
                  <c:v>-3.08</c:v>
                </c:pt>
                <c:pt idx="293">
                  <c:v>1.811</c:v>
                </c:pt>
                <c:pt idx="294">
                  <c:v>-1.141</c:v>
                </c:pt>
                <c:pt idx="295">
                  <c:v>2.021</c:v>
                </c:pt>
                <c:pt idx="296">
                  <c:v>2.278</c:v>
                </c:pt>
                <c:pt idx="297">
                  <c:v>0.766</c:v>
                </c:pt>
                <c:pt idx="298">
                  <c:v>-1.88</c:v>
                </c:pt>
                <c:pt idx="299">
                  <c:v>-2.078</c:v>
                </c:pt>
              </c:numCache>
            </c:numRef>
          </c:xVal>
          <c:yVal>
            <c:numRef>
              <c:f>Sheet1!$C$2:$C$301</c:f>
              <c:numCache>
                <c:formatCode>General</c:formatCode>
                <c:ptCount val="300"/>
                <c:pt idx="0">
                  <c:v>6.929</c:v>
                </c:pt>
                <c:pt idx="1">
                  <c:v>6.654</c:v>
                </c:pt>
                <c:pt idx="2">
                  <c:v>3.152</c:v>
                </c:pt>
                <c:pt idx="3">
                  <c:v>6.997</c:v>
                </c:pt>
                <c:pt idx="4">
                  <c:v>6.861</c:v>
                </c:pt>
                <c:pt idx="5">
                  <c:v>6.976</c:v>
                </c:pt>
                <c:pt idx="6">
                  <c:v>6.95</c:v>
                </c:pt>
                <c:pt idx="7">
                  <c:v>1.112</c:v>
                </c:pt>
                <c:pt idx="8">
                  <c:v>2.394</c:v>
                </c:pt>
                <c:pt idx="9">
                  <c:v>5.827</c:v>
                </c:pt>
                <c:pt idx="10">
                  <c:v>1.389</c:v>
                </c:pt>
                <c:pt idx="11">
                  <c:v>0.99</c:v>
                </c:pt>
                <c:pt idx="12">
                  <c:v>5.873</c:v>
                </c:pt>
                <c:pt idx="13">
                  <c:v>0.004</c:v>
                </c:pt>
                <c:pt idx="14">
                  <c:v>4.107</c:v>
                </c:pt>
                <c:pt idx="15">
                  <c:v>6.996</c:v>
                </c:pt>
                <c:pt idx="16">
                  <c:v>3.937</c:v>
                </c:pt>
                <c:pt idx="17">
                  <c:v>1.734</c:v>
                </c:pt>
                <c:pt idx="18">
                  <c:v>2.476</c:v>
                </c:pt>
                <c:pt idx="19">
                  <c:v>0.755</c:v>
                </c:pt>
                <c:pt idx="20">
                  <c:v>1.389</c:v>
                </c:pt>
                <c:pt idx="21">
                  <c:v>4.183</c:v>
                </c:pt>
                <c:pt idx="22">
                  <c:v>0.839</c:v>
                </c:pt>
                <c:pt idx="23">
                  <c:v>4.309</c:v>
                </c:pt>
                <c:pt idx="24">
                  <c:v>0.424</c:v>
                </c:pt>
                <c:pt idx="25">
                  <c:v>6.576</c:v>
                </c:pt>
                <c:pt idx="26">
                  <c:v>6.852</c:v>
                </c:pt>
                <c:pt idx="27">
                  <c:v>1.286</c:v>
                </c:pt>
                <c:pt idx="28">
                  <c:v>0.178</c:v>
                </c:pt>
                <c:pt idx="29">
                  <c:v>0.418</c:v>
                </c:pt>
                <c:pt idx="30">
                  <c:v>0.596</c:v>
                </c:pt>
                <c:pt idx="31">
                  <c:v>1.496</c:v>
                </c:pt>
                <c:pt idx="32">
                  <c:v>3.986</c:v>
                </c:pt>
                <c:pt idx="33">
                  <c:v>5.283</c:v>
                </c:pt>
                <c:pt idx="34">
                  <c:v>0.639</c:v>
                </c:pt>
                <c:pt idx="35">
                  <c:v>6.95</c:v>
                </c:pt>
                <c:pt idx="36">
                  <c:v>2.017</c:v>
                </c:pt>
                <c:pt idx="37">
                  <c:v>5.366</c:v>
                </c:pt>
                <c:pt idx="38">
                  <c:v>6.654</c:v>
                </c:pt>
                <c:pt idx="39">
                  <c:v>3.002</c:v>
                </c:pt>
                <c:pt idx="40">
                  <c:v>6.4</c:v>
                </c:pt>
                <c:pt idx="41">
                  <c:v>6.886</c:v>
                </c:pt>
                <c:pt idx="42">
                  <c:v>0.301</c:v>
                </c:pt>
                <c:pt idx="43">
                  <c:v>7</c:v>
                </c:pt>
                <c:pt idx="44">
                  <c:v>1.603</c:v>
                </c:pt>
                <c:pt idx="45">
                  <c:v>4.871</c:v>
                </c:pt>
                <c:pt idx="46">
                  <c:v>0.129</c:v>
                </c:pt>
                <c:pt idx="47">
                  <c:v>2.151</c:v>
                </c:pt>
                <c:pt idx="48">
                  <c:v>6.712</c:v>
                </c:pt>
                <c:pt idx="49">
                  <c:v>6.618</c:v>
                </c:pt>
                <c:pt idx="50">
                  <c:v>0.005</c:v>
                </c:pt>
                <c:pt idx="51">
                  <c:v>0.304</c:v>
                </c:pt>
                <c:pt idx="52">
                  <c:v>0.982</c:v>
                </c:pt>
                <c:pt idx="53">
                  <c:v>6.017</c:v>
                </c:pt>
                <c:pt idx="54">
                  <c:v>0.002</c:v>
                </c:pt>
                <c:pt idx="55">
                  <c:v>5.763</c:v>
                </c:pt>
                <c:pt idx="56">
                  <c:v>6.472</c:v>
                </c:pt>
                <c:pt idx="57">
                  <c:v>0.697</c:v>
                </c:pt>
                <c:pt idx="58">
                  <c:v>3.658</c:v>
                </c:pt>
                <c:pt idx="59">
                  <c:v>5.419</c:v>
                </c:pt>
                <c:pt idx="60">
                  <c:v>0.258</c:v>
                </c:pt>
                <c:pt idx="61">
                  <c:v>0.385</c:v>
                </c:pt>
                <c:pt idx="62">
                  <c:v>0.67</c:v>
                </c:pt>
                <c:pt idx="63">
                  <c:v>6.695</c:v>
                </c:pt>
                <c:pt idx="64">
                  <c:v>6.946</c:v>
                </c:pt>
                <c:pt idx="65">
                  <c:v>6.965</c:v>
                </c:pt>
                <c:pt idx="66">
                  <c:v>0.279</c:v>
                </c:pt>
                <c:pt idx="67">
                  <c:v>5.638</c:v>
                </c:pt>
                <c:pt idx="68">
                  <c:v>6.389</c:v>
                </c:pt>
                <c:pt idx="69">
                  <c:v>2.474</c:v>
                </c:pt>
                <c:pt idx="70">
                  <c:v>5.151</c:v>
                </c:pt>
                <c:pt idx="71">
                  <c:v>0.482</c:v>
                </c:pt>
                <c:pt idx="72">
                  <c:v>1.214</c:v>
                </c:pt>
                <c:pt idx="73">
                  <c:v>7</c:v>
                </c:pt>
                <c:pt idx="74">
                  <c:v>1.931</c:v>
                </c:pt>
                <c:pt idx="75">
                  <c:v>6.442</c:v>
                </c:pt>
                <c:pt idx="76">
                  <c:v>6.06</c:v>
                </c:pt>
                <c:pt idx="77">
                  <c:v>2.436</c:v>
                </c:pt>
                <c:pt idx="78">
                  <c:v>6.911</c:v>
                </c:pt>
                <c:pt idx="79">
                  <c:v>0.045</c:v>
                </c:pt>
                <c:pt idx="80">
                  <c:v>5.856</c:v>
                </c:pt>
                <c:pt idx="81">
                  <c:v>5.989</c:v>
                </c:pt>
                <c:pt idx="82">
                  <c:v>0.451</c:v>
                </c:pt>
                <c:pt idx="83">
                  <c:v>4.89</c:v>
                </c:pt>
                <c:pt idx="84">
                  <c:v>1.96</c:v>
                </c:pt>
                <c:pt idx="85">
                  <c:v>6.521</c:v>
                </c:pt>
                <c:pt idx="86">
                  <c:v>5.194</c:v>
                </c:pt>
                <c:pt idx="87">
                  <c:v>2.537</c:v>
                </c:pt>
                <c:pt idx="88">
                  <c:v>5.252</c:v>
                </c:pt>
                <c:pt idx="89">
                  <c:v>1.485</c:v>
                </c:pt>
                <c:pt idx="90">
                  <c:v>6.972</c:v>
                </c:pt>
                <c:pt idx="91">
                  <c:v>5.737</c:v>
                </c:pt>
                <c:pt idx="92">
                  <c:v>2.212</c:v>
                </c:pt>
                <c:pt idx="93">
                  <c:v>6.595</c:v>
                </c:pt>
                <c:pt idx="94">
                  <c:v>2.334</c:v>
                </c:pt>
                <c:pt idx="95">
                  <c:v>0</c:v>
                </c:pt>
                <c:pt idx="96">
                  <c:v>3.788</c:v>
                </c:pt>
                <c:pt idx="97">
                  <c:v>1.722</c:v>
                </c:pt>
                <c:pt idx="98">
                  <c:v>3.224</c:v>
                </c:pt>
                <c:pt idx="99">
                  <c:v>6.897</c:v>
                </c:pt>
                <c:pt idx="100">
                  <c:v>5.206</c:v>
                </c:pt>
                <c:pt idx="101">
                  <c:v>4.893</c:v>
                </c:pt>
                <c:pt idx="102">
                  <c:v>2.618</c:v>
                </c:pt>
                <c:pt idx="103">
                  <c:v>2.713</c:v>
                </c:pt>
                <c:pt idx="104">
                  <c:v>0.065</c:v>
                </c:pt>
                <c:pt idx="105">
                  <c:v>0.007</c:v>
                </c:pt>
                <c:pt idx="106">
                  <c:v>1.02</c:v>
                </c:pt>
                <c:pt idx="107">
                  <c:v>6.998</c:v>
                </c:pt>
                <c:pt idx="108">
                  <c:v>0.013</c:v>
                </c:pt>
                <c:pt idx="109">
                  <c:v>0.071</c:v>
                </c:pt>
                <c:pt idx="110">
                  <c:v>6.976</c:v>
                </c:pt>
                <c:pt idx="111">
                  <c:v>0.209</c:v>
                </c:pt>
                <c:pt idx="112">
                  <c:v>6.537</c:v>
                </c:pt>
                <c:pt idx="113">
                  <c:v>5.563</c:v>
                </c:pt>
                <c:pt idx="114">
                  <c:v>6.315</c:v>
                </c:pt>
                <c:pt idx="115">
                  <c:v>3.525</c:v>
                </c:pt>
                <c:pt idx="116">
                  <c:v>0.009</c:v>
                </c:pt>
                <c:pt idx="117">
                  <c:v>3.455</c:v>
                </c:pt>
                <c:pt idx="118">
                  <c:v>6.999</c:v>
                </c:pt>
                <c:pt idx="119">
                  <c:v>6.123</c:v>
                </c:pt>
                <c:pt idx="120">
                  <c:v>6.923</c:v>
                </c:pt>
                <c:pt idx="121">
                  <c:v>1.346</c:v>
                </c:pt>
                <c:pt idx="122">
                  <c:v>0.008</c:v>
                </c:pt>
                <c:pt idx="123">
                  <c:v>4.944</c:v>
                </c:pt>
                <c:pt idx="124">
                  <c:v>1.369</c:v>
                </c:pt>
                <c:pt idx="125">
                  <c:v>1.571</c:v>
                </c:pt>
                <c:pt idx="126">
                  <c:v>6.185</c:v>
                </c:pt>
                <c:pt idx="127">
                  <c:v>4.529</c:v>
                </c:pt>
                <c:pt idx="128">
                  <c:v>4.179</c:v>
                </c:pt>
                <c:pt idx="129">
                  <c:v>6.425</c:v>
                </c:pt>
                <c:pt idx="130">
                  <c:v>4.404</c:v>
                </c:pt>
                <c:pt idx="131">
                  <c:v>0.136</c:v>
                </c:pt>
                <c:pt idx="132">
                  <c:v>2.184</c:v>
                </c:pt>
                <c:pt idx="133">
                  <c:v>1.956</c:v>
                </c:pt>
                <c:pt idx="134">
                  <c:v>6.942</c:v>
                </c:pt>
                <c:pt idx="135">
                  <c:v>3.204</c:v>
                </c:pt>
                <c:pt idx="136">
                  <c:v>6.545</c:v>
                </c:pt>
                <c:pt idx="137">
                  <c:v>6.766</c:v>
                </c:pt>
                <c:pt idx="138">
                  <c:v>0.32</c:v>
                </c:pt>
                <c:pt idx="139">
                  <c:v>5.848</c:v>
                </c:pt>
                <c:pt idx="140">
                  <c:v>3.805</c:v>
                </c:pt>
                <c:pt idx="141">
                  <c:v>2.676</c:v>
                </c:pt>
                <c:pt idx="142">
                  <c:v>0.061</c:v>
                </c:pt>
                <c:pt idx="143">
                  <c:v>1.107</c:v>
                </c:pt>
                <c:pt idx="144">
                  <c:v>6.457</c:v>
                </c:pt>
                <c:pt idx="145">
                  <c:v>5.868</c:v>
                </c:pt>
                <c:pt idx="146">
                  <c:v>6.146</c:v>
                </c:pt>
                <c:pt idx="147">
                  <c:v>5.622</c:v>
                </c:pt>
                <c:pt idx="148">
                  <c:v>1.881</c:v>
                </c:pt>
                <c:pt idx="149">
                  <c:v>0.264</c:v>
                </c:pt>
                <c:pt idx="150">
                  <c:v>6.873</c:v>
                </c:pt>
                <c:pt idx="151">
                  <c:v>4.356</c:v>
                </c:pt>
                <c:pt idx="152">
                  <c:v>3.037</c:v>
                </c:pt>
                <c:pt idx="153">
                  <c:v>5.552</c:v>
                </c:pt>
                <c:pt idx="154">
                  <c:v>6.959</c:v>
                </c:pt>
                <c:pt idx="155">
                  <c:v>4.183</c:v>
                </c:pt>
                <c:pt idx="156">
                  <c:v>6.535</c:v>
                </c:pt>
                <c:pt idx="157">
                  <c:v>2.017</c:v>
                </c:pt>
                <c:pt idx="158">
                  <c:v>2.026</c:v>
                </c:pt>
                <c:pt idx="159">
                  <c:v>5.742</c:v>
                </c:pt>
                <c:pt idx="160">
                  <c:v>6.169</c:v>
                </c:pt>
                <c:pt idx="161">
                  <c:v>0.056</c:v>
                </c:pt>
                <c:pt idx="162">
                  <c:v>5.563</c:v>
                </c:pt>
                <c:pt idx="163">
                  <c:v>0.028</c:v>
                </c:pt>
                <c:pt idx="164">
                  <c:v>5.325</c:v>
                </c:pt>
                <c:pt idx="165">
                  <c:v>6.194</c:v>
                </c:pt>
                <c:pt idx="166">
                  <c:v>0.193</c:v>
                </c:pt>
                <c:pt idx="167">
                  <c:v>0.63</c:v>
                </c:pt>
                <c:pt idx="168">
                  <c:v>5.283</c:v>
                </c:pt>
                <c:pt idx="169">
                  <c:v>0.417</c:v>
                </c:pt>
                <c:pt idx="170">
                  <c:v>0.03</c:v>
                </c:pt>
                <c:pt idx="171">
                  <c:v>5.366</c:v>
                </c:pt>
                <c:pt idx="172">
                  <c:v>0.805</c:v>
                </c:pt>
                <c:pt idx="173">
                  <c:v>0.03</c:v>
                </c:pt>
                <c:pt idx="174">
                  <c:v>5.151</c:v>
                </c:pt>
                <c:pt idx="175">
                  <c:v>2.665</c:v>
                </c:pt>
                <c:pt idx="176">
                  <c:v>1.441</c:v>
                </c:pt>
                <c:pt idx="177">
                  <c:v>2.045</c:v>
                </c:pt>
                <c:pt idx="178">
                  <c:v>1.115</c:v>
                </c:pt>
                <c:pt idx="179">
                  <c:v>6.788</c:v>
                </c:pt>
                <c:pt idx="180">
                  <c:v>6.933</c:v>
                </c:pt>
                <c:pt idx="181">
                  <c:v>0.307</c:v>
                </c:pt>
                <c:pt idx="182">
                  <c:v>2.676</c:v>
                </c:pt>
                <c:pt idx="183">
                  <c:v>0.238</c:v>
                </c:pt>
                <c:pt idx="184">
                  <c:v>0.619</c:v>
                </c:pt>
                <c:pt idx="185">
                  <c:v>0.389</c:v>
                </c:pt>
                <c:pt idx="186">
                  <c:v>0.27</c:v>
                </c:pt>
                <c:pt idx="187">
                  <c:v>0.956</c:v>
                </c:pt>
                <c:pt idx="188">
                  <c:v>0.124</c:v>
                </c:pt>
                <c:pt idx="189">
                  <c:v>2.407</c:v>
                </c:pt>
                <c:pt idx="190">
                  <c:v>0.044</c:v>
                </c:pt>
                <c:pt idx="191">
                  <c:v>0.035</c:v>
                </c:pt>
                <c:pt idx="192">
                  <c:v>6.123</c:v>
                </c:pt>
                <c:pt idx="193">
                  <c:v>3.679</c:v>
                </c:pt>
                <c:pt idx="194">
                  <c:v>0.787</c:v>
                </c:pt>
                <c:pt idx="195">
                  <c:v>5.633</c:v>
                </c:pt>
                <c:pt idx="196">
                  <c:v>0</c:v>
                </c:pt>
                <c:pt idx="197">
                  <c:v>3.445</c:v>
                </c:pt>
                <c:pt idx="198">
                  <c:v>6.023</c:v>
                </c:pt>
                <c:pt idx="199">
                  <c:v>1.554</c:v>
                </c:pt>
                <c:pt idx="200">
                  <c:v>6.052</c:v>
                </c:pt>
                <c:pt idx="201">
                  <c:v>5.957</c:v>
                </c:pt>
                <c:pt idx="202">
                  <c:v>0.093</c:v>
                </c:pt>
                <c:pt idx="203">
                  <c:v>3.229</c:v>
                </c:pt>
                <c:pt idx="204">
                  <c:v>4.592</c:v>
                </c:pt>
                <c:pt idx="205">
                  <c:v>6.612</c:v>
                </c:pt>
                <c:pt idx="206">
                  <c:v>6.533</c:v>
                </c:pt>
                <c:pt idx="207">
                  <c:v>4.741</c:v>
                </c:pt>
                <c:pt idx="208">
                  <c:v>5.327</c:v>
                </c:pt>
                <c:pt idx="209">
                  <c:v>6.308</c:v>
                </c:pt>
                <c:pt idx="210">
                  <c:v>2.036</c:v>
                </c:pt>
                <c:pt idx="211">
                  <c:v>4.404</c:v>
                </c:pt>
                <c:pt idx="212">
                  <c:v>1.842</c:v>
                </c:pt>
                <c:pt idx="213">
                  <c:v>6.587</c:v>
                </c:pt>
                <c:pt idx="214">
                  <c:v>4.522</c:v>
                </c:pt>
                <c:pt idx="215">
                  <c:v>6.752</c:v>
                </c:pt>
                <c:pt idx="216">
                  <c:v>0.169</c:v>
                </c:pt>
                <c:pt idx="217">
                  <c:v>6.555</c:v>
                </c:pt>
                <c:pt idx="218">
                  <c:v>0.315</c:v>
                </c:pt>
                <c:pt idx="219">
                  <c:v>2.672</c:v>
                </c:pt>
                <c:pt idx="220">
                  <c:v>5.696</c:v>
                </c:pt>
                <c:pt idx="221">
                  <c:v>5.79</c:v>
                </c:pt>
                <c:pt idx="222">
                  <c:v>0.164</c:v>
                </c:pt>
                <c:pt idx="223">
                  <c:v>0.275</c:v>
                </c:pt>
                <c:pt idx="224">
                  <c:v>6.325</c:v>
                </c:pt>
                <c:pt idx="225">
                  <c:v>0</c:v>
                </c:pt>
                <c:pt idx="226">
                  <c:v>5.84</c:v>
                </c:pt>
                <c:pt idx="227">
                  <c:v>6.574</c:v>
                </c:pt>
                <c:pt idx="228">
                  <c:v>3.798</c:v>
                </c:pt>
                <c:pt idx="229">
                  <c:v>6.963</c:v>
                </c:pt>
                <c:pt idx="230">
                  <c:v>0.59</c:v>
                </c:pt>
                <c:pt idx="231">
                  <c:v>2.697</c:v>
                </c:pt>
                <c:pt idx="232">
                  <c:v>3.42</c:v>
                </c:pt>
                <c:pt idx="233">
                  <c:v>4.867</c:v>
                </c:pt>
                <c:pt idx="234">
                  <c:v>0.05</c:v>
                </c:pt>
                <c:pt idx="235">
                  <c:v>6.624</c:v>
                </c:pt>
                <c:pt idx="236">
                  <c:v>6.312</c:v>
                </c:pt>
                <c:pt idx="237">
                  <c:v>6.999</c:v>
                </c:pt>
                <c:pt idx="238">
                  <c:v>3.76</c:v>
                </c:pt>
                <c:pt idx="239">
                  <c:v>5.927</c:v>
                </c:pt>
                <c:pt idx="240">
                  <c:v>6.242</c:v>
                </c:pt>
                <c:pt idx="241">
                  <c:v>0.482</c:v>
                </c:pt>
                <c:pt idx="242">
                  <c:v>6.118</c:v>
                </c:pt>
                <c:pt idx="243">
                  <c:v>0</c:v>
                </c:pt>
                <c:pt idx="244">
                  <c:v>0.869</c:v>
                </c:pt>
                <c:pt idx="245">
                  <c:v>0.714</c:v>
                </c:pt>
                <c:pt idx="246">
                  <c:v>0</c:v>
                </c:pt>
                <c:pt idx="247">
                  <c:v>4.616</c:v>
                </c:pt>
                <c:pt idx="248">
                  <c:v>4.618</c:v>
                </c:pt>
                <c:pt idx="249">
                  <c:v>3.315</c:v>
                </c:pt>
                <c:pt idx="250">
                  <c:v>5.246</c:v>
                </c:pt>
                <c:pt idx="251">
                  <c:v>1.059</c:v>
                </c:pt>
                <c:pt idx="252">
                  <c:v>6.281</c:v>
                </c:pt>
                <c:pt idx="253">
                  <c:v>6.692</c:v>
                </c:pt>
                <c:pt idx="254">
                  <c:v>3.201</c:v>
                </c:pt>
                <c:pt idx="255">
                  <c:v>0.646</c:v>
                </c:pt>
                <c:pt idx="256">
                  <c:v>0.755</c:v>
                </c:pt>
                <c:pt idx="257">
                  <c:v>4.678</c:v>
                </c:pt>
                <c:pt idx="258">
                  <c:v>5.999</c:v>
                </c:pt>
                <c:pt idx="259">
                  <c:v>2.919</c:v>
                </c:pt>
                <c:pt idx="260">
                  <c:v>5.627</c:v>
                </c:pt>
                <c:pt idx="261">
                  <c:v>1.122</c:v>
                </c:pt>
                <c:pt idx="262">
                  <c:v>6.942</c:v>
                </c:pt>
                <c:pt idx="263">
                  <c:v>5.246</c:v>
                </c:pt>
                <c:pt idx="264">
                  <c:v>2.443</c:v>
                </c:pt>
                <c:pt idx="265">
                  <c:v>6.84</c:v>
                </c:pt>
                <c:pt idx="266">
                  <c:v>3.812</c:v>
                </c:pt>
                <c:pt idx="267">
                  <c:v>4.052</c:v>
                </c:pt>
                <c:pt idx="268">
                  <c:v>5.999</c:v>
                </c:pt>
                <c:pt idx="269">
                  <c:v>6.306</c:v>
                </c:pt>
                <c:pt idx="270">
                  <c:v>0.296</c:v>
                </c:pt>
                <c:pt idx="271">
                  <c:v>6.914</c:v>
                </c:pt>
                <c:pt idx="272">
                  <c:v>0.316</c:v>
                </c:pt>
                <c:pt idx="273">
                  <c:v>4.282</c:v>
                </c:pt>
                <c:pt idx="274">
                  <c:v>6.92</c:v>
                </c:pt>
                <c:pt idx="275">
                  <c:v>2.591</c:v>
                </c:pt>
                <c:pt idx="276">
                  <c:v>5.788</c:v>
                </c:pt>
                <c:pt idx="277">
                  <c:v>1.738</c:v>
                </c:pt>
                <c:pt idx="278">
                  <c:v>0.329</c:v>
                </c:pt>
                <c:pt idx="279">
                  <c:v>0.911</c:v>
                </c:pt>
                <c:pt idx="280">
                  <c:v>6.329</c:v>
                </c:pt>
                <c:pt idx="281">
                  <c:v>0.1</c:v>
                </c:pt>
                <c:pt idx="282">
                  <c:v>0.146</c:v>
                </c:pt>
                <c:pt idx="283">
                  <c:v>3.19</c:v>
                </c:pt>
                <c:pt idx="284">
                  <c:v>6.981</c:v>
                </c:pt>
                <c:pt idx="285">
                  <c:v>1.912</c:v>
                </c:pt>
                <c:pt idx="286">
                  <c:v>6.983</c:v>
                </c:pt>
                <c:pt idx="287">
                  <c:v>5.929</c:v>
                </c:pt>
                <c:pt idx="288">
                  <c:v>6.755</c:v>
                </c:pt>
                <c:pt idx="289">
                  <c:v>4.867</c:v>
                </c:pt>
                <c:pt idx="290">
                  <c:v>0.128</c:v>
                </c:pt>
                <c:pt idx="291">
                  <c:v>3.347</c:v>
                </c:pt>
                <c:pt idx="292">
                  <c:v>0.027</c:v>
                </c:pt>
                <c:pt idx="293">
                  <c:v>6.604</c:v>
                </c:pt>
                <c:pt idx="294">
                  <c:v>5.785</c:v>
                </c:pt>
                <c:pt idx="295">
                  <c:v>5.675</c:v>
                </c:pt>
                <c:pt idx="296">
                  <c:v>4.045</c:v>
                </c:pt>
                <c:pt idx="297">
                  <c:v>3.364</c:v>
                </c:pt>
                <c:pt idx="298">
                  <c:v>6.352</c:v>
                </c:pt>
                <c:pt idx="299">
                  <c:v>5.348</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4"/>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C6F7F"/>
                </a:solidFill>
                <a:latin typeface="Arial"/>
              </a:defRPr>
            </a:pPr>
            <a:endParaRPr lang="en-US"/>
          </a:p>
        </c:txPr>
        <c:crossAx val="2094734552"/>
        <c:crosses val="min"/>
        <c:auto val="1"/>
        <c:lblAlgn val="ctr"/>
        <c:noMultiLvlLbl val="1"/>
        <c:majorUnit val="2"/>
      </c:valAx>
      <c:valAx>
        <c:axId val="2094734552"/>
        <c:scaling>
          <c:orientation val="minMax"/>
          <c:max val="20"/>
          <c:min val="-12"/>
        </c:scaling>
        <c:delete val="0"/>
        <c:axPos val="l"/>
        <c:majorGridlines>
          <c:spPr>
            <a:ln w="6350" cap="flat">
              <a:solidFill>
                <a:srgbClr val="E6E8E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C6F7F"/>
                </a:solidFill>
                <a:latin typeface="Arial"/>
              </a:defRPr>
            </a:pPr>
            <a:endParaRPr lang="en-US"/>
          </a:p>
        </c:txPr>
        <c:crossAx val="2094734554"/>
        <c:crosses val="min"/>
        <c:crossBetween val="midCat"/>
        <c:majorUnit val="8"/>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サンプル</c:v>
                </c:pt>
              </c:strCache>
            </c:strRef>
          </c:tx>
          <c:spPr>
            <a:solidFill>
              <a:srgbClr val="F0D79A"/>
            </a:solidFill>
            <a:ln>
              <a:noFill/>
            </a:ln>
            <a:effectLst/>
          </c:spPr>
          <c:marker>
            <c:symbol val="circle"/>
            <c:size val="5"/>
            <c:spPr>
              <a:solidFill>
                <a:srgbClr val="F0D79A"/>
              </a:solidFill>
              <a:ln w="9525" cap="flat">
                <a:solidFill>
                  <a:srgbClr val="F0D79A"/>
                </a:solidFill>
                <a:prstDash val="solid"/>
                <a:round/>
              </a:ln>
              <a:effectLst/>
            </c:spPr>
          </c:marker>
          <c:xVal>
            <c:numRef>
              <c:f>Sheet1!$A$2:$A$301</c:f>
              <c:numCache>
                <c:formatCode>General</c:formatCode>
                <c:ptCount val="300"/>
                <c:pt idx="0">
                  <c:v>-0.162</c:v>
                </c:pt>
                <c:pt idx="1">
                  <c:v>-2.997</c:v>
                </c:pt>
                <c:pt idx="2">
                  <c:v>-1.326</c:v>
                </c:pt>
                <c:pt idx="3">
                  <c:v>-0.02</c:v>
                </c:pt>
                <c:pt idx="4">
                  <c:v>-0.227</c:v>
                </c:pt>
                <c:pt idx="5">
                  <c:v>2.655</c:v>
                </c:pt>
                <c:pt idx="6">
                  <c:v>-2.871</c:v>
                </c:pt>
                <c:pt idx="7">
                  <c:v>3.012</c:v>
                </c:pt>
                <c:pt idx="8">
                  <c:v>-1.118</c:v>
                </c:pt>
                <c:pt idx="9">
                  <c:v>0.464</c:v>
                </c:pt>
                <c:pt idx="10">
                  <c:v>-0.297</c:v>
                </c:pt>
                <c:pt idx="11">
                  <c:v>2.803</c:v>
                </c:pt>
                <c:pt idx="12">
                  <c:v>-1.362</c:v>
                </c:pt>
                <c:pt idx="13">
                  <c:v>-1.489</c:v>
                </c:pt>
                <c:pt idx="14">
                  <c:v>-2.616</c:v>
                </c:pt>
                <c:pt idx="15">
                  <c:v>2.097</c:v>
                </c:pt>
                <c:pt idx="16">
                  <c:v>-2.212</c:v>
                </c:pt>
                <c:pt idx="17">
                  <c:v>-0.138</c:v>
                </c:pt>
                <c:pt idx="18">
                  <c:v>0.837</c:v>
                </c:pt>
                <c:pt idx="19">
                  <c:v>-1.75</c:v>
                </c:pt>
                <c:pt idx="20">
                  <c:v>-1.856</c:v>
                </c:pt>
                <c:pt idx="21">
                  <c:v>-2.429</c:v>
                </c:pt>
                <c:pt idx="22">
                  <c:v>2.154</c:v>
                </c:pt>
                <c:pt idx="23">
                  <c:v>-2.573</c:v>
                </c:pt>
                <c:pt idx="24">
                  <c:v>-1.937</c:v>
                </c:pt>
                <c:pt idx="25">
                  <c:v>-1.228</c:v>
                </c:pt>
                <c:pt idx="26">
                  <c:v>1.088</c:v>
                </c:pt>
                <c:pt idx="27">
                  <c:v>-2.121</c:v>
                </c:pt>
                <c:pt idx="28">
                  <c:v>-0.584</c:v>
                </c:pt>
                <c:pt idx="29">
                  <c:v>2.135</c:v>
                </c:pt>
                <c:pt idx="30">
                  <c:v>0.883</c:v>
                </c:pt>
                <c:pt idx="31">
                  <c:v>0.122</c:v>
                </c:pt>
                <c:pt idx="32">
                  <c:v>-1.898</c:v>
                </c:pt>
                <c:pt idx="33">
                  <c:v>2.429</c:v>
                </c:pt>
                <c:pt idx="34">
                  <c:v>-1.944</c:v>
                </c:pt>
                <c:pt idx="35">
                  <c:v>3.045</c:v>
                </c:pt>
                <c:pt idx="36">
                  <c:v>-0.696</c:v>
                </c:pt>
                <c:pt idx="37">
                  <c:v>-0.545</c:v>
                </c:pt>
                <c:pt idx="38">
                  <c:v>-0.398</c:v>
                </c:pt>
                <c:pt idx="39">
                  <c:v>-2.552</c:v>
                </c:pt>
                <c:pt idx="40">
                  <c:v>0.596</c:v>
                </c:pt>
                <c:pt idx="41">
                  <c:v>-1.554</c:v>
                </c:pt>
                <c:pt idx="42">
                  <c:v>0.153</c:v>
                </c:pt>
                <c:pt idx="43">
                  <c:v>1.374</c:v>
                </c:pt>
                <c:pt idx="44">
                  <c:v>2.425</c:v>
                </c:pt>
                <c:pt idx="45">
                  <c:v>2.805</c:v>
                </c:pt>
                <c:pt idx="46">
                  <c:v>-2.421</c:v>
                </c:pt>
                <c:pt idx="47">
                  <c:v>-1.435</c:v>
                </c:pt>
                <c:pt idx="48">
                  <c:v>-2.57</c:v>
                </c:pt>
                <c:pt idx="49">
                  <c:v>-2.795</c:v>
                </c:pt>
                <c:pt idx="50">
                  <c:v>-1.213</c:v>
                </c:pt>
                <c:pt idx="51">
                  <c:v>0.818</c:v>
                </c:pt>
                <c:pt idx="52">
                  <c:v>-1.73</c:v>
                </c:pt>
                <c:pt idx="53">
                  <c:v>-2.265</c:v>
                </c:pt>
                <c:pt idx="54">
                  <c:v>2.455</c:v>
                </c:pt>
                <c:pt idx="55">
                  <c:v>0.673</c:v>
                </c:pt>
                <c:pt idx="56">
                  <c:v>0.815</c:v>
                </c:pt>
                <c:pt idx="57">
                  <c:v>2.254</c:v>
                </c:pt>
                <c:pt idx="58">
                  <c:v>-1.849</c:v>
                </c:pt>
                <c:pt idx="59">
                  <c:v>1.145</c:v>
                </c:pt>
                <c:pt idx="60">
                  <c:v>1.119</c:v>
                </c:pt>
                <c:pt idx="61">
                  <c:v>-2.181</c:v>
                </c:pt>
                <c:pt idx="62">
                  <c:v>1.071</c:v>
                </c:pt>
                <c:pt idx="63">
                  <c:v>1.133</c:v>
                </c:pt>
                <c:pt idx="64">
                  <c:v>2.954</c:v>
                </c:pt>
                <c:pt idx="65">
                  <c:v>-2.443</c:v>
                </c:pt>
                <c:pt idx="66">
                  <c:v>-1.266</c:v>
                </c:pt>
                <c:pt idx="67">
                  <c:v>0.224</c:v>
                </c:pt>
                <c:pt idx="68">
                  <c:v>2.803</c:v>
                </c:pt>
                <c:pt idx="69">
                  <c:v>1.498</c:v>
                </c:pt>
                <c:pt idx="70">
                  <c:v>2.761</c:v>
                </c:pt>
                <c:pt idx="71">
                  <c:v>1.572</c:v>
                </c:pt>
                <c:pt idx="72">
                  <c:v>-0.815</c:v>
                </c:pt>
                <c:pt idx="73">
                  <c:v>0.213</c:v>
                </c:pt>
                <c:pt idx="74">
                  <c:v>-2.858</c:v>
                </c:pt>
                <c:pt idx="75">
                  <c:v>1.003</c:v>
                </c:pt>
                <c:pt idx="76">
                  <c:v>-0.02</c:v>
                </c:pt>
                <c:pt idx="77">
                  <c:v>2.711</c:v>
                </c:pt>
                <c:pt idx="78">
                  <c:v>-2.368</c:v>
                </c:pt>
                <c:pt idx="79">
                  <c:v>2.964</c:v>
                </c:pt>
                <c:pt idx="80">
                  <c:v>-3.008</c:v>
                </c:pt>
                <c:pt idx="81">
                  <c:v>1.488</c:v>
                </c:pt>
                <c:pt idx="82">
                  <c:v>0.958</c:v>
                </c:pt>
                <c:pt idx="83">
                  <c:v>-1.928</c:v>
                </c:pt>
                <c:pt idx="84">
                  <c:v>-1.217</c:v>
                </c:pt>
                <c:pt idx="85">
                  <c:v>-1.455</c:v>
                </c:pt>
                <c:pt idx="86">
                  <c:v>1.982</c:v>
                </c:pt>
                <c:pt idx="87">
                  <c:v>-2.166</c:v>
                </c:pt>
                <c:pt idx="88">
                  <c:v>1.431</c:v>
                </c:pt>
                <c:pt idx="89">
                  <c:v>1.559</c:v>
                </c:pt>
                <c:pt idx="90">
                  <c:v>0.331</c:v>
                </c:pt>
                <c:pt idx="91">
                  <c:v>-0.695</c:v>
                </c:pt>
                <c:pt idx="92">
                  <c:v>1.511</c:v>
                </c:pt>
                <c:pt idx="93">
                  <c:v>2.655</c:v>
                </c:pt>
                <c:pt idx="94">
                  <c:v>2.049</c:v>
                </c:pt>
                <c:pt idx="95">
                  <c:v>2.847</c:v>
                </c:pt>
                <c:pt idx="96">
                  <c:v>0.073</c:v>
                </c:pt>
                <c:pt idx="97">
                  <c:v>-1.746</c:v>
                </c:pt>
                <c:pt idx="98">
                  <c:v>0.712</c:v>
                </c:pt>
                <c:pt idx="99">
                  <c:v>0.031</c:v>
                </c:pt>
                <c:pt idx="100">
                  <c:v>2.174</c:v>
                </c:pt>
                <c:pt idx="101">
                  <c:v>-1.944</c:v>
                </c:pt>
                <c:pt idx="102">
                  <c:v>-2.525</c:v>
                </c:pt>
                <c:pt idx="103">
                  <c:v>-0.99</c:v>
                </c:pt>
                <c:pt idx="104">
                  <c:v>-0.488</c:v>
                </c:pt>
                <c:pt idx="105">
                  <c:v>1.367</c:v>
                </c:pt>
                <c:pt idx="106">
                  <c:v>-2.67</c:v>
                </c:pt>
                <c:pt idx="107">
                  <c:v>1.439</c:v>
                </c:pt>
                <c:pt idx="108">
                  <c:v>-1.182</c:v>
                </c:pt>
                <c:pt idx="109">
                  <c:v>-0.245</c:v>
                </c:pt>
                <c:pt idx="110">
                  <c:v>1.579</c:v>
                </c:pt>
                <c:pt idx="111">
                  <c:v>0.624</c:v>
                </c:pt>
                <c:pt idx="112">
                  <c:v>-2.104</c:v>
                </c:pt>
                <c:pt idx="113">
                  <c:v>2.103</c:v>
                </c:pt>
                <c:pt idx="114">
                  <c:v>-0.971</c:v>
                </c:pt>
                <c:pt idx="115">
                  <c:v>1.712</c:v>
                </c:pt>
                <c:pt idx="116">
                  <c:v>-1.155</c:v>
                </c:pt>
                <c:pt idx="117">
                  <c:v>-2.258</c:v>
                </c:pt>
                <c:pt idx="118">
                  <c:v>0.913</c:v>
                </c:pt>
                <c:pt idx="119">
                  <c:v>-0.966</c:v>
                </c:pt>
                <c:pt idx="120">
                  <c:v>2.872</c:v>
                </c:pt>
                <c:pt idx="121">
                  <c:v>-0.436</c:v>
                </c:pt>
                <c:pt idx="122">
                  <c:v>-0.186</c:v>
                </c:pt>
                <c:pt idx="123">
                  <c:v>-0.534</c:v>
                </c:pt>
                <c:pt idx="124">
                  <c:v>2.037</c:v>
                </c:pt>
                <c:pt idx="125">
                  <c:v>-1.073</c:v>
                </c:pt>
                <c:pt idx="126">
                  <c:v>2.421</c:v>
                </c:pt>
                <c:pt idx="127">
                  <c:v>-2.567</c:v>
                </c:pt>
                <c:pt idx="128">
                  <c:v>-0.868</c:v>
                </c:pt>
                <c:pt idx="129">
                  <c:v>-1.638</c:v>
                </c:pt>
                <c:pt idx="130">
                  <c:v>0.117</c:v>
                </c:pt>
                <c:pt idx="131">
                  <c:v>-0.271</c:v>
                </c:pt>
                <c:pt idx="132">
                  <c:v>-0.067</c:v>
                </c:pt>
                <c:pt idx="133">
                  <c:v>-1.928</c:v>
                </c:pt>
                <c:pt idx="134">
                  <c:v>-0.465</c:v>
                </c:pt>
                <c:pt idx="135">
                  <c:v>-0.581</c:v>
                </c:pt>
                <c:pt idx="136">
                  <c:v>0.905</c:v>
                </c:pt>
                <c:pt idx="137">
                  <c:v>0.686</c:v>
                </c:pt>
                <c:pt idx="138">
                  <c:v>2.471</c:v>
                </c:pt>
                <c:pt idx="139">
                  <c:v>-1.81</c:v>
                </c:pt>
                <c:pt idx="140">
                  <c:v>-2.274</c:v>
                </c:pt>
                <c:pt idx="141">
                  <c:v>3.009</c:v>
                </c:pt>
                <c:pt idx="142">
                  <c:v>0.29</c:v>
                </c:pt>
                <c:pt idx="143">
                  <c:v>-2.385</c:v>
                </c:pt>
                <c:pt idx="144">
                  <c:v>2.461</c:v>
                </c:pt>
                <c:pt idx="145">
                  <c:v>2.938</c:v>
                </c:pt>
                <c:pt idx="146">
                  <c:v>0.023</c:v>
                </c:pt>
                <c:pt idx="147">
                  <c:v>-0.364</c:v>
                </c:pt>
                <c:pt idx="148">
                  <c:v>1.352</c:v>
                </c:pt>
                <c:pt idx="149">
                  <c:v>0.555</c:v>
                </c:pt>
                <c:pt idx="150">
                  <c:v>-0.408</c:v>
                </c:pt>
                <c:pt idx="151">
                  <c:v>1.735</c:v>
                </c:pt>
                <c:pt idx="152">
                  <c:v>-2.301</c:v>
                </c:pt>
                <c:pt idx="153">
                  <c:v>-1.889</c:v>
                </c:pt>
                <c:pt idx="154">
                  <c:v>-1.94</c:v>
                </c:pt>
                <c:pt idx="155">
                  <c:v>2.303</c:v>
                </c:pt>
                <c:pt idx="156">
                  <c:v>0.25</c:v>
                </c:pt>
                <c:pt idx="157">
                  <c:v>2.152</c:v>
                </c:pt>
                <c:pt idx="158">
                  <c:v>0.295</c:v>
                </c:pt>
                <c:pt idx="159">
                  <c:v>2.995</c:v>
                </c:pt>
                <c:pt idx="160">
                  <c:v>-2.284</c:v>
                </c:pt>
                <c:pt idx="161">
                  <c:v>1.397</c:v>
                </c:pt>
                <c:pt idx="162">
                  <c:v>-0.395</c:v>
                </c:pt>
                <c:pt idx="163">
                  <c:v>-1.841</c:v>
                </c:pt>
                <c:pt idx="164">
                  <c:v>-1.664</c:v>
                </c:pt>
                <c:pt idx="165">
                  <c:v>1.48</c:v>
                </c:pt>
                <c:pt idx="166">
                  <c:v>0.68</c:v>
                </c:pt>
                <c:pt idx="167">
                  <c:v>-2.78</c:v>
                </c:pt>
                <c:pt idx="168">
                  <c:v>-1.64</c:v>
                </c:pt>
                <c:pt idx="169">
                  <c:v>-2.256</c:v>
                </c:pt>
                <c:pt idx="170">
                  <c:v>1.655</c:v>
                </c:pt>
                <c:pt idx="171">
                  <c:v>0.495</c:v>
                </c:pt>
                <c:pt idx="172">
                  <c:v>-2.565</c:v>
                </c:pt>
                <c:pt idx="173">
                  <c:v>2.601</c:v>
                </c:pt>
                <c:pt idx="174">
                  <c:v>0.716</c:v>
                </c:pt>
                <c:pt idx="175">
                  <c:v>1.325</c:v>
                </c:pt>
                <c:pt idx="176">
                  <c:v>-1.855</c:v>
                </c:pt>
                <c:pt idx="177">
                  <c:v>-0.822</c:v>
                </c:pt>
                <c:pt idx="178">
                  <c:v>-1.183</c:v>
                </c:pt>
                <c:pt idx="179">
                  <c:v>-1.063</c:v>
                </c:pt>
                <c:pt idx="180">
                  <c:v>3.059</c:v>
                </c:pt>
                <c:pt idx="181">
                  <c:v>1.946</c:v>
                </c:pt>
                <c:pt idx="182">
                  <c:v>-2.034</c:v>
                </c:pt>
                <c:pt idx="183">
                  <c:v>3.004</c:v>
                </c:pt>
                <c:pt idx="184">
                  <c:v>2.283</c:v>
                </c:pt>
                <c:pt idx="185">
                  <c:v>-2.128</c:v>
                </c:pt>
                <c:pt idx="186">
                  <c:v>2.497</c:v>
                </c:pt>
                <c:pt idx="187">
                  <c:v>1.956</c:v>
                </c:pt>
                <c:pt idx="188">
                  <c:v>1.964</c:v>
                </c:pt>
                <c:pt idx="189">
                  <c:v>-0.153</c:v>
                </c:pt>
                <c:pt idx="190">
                  <c:v>-1.483</c:v>
                </c:pt>
                <c:pt idx="191">
                  <c:v>0.192</c:v>
                </c:pt>
                <c:pt idx="192">
                  <c:v>1.998</c:v>
                </c:pt>
                <c:pt idx="193">
                  <c:v>-2.767</c:v>
                </c:pt>
                <c:pt idx="194">
                  <c:v>2.493</c:v>
                </c:pt>
                <c:pt idx="195">
                  <c:v>0.527</c:v>
                </c:pt>
                <c:pt idx="196">
                  <c:v>2.243</c:v>
                </c:pt>
                <c:pt idx="197">
                  <c:v>1.462</c:v>
                </c:pt>
                <c:pt idx="198">
                  <c:v>2.405</c:v>
                </c:pt>
                <c:pt idx="199">
                  <c:v>-2.689</c:v>
                </c:pt>
                <c:pt idx="200">
                  <c:v>-1.404</c:v>
                </c:pt>
                <c:pt idx="201">
                  <c:v>2.964</c:v>
                </c:pt>
                <c:pt idx="202">
                  <c:v>-0.186</c:v>
                </c:pt>
                <c:pt idx="203">
                  <c:v>-2.904</c:v>
                </c:pt>
                <c:pt idx="204">
                  <c:v>3.018</c:v>
                </c:pt>
                <c:pt idx="205">
                  <c:v>0.659</c:v>
                </c:pt>
                <c:pt idx="206">
                  <c:v>0.19</c:v>
                </c:pt>
                <c:pt idx="207">
                  <c:v>-0.358</c:v>
                </c:pt>
                <c:pt idx="208">
                  <c:v>-0.763</c:v>
                </c:pt>
                <c:pt idx="209">
                  <c:v>-0.62</c:v>
                </c:pt>
                <c:pt idx="210">
                  <c:v>-1.879</c:v>
                </c:pt>
                <c:pt idx="211">
                  <c:v>-1.717</c:v>
                </c:pt>
                <c:pt idx="212">
                  <c:v>1.588</c:v>
                </c:pt>
                <c:pt idx="213">
                  <c:v>0.989</c:v>
                </c:pt>
                <c:pt idx="214">
                  <c:v>3.059</c:v>
                </c:pt>
                <c:pt idx="215">
                  <c:v>0.558</c:v>
                </c:pt>
                <c:pt idx="216">
                  <c:v>1.529</c:v>
                </c:pt>
                <c:pt idx="217">
                  <c:v>2.033</c:v>
                </c:pt>
                <c:pt idx="218">
                  <c:v>0.221</c:v>
                </c:pt>
                <c:pt idx="219">
                  <c:v>-0.237</c:v>
                </c:pt>
                <c:pt idx="220">
                  <c:v>1.666</c:v>
                </c:pt>
                <c:pt idx="221">
                  <c:v>1.082</c:v>
                </c:pt>
                <c:pt idx="222">
                  <c:v>0.704</c:v>
                </c:pt>
                <c:pt idx="223">
                  <c:v>-0.61</c:v>
                </c:pt>
                <c:pt idx="224">
                  <c:v>-2.759</c:v>
                </c:pt>
                <c:pt idx="225">
                  <c:v>-0.531</c:v>
                </c:pt>
                <c:pt idx="226">
                  <c:v>0.32</c:v>
                </c:pt>
                <c:pt idx="227">
                  <c:v>-2.322</c:v>
                </c:pt>
                <c:pt idx="228">
                  <c:v>2.261</c:v>
                </c:pt>
                <c:pt idx="229">
                  <c:v>3.047</c:v>
                </c:pt>
                <c:pt idx="230">
                  <c:v>-1.311</c:v>
                </c:pt>
                <c:pt idx="231">
                  <c:v>0.121</c:v>
                </c:pt>
                <c:pt idx="232">
                  <c:v>-0.072</c:v>
                </c:pt>
                <c:pt idx="233">
                  <c:v>0.864</c:v>
                </c:pt>
                <c:pt idx="234">
                  <c:v>-1.482</c:v>
                </c:pt>
                <c:pt idx="235">
                  <c:v>-0.118</c:v>
                </c:pt>
                <c:pt idx="236">
                  <c:v>-0.534</c:v>
                </c:pt>
                <c:pt idx="237">
                  <c:v>2.277</c:v>
                </c:pt>
                <c:pt idx="238">
                  <c:v>-1.75</c:v>
                </c:pt>
                <c:pt idx="239">
                  <c:v>0.099</c:v>
                </c:pt>
                <c:pt idx="240">
                  <c:v>2.685</c:v>
                </c:pt>
                <c:pt idx="241">
                  <c:v>-1.382</c:v>
                </c:pt>
                <c:pt idx="242">
                  <c:v>1.739</c:v>
                </c:pt>
                <c:pt idx="243">
                  <c:v>0.737</c:v>
                </c:pt>
                <c:pt idx="244">
                  <c:v>-2.355</c:v>
                </c:pt>
                <c:pt idx="245">
                  <c:v>2.241</c:v>
                </c:pt>
                <c:pt idx="246">
                  <c:v>-0.305</c:v>
                </c:pt>
                <c:pt idx="247">
                  <c:v>-0.185</c:v>
                </c:pt>
                <c:pt idx="248">
                  <c:v>-2.233</c:v>
                </c:pt>
                <c:pt idx="249">
                  <c:v>-2.953</c:v>
                </c:pt>
                <c:pt idx="250">
                  <c:v>-0.323</c:v>
                </c:pt>
                <c:pt idx="251">
                  <c:v>1.382</c:v>
                </c:pt>
                <c:pt idx="252">
                  <c:v>-1.318</c:v>
                </c:pt>
                <c:pt idx="253">
                  <c:v>-0.168</c:v>
                </c:pt>
                <c:pt idx="254">
                  <c:v>0.809</c:v>
                </c:pt>
                <c:pt idx="255">
                  <c:v>2.793</c:v>
                </c:pt>
                <c:pt idx="256">
                  <c:v>2.915</c:v>
                </c:pt>
                <c:pt idx="257">
                  <c:v>-0.247</c:v>
                </c:pt>
                <c:pt idx="258">
                  <c:v>2.985</c:v>
                </c:pt>
                <c:pt idx="259">
                  <c:v>-2.46</c:v>
                </c:pt>
                <c:pt idx="260">
                  <c:v>2.324</c:v>
                </c:pt>
                <c:pt idx="261">
                  <c:v>-1.994</c:v>
                </c:pt>
                <c:pt idx="262">
                  <c:v>-3.052</c:v>
                </c:pt>
                <c:pt idx="263">
                  <c:v>0.381</c:v>
                </c:pt>
                <c:pt idx="264">
                  <c:v>1.869</c:v>
                </c:pt>
                <c:pt idx="265">
                  <c:v>0.147</c:v>
                </c:pt>
                <c:pt idx="266">
                  <c:v>-2.596</c:v>
                </c:pt>
                <c:pt idx="267">
                  <c:v>-1.238</c:v>
                </c:pt>
                <c:pt idx="268">
                  <c:v>1.875</c:v>
                </c:pt>
                <c:pt idx="269">
                  <c:v>0.155</c:v>
                </c:pt>
                <c:pt idx="270">
                  <c:v>-0.415</c:v>
                </c:pt>
                <c:pt idx="271">
                  <c:v>-1.163</c:v>
                </c:pt>
                <c:pt idx="272">
                  <c:v>-1.883</c:v>
                </c:pt>
                <c:pt idx="273">
                  <c:v>2.874</c:v>
                </c:pt>
                <c:pt idx="274">
                  <c:v>2.938</c:v>
                </c:pt>
                <c:pt idx="275">
                  <c:v>0.894</c:v>
                </c:pt>
                <c:pt idx="276">
                  <c:v>-2.312</c:v>
                </c:pt>
                <c:pt idx="277">
                  <c:v>-1.55</c:v>
                </c:pt>
                <c:pt idx="278">
                  <c:v>1.717</c:v>
                </c:pt>
                <c:pt idx="279">
                  <c:v>0.265</c:v>
                </c:pt>
                <c:pt idx="280">
                  <c:v>2.48</c:v>
                </c:pt>
                <c:pt idx="281">
                  <c:v>1.202</c:v>
                </c:pt>
                <c:pt idx="282">
                  <c:v>1.972</c:v>
                </c:pt>
                <c:pt idx="283">
                  <c:v>-2.422</c:v>
                </c:pt>
                <c:pt idx="284">
                  <c:v>-0.71</c:v>
                </c:pt>
                <c:pt idx="285">
                  <c:v>-0.643</c:v>
                </c:pt>
                <c:pt idx="286">
                  <c:v>1.521</c:v>
                </c:pt>
                <c:pt idx="287">
                  <c:v>1.379</c:v>
                </c:pt>
                <c:pt idx="288">
                  <c:v>2.556</c:v>
                </c:pt>
                <c:pt idx="289">
                  <c:v>-1.963</c:v>
                </c:pt>
                <c:pt idx="290">
                  <c:v>0.441</c:v>
                </c:pt>
                <c:pt idx="291">
                  <c:v>2.233</c:v>
                </c:pt>
                <c:pt idx="292">
                  <c:v>-0.042</c:v>
                </c:pt>
                <c:pt idx="293">
                  <c:v>-0.284</c:v>
                </c:pt>
                <c:pt idx="294">
                  <c:v>-1.716</c:v>
                </c:pt>
                <c:pt idx="295">
                  <c:v>2.105</c:v>
                </c:pt>
                <c:pt idx="296">
                  <c:v>1.819</c:v>
                </c:pt>
                <c:pt idx="297">
                  <c:v>-1.12</c:v>
                </c:pt>
                <c:pt idx="298">
                  <c:v>0.243</c:v>
                </c:pt>
                <c:pt idx="299">
                  <c:v>0.382</c:v>
                </c:pt>
              </c:numCache>
            </c:numRef>
          </c:xVal>
          <c:yVal>
            <c:numRef>
              <c:f>Sheet1!$B$2:$B$301</c:f>
              <c:numCache>
                <c:formatCode>General</c:formatCode>
                <c:ptCount val="300"/>
                <c:pt idx="0">
                  <c:v>6.454</c:v>
                </c:pt>
                <c:pt idx="1">
                  <c:v>13.295</c:v>
                </c:pt>
                <c:pt idx="2">
                  <c:v>4.365</c:v>
                </c:pt>
                <c:pt idx="3">
                  <c:v>6.891</c:v>
                </c:pt>
                <c:pt idx="4">
                  <c:v>7.241</c:v>
                </c:pt>
                <c:pt idx="5">
                  <c:v>5.356</c:v>
                </c:pt>
                <c:pt idx="6">
                  <c:v>4.179</c:v>
                </c:pt>
                <c:pt idx="7">
                  <c:v>-7.805</c:v>
                </c:pt>
                <c:pt idx="8">
                  <c:v>2.881</c:v>
                </c:pt>
                <c:pt idx="9">
                  <c:v>6.295</c:v>
                </c:pt>
                <c:pt idx="10">
                  <c:v>1.529</c:v>
                </c:pt>
                <c:pt idx="11">
                  <c:v>4.731</c:v>
                </c:pt>
                <c:pt idx="12">
                  <c:v>4.793</c:v>
                </c:pt>
                <c:pt idx="13">
                  <c:v>0.157</c:v>
                </c:pt>
                <c:pt idx="14">
                  <c:v>8.896</c:v>
                </c:pt>
                <c:pt idx="15">
                  <c:v>4.216</c:v>
                </c:pt>
                <c:pt idx="16">
                  <c:v>5.313</c:v>
                </c:pt>
                <c:pt idx="17">
                  <c:v>1.691</c:v>
                </c:pt>
                <c:pt idx="18">
                  <c:v>1.426</c:v>
                </c:pt>
                <c:pt idx="19">
                  <c:v>-1.179</c:v>
                </c:pt>
                <c:pt idx="20">
                  <c:v>-0.11</c:v>
                </c:pt>
                <c:pt idx="21">
                  <c:v>6.354</c:v>
                </c:pt>
                <c:pt idx="22">
                  <c:v>0.343</c:v>
                </c:pt>
                <c:pt idx="23">
                  <c:v>8.104</c:v>
                </c:pt>
                <c:pt idx="24">
                  <c:v>0.275</c:v>
                </c:pt>
                <c:pt idx="25">
                  <c:v>5.755</c:v>
                </c:pt>
                <c:pt idx="26">
                  <c:v>6.624</c:v>
                </c:pt>
                <c:pt idx="27">
                  <c:v>0.452</c:v>
                </c:pt>
                <c:pt idx="28">
                  <c:v>-0.523</c:v>
                </c:pt>
                <c:pt idx="29">
                  <c:v>-0.035</c:v>
                </c:pt>
                <c:pt idx="30">
                  <c:v>1.58</c:v>
                </c:pt>
                <c:pt idx="31">
                  <c:v>0.528</c:v>
                </c:pt>
                <c:pt idx="32">
                  <c:v>5.979</c:v>
                </c:pt>
                <c:pt idx="33">
                  <c:v>1.258</c:v>
                </c:pt>
                <c:pt idx="34">
                  <c:v>-1.789</c:v>
                </c:pt>
                <c:pt idx="35">
                  <c:v>16.057</c:v>
                </c:pt>
                <c:pt idx="36">
                  <c:v>2.039</c:v>
                </c:pt>
                <c:pt idx="37">
                  <c:v>5.533</c:v>
                </c:pt>
                <c:pt idx="38">
                  <c:v>5.706</c:v>
                </c:pt>
                <c:pt idx="39">
                  <c:v>-0.86</c:v>
                </c:pt>
                <c:pt idx="40">
                  <c:v>6.597</c:v>
                </c:pt>
                <c:pt idx="41">
                  <c:v>6.13</c:v>
                </c:pt>
                <c:pt idx="42">
                  <c:v>0.237</c:v>
                </c:pt>
                <c:pt idx="43">
                  <c:v>7.963</c:v>
                </c:pt>
                <c:pt idx="44">
                  <c:v>1.06</c:v>
                </c:pt>
                <c:pt idx="45">
                  <c:v>10.278</c:v>
                </c:pt>
                <c:pt idx="46">
                  <c:v>3.638</c:v>
                </c:pt>
                <c:pt idx="47">
                  <c:v>0.728</c:v>
                </c:pt>
                <c:pt idx="48">
                  <c:v>8.711</c:v>
                </c:pt>
                <c:pt idx="49">
                  <c:v>10.596</c:v>
                </c:pt>
                <c:pt idx="50">
                  <c:v>1.207</c:v>
                </c:pt>
                <c:pt idx="51">
                  <c:v>-0.006</c:v>
                </c:pt>
                <c:pt idx="52">
                  <c:v>2.521</c:v>
                </c:pt>
                <c:pt idx="53">
                  <c:v>2.457</c:v>
                </c:pt>
                <c:pt idx="54">
                  <c:v>3.653</c:v>
                </c:pt>
                <c:pt idx="55">
                  <c:v>6.228</c:v>
                </c:pt>
                <c:pt idx="56">
                  <c:v>6.008</c:v>
                </c:pt>
                <c:pt idx="57">
                  <c:v>-0.611</c:v>
                </c:pt>
                <c:pt idx="58">
                  <c:v>1.535</c:v>
                </c:pt>
                <c:pt idx="59">
                  <c:v>6.529</c:v>
                </c:pt>
                <c:pt idx="60">
                  <c:v>1.034</c:v>
                </c:pt>
                <c:pt idx="61">
                  <c:v>-0.843</c:v>
                </c:pt>
                <c:pt idx="62">
                  <c:v>0.557</c:v>
                </c:pt>
                <c:pt idx="63">
                  <c:v>7.55</c:v>
                </c:pt>
                <c:pt idx="64">
                  <c:v>6.051</c:v>
                </c:pt>
                <c:pt idx="65">
                  <c:v>9.364</c:v>
                </c:pt>
                <c:pt idx="66">
                  <c:v>1.46</c:v>
                </c:pt>
                <c:pt idx="67">
                  <c:v>6.403</c:v>
                </c:pt>
                <c:pt idx="68">
                  <c:v>-0.768</c:v>
                </c:pt>
                <c:pt idx="69">
                  <c:v>3.208</c:v>
                </c:pt>
                <c:pt idx="70">
                  <c:v>4.262</c:v>
                </c:pt>
                <c:pt idx="71">
                  <c:v>1.168</c:v>
                </c:pt>
                <c:pt idx="72">
                  <c:v>1.296</c:v>
                </c:pt>
                <c:pt idx="73">
                  <c:v>6.463</c:v>
                </c:pt>
                <c:pt idx="74">
                  <c:v>9.588</c:v>
                </c:pt>
                <c:pt idx="75">
                  <c:v>5.727</c:v>
                </c:pt>
                <c:pt idx="76">
                  <c:v>5.06</c:v>
                </c:pt>
                <c:pt idx="77">
                  <c:v>8.55</c:v>
                </c:pt>
                <c:pt idx="78">
                  <c:v>10.161</c:v>
                </c:pt>
                <c:pt idx="79">
                  <c:v>-1.086</c:v>
                </c:pt>
                <c:pt idx="80">
                  <c:v>-0.284</c:v>
                </c:pt>
                <c:pt idx="81">
                  <c:v>5.971</c:v>
                </c:pt>
                <c:pt idx="82">
                  <c:v>-0.326</c:v>
                </c:pt>
                <c:pt idx="83">
                  <c:v>4.576</c:v>
                </c:pt>
                <c:pt idx="84">
                  <c:v>2.934</c:v>
                </c:pt>
                <c:pt idx="85">
                  <c:v>7.476</c:v>
                </c:pt>
                <c:pt idx="86">
                  <c:v>3.883</c:v>
                </c:pt>
                <c:pt idx="87">
                  <c:v>1.582</c:v>
                </c:pt>
                <c:pt idx="88">
                  <c:v>3.832</c:v>
                </c:pt>
                <c:pt idx="89">
                  <c:v>0.023</c:v>
                </c:pt>
                <c:pt idx="90">
                  <c:v>7.161</c:v>
                </c:pt>
                <c:pt idx="91">
                  <c:v>4.844</c:v>
                </c:pt>
                <c:pt idx="92">
                  <c:v>3.601</c:v>
                </c:pt>
                <c:pt idx="93">
                  <c:v>0.903</c:v>
                </c:pt>
                <c:pt idx="94">
                  <c:v>3.208</c:v>
                </c:pt>
                <c:pt idx="95">
                  <c:v>5.237</c:v>
                </c:pt>
                <c:pt idx="96">
                  <c:v>4.513</c:v>
                </c:pt>
                <c:pt idx="97">
                  <c:v>3.428</c:v>
                </c:pt>
                <c:pt idx="98">
                  <c:v>3.572</c:v>
                </c:pt>
                <c:pt idx="99">
                  <c:v>7.721</c:v>
                </c:pt>
                <c:pt idx="100">
                  <c:v>8.426</c:v>
                </c:pt>
                <c:pt idx="101">
                  <c:v>3.758</c:v>
                </c:pt>
                <c:pt idx="102">
                  <c:v>-2.086</c:v>
                </c:pt>
                <c:pt idx="103">
                  <c:v>1.855</c:v>
                </c:pt>
                <c:pt idx="104">
                  <c:v>0.91</c:v>
                </c:pt>
                <c:pt idx="105">
                  <c:v>-1.333</c:v>
                </c:pt>
                <c:pt idx="106">
                  <c:v>-4.508</c:v>
                </c:pt>
                <c:pt idx="107">
                  <c:v>6.442</c:v>
                </c:pt>
                <c:pt idx="108">
                  <c:v>0.493</c:v>
                </c:pt>
                <c:pt idx="109">
                  <c:v>0.641</c:v>
                </c:pt>
                <c:pt idx="110">
                  <c:v>5.71</c:v>
                </c:pt>
                <c:pt idx="111">
                  <c:v>-0.807</c:v>
                </c:pt>
                <c:pt idx="112">
                  <c:v>3.84</c:v>
                </c:pt>
                <c:pt idx="113">
                  <c:v>6.686</c:v>
                </c:pt>
                <c:pt idx="114">
                  <c:v>7.366</c:v>
                </c:pt>
                <c:pt idx="115">
                  <c:v>4.836</c:v>
                </c:pt>
                <c:pt idx="116">
                  <c:v>1.113</c:v>
                </c:pt>
                <c:pt idx="117">
                  <c:v>6.782</c:v>
                </c:pt>
                <c:pt idx="118">
                  <c:v>5.964</c:v>
                </c:pt>
                <c:pt idx="119">
                  <c:v>7.128</c:v>
                </c:pt>
                <c:pt idx="120">
                  <c:v>14.483</c:v>
                </c:pt>
                <c:pt idx="121">
                  <c:v>0.368</c:v>
                </c:pt>
                <c:pt idx="122">
                  <c:v>-0.856</c:v>
                </c:pt>
                <c:pt idx="123">
                  <c:v>5.002</c:v>
                </c:pt>
                <c:pt idx="124">
                  <c:v>4.084</c:v>
                </c:pt>
                <c:pt idx="125">
                  <c:v>2.197</c:v>
                </c:pt>
                <c:pt idx="126">
                  <c:v>4.671</c:v>
                </c:pt>
                <c:pt idx="127">
                  <c:v>9.587</c:v>
                </c:pt>
                <c:pt idx="128">
                  <c:v>3.503</c:v>
                </c:pt>
                <c:pt idx="129">
                  <c:v>7.487</c:v>
                </c:pt>
                <c:pt idx="130">
                  <c:v>5.25</c:v>
                </c:pt>
                <c:pt idx="131">
                  <c:v>-0.729</c:v>
                </c:pt>
                <c:pt idx="132">
                  <c:v>3.16</c:v>
                </c:pt>
                <c:pt idx="133">
                  <c:v>4.11</c:v>
                </c:pt>
                <c:pt idx="134">
                  <c:v>7.948</c:v>
                </c:pt>
                <c:pt idx="135">
                  <c:v>2.206</c:v>
                </c:pt>
                <c:pt idx="136">
                  <c:v>5.48</c:v>
                </c:pt>
                <c:pt idx="137">
                  <c:v>6.49</c:v>
                </c:pt>
                <c:pt idx="138">
                  <c:v>4.429</c:v>
                </c:pt>
                <c:pt idx="139">
                  <c:v>3.779</c:v>
                </c:pt>
                <c:pt idx="140">
                  <c:v>2.881</c:v>
                </c:pt>
                <c:pt idx="141">
                  <c:v>7.44</c:v>
                </c:pt>
                <c:pt idx="142">
                  <c:v>1.02</c:v>
                </c:pt>
                <c:pt idx="143">
                  <c:v>3.992</c:v>
                </c:pt>
                <c:pt idx="144">
                  <c:v>9.124</c:v>
                </c:pt>
                <c:pt idx="145">
                  <c:v>8.462</c:v>
                </c:pt>
                <c:pt idx="146">
                  <c:v>6.423</c:v>
                </c:pt>
                <c:pt idx="147">
                  <c:v>5.882</c:v>
                </c:pt>
                <c:pt idx="148">
                  <c:v>1.365</c:v>
                </c:pt>
                <c:pt idx="149">
                  <c:v>0.883</c:v>
                </c:pt>
                <c:pt idx="150">
                  <c:v>5.982</c:v>
                </c:pt>
                <c:pt idx="151">
                  <c:v>5.461</c:v>
                </c:pt>
                <c:pt idx="152">
                  <c:v>0.209</c:v>
                </c:pt>
                <c:pt idx="153">
                  <c:v>6.015</c:v>
                </c:pt>
                <c:pt idx="154">
                  <c:v>9.316</c:v>
                </c:pt>
                <c:pt idx="155">
                  <c:v>0.71</c:v>
                </c:pt>
                <c:pt idx="156">
                  <c:v>6.446</c:v>
                </c:pt>
                <c:pt idx="157">
                  <c:v>5.092</c:v>
                </c:pt>
                <c:pt idx="158">
                  <c:v>1.026</c:v>
                </c:pt>
                <c:pt idx="159">
                  <c:v>-2.269</c:v>
                </c:pt>
                <c:pt idx="160">
                  <c:v>2.853</c:v>
                </c:pt>
                <c:pt idx="161">
                  <c:v>-0.672</c:v>
                </c:pt>
                <c:pt idx="162">
                  <c:v>6.559</c:v>
                </c:pt>
                <c:pt idx="163">
                  <c:v>2.065</c:v>
                </c:pt>
                <c:pt idx="164">
                  <c:v>6.13</c:v>
                </c:pt>
                <c:pt idx="165">
                  <c:v>7.652</c:v>
                </c:pt>
                <c:pt idx="166">
                  <c:v>-0.097</c:v>
                </c:pt>
                <c:pt idx="167">
                  <c:v>-5.741</c:v>
                </c:pt>
                <c:pt idx="168">
                  <c:v>6.202</c:v>
                </c:pt>
                <c:pt idx="169">
                  <c:v>2.82</c:v>
                </c:pt>
                <c:pt idx="170">
                  <c:v>-1.009</c:v>
                </c:pt>
                <c:pt idx="171">
                  <c:v>5.969</c:v>
                </c:pt>
                <c:pt idx="172">
                  <c:v>-1.093</c:v>
                </c:pt>
                <c:pt idx="173">
                  <c:v>-2.324</c:v>
                </c:pt>
                <c:pt idx="174">
                  <c:v>6.105</c:v>
                </c:pt>
                <c:pt idx="175">
                  <c:v>2.964</c:v>
                </c:pt>
                <c:pt idx="176">
                  <c:v>0.609</c:v>
                </c:pt>
                <c:pt idx="177">
                  <c:v>1.348</c:v>
                </c:pt>
                <c:pt idx="178">
                  <c:v>-0.075</c:v>
                </c:pt>
                <c:pt idx="179">
                  <c:v>7.191</c:v>
                </c:pt>
                <c:pt idx="180">
                  <c:v>-1.609</c:v>
                </c:pt>
                <c:pt idx="181">
                  <c:v>-1.911</c:v>
                </c:pt>
                <c:pt idx="182">
                  <c:v>1.464</c:v>
                </c:pt>
                <c:pt idx="183">
                  <c:v>-7.967</c:v>
                </c:pt>
                <c:pt idx="184">
                  <c:v>-0.102</c:v>
                </c:pt>
                <c:pt idx="185">
                  <c:v>3.202</c:v>
                </c:pt>
                <c:pt idx="186">
                  <c:v>-1.275</c:v>
                </c:pt>
                <c:pt idx="187">
                  <c:v>-1.41</c:v>
                </c:pt>
                <c:pt idx="188">
                  <c:v>0.219</c:v>
                </c:pt>
                <c:pt idx="189">
                  <c:v>3.396</c:v>
                </c:pt>
                <c:pt idx="190">
                  <c:v>0.842</c:v>
                </c:pt>
                <c:pt idx="191">
                  <c:v>0.555</c:v>
                </c:pt>
                <c:pt idx="192">
                  <c:v>3.671</c:v>
                </c:pt>
                <c:pt idx="193">
                  <c:v>10.09</c:v>
                </c:pt>
                <c:pt idx="194">
                  <c:v>2.226</c:v>
                </c:pt>
                <c:pt idx="195">
                  <c:v>5.193</c:v>
                </c:pt>
                <c:pt idx="196">
                  <c:v>3.518</c:v>
                </c:pt>
                <c:pt idx="197">
                  <c:v>4.154</c:v>
                </c:pt>
                <c:pt idx="198">
                  <c:v>2.029</c:v>
                </c:pt>
                <c:pt idx="199">
                  <c:v>7.773</c:v>
                </c:pt>
                <c:pt idx="200">
                  <c:v>5.341</c:v>
                </c:pt>
                <c:pt idx="201">
                  <c:v>10.279</c:v>
                </c:pt>
                <c:pt idx="202">
                  <c:v>1.044</c:v>
                </c:pt>
                <c:pt idx="203">
                  <c:v>-2.363</c:v>
                </c:pt>
                <c:pt idx="204">
                  <c:v>-1.182</c:v>
                </c:pt>
                <c:pt idx="205">
                  <c:v>5.817</c:v>
                </c:pt>
                <c:pt idx="206">
                  <c:v>7.047</c:v>
                </c:pt>
                <c:pt idx="207">
                  <c:v>4.744</c:v>
                </c:pt>
                <c:pt idx="208">
                  <c:v>5.912</c:v>
                </c:pt>
                <c:pt idx="209">
                  <c:v>7.32</c:v>
                </c:pt>
                <c:pt idx="210">
                  <c:v>1.043</c:v>
                </c:pt>
                <c:pt idx="211">
                  <c:v>6.105</c:v>
                </c:pt>
                <c:pt idx="212">
                  <c:v>2.324</c:v>
                </c:pt>
                <c:pt idx="213">
                  <c:v>7.209</c:v>
                </c:pt>
                <c:pt idx="214">
                  <c:v>5.447</c:v>
                </c:pt>
                <c:pt idx="215">
                  <c:v>5.958</c:v>
                </c:pt>
                <c:pt idx="216">
                  <c:v>1.641</c:v>
                </c:pt>
                <c:pt idx="217">
                  <c:v>9.223</c:v>
                </c:pt>
                <c:pt idx="218">
                  <c:v>1.274</c:v>
                </c:pt>
                <c:pt idx="219">
                  <c:v>3.485</c:v>
                </c:pt>
                <c:pt idx="220">
                  <c:v>5.72</c:v>
                </c:pt>
                <c:pt idx="221">
                  <c:v>5.62</c:v>
                </c:pt>
                <c:pt idx="222">
                  <c:v>0.947</c:v>
                </c:pt>
                <c:pt idx="223">
                  <c:v>0.312</c:v>
                </c:pt>
                <c:pt idx="224">
                  <c:v>0.393</c:v>
                </c:pt>
                <c:pt idx="225">
                  <c:v>0.984</c:v>
                </c:pt>
                <c:pt idx="226">
                  <c:v>5.974</c:v>
                </c:pt>
                <c:pt idx="227">
                  <c:v>6.919</c:v>
                </c:pt>
                <c:pt idx="228">
                  <c:v>4.472</c:v>
                </c:pt>
                <c:pt idx="229">
                  <c:v>9.966</c:v>
                </c:pt>
                <c:pt idx="230">
                  <c:v>-0.676</c:v>
                </c:pt>
                <c:pt idx="231">
                  <c:v>1.736</c:v>
                </c:pt>
                <c:pt idx="232">
                  <c:v>4.361</c:v>
                </c:pt>
                <c:pt idx="233">
                  <c:v>5.452</c:v>
                </c:pt>
                <c:pt idx="234">
                  <c:v>1.069</c:v>
                </c:pt>
                <c:pt idx="235">
                  <c:v>7.551</c:v>
                </c:pt>
                <c:pt idx="236">
                  <c:v>6.139</c:v>
                </c:pt>
                <c:pt idx="237">
                  <c:v>8.969</c:v>
                </c:pt>
                <c:pt idx="238">
                  <c:v>2.558</c:v>
                </c:pt>
                <c:pt idx="239">
                  <c:v>4.94</c:v>
                </c:pt>
                <c:pt idx="240">
                  <c:v>12.364</c:v>
                </c:pt>
                <c:pt idx="241">
                  <c:v>1.606</c:v>
                </c:pt>
                <c:pt idx="242">
                  <c:v>7.853</c:v>
                </c:pt>
                <c:pt idx="243">
                  <c:v>-1.026</c:v>
                </c:pt>
                <c:pt idx="244">
                  <c:v>-0.114</c:v>
                </c:pt>
                <c:pt idx="245">
                  <c:v>-0.062</c:v>
                </c:pt>
                <c:pt idx="246">
                  <c:v>0.194</c:v>
                </c:pt>
                <c:pt idx="247">
                  <c:v>5.161</c:v>
                </c:pt>
                <c:pt idx="248">
                  <c:v>7.941</c:v>
                </c:pt>
                <c:pt idx="249">
                  <c:v>-1.274</c:v>
                </c:pt>
                <c:pt idx="250">
                  <c:v>6.187</c:v>
                </c:pt>
                <c:pt idx="251">
                  <c:v>1.997</c:v>
                </c:pt>
                <c:pt idx="252">
                  <c:v>7.177</c:v>
                </c:pt>
                <c:pt idx="253">
                  <c:v>5.713</c:v>
                </c:pt>
                <c:pt idx="254">
                  <c:v>4.113</c:v>
                </c:pt>
                <c:pt idx="255">
                  <c:v>1.41</c:v>
                </c:pt>
                <c:pt idx="256">
                  <c:v>0.081</c:v>
                </c:pt>
                <c:pt idx="257">
                  <c:v>5.459</c:v>
                </c:pt>
                <c:pt idx="258">
                  <c:v>2.522</c:v>
                </c:pt>
                <c:pt idx="259">
                  <c:v>-1.155</c:v>
                </c:pt>
                <c:pt idx="260">
                  <c:v>7.368</c:v>
                </c:pt>
                <c:pt idx="261">
                  <c:v>2.699</c:v>
                </c:pt>
                <c:pt idx="262">
                  <c:v>13.242</c:v>
                </c:pt>
                <c:pt idx="263">
                  <c:v>5.142</c:v>
                </c:pt>
                <c:pt idx="264">
                  <c:v>0.451</c:v>
                </c:pt>
                <c:pt idx="265">
                  <c:v>7.832</c:v>
                </c:pt>
                <c:pt idx="266">
                  <c:v>1.897</c:v>
                </c:pt>
                <c:pt idx="267">
                  <c:v>4.391</c:v>
                </c:pt>
                <c:pt idx="268">
                  <c:v>4.727</c:v>
                </c:pt>
                <c:pt idx="269">
                  <c:v>5.5</c:v>
                </c:pt>
                <c:pt idx="270">
                  <c:v>1.239</c:v>
                </c:pt>
                <c:pt idx="271">
                  <c:v>7.664</c:v>
                </c:pt>
                <c:pt idx="272">
                  <c:v>2.401</c:v>
                </c:pt>
                <c:pt idx="273">
                  <c:v>-1.83</c:v>
                </c:pt>
                <c:pt idx="274">
                  <c:v>13.083</c:v>
                </c:pt>
                <c:pt idx="275">
                  <c:v>2.718</c:v>
                </c:pt>
                <c:pt idx="276">
                  <c:v>8.722</c:v>
                </c:pt>
                <c:pt idx="277">
                  <c:v>1.681</c:v>
                </c:pt>
                <c:pt idx="278">
                  <c:v>-0.259</c:v>
                </c:pt>
                <c:pt idx="279">
                  <c:v>1.199</c:v>
                </c:pt>
                <c:pt idx="280">
                  <c:v>10.521</c:v>
                </c:pt>
                <c:pt idx="281">
                  <c:v>-0.154</c:v>
                </c:pt>
                <c:pt idx="282">
                  <c:v>-2.079</c:v>
                </c:pt>
                <c:pt idx="283">
                  <c:v>7.328</c:v>
                </c:pt>
                <c:pt idx="284">
                  <c:v>7.259</c:v>
                </c:pt>
                <c:pt idx="285">
                  <c:v>2.845</c:v>
                </c:pt>
                <c:pt idx="286">
                  <c:v>5.448</c:v>
                </c:pt>
                <c:pt idx="287">
                  <c:v>6.685</c:v>
                </c:pt>
                <c:pt idx="288">
                  <c:v>3.979</c:v>
                </c:pt>
                <c:pt idx="289">
                  <c:v>2.382</c:v>
                </c:pt>
                <c:pt idx="290">
                  <c:v>-0.81</c:v>
                </c:pt>
                <c:pt idx="291">
                  <c:v>6.331</c:v>
                </c:pt>
                <c:pt idx="292">
                  <c:v>0.655</c:v>
                </c:pt>
                <c:pt idx="293">
                  <c:v>7.554</c:v>
                </c:pt>
                <c:pt idx="294">
                  <c:v>6.467</c:v>
                </c:pt>
                <c:pt idx="295">
                  <c:v>6.083</c:v>
                </c:pt>
                <c:pt idx="296">
                  <c:v>3.853</c:v>
                </c:pt>
                <c:pt idx="297">
                  <c:v>2.248</c:v>
                </c:pt>
                <c:pt idx="298">
                  <c:v>7.198</c:v>
                </c:pt>
                <c:pt idx="299">
                  <c:v>6.328</c:v>
                </c:pt>
              </c:numCache>
            </c:numRef>
          </c:yVal>
          <c:smooth val="0"/>
        </c:ser>
        <c:ser>
          <c:idx val="1"/>
          <c:order val="1"/>
          <c:tx>
            <c:strRef>
              <c:f>Sheet1!$C$1</c:f>
              <c:strCache>
                <c:ptCount val="1"/>
                <c:pt idx="0">
                  <c:v>条件付き平均</c:v>
                </c:pt>
              </c:strCache>
            </c:strRef>
          </c:tx>
          <c:spPr>
            <a:solidFill>
              <a:srgbClr val="9C7412"/>
            </a:solidFill>
            <a:ln>
              <a:noFill/>
            </a:ln>
            <a:effectLst/>
          </c:spPr>
          <c:marker>
            <c:symbol val="circle"/>
            <c:size val="5"/>
            <c:spPr>
              <a:solidFill>
                <a:srgbClr val="9C7412"/>
              </a:solidFill>
              <a:ln w="9525" cap="flat">
                <a:solidFill>
                  <a:srgbClr val="9C7412"/>
                </a:solidFill>
                <a:prstDash val="solid"/>
                <a:round/>
              </a:ln>
              <a:effectLst/>
            </c:spPr>
          </c:marker>
          <c:xVal>
            <c:numRef>
              <c:f>Sheet1!$A$2:$A$301</c:f>
              <c:numCache>
                <c:formatCode>General</c:formatCode>
                <c:ptCount val="300"/>
                <c:pt idx="0">
                  <c:v>-0.162</c:v>
                </c:pt>
                <c:pt idx="1">
                  <c:v>-2.997</c:v>
                </c:pt>
                <c:pt idx="2">
                  <c:v>-1.326</c:v>
                </c:pt>
                <c:pt idx="3">
                  <c:v>-0.02</c:v>
                </c:pt>
                <c:pt idx="4">
                  <c:v>-0.227</c:v>
                </c:pt>
                <c:pt idx="5">
                  <c:v>2.655</c:v>
                </c:pt>
                <c:pt idx="6">
                  <c:v>-2.871</c:v>
                </c:pt>
                <c:pt idx="7">
                  <c:v>3.012</c:v>
                </c:pt>
                <c:pt idx="8">
                  <c:v>-1.118</c:v>
                </c:pt>
                <c:pt idx="9">
                  <c:v>0.464</c:v>
                </c:pt>
                <c:pt idx="10">
                  <c:v>-0.297</c:v>
                </c:pt>
                <c:pt idx="11">
                  <c:v>2.803</c:v>
                </c:pt>
                <c:pt idx="12">
                  <c:v>-1.362</c:v>
                </c:pt>
                <c:pt idx="13">
                  <c:v>-1.489</c:v>
                </c:pt>
                <c:pt idx="14">
                  <c:v>-2.616</c:v>
                </c:pt>
                <c:pt idx="15">
                  <c:v>2.097</c:v>
                </c:pt>
                <c:pt idx="16">
                  <c:v>-2.212</c:v>
                </c:pt>
                <c:pt idx="17">
                  <c:v>-0.138</c:v>
                </c:pt>
                <c:pt idx="18">
                  <c:v>0.837</c:v>
                </c:pt>
                <c:pt idx="19">
                  <c:v>-1.75</c:v>
                </c:pt>
                <c:pt idx="20">
                  <c:v>-1.856</c:v>
                </c:pt>
                <c:pt idx="21">
                  <c:v>-2.429</c:v>
                </c:pt>
                <c:pt idx="22">
                  <c:v>2.154</c:v>
                </c:pt>
                <c:pt idx="23">
                  <c:v>-2.573</c:v>
                </c:pt>
                <c:pt idx="24">
                  <c:v>-1.937</c:v>
                </c:pt>
                <c:pt idx="25">
                  <c:v>-1.228</c:v>
                </c:pt>
                <c:pt idx="26">
                  <c:v>1.088</c:v>
                </c:pt>
                <c:pt idx="27">
                  <c:v>-2.121</c:v>
                </c:pt>
                <c:pt idx="28">
                  <c:v>-0.584</c:v>
                </c:pt>
                <c:pt idx="29">
                  <c:v>2.135</c:v>
                </c:pt>
                <c:pt idx="30">
                  <c:v>0.883</c:v>
                </c:pt>
                <c:pt idx="31">
                  <c:v>0.122</c:v>
                </c:pt>
                <c:pt idx="32">
                  <c:v>-1.898</c:v>
                </c:pt>
                <c:pt idx="33">
                  <c:v>2.429</c:v>
                </c:pt>
                <c:pt idx="34">
                  <c:v>-1.944</c:v>
                </c:pt>
                <c:pt idx="35">
                  <c:v>3.045</c:v>
                </c:pt>
                <c:pt idx="36">
                  <c:v>-0.696</c:v>
                </c:pt>
                <c:pt idx="37">
                  <c:v>-0.545</c:v>
                </c:pt>
                <c:pt idx="38">
                  <c:v>-0.398</c:v>
                </c:pt>
                <c:pt idx="39">
                  <c:v>-2.552</c:v>
                </c:pt>
                <c:pt idx="40">
                  <c:v>0.596</c:v>
                </c:pt>
                <c:pt idx="41">
                  <c:v>-1.554</c:v>
                </c:pt>
                <c:pt idx="42">
                  <c:v>0.153</c:v>
                </c:pt>
                <c:pt idx="43">
                  <c:v>1.374</c:v>
                </c:pt>
                <c:pt idx="44">
                  <c:v>2.425</c:v>
                </c:pt>
                <c:pt idx="45">
                  <c:v>2.805</c:v>
                </c:pt>
                <c:pt idx="46">
                  <c:v>-2.421</c:v>
                </c:pt>
                <c:pt idx="47">
                  <c:v>-1.435</c:v>
                </c:pt>
                <c:pt idx="48">
                  <c:v>-2.57</c:v>
                </c:pt>
                <c:pt idx="49">
                  <c:v>-2.795</c:v>
                </c:pt>
                <c:pt idx="50">
                  <c:v>-1.213</c:v>
                </c:pt>
                <c:pt idx="51">
                  <c:v>0.818</c:v>
                </c:pt>
                <c:pt idx="52">
                  <c:v>-1.73</c:v>
                </c:pt>
                <c:pt idx="53">
                  <c:v>-2.265</c:v>
                </c:pt>
                <c:pt idx="54">
                  <c:v>2.455</c:v>
                </c:pt>
                <c:pt idx="55">
                  <c:v>0.673</c:v>
                </c:pt>
                <c:pt idx="56">
                  <c:v>0.815</c:v>
                </c:pt>
                <c:pt idx="57">
                  <c:v>2.254</c:v>
                </c:pt>
                <c:pt idx="58">
                  <c:v>-1.849</c:v>
                </c:pt>
                <c:pt idx="59">
                  <c:v>1.145</c:v>
                </c:pt>
                <c:pt idx="60">
                  <c:v>1.119</c:v>
                </c:pt>
                <c:pt idx="61">
                  <c:v>-2.181</c:v>
                </c:pt>
                <c:pt idx="62">
                  <c:v>1.071</c:v>
                </c:pt>
                <c:pt idx="63">
                  <c:v>1.133</c:v>
                </c:pt>
                <c:pt idx="64">
                  <c:v>2.954</c:v>
                </c:pt>
                <c:pt idx="65">
                  <c:v>-2.443</c:v>
                </c:pt>
                <c:pt idx="66">
                  <c:v>-1.266</c:v>
                </c:pt>
                <c:pt idx="67">
                  <c:v>0.224</c:v>
                </c:pt>
                <c:pt idx="68">
                  <c:v>2.803</c:v>
                </c:pt>
                <c:pt idx="69">
                  <c:v>1.498</c:v>
                </c:pt>
                <c:pt idx="70">
                  <c:v>2.761</c:v>
                </c:pt>
                <c:pt idx="71">
                  <c:v>1.572</c:v>
                </c:pt>
                <c:pt idx="72">
                  <c:v>-0.815</c:v>
                </c:pt>
                <c:pt idx="73">
                  <c:v>0.213</c:v>
                </c:pt>
                <c:pt idx="74">
                  <c:v>-2.858</c:v>
                </c:pt>
                <c:pt idx="75">
                  <c:v>1.003</c:v>
                </c:pt>
                <c:pt idx="76">
                  <c:v>-0.02</c:v>
                </c:pt>
                <c:pt idx="77">
                  <c:v>2.711</c:v>
                </c:pt>
                <c:pt idx="78">
                  <c:v>-2.368</c:v>
                </c:pt>
                <c:pt idx="79">
                  <c:v>2.964</c:v>
                </c:pt>
                <c:pt idx="80">
                  <c:v>-3.008</c:v>
                </c:pt>
                <c:pt idx="81">
                  <c:v>1.488</c:v>
                </c:pt>
                <c:pt idx="82">
                  <c:v>0.958</c:v>
                </c:pt>
                <c:pt idx="83">
                  <c:v>-1.928</c:v>
                </c:pt>
                <c:pt idx="84">
                  <c:v>-1.217</c:v>
                </c:pt>
                <c:pt idx="85">
                  <c:v>-1.455</c:v>
                </c:pt>
                <c:pt idx="86">
                  <c:v>1.982</c:v>
                </c:pt>
                <c:pt idx="87">
                  <c:v>-2.166</c:v>
                </c:pt>
                <c:pt idx="88">
                  <c:v>1.431</c:v>
                </c:pt>
                <c:pt idx="89">
                  <c:v>1.559</c:v>
                </c:pt>
                <c:pt idx="90">
                  <c:v>0.331</c:v>
                </c:pt>
                <c:pt idx="91">
                  <c:v>-0.695</c:v>
                </c:pt>
                <c:pt idx="92">
                  <c:v>1.511</c:v>
                </c:pt>
                <c:pt idx="93">
                  <c:v>2.655</c:v>
                </c:pt>
                <c:pt idx="94">
                  <c:v>2.049</c:v>
                </c:pt>
                <c:pt idx="95">
                  <c:v>2.847</c:v>
                </c:pt>
                <c:pt idx="96">
                  <c:v>0.073</c:v>
                </c:pt>
                <c:pt idx="97">
                  <c:v>-1.746</c:v>
                </c:pt>
                <c:pt idx="98">
                  <c:v>0.712</c:v>
                </c:pt>
                <c:pt idx="99">
                  <c:v>0.031</c:v>
                </c:pt>
                <c:pt idx="100">
                  <c:v>2.174</c:v>
                </c:pt>
                <c:pt idx="101">
                  <c:v>-1.944</c:v>
                </c:pt>
                <c:pt idx="102">
                  <c:v>-2.525</c:v>
                </c:pt>
                <c:pt idx="103">
                  <c:v>-0.99</c:v>
                </c:pt>
                <c:pt idx="104">
                  <c:v>-0.488</c:v>
                </c:pt>
                <c:pt idx="105">
                  <c:v>1.367</c:v>
                </c:pt>
                <c:pt idx="106">
                  <c:v>-2.67</c:v>
                </c:pt>
                <c:pt idx="107">
                  <c:v>1.439</c:v>
                </c:pt>
                <c:pt idx="108">
                  <c:v>-1.182</c:v>
                </c:pt>
                <c:pt idx="109">
                  <c:v>-0.245</c:v>
                </c:pt>
                <c:pt idx="110">
                  <c:v>1.579</c:v>
                </c:pt>
                <c:pt idx="111">
                  <c:v>0.624</c:v>
                </c:pt>
                <c:pt idx="112">
                  <c:v>-2.104</c:v>
                </c:pt>
                <c:pt idx="113">
                  <c:v>2.103</c:v>
                </c:pt>
                <c:pt idx="114">
                  <c:v>-0.971</c:v>
                </c:pt>
                <c:pt idx="115">
                  <c:v>1.712</c:v>
                </c:pt>
                <c:pt idx="116">
                  <c:v>-1.155</c:v>
                </c:pt>
                <c:pt idx="117">
                  <c:v>-2.258</c:v>
                </c:pt>
                <c:pt idx="118">
                  <c:v>0.913</c:v>
                </c:pt>
                <c:pt idx="119">
                  <c:v>-0.966</c:v>
                </c:pt>
                <c:pt idx="120">
                  <c:v>2.872</c:v>
                </c:pt>
                <c:pt idx="121">
                  <c:v>-0.436</c:v>
                </c:pt>
                <c:pt idx="122">
                  <c:v>-0.186</c:v>
                </c:pt>
                <c:pt idx="123">
                  <c:v>-0.534</c:v>
                </c:pt>
                <c:pt idx="124">
                  <c:v>2.037</c:v>
                </c:pt>
                <c:pt idx="125">
                  <c:v>-1.073</c:v>
                </c:pt>
                <c:pt idx="126">
                  <c:v>2.421</c:v>
                </c:pt>
                <c:pt idx="127">
                  <c:v>-2.567</c:v>
                </c:pt>
                <c:pt idx="128">
                  <c:v>-0.868</c:v>
                </c:pt>
                <c:pt idx="129">
                  <c:v>-1.638</c:v>
                </c:pt>
                <c:pt idx="130">
                  <c:v>0.117</c:v>
                </c:pt>
                <c:pt idx="131">
                  <c:v>-0.271</c:v>
                </c:pt>
                <c:pt idx="132">
                  <c:v>-0.067</c:v>
                </c:pt>
                <c:pt idx="133">
                  <c:v>-1.928</c:v>
                </c:pt>
                <c:pt idx="134">
                  <c:v>-0.465</c:v>
                </c:pt>
                <c:pt idx="135">
                  <c:v>-0.581</c:v>
                </c:pt>
                <c:pt idx="136">
                  <c:v>0.905</c:v>
                </c:pt>
                <c:pt idx="137">
                  <c:v>0.686</c:v>
                </c:pt>
                <c:pt idx="138">
                  <c:v>2.471</c:v>
                </c:pt>
                <c:pt idx="139">
                  <c:v>-1.81</c:v>
                </c:pt>
                <c:pt idx="140">
                  <c:v>-2.274</c:v>
                </c:pt>
                <c:pt idx="141">
                  <c:v>3.009</c:v>
                </c:pt>
                <c:pt idx="142">
                  <c:v>0.29</c:v>
                </c:pt>
                <c:pt idx="143">
                  <c:v>-2.385</c:v>
                </c:pt>
                <c:pt idx="144">
                  <c:v>2.461</c:v>
                </c:pt>
                <c:pt idx="145">
                  <c:v>2.938</c:v>
                </c:pt>
                <c:pt idx="146">
                  <c:v>0.023</c:v>
                </c:pt>
                <c:pt idx="147">
                  <c:v>-0.364</c:v>
                </c:pt>
                <c:pt idx="148">
                  <c:v>1.352</c:v>
                </c:pt>
                <c:pt idx="149">
                  <c:v>0.555</c:v>
                </c:pt>
                <c:pt idx="150">
                  <c:v>-0.408</c:v>
                </c:pt>
                <c:pt idx="151">
                  <c:v>1.735</c:v>
                </c:pt>
                <c:pt idx="152">
                  <c:v>-2.301</c:v>
                </c:pt>
                <c:pt idx="153">
                  <c:v>-1.889</c:v>
                </c:pt>
                <c:pt idx="154">
                  <c:v>-1.94</c:v>
                </c:pt>
                <c:pt idx="155">
                  <c:v>2.303</c:v>
                </c:pt>
                <c:pt idx="156">
                  <c:v>0.25</c:v>
                </c:pt>
                <c:pt idx="157">
                  <c:v>2.152</c:v>
                </c:pt>
                <c:pt idx="158">
                  <c:v>0.295</c:v>
                </c:pt>
                <c:pt idx="159">
                  <c:v>2.995</c:v>
                </c:pt>
                <c:pt idx="160">
                  <c:v>-2.284</c:v>
                </c:pt>
                <c:pt idx="161">
                  <c:v>1.397</c:v>
                </c:pt>
                <c:pt idx="162">
                  <c:v>-0.395</c:v>
                </c:pt>
                <c:pt idx="163">
                  <c:v>-1.841</c:v>
                </c:pt>
                <c:pt idx="164">
                  <c:v>-1.664</c:v>
                </c:pt>
                <c:pt idx="165">
                  <c:v>1.48</c:v>
                </c:pt>
                <c:pt idx="166">
                  <c:v>0.68</c:v>
                </c:pt>
                <c:pt idx="167">
                  <c:v>-2.78</c:v>
                </c:pt>
                <c:pt idx="168">
                  <c:v>-1.64</c:v>
                </c:pt>
                <c:pt idx="169">
                  <c:v>-2.256</c:v>
                </c:pt>
                <c:pt idx="170">
                  <c:v>1.655</c:v>
                </c:pt>
                <c:pt idx="171">
                  <c:v>0.495</c:v>
                </c:pt>
                <c:pt idx="172">
                  <c:v>-2.565</c:v>
                </c:pt>
                <c:pt idx="173">
                  <c:v>2.601</c:v>
                </c:pt>
                <c:pt idx="174">
                  <c:v>0.716</c:v>
                </c:pt>
                <c:pt idx="175">
                  <c:v>1.325</c:v>
                </c:pt>
                <c:pt idx="176">
                  <c:v>-1.855</c:v>
                </c:pt>
                <c:pt idx="177">
                  <c:v>-0.822</c:v>
                </c:pt>
                <c:pt idx="178">
                  <c:v>-1.183</c:v>
                </c:pt>
                <c:pt idx="179">
                  <c:v>-1.063</c:v>
                </c:pt>
                <c:pt idx="180">
                  <c:v>3.059</c:v>
                </c:pt>
                <c:pt idx="181">
                  <c:v>1.946</c:v>
                </c:pt>
                <c:pt idx="182">
                  <c:v>-2.034</c:v>
                </c:pt>
                <c:pt idx="183">
                  <c:v>3.004</c:v>
                </c:pt>
                <c:pt idx="184">
                  <c:v>2.283</c:v>
                </c:pt>
                <c:pt idx="185">
                  <c:v>-2.128</c:v>
                </c:pt>
                <c:pt idx="186">
                  <c:v>2.497</c:v>
                </c:pt>
                <c:pt idx="187">
                  <c:v>1.956</c:v>
                </c:pt>
                <c:pt idx="188">
                  <c:v>1.964</c:v>
                </c:pt>
                <c:pt idx="189">
                  <c:v>-0.153</c:v>
                </c:pt>
                <c:pt idx="190">
                  <c:v>-1.483</c:v>
                </c:pt>
                <c:pt idx="191">
                  <c:v>0.192</c:v>
                </c:pt>
                <c:pt idx="192">
                  <c:v>1.998</c:v>
                </c:pt>
                <c:pt idx="193">
                  <c:v>-2.767</c:v>
                </c:pt>
                <c:pt idx="194">
                  <c:v>2.493</c:v>
                </c:pt>
                <c:pt idx="195">
                  <c:v>0.527</c:v>
                </c:pt>
                <c:pt idx="196">
                  <c:v>2.243</c:v>
                </c:pt>
                <c:pt idx="197">
                  <c:v>1.462</c:v>
                </c:pt>
                <c:pt idx="198">
                  <c:v>2.405</c:v>
                </c:pt>
                <c:pt idx="199">
                  <c:v>-2.689</c:v>
                </c:pt>
                <c:pt idx="200">
                  <c:v>-1.404</c:v>
                </c:pt>
                <c:pt idx="201">
                  <c:v>2.964</c:v>
                </c:pt>
                <c:pt idx="202">
                  <c:v>-0.186</c:v>
                </c:pt>
                <c:pt idx="203">
                  <c:v>-2.904</c:v>
                </c:pt>
                <c:pt idx="204">
                  <c:v>3.018</c:v>
                </c:pt>
                <c:pt idx="205">
                  <c:v>0.659</c:v>
                </c:pt>
                <c:pt idx="206">
                  <c:v>0.19</c:v>
                </c:pt>
                <c:pt idx="207">
                  <c:v>-0.358</c:v>
                </c:pt>
                <c:pt idx="208">
                  <c:v>-0.763</c:v>
                </c:pt>
                <c:pt idx="209">
                  <c:v>-0.62</c:v>
                </c:pt>
                <c:pt idx="210">
                  <c:v>-1.879</c:v>
                </c:pt>
                <c:pt idx="211">
                  <c:v>-1.717</c:v>
                </c:pt>
                <c:pt idx="212">
                  <c:v>1.588</c:v>
                </c:pt>
                <c:pt idx="213">
                  <c:v>0.989</c:v>
                </c:pt>
                <c:pt idx="214">
                  <c:v>3.059</c:v>
                </c:pt>
                <c:pt idx="215">
                  <c:v>0.558</c:v>
                </c:pt>
                <c:pt idx="216">
                  <c:v>1.529</c:v>
                </c:pt>
                <c:pt idx="217">
                  <c:v>2.033</c:v>
                </c:pt>
                <c:pt idx="218">
                  <c:v>0.221</c:v>
                </c:pt>
                <c:pt idx="219">
                  <c:v>-0.237</c:v>
                </c:pt>
                <c:pt idx="220">
                  <c:v>1.666</c:v>
                </c:pt>
                <c:pt idx="221">
                  <c:v>1.082</c:v>
                </c:pt>
                <c:pt idx="222">
                  <c:v>0.704</c:v>
                </c:pt>
                <c:pt idx="223">
                  <c:v>-0.61</c:v>
                </c:pt>
                <c:pt idx="224">
                  <c:v>-2.759</c:v>
                </c:pt>
                <c:pt idx="225">
                  <c:v>-0.531</c:v>
                </c:pt>
                <c:pt idx="226">
                  <c:v>0.32</c:v>
                </c:pt>
                <c:pt idx="227">
                  <c:v>-2.322</c:v>
                </c:pt>
                <c:pt idx="228">
                  <c:v>2.261</c:v>
                </c:pt>
                <c:pt idx="229">
                  <c:v>3.047</c:v>
                </c:pt>
                <c:pt idx="230">
                  <c:v>-1.311</c:v>
                </c:pt>
                <c:pt idx="231">
                  <c:v>0.121</c:v>
                </c:pt>
                <c:pt idx="232">
                  <c:v>-0.072</c:v>
                </c:pt>
                <c:pt idx="233">
                  <c:v>0.864</c:v>
                </c:pt>
                <c:pt idx="234">
                  <c:v>-1.482</c:v>
                </c:pt>
                <c:pt idx="235">
                  <c:v>-0.118</c:v>
                </c:pt>
                <c:pt idx="236">
                  <c:v>-0.534</c:v>
                </c:pt>
                <c:pt idx="237">
                  <c:v>2.277</c:v>
                </c:pt>
                <c:pt idx="238">
                  <c:v>-1.75</c:v>
                </c:pt>
                <c:pt idx="239">
                  <c:v>0.099</c:v>
                </c:pt>
                <c:pt idx="240">
                  <c:v>2.685</c:v>
                </c:pt>
                <c:pt idx="241">
                  <c:v>-1.382</c:v>
                </c:pt>
                <c:pt idx="242">
                  <c:v>1.739</c:v>
                </c:pt>
                <c:pt idx="243">
                  <c:v>0.737</c:v>
                </c:pt>
                <c:pt idx="244">
                  <c:v>-2.355</c:v>
                </c:pt>
                <c:pt idx="245">
                  <c:v>2.241</c:v>
                </c:pt>
                <c:pt idx="246">
                  <c:v>-0.305</c:v>
                </c:pt>
                <c:pt idx="247">
                  <c:v>-0.185</c:v>
                </c:pt>
                <c:pt idx="248">
                  <c:v>-2.233</c:v>
                </c:pt>
                <c:pt idx="249">
                  <c:v>-2.953</c:v>
                </c:pt>
                <c:pt idx="250">
                  <c:v>-0.323</c:v>
                </c:pt>
                <c:pt idx="251">
                  <c:v>1.382</c:v>
                </c:pt>
                <c:pt idx="252">
                  <c:v>-1.318</c:v>
                </c:pt>
                <c:pt idx="253">
                  <c:v>-0.168</c:v>
                </c:pt>
                <c:pt idx="254">
                  <c:v>0.809</c:v>
                </c:pt>
                <c:pt idx="255">
                  <c:v>2.793</c:v>
                </c:pt>
                <c:pt idx="256">
                  <c:v>2.915</c:v>
                </c:pt>
                <c:pt idx="257">
                  <c:v>-0.247</c:v>
                </c:pt>
                <c:pt idx="258">
                  <c:v>2.985</c:v>
                </c:pt>
                <c:pt idx="259">
                  <c:v>-2.46</c:v>
                </c:pt>
                <c:pt idx="260">
                  <c:v>2.324</c:v>
                </c:pt>
                <c:pt idx="261">
                  <c:v>-1.994</c:v>
                </c:pt>
                <c:pt idx="262">
                  <c:v>-3.052</c:v>
                </c:pt>
                <c:pt idx="263">
                  <c:v>0.381</c:v>
                </c:pt>
                <c:pt idx="264">
                  <c:v>1.869</c:v>
                </c:pt>
                <c:pt idx="265">
                  <c:v>0.147</c:v>
                </c:pt>
                <c:pt idx="266">
                  <c:v>-2.596</c:v>
                </c:pt>
                <c:pt idx="267">
                  <c:v>-1.238</c:v>
                </c:pt>
                <c:pt idx="268">
                  <c:v>1.875</c:v>
                </c:pt>
                <c:pt idx="269">
                  <c:v>0.155</c:v>
                </c:pt>
                <c:pt idx="270">
                  <c:v>-0.415</c:v>
                </c:pt>
                <c:pt idx="271">
                  <c:v>-1.163</c:v>
                </c:pt>
                <c:pt idx="272">
                  <c:v>-1.883</c:v>
                </c:pt>
                <c:pt idx="273">
                  <c:v>2.874</c:v>
                </c:pt>
                <c:pt idx="274">
                  <c:v>2.938</c:v>
                </c:pt>
                <c:pt idx="275">
                  <c:v>0.894</c:v>
                </c:pt>
                <c:pt idx="276">
                  <c:v>-2.312</c:v>
                </c:pt>
                <c:pt idx="277">
                  <c:v>-1.55</c:v>
                </c:pt>
                <c:pt idx="278">
                  <c:v>1.717</c:v>
                </c:pt>
                <c:pt idx="279">
                  <c:v>0.265</c:v>
                </c:pt>
                <c:pt idx="280">
                  <c:v>2.48</c:v>
                </c:pt>
                <c:pt idx="281">
                  <c:v>1.202</c:v>
                </c:pt>
                <c:pt idx="282">
                  <c:v>1.972</c:v>
                </c:pt>
                <c:pt idx="283">
                  <c:v>-2.422</c:v>
                </c:pt>
                <c:pt idx="284">
                  <c:v>-0.71</c:v>
                </c:pt>
                <c:pt idx="285">
                  <c:v>-0.643</c:v>
                </c:pt>
                <c:pt idx="286">
                  <c:v>1.521</c:v>
                </c:pt>
                <c:pt idx="287">
                  <c:v>1.379</c:v>
                </c:pt>
                <c:pt idx="288">
                  <c:v>2.556</c:v>
                </c:pt>
                <c:pt idx="289">
                  <c:v>-1.963</c:v>
                </c:pt>
                <c:pt idx="290">
                  <c:v>0.441</c:v>
                </c:pt>
                <c:pt idx="291">
                  <c:v>2.233</c:v>
                </c:pt>
                <c:pt idx="292">
                  <c:v>-0.042</c:v>
                </c:pt>
                <c:pt idx="293">
                  <c:v>-0.284</c:v>
                </c:pt>
                <c:pt idx="294">
                  <c:v>-1.716</c:v>
                </c:pt>
                <c:pt idx="295">
                  <c:v>2.105</c:v>
                </c:pt>
                <c:pt idx="296">
                  <c:v>1.819</c:v>
                </c:pt>
                <c:pt idx="297">
                  <c:v>-1.12</c:v>
                </c:pt>
                <c:pt idx="298">
                  <c:v>0.243</c:v>
                </c:pt>
                <c:pt idx="299">
                  <c:v>0.382</c:v>
                </c:pt>
              </c:numCache>
            </c:numRef>
          </c:xVal>
          <c:yVal>
            <c:numRef>
              <c:f>Sheet1!$C$2:$C$301</c:f>
              <c:numCache>
                <c:formatCode>General</c:formatCode>
                <c:ptCount val="300"/>
                <c:pt idx="0">
                  <c:v>3.5</c:v>
                </c:pt>
                <c:pt idx="1">
                  <c:v>3.5</c:v>
                </c:pt>
                <c:pt idx="2">
                  <c:v>3.5</c:v>
                </c:pt>
                <c:pt idx="3">
                  <c:v>3.5</c:v>
                </c:pt>
                <c:pt idx="4">
                  <c:v>3.5</c:v>
                </c:pt>
                <c:pt idx="5">
                  <c:v>3.5</c:v>
                </c:pt>
                <c:pt idx="6">
                  <c:v>3.5</c:v>
                </c:pt>
                <c:pt idx="7">
                  <c:v>3.5</c:v>
                </c:pt>
                <c:pt idx="8">
                  <c:v>3.5</c:v>
                </c:pt>
                <c:pt idx="9">
                  <c:v>3.5</c:v>
                </c:pt>
                <c:pt idx="10">
                  <c:v>3.5</c:v>
                </c:pt>
                <c:pt idx="11">
                  <c:v>3.5</c:v>
                </c:pt>
                <c:pt idx="12">
                  <c:v>3.5</c:v>
                </c:pt>
                <c:pt idx="13">
                  <c:v>3.5</c:v>
                </c:pt>
                <c:pt idx="14">
                  <c:v>3.5</c:v>
                </c:pt>
                <c:pt idx="15">
                  <c:v>3.5</c:v>
                </c:pt>
                <c:pt idx="16">
                  <c:v>3.5</c:v>
                </c:pt>
                <c:pt idx="17">
                  <c:v>3.5</c:v>
                </c:pt>
                <c:pt idx="18">
                  <c:v>3.5</c:v>
                </c:pt>
                <c:pt idx="19">
                  <c:v>3.5</c:v>
                </c:pt>
                <c:pt idx="20">
                  <c:v>3.5</c:v>
                </c:pt>
                <c:pt idx="21">
                  <c:v>3.5</c:v>
                </c:pt>
                <c:pt idx="22">
                  <c:v>3.5</c:v>
                </c:pt>
                <c:pt idx="23">
                  <c:v>3.5</c:v>
                </c:pt>
                <c:pt idx="24">
                  <c:v>3.5</c:v>
                </c:pt>
                <c:pt idx="25">
                  <c:v>3.5</c:v>
                </c:pt>
                <c:pt idx="26">
                  <c:v>3.5</c:v>
                </c:pt>
                <c:pt idx="27">
                  <c:v>3.5</c:v>
                </c:pt>
                <c:pt idx="28">
                  <c:v>3.5</c:v>
                </c:pt>
                <c:pt idx="29">
                  <c:v>3.5</c:v>
                </c:pt>
                <c:pt idx="30">
                  <c:v>3.5</c:v>
                </c:pt>
                <c:pt idx="31">
                  <c:v>3.5</c:v>
                </c:pt>
                <c:pt idx="32">
                  <c:v>3.5</c:v>
                </c:pt>
                <c:pt idx="33">
                  <c:v>3.5</c:v>
                </c:pt>
                <c:pt idx="34">
                  <c:v>3.5</c:v>
                </c:pt>
                <c:pt idx="35">
                  <c:v>3.5</c:v>
                </c:pt>
                <c:pt idx="36">
                  <c:v>3.5</c:v>
                </c:pt>
                <c:pt idx="37">
                  <c:v>3.5</c:v>
                </c:pt>
                <c:pt idx="38">
                  <c:v>3.5</c:v>
                </c:pt>
                <c:pt idx="39">
                  <c:v>3.5</c:v>
                </c:pt>
                <c:pt idx="40">
                  <c:v>3.5</c:v>
                </c:pt>
                <c:pt idx="41">
                  <c:v>3.5</c:v>
                </c:pt>
                <c:pt idx="42">
                  <c:v>3.5</c:v>
                </c:pt>
                <c:pt idx="43">
                  <c:v>3.5</c:v>
                </c:pt>
                <c:pt idx="44">
                  <c:v>3.5</c:v>
                </c:pt>
                <c:pt idx="45">
                  <c:v>3.5</c:v>
                </c:pt>
                <c:pt idx="46">
                  <c:v>3.5</c:v>
                </c:pt>
                <c:pt idx="47">
                  <c:v>3.5</c:v>
                </c:pt>
                <c:pt idx="48">
                  <c:v>3.5</c:v>
                </c:pt>
                <c:pt idx="49">
                  <c:v>3.5</c:v>
                </c:pt>
                <c:pt idx="50">
                  <c:v>3.5</c:v>
                </c:pt>
                <c:pt idx="51">
                  <c:v>3.5</c:v>
                </c:pt>
                <c:pt idx="52">
                  <c:v>3.5</c:v>
                </c:pt>
                <c:pt idx="53">
                  <c:v>3.5</c:v>
                </c:pt>
                <c:pt idx="54">
                  <c:v>3.5</c:v>
                </c:pt>
                <c:pt idx="55">
                  <c:v>3.5</c:v>
                </c:pt>
                <c:pt idx="56">
                  <c:v>3.5</c:v>
                </c:pt>
                <c:pt idx="57">
                  <c:v>3.5</c:v>
                </c:pt>
                <c:pt idx="58">
                  <c:v>3.5</c:v>
                </c:pt>
                <c:pt idx="59">
                  <c:v>3.5</c:v>
                </c:pt>
                <c:pt idx="60">
                  <c:v>3.5</c:v>
                </c:pt>
                <c:pt idx="61">
                  <c:v>3.5</c:v>
                </c:pt>
                <c:pt idx="62">
                  <c:v>3.5</c:v>
                </c:pt>
                <c:pt idx="63">
                  <c:v>3.5</c:v>
                </c:pt>
                <c:pt idx="64">
                  <c:v>3.5</c:v>
                </c:pt>
                <c:pt idx="65">
                  <c:v>3.5</c:v>
                </c:pt>
                <c:pt idx="66">
                  <c:v>3.5</c:v>
                </c:pt>
                <c:pt idx="67">
                  <c:v>3.5</c:v>
                </c:pt>
                <c:pt idx="68">
                  <c:v>3.5</c:v>
                </c:pt>
                <c:pt idx="69">
                  <c:v>3.5</c:v>
                </c:pt>
                <c:pt idx="70">
                  <c:v>3.5</c:v>
                </c:pt>
                <c:pt idx="71">
                  <c:v>3.5</c:v>
                </c:pt>
                <c:pt idx="72">
                  <c:v>3.5</c:v>
                </c:pt>
                <c:pt idx="73">
                  <c:v>3.5</c:v>
                </c:pt>
                <c:pt idx="74">
                  <c:v>3.5</c:v>
                </c:pt>
                <c:pt idx="75">
                  <c:v>3.5</c:v>
                </c:pt>
                <c:pt idx="76">
                  <c:v>3.5</c:v>
                </c:pt>
                <c:pt idx="77">
                  <c:v>3.5</c:v>
                </c:pt>
                <c:pt idx="78">
                  <c:v>3.5</c:v>
                </c:pt>
                <c:pt idx="79">
                  <c:v>3.5</c:v>
                </c:pt>
                <c:pt idx="80">
                  <c:v>3.5</c:v>
                </c:pt>
                <c:pt idx="81">
                  <c:v>3.5</c:v>
                </c:pt>
                <c:pt idx="82">
                  <c:v>3.5</c:v>
                </c:pt>
                <c:pt idx="83">
                  <c:v>3.5</c:v>
                </c:pt>
                <c:pt idx="84">
                  <c:v>3.5</c:v>
                </c:pt>
                <c:pt idx="85">
                  <c:v>3.5</c:v>
                </c:pt>
                <c:pt idx="86">
                  <c:v>3.5</c:v>
                </c:pt>
                <c:pt idx="87">
                  <c:v>3.5</c:v>
                </c:pt>
                <c:pt idx="88">
                  <c:v>3.5</c:v>
                </c:pt>
                <c:pt idx="89">
                  <c:v>3.5</c:v>
                </c:pt>
                <c:pt idx="90">
                  <c:v>3.5</c:v>
                </c:pt>
                <c:pt idx="91">
                  <c:v>3.5</c:v>
                </c:pt>
                <c:pt idx="92">
                  <c:v>3.5</c:v>
                </c:pt>
                <c:pt idx="93">
                  <c:v>3.5</c:v>
                </c:pt>
                <c:pt idx="94">
                  <c:v>3.5</c:v>
                </c:pt>
                <c:pt idx="95">
                  <c:v>3.5</c:v>
                </c:pt>
                <c:pt idx="96">
                  <c:v>3.5</c:v>
                </c:pt>
                <c:pt idx="97">
                  <c:v>3.5</c:v>
                </c:pt>
                <c:pt idx="98">
                  <c:v>3.5</c:v>
                </c:pt>
                <c:pt idx="99">
                  <c:v>3.5</c:v>
                </c:pt>
                <c:pt idx="100">
                  <c:v>3.5</c:v>
                </c:pt>
                <c:pt idx="101">
                  <c:v>3.5</c:v>
                </c:pt>
                <c:pt idx="102">
                  <c:v>3.5</c:v>
                </c:pt>
                <c:pt idx="103">
                  <c:v>3.5</c:v>
                </c:pt>
                <c:pt idx="104">
                  <c:v>3.5</c:v>
                </c:pt>
                <c:pt idx="105">
                  <c:v>3.5</c:v>
                </c:pt>
                <c:pt idx="106">
                  <c:v>3.5</c:v>
                </c:pt>
                <c:pt idx="107">
                  <c:v>3.5</c:v>
                </c:pt>
                <c:pt idx="108">
                  <c:v>3.5</c:v>
                </c:pt>
                <c:pt idx="109">
                  <c:v>3.5</c:v>
                </c:pt>
                <c:pt idx="110">
                  <c:v>3.5</c:v>
                </c:pt>
                <c:pt idx="111">
                  <c:v>3.5</c:v>
                </c:pt>
                <c:pt idx="112">
                  <c:v>3.5</c:v>
                </c:pt>
                <c:pt idx="113">
                  <c:v>3.5</c:v>
                </c:pt>
                <c:pt idx="114">
                  <c:v>3.5</c:v>
                </c:pt>
                <c:pt idx="115">
                  <c:v>3.5</c:v>
                </c:pt>
                <c:pt idx="116">
                  <c:v>3.5</c:v>
                </c:pt>
                <c:pt idx="117">
                  <c:v>3.5</c:v>
                </c:pt>
                <c:pt idx="118">
                  <c:v>3.5</c:v>
                </c:pt>
                <c:pt idx="119">
                  <c:v>3.5</c:v>
                </c:pt>
                <c:pt idx="120">
                  <c:v>3.5</c:v>
                </c:pt>
                <c:pt idx="121">
                  <c:v>3.5</c:v>
                </c:pt>
                <c:pt idx="122">
                  <c:v>3.5</c:v>
                </c:pt>
                <c:pt idx="123">
                  <c:v>3.5</c:v>
                </c:pt>
                <c:pt idx="124">
                  <c:v>3.5</c:v>
                </c:pt>
                <c:pt idx="125">
                  <c:v>3.5</c:v>
                </c:pt>
                <c:pt idx="126">
                  <c:v>3.5</c:v>
                </c:pt>
                <c:pt idx="127">
                  <c:v>3.5</c:v>
                </c:pt>
                <c:pt idx="128">
                  <c:v>3.5</c:v>
                </c:pt>
                <c:pt idx="129">
                  <c:v>3.5</c:v>
                </c:pt>
                <c:pt idx="130">
                  <c:v>3.5</c:v>
                </c:pt>
                <c:pt idx="131">
                  <c:v>3.5</c:v>
                </c:pt>
                <c:pt idx="132">
                  <c:v>3.5</c:v>
                </c:pt>
                <c:pt idx="133">
                  <c:v>3.5</c:v>
                </c:pt>
                <c:pt idx="134">
                  <c:v>3.5</c:v>
                </c:pt>
                <c:pt idx="135">
                  <c:v>3.5</c:v>
                </c:pt>
                <c:pt idx="136">
                  <c:v>3.5</c:v>
                </c:pt>
                <c:pt idx="137">
                  <c:v>3.5</c:v>
                </c:pt>
                <c:pt idx="138">
                  <c:v>3.5</c:v>
                </c:pt>
                <c:pt idx="139">
                  <c:v>3.5</c:v>
                </c:pt>
                <c:pt idx="140">
                  <c:v>3.5</c:v>
                </c:pt>
                <c:pt idx="141">
                  <c:v>3.5</c:v>
                </c:pt>
                <c:pt idx="142">
                  <c:v>3.5</c:v>
                </c:pt>
                <c:pt idx="143">
                  <c:v>3.5</c:v>
                </c:pt>
                <c:pt idx="144">
                  <c:v>3.5</c:v>
                </c:pt>
                <c:pt idx="145">
                  <c:v>3.5</c:v>
                </c:pt>
                <c:pt idx="146">
                  <c:v>3.5</c:v>
                </c:pt>
                <c:pt idx="147">
                  <c:v>3.5</c:v>
                </c:pt>
                <c:pt idx="148">
                  <c:v>3.5</c:v>
                </c:pt>
                <c:pt idx="149">
                  <c:v>3.5</c:v>
                </c:pt>
                <c:pt idx="150">
                  <c:v>3.5</c:v>
                </c:pt>
                <c:pt idx="151">
                  <c:v>3.5</c:v>
                </c:pt>
                <c:pt idx="152">
                  <c:v>3.5</c:v>
                </c:pt>
                <c:pt idx="153">
                  <c:v>3.5</c:v>
                </c:pt>
                <c:pt idx="154">
                  <c:v>3.5</c:v>
                </c:pt>
                <c:pt idx="155">
                  <c:v>3.5</c:v>
                </c:pt>
                <c:pt idx="156">
                  <c:v>3.5</c:v>
                </c:pt>
                <c:pt idx="157">
                  <c:v>3.5</c:v>
                </c:pt>
                <c:pt idx="158">
                  <c:v>3.5</c:v>
                </c:pt>
                <c:pt idx="159">
                  <c:v>3.5</c:v>
                </c:pt>
                <c:pt idx="160">
                  <c:v>3.5</c:v>
                </c:pt>
                <c:pt idx="161">
                  <c:v>3.5</c:v>
                </c:pt>
                <c:pt idx="162">
                  <c:v>3.5</c:v>
                </c:pt>
                <c:pt idx="163">
                  <c:v>3.5</c:v>
                </c:pt>
                <c:pt idx="164">
                  <c:v>3.5</c:v>
                </c:pt>
                <c:pt idx="165">
                  <c:v>3.5</c:v>
                </c:pt>
                <c:pt idx="166">
                  <c:v>3.5</c:v>
                </c:pt>
                <c:pt idx="167">
                  <c:v>3.5</c:v>
                </c:pt>
                <c:pt idx="168">
                  <c:v>3.5</c:v>
                </c:pt>
                <c:pt idx="169">
                  <c:v>3.5</c:v>
                </c:pt>
                <c:pt idx="170">
                  <c:v>3.5</c:v>
                </c:pt>
                <c:pt idx="171">
                  <c:v>3.5</c:v>
                </c:pt>
                <c:pt idx="172">
                  <c:v>3.5</c:v>
                </c:pt>
                <c:pt idx="173">
                  <c:v>3.5</c:v>
                </c:pt>
                <c:pt idx="174">
                  <c:v>3.5</c:v>
                </c:pt>
                <c:pt idx="175">
                  <c:v>3.5</c:v>
                </c:pt>
                <c:pt idx="176">
                  <c:v>3.5</c:v>
                </c:pt>
                <c:pt idx="177">
                  <c:v>3.5</c:v>
                </c:pt>
                <c:pt idx="178">
                  <c:v>3.5</c:v>
                </c:pt>
                <c:pt idx="179">
                  <c:v>3.5</c:v>
                </c:pt>
                <c:pt idx="180">
                  <c:v>3.5</c:v>
                </c:pt>
                <c:pt idx="181">
                  <c:v>3.5</c:v>
                </c:pt>
                <c:pt idx="182">
                  <c:v>3.5</c:v>
                </c:pt>
                <c:pt idx="183">
                  <c:v>3.5</c:v>
                </c:pt>
                <c:pt idx="184">
                  <c:v>3.5</c:v>
                </c:pt>
                <c:pt idx="185">
                  <c:v>3.5</c:v>
                </c:pt>
                <c:pt idx="186">
                  <c:v>3.5</c:v>
                </c:pt>
                <c:pt idx="187">
                  <c:v>3.5</c:v>
                </c:pt>
                <c:pt idx="188">
                  <c:v>3.5</c:v>
                </c:pt>
                <c:pt idx="189">
                  <c:v>3.5</c:v>
                </c:pt>
                <c:pt idx="190">
                  <c:v>3.5</c:v>
                </c:pt>
                <c:pt idx="191">
                  <c:v>3.5</c:v>
                </c:pt>
                <c:pt idx="192">
                  <c:v>3.5</c:v>
                </c:pt>
                <c:pt idx="193">
                  <c:v>3.5</c:v>
                </c:pt>
                <c:pt idx="194">
                  <c:v>3.5</c:v>
                </c:pt>
                <c:pt idx="195">
                  <c:v>3.5</c:v>
                </c:pt>
                <c:pt idx="196">
                  <c:v>3.5</c:v>
                </c:pt>
                <c:pt idx="197">
                  <c:v>3.5</c:v>
                </c:pt>
                <c:pt idx="198">
                  <c:v>3.5</c:v>
                </c:pt>
                <c:pt idx="199">
                  <c:v>3.5</c:v>
                </c:pt>
                <c:pt idx="200">
                  <c:v>3.5</c:v>
                </c:pt>
                <c:pt idx="201">
                  <c:v>3.5</c:v>
                </c:pt>
                <c:pt idx="202">
                  <c:v>3.5</c:v>
                </c:pt>
                <c:pt idx="203">
                  <c:v>3.5</c:v>
                </c:pt>
                <c:pt idx="204">
                  <c:v>3.5</c:v>
                </c:pt>
                <c:pt idx="205">
                  <c:v>3.5</c:v>
                </c:pt>
                <c:pt idx="206">
                  <c:v>3.5</c:v>
                </c:pt>
                <c:pt idx="207">
                  <c:v>3.5</c:v>
                </c:pt>
                <c:pt idx="208">
                  <c:v>3.5</c:v>
                </c:pt>
                <c:pt idx="209">
                  <c:v>3.5</c:v>
                </c:pt>
                <c:pt idx="210">
                  <c:v>3.5</c:v>
                </c:pt>
                <c:pt idx="211">
                  <c:v>3.5</c:v>
                </c:pt>
                <c:pt idx="212">
                  <c:v>3.5</c:v>
                </c:pt>
                <c:pt idx="213">
                  <c:v>3.5</c:v>
                </c:pt>
                <c:pt idx="214">
                  <c:v>3.5</c:v>
                </c:pt>
                <c:pt idx="215">
                  <c:v>3.5</c:v>
                </c:pt>
                <c:pt idx="216">
                  <c:v>3.5</c:v>
                </c:pt>
                <c:pt idx="217">
                  <c:v>3.5</c:v>
                </c:pt>
                <c:pt idx="218">
                  <c:v>3.5</c:v>
                </c:pt>
                <c:pt idx="219">
                  <c:v>3.5</c:v>
                </c:pt>
                <c:pt idx="220">
                  <c:v>3.5</c:v>
                </c:pt>
                <c:pt idx="221">
                  <c:v>3.5</c:v>
                </c:pt>
                <c:pt idx="222">
                  <c:v>3.5</c:v>
                </c:pt>
                <c:pt idx="223">
                  <c:v>3.5</c:v>
                </c:pt>
                <c:pt idx="224">
                  <c:v>3.5</c:v>
                </c:pt>
                <c:pt idx="225">
                  <c:v>3.5</c:v>
                </c:pt>
                <c:pt idx="226">
                  <c:v>3.5</c:v>
                </c:pt>
                <c:pt idx="227">
                  <c:v>3.5</c:v>
                </c:pt>
                <c:pt idx="228">
                  <c:v>3.5</c:v>
                </c:pt>
                <c:pt idx="229">
                  <c:v>3.5</c:v>
                </c:pt>
                <c:pt idx="230">
                  <c:v>3.5</c:v>
                </c:pt>
                <c:pt idx="231">
                  <c:v>3.5</c:v>
                </c:pt>
                <c:pt idx="232">
                  <c:v>3.5</c:v>
                </c:pt>
                <c:pt idx="233">
                  <c:v>3.5</c:v>
                </c:pt>
                <c:pt idx="234">
                  <c:v>3.5</c:v>
                </c:pt>
                <c:pt idx="235">
                  <c:v>3.5</c:v>
                </c:pt>
                <c:pt idx="236">
                  <c:v>3.5</c:v>
                </c:pt>
                <c:pt idx="237">
                  <c:v>3.5</c:v>
                </c:pt>
                <c:pt idx="238">
                  <c:v>3.5</c:v>
                </c:pt>
                <c:pt idx="239">
                  <c:v>3.5</c:v>
                </c:pt>
                <c:pt idx="240">
                  <c:v>3.5</c:v>
                </c:pt>
                <c:pt idx="241">
                  <c:v>3.5</c:v>
                </c:pt>
                <c:pt idx="242">
                  <c:v>3.5</c:v>
                </c:pt>
                <c:pt idx="243">
                  <c:v>3.5</c:v>
                </c:pt>
                <c:pt idx="244">
                  <c:v>3.5</c:v>
                </c:pt>
                <c:pt idx="245">
                  <c:v>3.5</c:v>
                </c:pt>
                <c:pt idx="246">
                  <c:v>3.5</c:v>
                </c:pt>
                <c:pt idx="247">
                  <c:v>3.5</c:v>
                </c:pt>
                <c:pt idx="248">
                  <c:v>3.5</c:v>
                </c:pt>
                <c:pt idx="249">
                  <c:v>3.5</c:v>
                </c:pt>
                <c:pt idx="250">
                  <c:v>3.5</c:v>
                </c:pt>
                <c:pt idx="251">
                  <c:v>3.5</c:v>
                </c:pt>
                <c:pt idx="252">
                  <c:v>3.5</c:v>
                </c:pt>
                <c:pt idx="253">
                  <c:v>3.5</c:v>
                </c:pt>
                <c:pt idx="254">
                  <c:v>3.5</c:v>
                </c:pt>
                <c:pt idx="255">
                  <c:v>3.5</c:v>
                </c:pt>
                <c:pt idx="256">
                  <c:v>3.5</c:v>
                </c:pt>
                <c:pt idx="257">
                  <c:v>3.5</c:v>
                </c:pt>
                <c:pt idx="258">
                  <c:v>3.5</c:v>
                </c:pt>
                <c:pt idx="259">
                  <c:v>3.5</c:v>
                </c:pt>
                <c:pt idx="260">
                  <c:v>3.5</c:v>
                </c:pt>
                <c:pt idx="261">
                  <c:v>3.5</c:v>
                </c:pt>
                <c:pt idx="262">
                  <c:v>3.5</c:v>
                </c:pt>
                <c:pt idx="263">
                  <c:v>3.5</c:v>
                </c:pt>
                <c:pt idx="264">
                  <c:v>3.5</c:v>
                </c:pt>
                <c:pt idx="265">
                  <c:v>3.5</c:v>
                </c:pt>
                <c:pt idx="266">
                  <c:v>3.5</c:v>
                </c:pt>
                <c:pt idx="267">
                  <c:v>3.5</c:v>
                </c:pt>
                <c:pt idx="268">
                  <c:v>3.5</c:v>
                </c:pt>
                <c:pt idx="269">
                  <c:v>3.5</c:v>
                </c:pt>
                <c:pt idx="270">
                  <c:v>3.5</c:v>
                </c:pt>
                <c:pt idx="271">
                  <c:v>3.5</c:v>
                </c:pt>
                <c:pt idx="272">
                  <c:v>3.5</c:v>
                </c:pt>
                <c:pt idx="273">
                  <c:v>3.5</c:v>
                </c:pt>
                <c:pt idx="274">
                  <c:v>3.5</c:v>
                </c:pt>
                <c:pt idx="275">
                  <c:v>3.5</c:v>
                </c:pt>
                <c:pt idx="276">
                  <c:v>3.5</c:v>
                </c:pt>
                <c:pt idx="277">
                  <c:v>3.5</c:v>
                </c:pt>
                <c:pt idx="278">
                  <c:v>3.5</c:v>
                </c:pt>
                <c:pt idx="279">
                  <c:v>3.5</c:v>
                </c:pt>
                <c:pt idx="280">
                  <c:v>3.5</c:v>
                </c:pt>
                <c:pt idx="281">
                  <c:v>3.5</c:v>
                </c:pt>
                <c:pt idx="282">
                  <c:v>3.5</c:v>
                </c:pt>
                <c:pt idx="283">
                  <c:v>3.5</c:v>
                </c:pt>
                <c:pt idx="284">
                  <c:v>3.5</c:v>
                </c:pt>
                <c:pt idx="285">
                  <c:v>3.5</c:v>
                </c:pt>
                <c:pt idx="286">
                  <c:v>3.5</c:v>
                </c:pt>
                <c:pt idx="287">
                  <c:v>3.5</c:v>
                </c:pt>
                <c:pt idx="288">
                  <c:v>3.5</c:v>
                </c:pt>
                <c:pt idx="289">
                  <c:v>3.5</c:v>
                </c:pt>
                <c:pt idx="290">
                  <c:v>3.5</c:v>
                </c:pt>
                <c:pt idx="291">
                  <c:v>3.5</c:v>
                </c:pt>
                <c:pt idx="292">
                  <c:v>3.5</c:v>
                </c:pt>
                <c:pt idx="293">
                  <c:v>3.5</c:v>
                </c:pt>
                <c:pt idx="294">
                  <c:v>3.5</c:v>
                </c:pt>
                <c:pt idx="295">
                  <c:v>3.5</c:v>
                </c:pt>
                <c:pt idx="296">
                  <c:v>3.5</c:v>
                </c:pt>
                <c:pt idx="297">
                  <c:v>3.5</c:v>
                </c:pt>
                <c:pt idx="298">
                  <c:v>3.5</c:v>
                </c:pt>
                <c:pt idx="299">
                  <c:v>3.5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4"/>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C6F7F"/>
                </a:solidFill>
                <a:latin typeface="Arial"/>
              </a:defRPr>
            </a:pPr>
            <a:endParaRPr lang="en-US"/>
          </a:p>
        </c:txPr>
        <c:crossAx val="2094734552"/>
        <c:crosses val="min"/>
        <c:auto val="1"/>
        <c:lblAlgn val="ctr"/>
        <c:noMultiLvlLbl val="1"/>
        <c:majorUnit val="2"/>
      </c:valAx>
      <c:valAx>
        <c:axId val="2094734552"/>
        <c:scaling>
          <c:orientation val="minMax"/>
          <c:max val="20"/>
          <c:min val="-12"/>
        </c:scaling>
        <c:delete val="0"/>
        <c:axPos val="l"/>
        <c:majorGridlines>
          <c:spPr>
            <a:ln w="6350" cap="flat">
              <a:solidFill>
                <a:srgbClr val="E6E8E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C6F7F"/>
                </a:solidFill>
                <a:latin typeface="Arial"/>
              </a:defRPr>
            </a:pPr>
            <a:endParaRPr lang="en-US"/>
          </a:p>
        </c:txPr>
        <c:crossAx val="2094734554"/>
        <c:crosses val="min"/>
        <c:crossBetween val="midCat"/>
        <c:majorUnit val="8"/>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一次効果 Si</c:v>
                </c:pt>
              </c:strCache>
            </c:strRef>
          </c:tx>
          <c:spPr>
            <a:solidFill>
              <a:srgbClr val="4A4E69"/>
            </a:solidFill>
            <a:effectLst/>
          </c:spPr>
          <c:invertIfNegative val="0"/>
          <c:dLbls>
            <c:numFmt formatCode="0.000" sourceLinked="0"/>
            <c:txPr>
              <a:bodyPr/>
              <a:lstStyle/>
              <a:p>
                <a:pPr>
                  <a:defRPr b="0" i="0" strike="noStrike" sz="1200" u="none">
                    <a:solidFill>
                      <a:srgbClr val="22223B"/>
                    </a:solidFill>
                    <a:latin typeface="BIZ UDGothic"/>
                  </a:defRPr>
                </a:pPr>
              </a:p>
            </c:txPr>
            <c:showLegendKey val="0"/>
            <c:showVal val="1"/>
            <c:showCatName val="0"/>
            <c:showSerName val="0"/>
            <c:showPercent val="0"/>
            <c:showBubbleSize val="0"/>
            <c:showLeaderLines val="0"/>
          </c:dLbls>
          <c:cat>
            <c:multiLvlStrRef>
              <c:f>Sheet1!$A$2:$A$4</c:f>
              <c:multiLvlStrCache>
                <c:ptCount val="3"/>
                <c:lvl>
                  <c:pt idx="0">
                    <c:v>X1</c:v>
                  </c:pt>
                  <c:pt idx="1">
                    <c:v>X2</c:v>
                  </c:pt>
                  <c:pt idx="2">
                    <c:v>X3</c:v>
                  </c:pt>
                </c:lvl>
              </c:multiLvlStrCache>
            </c:multiLvlStrRef>
          </c:cat>
          <c:val>
            <c:numRef>
              <c:f>Sheet1!$B$2:$B$4</c:f>
              <c:numCache>
                <c:formatCode>General</c:formatCode>
                <c:ptCount val="3"/>
                <c:pt idx="0">
                  <c:v>0.314</c:v>
                </c:pt>
                <c:pt idx="1">
                  <c:v>0.442</c:v>
                </c:pt>
                <c:pt idx="2">
                  <c:v>0</c:v>
                </c:pt>
              </c:numCache>
            </c:numRef>
          </c:val>
        </c:ser>
        <c:ser>
          <c:idx val="1"/>
          <c:order val="1"/>
          <c:tx>
            <c:strRef>
              <c:f>Sheet1!$C$1</c:f>
              <c:strCache>
                <c:ptCount val="1"/>
                <c:pt idx="0">
                  <c:v>総合効果 STi</c:v>
                </c:pt>
              </c:strCache>
            </c:strRef>
          </c:tx>
          <c:spPr>
            <a:solidFill>
              <a:srgbClr val="E76F51"/>
            </a:solidFill>
            <a:effectLst/>
          </c:spPr>
          <c:invertIfNegative val="0"/>
          <c:dLbls>
            <c:numFmt formatCode="0.000" sourceLinked="0"/>
            <c:txPr>
              <a:bodyPr/>
              <a:lstStyle/>
              <a:p>
                <a:pPr>
                  <a:defRPr b="0" i="0" strike="noStrike" sz="1200" u="none">
                    <a:solidFill>
                      <a:srgbClr val="22223B"/>
                    </a:solidFill>
                    <a:latin typeface="BIZ UDGothic"/>
                  </a:defRPr>
                </a:pPr>
              </a:p>
            </c:txPr>
            <c:showLegendKey val="0"/>
            <c:showVal val="1"/>
            <c:showCatName val="0"/>
            <c:showSerName val="0"/>
            <c:showPercent val="0"/>
            <c:showBubbleSize val="0"/>
            <c:showLeaderLines val="0"/>
          </c:dLbls>
          <c:cat>
            <c:multiLvlStrRef>
              <c:f>Sheet1!$A$2:$A$4</c:f>
              <c:multiLvlStrCache>
                <c:ptCount val="3"/>
                <c:lvl>
                  <c:pt idx="0">
                    <c:v>X1</c:v>
                  </c:pt>
                  <c:pt idx="1">
                    <c:v>X2</c:v>
                  </c:pt>
                  <c:pt idx="2">
                    <c:v>X3</c:v>
                  </c:pt>
                </c:lvl>
              </c:multiLvlStrCache>
            </c:multiLvlStrRef>
          </c:cat>
          <c:val>
            <c:numRef>
              <c:f>Sheet1!$C$2:$C$4</c:f>
              <c:numCache>
                <c:formatCode>General</c:formatCode>
                <c:ptCount val="3"/>
                <c:pt idx="0">
                  <c:v>0.558</c:v>
                </c:pt>
                <c:pt idx="1">
                  <c:v>0.442</c:v>
                </c:pt>
                <c:pt idx="2">
                  <c:v>0.244</c:v>
                </c:pt>
              </c:numCache>
            </c:numRef>
          </c:val>
        </c:ser>
        <c:dLbls>
          <c:numFmt formatCode="0.000" sourceLinked="0"/>
          <c:txPr>
            <a:bodyPr/>
            <a:lstStyle/>
            <a:p>
              <a:pPr>
                <a:defRPr b="0" i="0" strike="noStrike" sz="1200" u="none">
                  <a:solidFill>
                    <a:srgbClr val="22223B"/>
                  </a:solidFill>
                  <a:latin typeface="BIZ UD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2223B"/>
                </a:solidFill>
                <a:latin typeface="Arial"/>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E6E8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6F7F"/>
                </a:solidFill>
                <a:latin typeface="Arial"/>
              </a:defRPr>
            </a:pPr>
            <a:endParaRPr lang="en-US"/>
          </a:p>
        </c:txPr>
        <c:crossAx val="2094734554"/>
        <c:crosses val="autoZero"/>
        <c:crossBetween val="between"/>
        <c:majorUnit val="0.1"/>
      </c:valAx>
      <c:spPr>
        <a:noFill/>
        <a:ln>
          <a:noFill/>
        </a:ln>
        <a:effectLst/>
      </c:spPr>
    </c:plotArea>
    <c:legend>
      <c:legendPos val="t"/>
      <c:overlay val="0"/>
      <c:txPr>
        <a:bodyPr/>
        <a:lstStyle/>
        <a:p>
          <a:pPr>
            <a:defRPr sz="1200">
              <a:solidFill>
                <a:srgbClr val="4A4E69"/>
              </a:solidFill>
              <a:latin typeface="BIZ UDGothic"/>
              <a:cs typeface="BIZ UDGothic"/>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u2</c:v>
                </c:pt>
              </c:strCache>
            </c:strRef>
          </c:tx>
          <c:spPr>
            <a:solidFill>
              <a:srgbClr val="8A8FA3"/>
            </a:solidFill>
            <a:ln>
              <a:noFill/>
            </a:ln>
            <a:effectLst/>
          </c:spPr>
          <c:marker>
            <c:symbol val="circle"/>
            <c:size val="4"/>
            <c:spPr>
              <a:solidFill>
                <a:srgbClr val="8A8FA3"/>
              </a:solidFill>
              <a:ln w="9525" cap="flat">
                <a:solidFill>
                  <a:srgbClr val="8A8FA3"/>
                </a:solidFill>
                <a:prstDash val="solid"/>
                <a:round/>
              </a:ln>
              <a:effectLst/>
            </c:spPr>
          </c:marker>
          <c:xVal>
            <c:numRef>
              <c:f>Sheet1!$A$2:$A$257</c:f>
              <c:numCache>
                <c:formatCode>General</c:formatCode>
                <c:ptCount val="256"/>
                <c:pt idx="0">
                  <c:v>0.2144</c:v>
                </c:pt>
                <c:pt idx="1">
                  <c:v>0.298</c:v>
                </c:pt>
                <c:pt idx="2">
                  <c:v>0.2008</c:v>
                </c:pt>
                <c:pt idx="3">
                  <c:v>0.9303</c:v>
                </c:pt>
                <c:pt idx="4">
                  <c:v>0.5365</c:v>
                </c:pt>
                <c:pt idx="5">
                  <c:v>0.6886</c:v>
                </c:pt>
                <c:pt idx="6">
                  <c:v>0.5483</c:v>
                </c:pt>
                <c:pt idx="7">
                  <c:v>0.6048</c:v>
                </c:pt>
                <c:pt idx="8">
                  <c:v>0.4422</c:v>
                </c:pt>
                <c:pt idx="9">
                  <c:v>0.3921</c:v>
                </c:pt>
                <c:pt idx="10">
                  <c:v>0.8597</c:v>
                </c:pt>
                <c:pt idx="11">
                  <c:v>0.2637</c:v>
                </c:pt>
                <c:pt idx="12">
                  <c:v>0.4244</c:v>
                </c:pt>
                <c:pt idx="13">
                  <c:v>0.7566</c:v>
                </c:pt>
                <c:pt idx="14">
                  <c:v>0.0434</c:v>
                </c:pt>
                <c:pt idx="15">
                  <c:v>0.1821</c:v>
                </c:pt>
                <c:pt idx="16">
                  <c:v>0.9477</c:v>
                </c:pt>
                <c:pt idx="17">
                  <c:v>0.1734</c:v>
                </c:pt>
                <c:pt idx="18">
                  <c:v>0.098</c:v>
                </c:pt>
                <c:pt idx="19">
                  <c:v>0.4074</c:v>
                </c:pt>
                <c:pt idx="20">
                  <c:v>0.0878</c:v>
                </c:pt>
                <c:pt idx="21">
                  <c:v>0.0981</c:v>
                </c:pt>
                <c:pt idx="22">
                  <c:v>0.8196</c:v>
                </c:pt>
                <c:pt idx="23">
                  <c:v>0.581</c:v>
                </c:pt>
                <c:pt idx="24">
                  <c:v>0.5944</c:v>
                </c:pt>
                <c:pt idx="25">
                  <c:v>0.9801</c:v>
                </c:pt>
                <c:pt idx="26">
                  <c:v>0.3238</c:v>
                </c:pt>
                <c:pt idx="27">
                  <c:v>0.8888</c:v>
                </c:pt>
                <c:pt idx="28">
                  <c:v>0.7456</c:v>
                </c:pt>
                <c:pt idx="29">
                  <c:v>0.245</c:v>
                </c:pt>
                <c:pt idx="30">
                  <c:v>0.9912</c:v>
                </c:pt>
                <c:pt idx="31">
                  <c:v>0.8823</c:v>
                </c:pt>
                <c:pt idx="32">
                  <c:v>0.1155</c:v>
                </c:pt>
                <c:pt idx="33">
                  <c:v>0.771</c:v>
                </c:pt>
                <c:pt idx="34">
                  <c:v>0.9347</c:v>
                </c:pt>
                <c:pt idx="35">
                  <c:v>0.4644</c:v>
                </c:pt>
                <c:pt idx="36">
                  <c:v>0.0878</c:v>
                </c:pt>
                <c:pt idx="37">
                  <c:v>0.2702</c:v>
                </c:pt>
                <c:pt idx="38">
                  <c:v>0.5128</c:v>
                </c:pt>
                <c:pt idx="39">
                  <c:v>0.2182</c:v>
                </c:pt>
                <c:pt idx="40">
                  <c:v>0.4176</c:v>
                </c:pt>
                <c:pt idx="41">
                  <c:v>0.8942</c:v>
                </c:pt>
                <c:pt idx="42">
                  <c:v>0.6917</c:v>
                </c:pt>
                <c:pt idx="43">
                  <c:v>0.2645</c:v>
                </c:pt>
                <c:pt idx="44">
                  <c:v>0.7893</c:v>
                </c:pt>
                <c:pt idx="45">
                  <c:v>0.6666</c:v>
                </c:pt>
                <c:pt idx="46">
                  <c:v>0.2171</c:v>
                </c:pt>
                <c:pt idx="47">
                  <c:v>0.9048</c:v>
                </c:pt>
                <c:pt idx="48">
                  <c:v>0.1878</c:v>
                </c:pt>
                <c:pt idx="49">
                  <c:v>0.342</c:v>
                </c:pt>
                <c:pt idx="50">
                  <c:v>0.7784</c:v>
                </c:pt>
                <c:pt idx="51">
                  <c:v>0.9604</c:v>
                </c:pt>
                <c:pt idx="52">
                  <c:v>0.4181</c:v>
                </c:pt>
                <c:pt idx="53">
                  <c:v>0.7509</c:v>
                </c:pt>
                <c:pt idx="54">
                  <c:v>0.5975</c:v>
                </c:pt>
                <c:pt idx="55">
                  <c:v>0.3617</c:v>
                </c:pt>
                <c:pt idx="56">
                  <c:v>0.2378</c:v>
                </c:pt>
                <c:pt idx="57">
                  <c:v>0.5001</c:v>
                </c:pt>
                <c:pt idx="58">
                  <c:v>0.1418</c:v>
                </c:pt>
                <c:pt idx="59">
                  <c:v>0.127</c:v>
                </c:pt>
                <c:pt idx="60">
                  <c:v>0.9068</c:v>
                </c:pt>
                <c:pt idx="61">
                  <c:v>0.3401</c:v>
                </c:pt>
                <c:pt idx="62">
                  <c:v>0.9652</c:v>
                </c:pt>
                <c:pt idx="63">
                  <c:v>0.1007</c:v>
                </c:pt>
                <c:pt idx="64">
                  <c:v>0.6294</c:v>
                </c:pt>
                <c:pt idx="65">
                  <c:v>0.7053</c:v>
                </c:pt>
                <c:pt idx="66">
                  <c:v>0.6398</c:v>
                </c:pt>
                <c:pt idx="67">
                  <c:v>0.0274</c:v>
                </c:pt>
                <c:pt idx="68">
                  <c:v>0.7987</c:v>
                </c:pt>
                <c:pt idx="69">
                  <c:v>0.3761</c:v>
                </c:pt>
                <c:pt idx="70">
                  <c:v>0.4242</c:v>
                </c:pt>
                <c:pt idx="71">
                  <c:v>0.0313</c:v>
                </c:pt>
                <c:pt idx="72">
                  <c:v>0.9293</c:v>
                </c:pt>
                <c:pt idx="73">
                  <c:v>0.3477</c:v>
                </c:pt>
                <c:pt idx="74">
                  <c:v>0.8243</c:v>
                </c:pt>
                <c:pt idx="75">
                  <c:v>0.9762</c:v>
                </c:pt>
                <c:pt idx="76">
                  <c:v>0.3293</c:v>
                </c:pt>
                <c:pt idx="77">
                  <c:v>0.4493</c:v>
                </c:pt>
                <c:pt idx="78">
                  <c:v>0.9226</c:v>
                </c:pt>
                <c:pt idx="79">
                  <c:v>0.6515</c:v>
                </c:pt>
                <c:pt idx="80">
                  <c:v>0.9164</c:v>
                </c:pt>
                <c:pt idx="81">
                  <c:v>0.4153</c:v>
                </c:pt>
                <c:pt idx="82">
                  <c:v>0.9049</c:v>
                </c:pt>
                <c:pt idx="83">
                  <c:v>0.0724</c:v>
                </c:pt>
                <c:pt idx="84">
                  <c:v>0.0142</c:v>
                </c:pt>
                <c:pt idx="85">
                  <c:v>0.6846</c:v>
                </c:pt>
                <c:pt idx="86">
                  <c:v>0.1383</c:v>
                </c:pt>
                <c:pt idx="87">
                  <c:v>0.7065</c:v>
                </c:pt>
                <c:pt idx="88">
                  <c:v>0.6667</c:v>
                </c:pt>
                <c:pt idx="89">
                  <c:v>0.3598</c:v>
                </c:pt>
                <c:pt idx="90">
                  <c:v>0.8848</c:v>
                </c:pt>
                <c:pt idx="91">
                  <c:v>0.1529</c:v>
                </c:pt>
                <c:pt idx="92">
                  <c:v>0.9019</c:v>
                </c:pt>
                <c:pt idx="93">
                  <c:v>0.2298</c:v>
                </c:pt>
                <c:pt idx="94">
                  <c:v>0.6309</c:v>
                </c:pt>
                <c:pt idx="95">
                  <c:v>0.6621</c:v>
                </c:pt>
                <c:pt idx="96">
                  <c:v>0.7296</c:v>
                </c:pt>
                <c:pt idx="97">
                  <c:v>0.1613</c:v>
                </c:pt>
                <c:pt idx="98">
                  <c:v>0.2201</c:v>
                </c:pt>
                <c:pt idx="99">
                  <c:v>0.5982</c:v>
                </c:pt>
                <c:pt idx="100">
                  <c:v>0.683</c:v>
                </c:pt>
                <c:pt idx="101">
                  <c:v>0.3522</c:v>
                </c:pt>
                <c:pt idx="102">
                  <c:v>0.0326</c:v>
                </c:pt>
                <c:pt idx="103">
                  <c:v>0.1649</c:v>
                </c:pt>
                <c:pt idx="104">
                  <c:v>0.0475</c:v>
                </c:pt>
                <c:pt idx="105">
                  <c:v>0.9567</c:v>
                </c:pt>
                <c:pt idx="106">
                  <c:v>0.282</c:v>
                </c:pt>
                <c:pt idx="107">
                  <c:v>0.2317</c:v>
                </c:pt>
                <c:pt idx="108">
                  <c:v>0.4598</c:v>
                </c:pt>
                <c:pt idx="109">
                  <c:v>0.8446</c:v>
                </c:pt>
                <c:pt idx="110">
                  <c:v>0.9529</c:v>
                </c:pt>
                <c:pt idx="111">
                  <c:v>0.2353</c:v>
                </c:pt>
                <c:pt idx="112">
                  <c:v>0.3985</c:v>
                </c:pt>
                <c:pt idx="113">
                  <c:v>0.8227</c:v>
                </c:pt>
                <c:pt idx="114">
                  <c:v>0.9659</c:v>
                </c:pt>
                <c:pt idx="115">
                  <c:v>0.9757</c:v>
                </c:pt>
                <c:pt idx="116">
                  <c:v>0.0316</c:v>
                </c:pt>
                <c:pt idx="117">
                  <c:v>0.7881</c:v>
                </c:pt>
                <c:pt idx="118">
                  <c:v>0.5875</c:v>
                </c:pt>
                <c:pt idx="119">
                  <c:v>0.4458</c:v>
                </c:pt>
                <c:pt idx="120">
                  <c:v>0.1723</c:v>
                </c:pt>
                <c:pt idx="121">
                  <c:v>0.1611</c:v>
                </c:pt>
                <c:pt idx="122">
                  <c:v>0.952</c:v>
                </c:pt>
                <c:pt idx="123">
                  <c:v>0.1487</c:v>
                </c:pt>
                <c:pt idx="124">
                  <c:v>0.9801</c:v>
                </c:pt>
                <c:pt idx="125">
                  <c:v>0.6656</c:v>
                </c:pt>
                <c:pt idx="126">
                  <c:v>0.4465</c:v>
                </c:pt>
                <c:pt idx="127">
                  <c:v>0.0409</c:v>
                </c:pt>
                <c:pt idx="128">
                  <c:v>0.1249</c:v>
                </c:pt>
                <c:pt idx="129">
                  <c:v>0.3582</c:v>
                </c:pt>
                <c:pt idx="130">
                  <c:v>0.2422</c:v>
                </c:pt>
                <c:pt idx="131">
                  <c:v>0.3937</c:v>
                </c:pt>
                <c:pt idx="132">
                  <c:v>0.9754</c:v>
                </c:pt>
                <c:pt idx="133">
                  <c:v>0.7405</c:v>
                </c:pt>
                <c:pt idx="134">
                  <c:v>0.3424</c:v>
                </c:pt>
                <c:pt idx="135">
                  <c:v>0.0842</c:v>
                </c:pt>
                <c:pt idx="136">
                  <c:v>0.6944</c:v>
                </c:pt>
                <c:pt idx="137">
                  <c:v>0.8327</c:v>
                </c:pt>
                <c:pt idx="138">
                  <c:v>0.5313</c:v>
                </c:pt>
                <c:pt idx="139">
                  <c:v>0.2985</c:v>
                </c:pt>
                <c:pt idx="140">
                  <c:v>0.8567</c:v>
                </c:pt>
                <c:pt idx="141">
                  <c:v>0.9112</c:v>
                </c:pt>
                <c:pt idx="142">
                  <c:v>0.4929</c:v>
                </c:pt>
                <c:pt idx="143">
                  <c:v>0.3108</c:v>
                </c:pt>
                <c:pt idx="144">
                  <c:v>0.2676</c:v>
                </c:pt>
                <c:pt idx="145">
                  <c:v>0.7227</c:v>
                </c:pt>
                <c:pt idx="146">
                  <c:v>0.8841</c:v>
                </c:pt>
                <c:pt idx="147">
                  <c:v>0.5578</c:v>
                </c:pt>
                <c:pt idx="148">
                  <c:v>0.8812</c:v>
                </c:pt>
                <c:pt idx="149">
                  <c:v>0.6046</c:v>
                </c:pt>
                <c:pt idx="150">
                  <c:v>0.9207</c:v>
                </c:pt>
                <c:pt idx="151">
                  <c:v>0.1685</c:v>
                </c:pt>
                <c:pt idx="152">
                  <c:v>0.2464</c:v>
                </c:pt>
                <c:pt idx="153">
                  <c:v>0.5909</c:v>
                </c:pt>
                <c:pt idx="154">
                  <c:v>0.8351</c:v>
                </c:pt>
                <c:pt idx="155">
                  <c:v>0.3034</c:v>
                </c:pt>
                <c:pt idx="156">
                  <c:v>0.6114</c:v>
                </c:pt>
                <c:pt idx="157">
                  <c:v>0.7149</c:v>
                </c:pt>
                <c:pt idx="158">
                  <c:v>0.0706</c:v>
                </c:pt>
                <c:pt idx="159">
                  <c:v>0.9168</c:v>
                </c:pt>
                <c:pt idx="160">
                  <c:v>0.8389</c:v>
                </c:pt>
                <c:pt idx="161">
                  <c:v>0.2138</c:v>
                </c:pt>
                <c:pt idx="162">
                  <c:v>0.8454</c:v>
                </c:pt>
                <c:pt idx="163">
                  <c:v>0.5604</c:v>
                </c:pt>
                <c:pt idx="164">
                  <c:v>0.288</c:v>
                </c:pt>
                <c:pt idx="165">
                  <c:v>0.9713</c:v>
                </c:pt>
                <c:pt idx="166">
                  <c:v>0.822</c:v>
                </c:pt>
                <c:pt idx="167">
                  <c:v>0.7941</c:v>
                </c:pt>
                <c:pt idx="168">
                  <c:v>0.6713</c:v>
                </c:pt>
                <c:pt idx="169">
                  <c:v>0.027</c:v>
                </c:pt>
                <c:pt idx="170">
                  <c:v>0.4649</c:v>
                </c:pt>
                <c:pt idx="171">
                  <c:v>0.9523</c:v>
                </c:pt>
                <c:pt idx="172">
                  <c:v>0.102</c:v>
                </c:pt>
                <c:pt idx="173">
                  <c:v>0.8322</c:v>
                </c:pt>
                <c:pt idx="174">
                  <c:v>0.6094</c:v>
                </c:pt>
                <c:pt idx="175">
                  <c:v>0.1875</c:v>
                </c:pt>
                <c:pt idx="176">
                  <c:v>0.3699</c:v>
                </c:pt>
                <c:pt idx="177">
                  <c:v>0.9772</c:v>
                </c:pt>
                <c:pt idx="178">
                  <c:v>0.547</c:v>
                </c:pt>
                <c:pt idx="179">
                  <c:v>0.7649</c:v>
                </c:pt>
                <c:pt idx="180">
                  <c:v>0.4072</c:v>
                </c:pt>
                <c:pt idx="181">
                  <c:v>0.5611</c:v>
                </c:pt>
                <c:pt idx="182">
                  <c:v>0.7585</c:v>
                </c:pt>
                <c:pt idx="183">
                  <c:v>0.1888</c:v>
                </c:pt>
                <c:pt idx="184">
                  <c:v>0.0015</c:v>
                </c:pt>
                <c:pt idx="185">
                  <c:v>0.7883</c:v>
                </c:pt>
                <c:pt idx="186">
                  <c:v>0.4187</c:v>
                </c:pt>
                <c:pt idx="187">
                  <c:v>0.4399</c:v>
                </c:pt>
                <c:pt idx="188">
                  <c:v>0.5944</c:v>
                </c:pt>
                <c:pt idx="189">
                  <c:v>0.7569</c:v>
                </c:pt>
                <c:pt idx="190">
                  <c:v>0.7821</c:v>
                </c:pt>
                <c:pt idx="191">
                  <c:v>0.7247</c:v>
                </c:pt>
                <c:pt idx="192">
                  <c:v>0.2181</c:v>
                </c:pt>
                <c:pt idx="193">
                  <c:v>0.7409</c:v>
                </c:pt>
                <c:pt idx="194">
                  <c:v>0.9589</c:v>
                </c:pt>
                <c:pt idx="195">
                  <c:v>0.5786</c:v>
                </c:pt>
                <c:pt idx="196">
                  <c:v>0.7369</c:v>
                </c:pt>
                <c:pt idx="197">
                  <c:v>0.633</c:v>
                </c:pt>
                <c:pt idx="198">
                  <c:v>0.5121</c:v>
                </c:pt>
                <c:pt idx="199">
                  <c:v>0.9703</c:v>
                </c:pt>
                <c:pt idx="200">
                  <c:v>0.0958</c:v>
                </c:pt>
                <c:pt idx="201">
                  <c:v>0.5019</c:v>
                </c:pt>
                <c:pt idx="202">
                  <c:v>0.3859</c:v>
                </c:pt>
                <c:pt idx="203">
                  <c:v>0.3166</c:v>
                </c:pt>
                <c:pt idx="204">
                  <c:v>0.9276</c:v>
                </c:pt>
                <c:pt idx="205">
                  <c:v>0.9688</c:v>
                </c:pt>
                <c:pt idx="206">
                  <c:v>0.5921</c:v>
                </c:pt>
                <c:pt idx="207">
                  <c:v>0.835</c:v>
                </c:pt>
                <c:pt idx="208">
                  <c:v>0.4728</c:v>
                </c:pt>
                <c:pt idx="209">
                  <c:v>0.7186</c:v>
                </c:pt>
                <c:pt idx="210">
                  <c:v>0.9148</c:v>
                </c:pt>
                <c:pt idx="211">
                  <c:v>0.4061</c:v>
                </c:pt>
                <c:pt idx="212">
                  <c:v>0.1205</c:v>
                </c:pt>
                <c:pt idx="213">
                  <c:v>0.7441</c:v>
                </c:pt>
                <c:pt idx="214">
                  <c:v>0.0881</c:v>
                </c:pt>
                <c:pt idx="215">
                  <c:v>0.9678</c:v>
                </c:pt>
                <c:pt idx="216">
                  <c:v>0.5875</c:v>
                </c:pt>
                <c:pt idx="217">
                  <c:v>0.3448</c:v>
                </c:pt>
                <c:pt idx="218">
                  <c:v>0.1579</c:v>
                </c:pt>
                <c:pt idx="219">
                  <c:v>0.1437</c:v>
                </c:pt>
                <c:pt idx="220">
                  <c:v>0.8693</c:v>
                </c:pt>
                <c:pt idx="221">
                  <c:v>0.6049</c:v>
                </c:pt>
                <c:pt idx="222">
                  <c:v>0.1966</c:v>
                </c:pt>
                <c:pt idx="223">
                  <c:v>0.1892</c:v>
                </c:pt>
                <c:pt idx="224">
                  <c:v>0.5845</c:v>
                </c:pt>
                <c:pt idx="225">
                  <c:v>0.2611</c:v>
                </c:pt>
                <c:pt idx="226">
                  <c:v>0.2988</c:v>
                </c:pt>
                <c:pt idx="227">
                  <c:v>0.6356</c:v>
                </c:pt>
                <c:pt idx="228">
                  <c:v>0.8498</c:v>
                </c:pt>
                <c:pt idx="229">
                  <c:v>0.286</c:v>
                </c:pt>
                <c:pt idx="230">
                  <c:v>0.9541</c:v>
                </c:pt>
                <c:pt idx="231">
                  <c:v>0.0691</c:v>
                </c:pt>
                <c:pt idx="232">
                  <c:v>0.6901</c:v>
                </c:pt>
                <c:pt idx="233">
                  <c:v>0.9256</c:v>
                </c:pt>
                <c:pt idx="234">
                  <c:v>0.9844</c:v>
                </c:pt>
                <c:pt idx="235">
                  <c:v>0.7804</c:v>
                </c:pt>
                <c:pt idx="236">
                  <c:v>0.4878</c:v>
                </c:pt>
                <c:pt idx="237">
                  <c:v>0.4357</c:v>
                </c:pt>
                <c:pt idx="238">
                  <c:v>0.3151</c:v>
                </c:pt>
                <c:pt idx="239">
                  <c:v>0.9069</c:v>
                </c:pt>
                <c:pt idx="240">
                  <c:v>0.8888</c:v>
                </c:pt>
                <c:pt idx="241">
                  <c:v>0.5032</c:v>
                </c:pt>
                <c:pt idx="242">
                  <c:v>0.454</c:v>
                </c:pt>
                <c:pt idx="243">
                  <c:v>0.2123</c:v>
                </c:pt>
                <c:pt idx="244">
                  <c:v>0.432</c:v>
                </c:pt>
                <c:pt idx="245">
                  <c:v>0.5803</c:v>
                </c:pt>
                <c:pt idx="246">
                  <c:v>0.4905</c:v>
                </c:pt>
                <c:pt idx="247">
                  <c:v>0.5982</c:v>
                </c:pt>
                <c:pt idx="248">
                  <c:v>0.7615</c:v>
                </c:pt>
                <c:pt idx="249">
                  <c:v>0.5012</c:v>
                </c:pt>
                <c:pt idx="250">
                  <c:v>0.4396</c:v>
                </c:pt>
                <c:pt idx="251">
                  <c:v>0.1063</c:v>
                </c:pt>
                <c:pt idx="252">
                  <c:v>0.6233</c:v>
                </c:pt>
                <c:pt idx="253">
                  <c:v>0.26</c:v>
                </c:pt>
                <c:pt idx="254">
                  <c:v>0.0198</c:v>
                </c:pt>
                <c:pt idx="255">
                  <c:v>0.1502</c:v>
                </c:pt>
              </c:numCache>
            </c:numRef>
          </c:xVal>
          <c:yVal>
            <c:numRef>
              <c:f>Sheet1!$B$2:$B$257</c:f>
              <c:numCache>
                <c:formatCode>General</c:formatCode>
                <c:ptCount val="256"/>
                <c:pt idx="0">
                  <c:v>0.3533</c:v>
                </c:pt>
                <c:pt idx="1">
                  <c:v>0.5457</c:v>
                </c:pt>
                <c:pt idx="2">
                  <c:v>0.5943</c:v>
                </c:pt>
                <c:pt idx="3">
                  <c:v>0.2757</c:v>
                </c:pt>
                <c:pt idx="4">
                  <c:v>0.3201</c:v>
                </c:pt>
                <c:pt idx="5">
                  <c:v>0.0459</c:v>
                </c:pt>
                <c:pt idx="6">
                  <c:v>0.7144</c:v>
                </c:pt>
                <c:pt idx="7">
                  <c:v>0.6651</c:v>
                </c:pt>
                <c:pt idx="8">
                  <c:v>0.4133</c:v>
                </c:pt>
                <c:pt idx="9">
                  <c:v>0.5411</c:v>
                </c:pt>
                <c:pt idx="10">
                  <c:v>0.4172</c:v>
                </c:pt>
                <c:pt idx="11">
                  <c:v>0.2344</c:v>
                </c:pt>
                <c:pt idx="12">
                  <c:v>0.3239</c:v>
                </c:pt>
                <c:pt idx="13">
                  <c:v>0.958</c:v>
                </c:pt>
                <c:pt idx="14">
                  <c:v>0.6568</c:v>
                </c:pt>
                <c:pt idx="15">
                  <c:v>0.5891</c:v>
                </c:pt>
                <c:pt idx="16">
                  <c:v>0.3639</c:v>
                </c:pt>
                <c:pt idx="17">
                  <c:v>0.4247</c:v>
                </c:pt>
                <c:pt idx="18">
                  <c:v>0.0622</c:v>
                </c:pt>
                <c:pt idx="19">
                  <c:v>0.7246</c:v>
                </c:pt>
                <c:pt idx="20">
                  <c:v>0.338</c:v>
                </c:pt>
                <c:pt idx="21">
                  <c:v>0.7836</c:v>
                </c:pt>
                <c:pt idx="22">
                  <c:v>0.1338</c:v>
                </c:pt>
                <c:pt idx="23">
                  <c:v>0.5428</c:v>
                </c:pt>
                <c:pt idx="24">
                  <c:v>0.3412</c:v>
                </c:pt>
                <c:pt idx="25">
                  <c:v>0.1732</c:v>
                </c:pt>
                <c:pt idx="26">
                  <c:v>0.8861</c:v>
                </c:pt>
                <c:pt idx="27">
                  <c:v>0.4626</c:v>
                </c:pt>
                <c:pt idx="28">
                  <c:v>0.4079</c:v>
                </c:pt>
                <c:pt idx="29">
                  <c:v>0.7313</c:v>
                </c:pt>
                <c:pt idx="30">
                  <c:v>0.077</c:v>
                </c:pt>
                <c:pt idx="31">
                  <c:v>0.6909</c:v>
                </c:pt>
                <c:pt idx="32">
                  <c:v>0.0898</c:v>
                </c:pt>
                <c:pt idx="33">
                  <c:v>0.997</c:v>
                </c:pt>
                <c:pt idx="34">
                  <c:v>0.0391</c:v>
                </c:pt>
                <c:pt idx="35">
                  <c:v>0.1753</c:v>
                </c:pt>
                <c:pt idx="36">
                  <c:v>0.0967</c:v>
                </c:pt>
                <c:pt idx="37">
                  <c:v>0.6288</c:v>
                </c:pt>
                <c:pt idx="38">
                  <c:v>0.3021</c:v>
                </c:pt>
                <c:pt idx="39">
                  <c:v>0.5737</c:v>
                </c:pt>
                <c:pt idx="40">
                  <c:v>0.7158</c:v>
                </c:pt>
                <c:pt idx="41">
                  <c:v>0.5672</c:v>
                </c:pt>
                <c:pt idx="42">
                  <c:v>0.008</c:v>
                </c:pt>
                <c:pt idx="43">
                  <c:v>0.9441</c:v>
                </c:pt>
                <c:pt idx="44">
                  <c:v>0.7972</c:v>
                </c:pt>
                <c:pt idx="45">
                  <c:v>0.7435</c:v>
                </c:pt>
                <c:pt idx="46">
                  <c:v>0.0497</c:v>
                </c:pt>
                <c:pt idx="47">
                  <c:v>0.2478</c:v>
                </c:pt>
                <c:pt idx="48">
                  <c:v>0.0082</c:v>
                </c:pt>
                <c:pt idx="49">
                  <c:v>0.6163</c:v>
                </c:pt>
                <c:pt idx="50">
                  <c:v>0.5835</c:v>
                </c:pt>
                <c:pt idx="51">
                  <c:v>0.4502</c:v>
                </c:pt>
                <c:pt idx="52">
                  <c:v>0.438</c:v>
                </c:pt>
                <c:pt idx="53">
                  <c:v>0.0776</c:v>
                </c:pt>
                <c:pt idx="54">
                  <c:v>0.8755</c:v>
                </c:pt>
                <c:pt idx="55">
                  <c:v>0.287</c:v>
                </c:pt>
                <c:pt idx="56">
                  <c:v>0.6878</c:v>
                </c:pt>
                <c:pt idx="57">
                  <c:v>0.3608</c:v>
                </c:pt>
                <c:pt idx="58">
                  <c:v>0.2807</c:v>
                </c:pt>
                <c:pt idx="59">
                  <c:v>0.0697</c:v>
                </c:pt>
                <c:pt idx="60">
                  <c:v>0.0072</c:v>
                </c:pt>
                <c:pt idx="61">
                  <c:v>0.7036</c:v>
                </c:pt>
                <c:pt idx="62">
                  <c:v>0.7583</c:v>
                </c:pt>
                <c:pt idx="63">
                  <c:v>0.3408</c:v>
                </c:pt>
                <c:pt idx="64">
                  <c:v>0.8629</c:v>
                </c:pt>
                <c:pt idx="65">
                  <c:v>0.382</c:v>
                </c:pt>
                <c:pt idx="66">
                  <c:v>0.9453</c:v>
                </c:pt>
                <c:pt idx="67">
                  <c:v>0.8936</c:v>
                </c:pt>
                <c:pt idx="68">
                  <c:v>0.6029</c:v>
                </c:pt>
                <c:pt idx="69">
                  <c:v>0.7259</c:v>
                </c:pt>
                <c:pt idx="70">
                  <c:v>0.9416</c:v>
                </c:pt>
                <c:pt idx="71">
                  <c:v>0.4624</c:v>
                </c:pt>
                <c:pt idx="72">
                  <c:v>0.8539</c:v>
                </c:pt>
                <c:pt idx="73">
                  <c:v>0.0108</c:v>
                </c:pt>
                <c:pt idx="74">
                  <c:v>0.5422</c:v>
                </c:pt>
                <c:pt idx="75">
                  <c:v>0.3807</c:v>
                </c:pt>
                <c:pt idx="76">
                  <c:v>0.0247</c:v>
                </c:pt>
                <c:pt idx="77">
                  <c:v>0.4299</c:v>
                </c:pt>
                <c:pt idx="78">
                  <c:v>0.1602</c:v>
                </c:pt>
                <c:pt idx="79">
                  <c:v>0.4569</c:v>
                </c:pt>
                <c:pt idx="80">
                  <c:v>0.2309</c:v>
                </c:pt>
                <c:pt idx="81">
                  <c:v>0.4745</c:v>
                </c:pt>
                <c:pt idx="82">
                  <c:v>0.4473</c:v>
                </c:pt>
                <c:pt idx="83">
                  <c:v>0.021</c:v>
                </c:pt>
                <c:pt idx="84">
                  <c:v>0.3378</c:v>
                </c:pt>
                <c:pt idx="85">
                  <c:v>0.969</c:v>
                </c:pt>
                <c:pt idx="86">
                  <c:v>0.7046</c:v>
                </c:pt>
                <c:pt idx="87">
                  <c:v>0.09</c:v>
                </c:pt>
                <c:pt idx="88">
                  <c:v>0.2675</c:v>
                </c:pt>
                <c:pt idx="89">
                  <c:v>0.4073</c:v>
                </c:pt>
                <c:pt idx="90">
                  <c:v>0.718</c:v>
                </c:pt>
                <c:pt idx="91">
                  <c:v>0.965</c:v>
                </c:pt>
                <c:pt idx="92">
                  <c:v>0.9828</c:v>
                </c:pt>
                <c:pt idx="93">
                  <c:v>0.4209</c:v>
                </c:pt>
                <c:pt idx="94">
                  <c:v>0.2211</c:v>
                </c:pt>
                <c:pt idx="95">
                  <c:v>0.8264</c:v>
                </c:pt>
                <c:pt idx="96">
                  <c:v>0.6096</c:v>
                </c:pt>
                <c:pt idx="97">
                  <c:v>0.5768</c:v>
                </c:pt>
                <c:pt idx="98">
                  <c:v>0.3745</c:v>
                </c:pt>
                <c:pt idx="99">
                  <c:v>0.0185</c:v>
                </c:pt>
                <c:pt idx="100">
                  <c:v>0.6494</c:v>
                </c:pt>
                <c:pt idx="101">
                  <c:v>0.0747</c:v>
                </c:pt>
                <c:pt idx="102">
                  <c:v>0.2701</c:v>
                </c:pt>
                <c:pt idx="103">
                  <c:v>0.5393</c:v>
                </c:pt>
                <c:pt idx="104">
                  <c:v>0.358</c:v>
                </c:pt>
                <c:pt idx="105">
                  <c:v>0.1048</c:v>
                </c:pt>
                <c:pt idx="106">
                  <c:v>0.2557</c:v>
                </c:pt>
                <c:pt idx="107">
                  <c:v>0.183</c:v>
                </c:pt>
                <c:pt idx="108">
                  <c:v>0.5104</c:v>
                </c:pt>
                <c:pt idx="109">
                  <c:v>0.1151</c:v>
                </c:pt>
                <c:pt idx="110">
                  <c:v>0.5948</c:v>
                </c:pt>
                <c:pt idx="111">
                  <c:v>0.893</c:v>
                </c:pt>
                <c:pt idx="112">
                  <c:v>0.8111</c:v>
                </c:pt>
                <c:pt idx="113">
                  <c:v>0.0014</c:v>
                </c:pt>
                <c:pt idx="114">
                  <c:v>0.5022</c:v>
                </c:pt>
                <c:pt idx="115">
                  <c:v>0.7467</c:v>
                </c:pt>
                <c:pt idx="116">
                  <c:v>0.6465</c:v>
                </c:pt>
                <c:pt idx="117">
                  <c:v>0.3968</c:v>
                </c:pt>
                <c:pt idx="118">
                  <c:v>0.944</c:v>
                </c:pt>
                <c:pt idx="119">
                  <c:v>0.3888</c:v>
                </c:pt>
                <c:pt idx="120">
                  <c:v>0.8777</c:v>
                </c:pt>
                <c:pt idx="121">
                  <c:v>0.7588</c:v>
                </c:pt>
                <c:pt idx="122">
                  <c:v>0.6214</c:v>
                </c:pt>
                <c:pt idx="123">
                  <c:v>0.1084</c:v>
                </c:pt>
                <c:pt idx="124">
                  <c:v>0.3147</c:v>
                </c:pt>
                <c:pt idx="125">
                  <c:v>0.5677</c:v>
                </c:pt>
                <c:pt idx="126">
                  <c:v>0.0933</c:v>
                </c:pt>
                <c:pt idx="127">
                  <c:v>0.6926</c:v>
                </c:pt>
                <c:pt idx="128">
                  <c:v>0.8606</c:v>
                </c:pt>
                <c:pt idx="129">
                  <c:v>0.9479</c:v>
                </c:pt>
                <c:pt idx="130">
                  <c:v>0.9286</c:v>
                </c:pt>
                <c:pt idx="131">
                  <c:v>0.9748</c:v>
                </c:pt>
                <c:pt idx="132">
                  <c:v>0.9506</c:v>
                </c:pt>
                <c:pt idx="133">
                  <c:v>0.2625</c:v>
                </c:pt>
                <c:pt idx="134">
                  <c:v>0.6847</c:v>
                </c:pt>
                <c:pt idx="135">
                  <c:v>0.6744</c:v>
                </c:pt>
                <c:pt idx="136">
                  <c:v>0.1291</c:v>
                </c:pt>
                <c:pt idx="137">
                  <c:v>0.164</c:v>
                </c:pt>
                <c:pt idx="138">
                  <c:v>0.3691</c:v>
                </c:pt>
                <c:pt idx="139">
                  <c:v>0.8587</c:v>
                </c:pt>
                <c:pt idx="140">
                  <c:v>0.1684</c:v>
                </c:pt>
                <c:pt idx="141">
                  <c:v>0.837</c:v>
                </c:pt>
                <c:pt idx="142">
                  <c:v>0.1214</c:v>
                </c:pt>
                <c:pt idx="143">
                  <c:v>0.4066</c:v>
                </c:pt>
                <c:pt idx="144">
                  <c:v>0.7689</c:v>
                </c:pt>
                <c:pt idx="145">
                  <c:v>0.5916</c:v>
                </c:pt>
                <c:pt idx="146">
                  <c:v>0.1545</c:v>
                </c:pt>
                <c:pt idx="147">
                  <c:v>0.5476</c:v>
                </c:pt>
                <c:pt idx="148">
                  <c:v>0.2585</c:v>
                </c:pt>
                <c:pt idx="149">
                  <c:v>0.8602</c:v>
                </c:pt>
                <c:pt idx="150">
                  <c:v>0.815</c:v>
                </c:pt>
                <c:pt idx="151">
                  <c:v>0.4496</c:v>
                </c:pt>
                <c:pt idx="152">
                  <c:v>0.5486</c:v>
                </c:pt>
                <c:pt idx="153">
                  <c:v>0.9847</c:v>
                </c:pt>
                <c:pt idx="154">
                  <c:v>0.3578</c:v>
                </c:pt>
                <c:pt idx="155">
                  <c:v>0.9776</c:v>
                </c:pt>
                <c:pt idx="156">
                  <c:v>0.0517</c:v>
                </c:pt>
                <c:pt idx="157">
                  <c:v>0.6255</c:v>
                </c:pt>
                <c:pt idx="158">
                  <c:v>0.9953</c:v>
                </c:pt>
                <c:pt idx="159">
                  <c:v>0.5024</c:v>
                </c:pt>
                <c:pt idx="160">
                  <c:v>0.7159</c:v>
                </c:pt>
                <c:pt idx="161">
                  <c:v>0.006</c:v>
                </c:pt>
                <c:pt idx="162">
                  <c:v>0.5383</c:v>
                </c:pt>
                <c:pt idx="163">
                  <c:v>0.8048</c:v>
                </c:pt>
                <c:pt idx="164">
                  <c:v>0.9793</c:v>
                </c:pt>
                <c:pt idx="165">
                  <c:v>0.5223</c:v>
                </c:pt>
                <c:pt idx="166">
                  <c:v>0.1075</c:v>
                </c:pt>
                <c:pt idx="167">
                  <c:v>0.879</c:v>
                </c:pt>
                <c:pt idx="168">
                  <c:v>0.7014</c:v>
                </c:pt>
                <c:pt idx="169">
                  <c:v>0.3476</c:v>
                </c:pt>
                <c:pt idx="170">
                  <c:v>0.4237</c:v>
                </c:pt>
                <c:pt idx="171">
                  <c:v>0.2857</c:v>
                </c:pt>
                <c:pt idx="172">
                  <c:v>0.3295</c:v>
                </c:pt>
                <c:pt idx="173">
                  <c:v>0.1314</c:v>
                </c:pt>
                <c:pt idx="174">
                  <c:v>0.3178</c:v>
                </c:pt>
                <c:pt idx="175">
                  <c:v>0.8963</c:v>
                </c:pt>
                <c:pt idx="176">
                  <c:v>0.0241</c:v>
                </c:pt>
                <c:pt idx="177">
                  <c:v>0.4003</c:v>
                </c:pt>
                <c:pt idx="178">
                  <c:v>0.7747</c:v>
                </c:pt>
                <c:pt idx="179">
                  <c:v>0.8607</c:v>
                </c:pt>
                <c:pt idx="180">
                  <c:v>0.6248</c:v>
                </c:pt>
                <c:pt idx="181">
                  <c:v>0.2563</c:v>
                </c:pt>
                <c:pt idx="182">
                  <c:v>0.3974</c:v>
                </c:pt>
                <c:pt idx="183">
                  <c:v>0.3727</c:v>
                </c:pt>
                <c:pt idx="184">
                  <c:v>0.0474</c:v>
                </c:pt>
                <c:pt idx="185">
                  <c:v>0.7901</c:v>
                </c:pt>
                <c:pt idx="186">
                  <c:v>0.0705</c:v>
                </c:pt>
                <c:pt idx="187">
                  <c:v>0.7644</c:v>
                </c:pt>
                <c:pt idx="188">
                  <c:v>0.7669</c:v>
                </c:pt>
                <c:pt idx="189">
                  <c:v>0.9739</c:v>
                </c:pt>
                <c:pt idx="190">
                  <c:v>0.5851</c:v>
                </c:pt>
                <c:pt idx="191">
                  <c:v>0.4787</c:v>
                </c:pt>
                <c:pt idx="192">
                  <c:v>0.4013</c:v>
                </c:pt>
                <c:pt idx="193">
                  <c:v>0.0847</c:v>
                </c:pt>
                <c:pt idx="194">
                  <c:v>0.8674</c:v>
                </c:pt>
                <c:pt idx="195">
                  <c:v>0.5718</c:v>
                </c:pt>
                <c:pt idx="196">
                  <c:v>0.6436</c:v>
                </c:pt>
                <c:pt idx="197">
                  <c:v>0.8383</c:v>
                </c:pt>
                <c:pt idx="198">
                  <c:v>0.9029</c:v>
                </c:pt>
                <c:pt idx="199">
                  <c:v>0.1591</c:v>
                </c:pt>
                <c:pt idx="200">
                  <c:v>0.9105</c:v>
                </c:pt>
                <c:pt idx="201">
                  <c:v>0.8942</c:v>
                </c:pt>
                <c:pt idx="202">
                  <c:v>0.4309</c:v>
                </c:pt>
                <c:pt idx="203">
                  <c:v>0.3414</c:v>
                </c:pt>
                <c:pt idx="204">
                  <c:v>0.115</c:v>
                </c:pt>
                <c:pt idx="205">
                  <c:v>0.0917</c:v>
                </c:pt>
                <c:pt idx="206">
                  <c:v>0.9451</c:v>
                </c:pt>
                <c:pt idx="207">
                  <c:v>0.3379</c:v>
                </c:pt>
                <c:pt idx="208">
                  <c:v>0.393</c:v>
                </c:pt>
                <c:pt idx="209">
                  <c:v>0.1522</c:v>
                </c:pt>
                <c:pt idx="210">
                  <c:v>0.8697</c:v>
                </c:pt>
                <c:pt idx="211">
                  <c:v>0.8243</c:v>
                </c:pt>
                <c:pt idx="212">
                  <c:v>0.9051</c:v>
                </c:pt>
                <c:pt idx="213">
                  <c:v>0.6835</c:v>
                </c:pt>
                <c:pt idx="214">
                  <c:v>0.3456</c:v>
                </c:pt>
                <c:pt idx="215">
                  <c:v>0.7575</c:v>
                </c:pt>
                <c:pt idx="216">
                  <c:v>0.0476</c:v>
                </c:pt>
                <c:pt idx="217">
                  <c:v>0.7081</c:v>
                </c:pt>
                <c:pt idx="218">
                  <c:v>0.4074</c:v>
                </c:pt>
                <c:pt idx="219">
                  <c:v>0.3637</c:v>
                </c:pt>
                <c:pt idx="220">
                  <c:v>0.9729</c:v>
                </c:pt>
                <c:pt idx="221">
                  <c:v>0.8545</c:v>
                </c:pt>
                <c:pt idx="222">
                  <c:v>0.2647</c:v>
                </c:pt>
                <c:pt idx="223">
                  <c:v>0.4161</c:v>
                </c:pt>
                <c:pt idx="224">
                  <c:v>0.8419</c:v>
                </c:pt>
                <c:pt idx="225">
                  <c:v>0.2325</c:v>
                </c:pt>
                <c:pt idx="226">
                  <c:v>0.0065</c:v>
                </c:pt>
                <c:pt idx="227">
                  <c:v>0.4398</c:v>
                </c:pt>
                <c:pt idx="228">
                  <c:v>0.4797</c:v>
                </c:pt>
                <c:pt idx="229">
                  <c:v>0.3027</c:v>
                </c:pt>
                <c:pt idx="230">
                  <c:v>0.1873</c:v>
                </c:pt>
                <c:pt idx="231">
                  <c:v>0.0736</c:v>
                </c:pt>
                <c:pt idx="232">
                  <c:v>0.085</c:v>
                </c:pt>
                <c:pt idx="233">
                  <c:v>0.2227</c:v>
                </c:pt>
                <c:pt idx="234">
                  <c:v>0.4728</c:v>
                </c:pt>
                <c:pt idx="235">
                  <c:v>0.4269</c:v>
                </c:pt>
                <c:pt idx="236">
                  <c:v>0.2953</c:v>
                </c:pt>
                <c:pt idx="237">
                  <c:v>0.7231</c:v>
                </c:pt>
                <c:pt idx="238">
                  <c:v>0.7227</c:v>
                </c:pt>
                <c:pt idx="239">
                  <c:v>0.9815</c:v>
                </c:pt>
                <c:pt idx="240">
                  <c:v>0.8576</c:v>
                </c:pt>
                <c:pt idx="241">
                  <c:v>0.9375</c:v>
                </c:pt>
                <c:pt idx="242">
                  <c:v>0.9322</c:v>
                </c:pt>
                <c:pt idx="243">
                  <c:v>0.8964</c:v>
                </c:pt>
                <c:pt idx="244">
                  <c:v>0.0005</c:v>
                </c:pt>
                <c:pt idx="245">
                  <c:v>0.3684</c:v>
                </c:pt>
                <c:pt idx="246">
                  <c:v>0.0635</c:v>
                </c:pt>
                <c:pt idx="247">
                  <c:v>0.94</c:v>
                </c:pt>
                <c:pt idx="248">
                  <c:v>0.3535</c:v>
                </c:pt>
                <c:pt idx="249">
                  <c:v>0.1855</c:v>
                </c:pt>
                <c:pt idx="250">
                  <c:v>0.9284</c:v>
                </c:pt>
                <c:pt idx="251">
                  <c:v>0.3422</c:v>
                </c:pt>
                <c:pt idx="252">
                  <c:v>0.5096</c:v>
                </c:pt>
                <c:pt idx="253">
                  <c:v>0.3806</c:v>
                </c:pt>
                <c:pt idx="254">
                  <c:v>0.861</c:v>
                </c:pt>
                <c:pt idx="255">
                  <c:v>0.0397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majorGridlines>
          <c:spPr>
            <a:ln w="6350" cap="flat">
              <a:solidFill>
                <a:srgbClr val="E6E8EE"/>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C6F7F"/>
                </a:solidFill>
                <a:latin typeface="Arial"/>
              </a:defRPr>
            </a:pPr>
            <a:endParaRPr lang="en-US"/>
          </a:p>
        </c:txPr>
        <c:crossAx val="2094734552"/>
        <c:crosses val="autoZero"/>
        <c:auto val="1"/>
        <c:lblAlgn val="ctr"/>
        <c:noMultiLvlLbl val="1"/>
        <c:majorUnit val="0.25"/>
      </c:valAx>
      <c:valAx>
        <c:axId val="2094734552"/>
        <c:scaling>
          <c:orientation val="minMax"/>
          <c:max val="1"/>
          <c:min val="0"/>
        </c:scaling>
        <c:delete val="0"/>
        <c:axPos val="l"/>
        <c:majorGridlines>
          <c:spPr>
            <a:ln w="6350" cap="flat">
              <a:solidFill>
                <a:srgbClr val="E6E8E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C6F7F"/>
                </a:solidFill>
                <a:latin typeface="Arial"/>
              </a:defRPr>
            </a:pPr>
            <a:endParaRPr lang="en-US"/>
          </a:p>
        </c:txPr>
        <c:crossAx val="2094734554"/>
        <c:crosses val="autoZero"/>
        <c:crossBetween val="midCat"/>
        <c:majorUnit val="0.25"/>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u2</c:v>
                </c:pt>
              </c:strCache>
            </c:strRef>
          </c:tx>
          <c:spPr>
            <a:solidFill>
              <a:srgbClr val="2A9D8F"/>
            </a:solidFill>
            <a:ln>
              <a:noFill/>
            </a:ln>
            <a:effectLst/>
          </c:spPr>
          <c:marker>
            <c:symbol val="circle"/>
            <c:size val="4"/>
            <c:spPr>
              <a:solidFill>
                <a:srgbClr val="2A9D8F"/>
              </a:solidFill>
              <a:ln w="9525" cap="flat">
                <a:solidFill>
                  <a:srgbClr val="2A9D8F"/>
                </a:solidFill>
                <a:prstDash val="solid"/>
                <a:round/>
              </a:ln>
              <a:effectLst/>
            </c:spPr>
          </c:marker>
          <c:xVal>
            <c:numRef>
              <c:f>Sheet1!$A$2:$A$257</c:f>
              <c:numCache>
                <c:formatCode>General</c:formatCode>
                <c:ptCount val="256"/>
                <c:pt idx="0">
                  <c:v>0.7378</c:v>
                </c:pt>
                <c:pt idx="1">
                  <c:v>0.3342</c:v>
                </c:pt>
                <c:pt idx="2">
                  <c:v>0.1805</c:v>
                </c:pt>
                <c:pt idx="3">
                  <c:v>0.7788</c:v>
                </c:pt>
                <c:pt idx="4">
                  <c:v>0.9618</c:v>
                </c:pt>
                <c:pt idx="5">
                  <c:v>0.1227</c:v>
                </c:pt>
                <c:pt idx="6">
                  <c:v>0.3939</c:v>
                </c:pt>
                <c:pt idx="7">
                  <c:v>0.5528</c:v>
                </c:pt>
                <c:pt idx="8">
                  <c:v>0.565</c:v>
                </c:pt>
                <c:pt idx="9">
                  <c:v>0.4763</c:v>
                </c:pt>
                <c:pt idx="10">
                  <c:v>0.009</c:v>
                </c:pt>
                <c:pt idx="11">
                  <c:v>0.9184</c:v>
                </c:pt>
                <c:pt idx="12">
                  <c:v>0.8526</c:v>
                </c:pt>
                <c:pt idx="13">
                  <c:v>0.1995</c:v>
                </c:pt>
                <c:pt idx="14">
                  <c:v>0.2838</c:v>
                </c:pt>
                <c:pt idx="15">
                  <c:v>0.6327</c:v>
                </c:pt>
                <c:pt idx="16">
                  <c:v>0.6649</c:v>
                </c:pt>
                <c:pt idx="17">
                  <c:v>0.2633</c:v>
                </c:pt>
                <c:pt idx="18">
                  <c:v>0.2221</c:v>
                </c:pt>
                <c:pt idx="19">
                  <c:v>0.8185</c:v>
                </c:pt>
                <c:pt idx="20">
                  <c:v>0.8782</c:v>
                </c:pt>
                <c:pt idx="21">
                  <c:v>0.0371</c:v>
                </c:pt>
                <c:pt idx="22">
                  <c:v>0.4462</c:v>
                </c:pt>
                <c:pt idx="23">
                  <c:v>0.6072</c:v>
                </c:pt>
                <c:pt idx="24">
                  <c:v>0.5246</c:v>
                </c:pt>
                <c:pt idx="25">
                  <c:v>0.434</c:v>
                </c:pt>
                <c:pt idx="26">
                  <c:v>0.0807</c:v>
                </c:pt>
                <c:pt idx="27">
                  <c:v>0.992</c:v>
                </c:pt>
                <c:pt idx="28">
                  <c:v>0.7995</c:v>
                </c:pt>
                <c:pt idx="29">
                  <c:v>0.1484</c:v>
                </c:pt>
                <c:pt idx="30">
                  <c:v>0.3682</c:v>
                </c:pt>
                <c:pt idx="31">
                  <c:v>0.7151</c:v>
                </c:pt>
                <c:pt idx="32">
                  <c:v>0.6956</c:v>
                </c:pt>
                <c:pt idx="33">
                  <c:v>0.3565</c:v>
                </c:pt>
                <c:pt idx="34">
                  <c:v>0.1289</c:v>
                </c:pt>
                <c:pt idx="35">
                  <c:v>0.7878</c:v>
                </c:pt>
                <c:pt idx="36">
                  <c:v>0.9725</c:v>
                </c:pt>
                <c:pt idx="37">
                  <c:v>0.0689</c:v>
                </c:pt>
                <c:pt idx="38">
                  <c:v>0.4145</c:v>
                </c:pt>
                <c:pt idx="39">
                  <c:v>0.5128</c:v>
                </c:pt>
                <c:pt idx="40">
                  <c:v>0.6189</c:v>
                </c:pt>
                <c:pt idx="41">
                  <c:v>0.4658</c:v>
                </c:pt>
                <c:pt idx="42">
                  <c:v>0.0488</c:v>
                </c:pt>
                <c:pt idx="43">
                  <c:v>0.8978</c:v>
                </c:pt>
                <c:pt idx="44">
                  <c:v>0.8303</c:v>
                </c:pt>
                <c:pt idx="45">
                  <c:v>0.2416</c:v>
                </c:pt>
                <c:pt idx="46">
                  <c:v>0.275</c:v>
                </c:pt>
                <c:pt idx="47">
                  <c:v>0.6844</c:v>
                </c:pt>
                <c:pt idx="48">
                  <c:v>0.6445</c:v>
                </c:pt>
                <c:pt idx="49">
                  <c:v>0.3034</c:v>
                </c:pt>
                <c:pt idx="50">
                  <c:v>0.2112</c:v>
                </c:pt>
                <c:pt idx="51">
                  <c:v>0.8722</c:v>
                </c:pt>
                <c:pt idx="52">
                  <c:v>0.9302</c:v>
                </c:pt>
                <c:pt idx="53">
                  <c:v>0.0285</c:v>
                </c:pt>
                <c:pt idx="54">
                  <c:v>0.4881</c:v>
                </c:pt>
                <c:pt idx="55">
                  <c:v>0.5845</c:v>
                </c:pt>
                <c:pt idx="56">
                  <c:v>0.5333</c:v>
                </c:pt>
                <c:pt idx="57">
                  <c:v>0.3822</c:v>
                </c:pt>
                <c:pt idx="58">
                  <c:v>0.1032</c:v>
                </c:pt>
                <c:pt idx="59">
                  <c:v>0.9501</c:v>
                </c:pt>
                <c:pt idx="60">
                  <c:v>0.7593</c:v>
                </c:pt>
                <c:pt idx="61">
                  <c:v>0.1687</c:v>
                </c:pt>
                <c:pt idx="62">
                  <c:v>0.3147</c:v>
                </c:pt>
                <c:pt idx="63">
                  <c:v>0.726</c:v>
                </c:pt>
                <c:pt idx="64">
                  <c:v>0.7296</c:v>
                </c:pt>
                <c:pt idx="65">
                  <c:v>0.3265</c:v>
                </c:pt>
                <c:pt idx="66">
                  <c:v>0.1569</c:v>
                </c:pt>
                <c:pt idx="67">
                  <c:v>0.7558</c:v>
                </c:pt>
                <c:pt idx="68">
                  <c:v>0.938</c:v>
                </c:pt>
                <c:pt idx="69">
                  <c:v>0.0994</c:v>
                </c:pt>
                <c:pt idx="70">
                  <c:v>0.3859</c:v>
                </c:pt>
                <c:pt idx="71">
                  <c:v>0.5454</c:v>
                </c:pt>
                <c:pt idx="72">
                  <c:v>0.5888</c:v>
                </c:pt>
                <c:pt idx="73">
                  <c:v>0.4997</c:v>
                </c:pt>
                <c:pt idx="74">
                  <c:v>0.0169</c:v>
                </c:pt>
                <c:pt idx="75">
                  <c:v>0.9259</c:v>
                </c:pt>
                <c:pt idx="76">
                  <c:v>0.8608</c:v>
                </c:pt>
                <c:pt idx="77">
                  <c:v>0.2073</c:v>
                </c:pt>
                <c:pt idx="78">
                  <c:v>0.3074</c:v>
                </c:pt>
                <c:pt idx="79">
                  <c:v>0.6558</c:v>
                </c:pt>
                <c:pt idx="80">
                  <c:v>0.6725</c:v>
                </c:pt>
                <c:pt idx="81">
                  <c:v>0.2715</c:v>
                </c:pt>
                <c:pt idx="82">
                  <c:v>0.2452</c:v>
                </c:pt>
                <c:pt idx="83">
                  <c:v>0.8421</c:v>
                </c:pt>
                <c:pt idx="84">
                  <c:v>0.9015</c:v>
                </c:pt>
                <c:pt idx="85">
                  <c:v>0.0609</c:v>
                </c:pt>
                <c:pt idx="86">
                  <c:v>0.4537</c:v>
                </c:pt>
                <c:pt idx="87">
                  <c:v>0.6151</c:v>
                </c:pt>
                <c:pt idx="88">
                  <c:v>0.5013</c:v>
                </c:pt>
                <c:pt idx="89">
                  <c:v>0.4102</c:v>
                </c:pt>
                <c:pt idx="90">
                  <c:v>0.0732</c:v>
                </c:pt>
                <c:pt idx="91">
                  <c:v>0.9841</c:v>
                </c:pt>
                <c:pt idx="92">
                  <c:v>0.7919</c:v>
                </c:pt>
                <c:pt idx="93">
                  <c:v>0.1402</c:v>
                </c:pt>
                <c:pt idx="94">
                  <c:v>0.3451</c:v>
                </c:pt>
                <c:pt idx="95">
                  <c:v>0.6916</c:v>
                </c:pt>
                <c:pt idx="96">
                  <c:v>0.7033</c:v>
                </c:pt>
                <c:pt idx="97">
                  <c:v>0.3646</c:v>
                </c:pt>
                <c:pt idx="98">
                  <c:v>0.1519</c:v>
                </c:pt>
                <c:pt idx="99">
                  <c:v>0.8114</c:v>
                </c:pt>
                <c:pt idx="100">
                  <c:v>0.9958</c:v>
                </c:pt>
                <c:pt idx="101">
                  <c:v>0.0927</c:v>
                </c:pt>
                <c:pt idx="102">
                  <c:v>0.4219</c:v>
                </c:pt>
                <c:pt idx="103">
                  <c:v>0.5208</c:v>
                </c:pt>
                <c:pt idx="104">
                  <c:v>0.5955</c:v>
                </c:pt>
                <c:pt idx="105">
                  <c:v>0.442</c:v>
                </c:pt>
                <c:pt idx="106">
                  <c:v>0.0414</c:v>
                </c:pt>
                <c:pt idx="107">
                  <c:v>0.8898</c:v>
                </c:pt>
                <c:pt idx="108">
                  <c:v>0.8225</c:v>
                </c:pt>
                <c:pt idx="109">
                  <c:v>0.2335</c:v>
                </c:pt>
                <c:pt idx="110">
                  <c:v>0.2519</c:v>
                </c:pt>
                <c:pt idx="111">
                  <c:v>0.6609</c:v>
                </c:pt>
                <c:pt idx="112">
                  <c:v>0.6363</c:v>
                </c:pt>
                <c:pt idx="113">
                  <c:v>0.2957</c:v>
                </c:pt>
                <c:pt idx="114">
                  <c:v>0.1877</c:v>
                </c:pt>
                <c:pt idx="115">
                  <c:v>0.8491</c:v>
                </c:pt>
                <c:pt idx="116">
                  <c:v>0.9063</c:v>
                </c:pt>
                <c:pt idx="117">
                  <c:v>0.0052</c:v>
                </c:pt>
                <c:pt idx="118">
                  <c:v>0.4801</c:v>
                </c:pt>
                <c:pt idx="119">
                  <c:v>0.577</c:v>
                </c:pt>
                <c:pt idx="120">
                  <c:v>0.5571</c:v>
                </c:pt>
                <c:pt idx="121">
                  <c:v>0.4055</c:v>
                </c:pt>
                <c:pt idx="122">
                  <c:v>0.1111</c:v>
                </c:pt>
                <c:pt idx="123">
                  <c:v>0.9576</c:v>
                </c:pt>
                <c:pt idx="124">
                  <c:v>0.7675</c:v>
                </c:pt>
                <c:pt idx="125">
                  <c:v>0.1764</c:v>
                </c:pt>
                <c:pt idx="126">
                  <c:v>0.3382</c:v>
                </c:pt>
                <c:pt idx="127">
                  <c:v>0.7491</c:v>
                </c:pt>
                <c:pt idx="128">
                  <c:v>0.7459</c:v>
                </c:pt>
                <c:pt idx="129">
                  <c:v>0.3423</c:v>
                </c:pt>
                <c:pt idx="130">
                  <c:v>0.1724</c:v>
                </c:pt>
                <c:pt idx="131">
                  <c:v>0.7707</c:v>
                </c:pt>
                <c:pt idx="132">
                  <c:v>0.9534</c:v>
                </c:pt>
                <c:pt idx="133">
                  <c:v>0.1144</c:v>
                </c:pt>
                <c:pt idx="134">
                  <c:v>0.4023</c:v>
                </c:pt>
                <c:pt idx="135">
                  <c:v>0.5612</c:v>
                </c:pt>
                <c:pt idx="136">
                  <c:v>0.5725</c:v>
                </c:pt>
                <c:pt idx="137">
                  <c:v>0.4838</c:v>
                </c:pt>
                <c:pt idx="138">
                  <c:v>0.0015</c:v>
                </c:pt>
                <c:pt idx="139">
                  <c:v>0.9109</c:v>
                </c:pt>
                <c:pt idx="140">
                  <c:v>0.8454</c:v>
                </c:pt>
                <c:pt idx="141">
                  <c:v>0.1923</c:v>
                </c:pt>
                <c:pt idx="142">
                  <c:v>0.2911</c:v>
                </c:pt>
                <c:pt idx="143">
                  <c:v>0.64</c:v>
                </c:pt>
                <c:pt idx="144">
                  <c:v>0.6567</c:v>
                </c:pt>
                <c:pt idx="145">
                  <c:v>0.255</c:v>
                </c:pt>
                <c:pt idx="146">
                  <c:v>0.2303</c:v>
                </c:pt>
                <c:pt idx="147">
                  <c:v>0.8268</c:v>
                </c:pt>
                <c:pt idx="148">
                  <c:v>0.8867</c:v>
                </c:pt>
                <c:pt idx="149">
                  <c:v>0.0456</c:v>
                </c:pt>
                <c:pt idx="150">
                  <c:v>0.4378</c:v>
                </c:pt>
                <c:pt idx="151">
                  <c:v>0.5987</c:v>
                </c:pt>
                <c:pt idx="152">
                  <c:v>0.5172</c:v>
                </c:pt>
                <c:pt idx="153">
                  <c:v>0.4266</c:v>
                </c:pt>
                <c:pt idx="154">
                  <c:v>0.0881</c:v>
                </c:pt>
                <c:pt idx="155">
                  <c:v>0.9994</c:v>
                </c:pt>
                <c:pt idx="156">
                  <c:v>0.8066</c:v>
                </c:pt>
                <c:pt idx="157">
                  <c:v>0.1556</c:v>
                </c:pt>
                <c:pt idx="158">
                  <c:v>0.3611</c:v>
                </c:pt>
                <c:pt idx="159">
                  <c:v>0.708</c:v>
                </c:pt>
                <c:pt idx="160">
                  <c:v>0.6884</c:v>
                </c:pt>
                <c:pt idx="161">
                  <c:v>0.3494</c:v>
                </c:pt>
                <c:pt idx="162">
                  <c:v>0.136</c:v>
                </c:pt>
                <c:pt idx="163">
                  <c:v>0.7949</c:v>
                </c:pt>
                <c:pt idx="164">
                  <c:v>0.9799</c:v>
                </c:pt>
                <c:pt idx="165">
                  <c:v>0.0763</c:v>
                </c:pt>
                <c:pt idx="166">
                  <c:v>0.4071</c:v>
                </c:pt>
                <c:pt idx="167">
                  <c:v>0.5054</c:v>
                </c:pt>
                <c:pt idx="168">
                  <c:v>0.6104</c:v>
                </c:pt>
                <c:pt idx="169">
                  <c:v>0.4573</c:v>
                </c:pt>
                <c:pt idx="170">
                  <c:v>0.0573</c:v>
                </c:pt>
                <c:pt idx="171">
                  <c:v>0.9062</c:v>
                </c:pt>
                <c:pt idx="172">
                  <c:v>0.8385</c:v>
                </c:pt>
                <c:pt idx="173">
                  <c:v>0.2498</c:v>
                </c:pt>
                <c:pt idx="174">
                  <c:v>0.2668</c:v>
                </c:pt>
                <c:pt idx="175">
                  <c:v>0.6762</c:v>
                </c:pt>
                <c:pt idx="176">
                  <c:v>0.6517</c:v>
                </c:pt>
                <c:pt idx="177">
                  <c:v>0.3106</c:v>
                </c:pt>
                <c:pt idx="178">
                  <c:v>0.204</c:v>
                </c:pt>
                <c:pt idx="179">
                  <c:v>0.8649</c:v>
                </c:pt>
                <c:pt idx="180">
                  <c:v>0.9227</c:v>
                </c:pt>
                <c:pt idx="181">
                  <c:v>0.021</c:v>
                </c:pt>
                <c:pt idx="182">
                  <c:v>0.4956</c:v>
                </c:pt>
                <c:pt idx="183">
                  <c:v>0.592</c:v>
                </c:pt>
                <c:pt idx="184">
                  <c:v>0.5416</c:v>
                </c:pt>
                <c:pt idx="185">
                  <c:v>0.3906</c:v>
                </c:pt>
                <c:pt idx="186">
                  <c:v>0.0948</c:v>
                </c:pt>
                <c:pt idx="187">
                  <c:v>0.9417</c:v>
                </c:pt>
                <c:pt idx="188">
                  <c:v>0.7512</c:v>
                </c:pt>
                <c:pt idx="189">
                  <c:v>0.1606</c:v>
                </c:pt>
                <c:pt idx="190">
                  <c:v>0.3228</c:v>
                </c:pt>
                <c:pt idx="191">
                  <c:v>0.7341</c:v>
                </c:pt>
                <c:pt idx="192">
                  <c:v>0.7223</c:v>
                </c:pt>
                <c:pt idx="193">
                  <c:v>0.3192</c:v>
                </c:pt>
                <c:pt idx="194">
                  <c:v>0.1641</c:v>
                </c:pt>
                <c:pt idx="195">
                  <c:v>0.7631</c:v>
                </c:pt>
                <c:pt idx="196">
                  <c:v>0.9455</c:v>
                </c:pt>
                <c:pt idx="197">
                  <c:v>0.1069</c:v>
                </c:pt>
                <c:pt idx="198">
                  <c:v>0.3784</c:v>
                </c:pt>
                <c:pt idx="199">
                  <c:v>0.5379</c:v>
                </c:pt>
                <c:pt idx="200">
                  <c:v>0.5804</c:v>
                </c:pt>
                <c:pt idx="201">
                  <c:v>0.4913</c:v>
                </c:pt>
                <c:pt idx="202">
                  <c:v>0.0253</c:v>
                </c:pt>
                <c:pt idx="203">
                  <c:v>0.9342</c:v>
                </c:pt>
                <c:pt idx="204">
                  <c:v>0.8689</c:v>
                </c:pt>
                <c:pt idx="205">
                  <c:v>0.2154</c:v>
                </c:pt>
                <c:pt idx="206">
                  <c:v>0.2993</c:v>
                </c:pt>
                <c:pt idx="207">
                  <c:v>0.6477</c:v>
                </c:pt>
                <c:pt idx="208">
                  <c:v>0.6797</c:v>
                </c:pt>
                <c:pt idx="209">
                  <c:v>0.2786</c:v>
                </c:pt>
                <c:pt idx="210">
                  <c:v>0.238</c:v>
                </c:pt>
                <c:pt idx="211">
                  <c:v>0.8349</c:v>
                </c:pt>
                <c:pt idx="212">
                  <c:v>0.8941</c:v>
                </c:pt>
                <c:pt idx="213">
                  <c:v>0.0536</c:v>
                </c:pt>
                <c:pt idx="214">
                  <c:v>0.4611</c:v>
                </c:pt>
                <c:pt idx="215">
                  <c:v>0.6224</c:v>
                </c:pt>
                <c:pt idx="216">
                  <c:v>0.5097</c:v>
                </c:pt>
                <c:pt idx="217">
                  <c:v>0.4187</c:v>
                </c:pt>
                <c:pt idx="218">
                  <c:v>0.0647</c:v>
                </c:pt>
                <c:pt idx="219">
                  <c:v>0.9756</c:v>
                </c:pt>
                <c:pt idx="220">
                  <c:v>0.7836</c:v>
                </c:pt>
                <c:pt idx="221">
                  <c:v>0.132</c:v>
                </c:pt>
                <c:pt idx="222">
                  <c:v>0.3534</c:v>
                </c:pt>
                <c:pt idx="223">
                  <c:v>0.6998</c:v>
                </c:pt>
                <c:pt idx="224">
                  <c:v>0.7115</c:v>
                </c:pt>
                <c:pt idx="225">
                  <c:v>0.3729</c:v>
                </c:pt>
                <c:pt idx="226">
                  <c:v>0.1437</c:v>
                </c:pt>
                <c:pt idx="227">
                  <c:v>0.8031</c:v>
                </c:pt>
                <c:pt idx="228">
                  <c:v>0.9873</c:v>
                </c:pt>
                <c:pt idx="229">
                  <c:v>0.0843</c:v>
                </c:pt>
                <c:pt idx="230">
                  <c:v>0.4304</c:v>
                </c:pt>
                <c:pt idx="231">
                  <c:v>0.5293</c:v>
                </c:pt>
                <c:pt idx="232">
                  <c:v>0.6029</c:v>
                </c:pt>
                <c:pt idx="233">
                  <c:v>0.4494</c:v>
                </c:pt>
                <c:pt idx="234">
                  <c:v>0.034</c:v>
                </c:pt>
                <c:pt idx="235">
                  <c:v>0.8824</c:v>
                </c:pt>
                <c:pt idx="236">
                  <c:v>0.8154</c:v>
                </c:pt>
                <c:pt idx="237">
                  <c:v>0.2263</c:v>
                </c:pt>
                <c:pt idx="238">
                  <c:v>0.2591</c:v>
                </c:pt>
                <c:pt idx="239">
                  <c:v>0.668</c:v>
                </c:pt>
                <c:pt idx="240">
                  <c:v>0.6281</c:v>
                </c:pt>
                <c:pt idx="241">
                  <c:v>0.2876</c:v>
                </c:pt>
                <c:pt idx="242">
                  <c:v>0.1959</c:v>
                </c:pt>
                <c:pt idx="243">
                  <c:v>0.8572</c:v>
                </c:pt>
                <c:pt idx="244">
                  <c:v>0.9147</c:v>
                </c:pt>
                <c:pt idx="245">
                  <c:v>0.0136</c:v>
                </c:pt>
                <c:pt idx="246">
                  <c:v>0.4718</c:v>
                </c:pt>
                <c:pt idx="247">
                  <c:v>0.5687</c:v>
                </c:pt>
                <c:pt idx="248">
                  <c:v>0.5496</c:v>
                </c:pt>
                <c:pt idx="249">
                  <c:v>0.398</c:v>
                </c:pt>
                <c:pt idx="250">
                  <c:v>0.1186</c:v>
                </c:pt>
                <c:pt idx="251">
                  <c:v>0.9651</c:v>
                </c:pt>
                <c:pt idx="252">
                  <c:v>0.7748</c:v>
                </c:pt>
                <c:pt idx="253">
                  <c:v>0.1837</c:v>
                </c:pt>
                <c:pt idx="254">
                  <c:v>0.3309</c:v>
                </c:pt>
                <c:pt idx="255">
                  <c:v>0.7419</c:v>
                </c:pt>
              </c:numCache>
            </c:numRef>
          </c:xVal>
          <c:yVal>
            <c:numRef>
              <c:f>Sheet1!$B$2:$B$257</c:f>
              <c:numCache>
                <c:formatCode>General</c:formatCode>
                <c:ptCount val="256"/>
                <c:pt idx="0">
                  <c:v>0.8049</c:v>
                </c:pt>
                <c:pt idx="1">
                  <c:v>0.1503</c:v>
                </c:pt>
                <c:pt idx="2">
                  <c:v>0.5902</c:v>
                </c:pt>
                <c:pt idx="3">
                  <c:v>0.498</c:v>
                </c:pt>
                <c:pt idx="4">
                  <c:v>0.6759</c:v>
                </c:pt>
                <c:pt idx="5">
                  <c:v>0.271</c:v>
                </c:pt>
                <c:pt idx="6">
                  <c:v>0.9534</c:v>
                </c:pt>
                <c:pt idx="7">
                  <c:v>0.1109</c:v>
                </c:pt>
                <c:pt idx="8">
                  <c:v>0.5229</c:v>
                </c:pt>
                <c:pt idx="9">
                  <c:v>0.4286</c:v>
                </c:pt>
                <c:pt idx="10">
                  <c:v>0.8627</c:v>
                </c:pt>
                <c:pt idx="11">
                  <c:v>0.2058</c:v>
                </c:pt>
                <c:pt idx="12">
                  <c:v>0.9014</c:v>
                </c:pt>
                <c:pt idx="13">
                  <c:v>0.0574</c:v>
                </c:pt>
                <c:pt idx="14">
                  <c:v>0.749</c:v>
                </c:pt>
                <c:pt idx="15">
                  <c:v>0.3424</c:v>
                </c:pt>
                <c:pt idx="16">
                  <c:v>0.7056</c:v>
                </c:pt>
                <c:pt idx="17">
                  <c:v>0.3624</c:v>
                </c:pt>
                <c:pt idx="18">
                  <c:v>0.9283</c:v>
                </c:pt>
                <c:pt idx="19">
                  <c:v>0.0227</c:v>
                </c:pt>
                <c:pt idx="20">
                  <c:v>0.8427</c:v>
                </c:pt>
                <c:pt idx="21">
                  <c:v>0.2493</c:v>
                </c:pt>
                <c:pt idx="22">
                  <c:v>0.5576</c:v>
                </c:pt>
                <c:pt idx="23">
                  <c:v>0.4017</c:v>
                </c:pt>
                <c:pt idx="24">
                  <c:v>0.9978</c:v>
                </c:pt>
                <c:pt idx="25">
                  <c:v>0.0899</c:v>
                </c:pt>
                <c:pt idx="26">
                  <c:v>0.65</c:v>
                </c:pt>
                <c:pt idx="27">
                  <c:v>0.3047</c:v>
                </c:pt>
                <c:pt idx="28">
                  <c:v>0.6112</c:v>
                </c:pt>
                <c:pt idx="29">
                  <c:v>0.4536</c:v>
                </c:pt>
                <c:pt idx="30">
                  <c:v>0.7713</c:v>
                </c:pt>
                <c:pt idx="31">
                  <c:v>0.1762</c:v>
                </c:pt>
                <c:pt idx="32">
                  <c:v>0.5658</c:v>
                </c:pt>
                <c:pt idx="33">
                  <c:v>0.4717</c:v>
                </c:pt>
                <c:pt idx="34">
                  <c:v>0.7883</c:v>
                </c:pt>
                <c:pt idx="35">
                  <c:v>0.1318</c:v>
                </c:pt>
                <c:pt idx="36">
                  <c:v>0.9524</c:v>
                </c:pt>
                <c:pt idx="37">
                  <c:v>0.108</c:v>
                </c:pt>
                <c:pt idx="38">
                  <c:v>0.6672</c:v>
                </c:pt>
                <c:pt idx="39">
                  <c:v>0.2603</c:v>
                </c:pt>
                <c:pt idx="40">
                  <c:v>0.8559</c:v>
                </c:pt>
                <c:pt idx="41">
                  <c:v>0.2009</c:v>
                </c:pt>
                <c:pt idx="42">
                  <c:v>0.5083</c:v>
                </c:pt>
                <c:pt idx="43">
                  <c:v>0.4159</c:v>
                </c:pt>
                <c:pt idx="44">
                  <c:v>0.7188</c:v>
                </c:pt>
                <c:pt idx="45">
                  <c:v>0.3141</c:v>
                </c:pt>
                <c:pt idx="46">
                  <c:v>0.879</c:v>
                </c:pt>
                <c:pt idx="47">
                  <c:v>0.0369</c:v>
                </c:pt>
                <c:pt idx="48">
                  <c:v>0.9156</c:v>
                </c:pt>
                <c:pt idx="49">
                  <c:v>0.008</c:v>
                </c:pt>
                <c:pt idx="50">
                  <c:v>0.7007</c:v>
                </c:pt>
                <c:pt idx="51">
                  <c:v>0.3556</c:v>
                </c:pt>
                <c:pt idx="52">
                  <c:v>0.537</c:v>
                </c:pt>
                <c:pt idx="53">
                  <c:v>0.3793</c:v>
                </c:pt>
                <c:pt idx="54">
                  <c:v>0.8143</c:v>
                </c:pt>
                <c:pt idx="55">
                  <c:v>0.219</c:v>
                </c:pt>
                <c:pt idx="56">
                  <c:v>0.6315</c:v>
                </c:pt>
                <c:pt idx="57">
                  <c:v>0.2881</c:v>
                </c:pt>
                <c:pt idx="58">
                  <c:v>0.9714</c:v>
                </c:pt>
                <c:pt idx="59">
                  <c:v>0.0655</c:v>
                </c:pt>
                <c:pt idx="60">
                  <c:v>0.7605</c:v>
                </c:pt>
                <c:pt idx="61">
                  <c:v>0.1674</c:v>
                </c:pt>
                <c:pt idx="62">
                  <c:v>0.6083</c:v>
                </c:pt>
                <c:pt idx="63">
                  <c:v>0.4526</c:v>
                </c:pt>
                <c:pt idx="64">
                  <c:v>0.661</c:v>
                </c:pt>
                <c:pt idx="65">
                  <c:v>0.2554</c:v>
                </c:pt>
                <c:pt idx="66">
                  <c:v>0.9383</c:v>
                </c:pt>
                <c:pt idx="67">
                  <c:v>0.0951</c:v>
                </c:pt>
                <c:pt idx="68">
                  <c:v>0.7898</c:v>
                </c:pt>
                <c:pt idx="69">
                  <c:v>0.1339</c:v>
                </c:pt>
                <c:pt idx="70">
                  <c:v>0.5749</c:v>
                </c:pt>
                <c:pt idx="71">
                  <c:v>0.4815</c:v>
                </c:pt>
                <c:pt idx="72">
                  <c:v>0.8866</c:v>
                </c:pt>
                <c:pt idx="73">
                  <c:v>0.0413</c:v>
                </c:pt>
                <c:pt idx="74">
                  <c:v>0.7344</c:v>
                </c:pt>
                <c:pt idx="75">
                  <c:v>0.3265</c:v>
                </c:pt>
                <c:pt idx="76">
                  <c:v>0.5073</c:v>
                </c:pt>
                <c:pt idx="77">
                  <c:v>0.4123</c:v>
                </c:pt>
                <c:pt idx="78">
                  <c:v>0.8472</c:v>
                </c:pt>
                <c:pt idx="79">
                  <c:v>0.1897</c:v>
                </c:pt>
                <c:pt idx="80">
                  <c:v>0.8263</c:v>
                </c:pt>
                <c:pt idx="81">
                  <c:v>0.2341</c:v>
                </c:pt>
                <c:pt idx="82">
                  <c:v>0.5411</c:v>
                </c:pt>
                <c:pt idx="83">
                  <c:v>0.3864</c:v>
                </c:pt>
                <c:pt idx="84">
                  <c:v>0.6899</c:v>
                </c:pt>
                <c:pt idx="85">
                  <c:v>0.3475</c:v>
                </c:pt>
                <c:pt idx="86">
                  <c:v>0.9125</c:v>
                </c:pt>
                <c:pt idx="87">
                  <c:v>0.0076</c:v>
                </c:pt>
                <c:pt idx="88">
                  <c:v>0.5949</c:v>
                </c:pt>
                <c:pt idx="89">
                  <c:v>0.438</c:v>
                </c:pt>
                <c:pt idx="90">
                  <c:v>0.7551</c:v>
                </c:pt>
                <c:pt idx="91">
                  <c:v>0.1608</c:v>
                </c:pt>
                <c:pt idx="92">
                  <c:v>0.9817</c:v>
                </c:pt>
                <c:pt idx="93">
                  <c:v>0.0751</c:v>
                </c:pt>
                <c:pt idx="94">
                  <c:v>0.6341</c:v>
                </c:pt>
                <c:pt idx="95">
                  <c:v>0.29</c:v>
                </c:pt>
                <c:pt idx="96">
                  <c:v>0.9685</c:v>
                </c:pt>
                <c:pt idx="97">
                  <c:v>0.1235</c:v>
                </c:pt>
                <c:pt idx="98">
                  <c:v>0.6834</c:v>
                </c:pt>
                <c:pt idx="99">
                  <c:v>0.2759</c:v>
                </c:pt>
                <c:pt idx="100">
                  <c:v>0.5817</c:v>
                </c:pt>
                <c:pt idx="101">
                  <c:v>0.4863</c:v>
                </c:pt>
                <c:pt idx="102">
                  <c:v>0.8044</c:v>
                </c:pt>
                <c:pt idx="103">
                  <c:v>0.1466</c:v>
                </c:pt>
                <c:pt idx="104">
                  <c:v>0.7354</c:v>
                </c:pt>
                <c:pt idx="105">
                  <c:v>0.3294</c:v>
                </c:pt>
                <c:pt idx="106">
                  <c:v>0.8954</c:v>
                </c:pt>
                <c:pt idx="107">
                  <c:v>0.052</c:v>
                </c:pt>
                <c:pt idx="108">
                  <c:v>0.8717</c:v>
                </c:pt>
                <c:pt idx="109">
                  <c:v>0.216</c:v>
                </c:pt>
                <c:pt idx="110">
                  <c:v>0.5239</c:v>
                </c:pt>
                <c:pt idx="111">
                  <c:v>0.4308</c:v>
                </c:pt>
                <c:pt idx="112">
                  <c:v>0.5518</c:v>
                </c:pt>
                <c:pt idx="113">
                  <c:v>0.3952</c:v>
                </c:pt>
                <c:pt idx="114">
                  <c:v>0.8292</c:v>
                </c:pt>
                <c:pt idx="115">
                  <c:v>0.235</c:v>
                </c:pt>
                <c:pt idx="116">
                  <c:v>0.931</c:v>
                </c:pt>
                <c:pt idx="117">
                  <c:v>0.0242</c:v>
                </c:pt>
                <c:pt idx="118">
                  <c:v>0.7163</c:v>
                </c:pt>
                <c:pt idx="119">
                  <c:v>0.3719</c:v>
                </c:pt>
                <c:pt idx="120">
                  <c:v>0.7756</c:v>
                </c:pt>
                <c:pt idx="121">
                  <c:v>0.1832</c:v>
                </c:pt>
                <c:pt idx="122">
                  <c:v>0.6232</c:v>
                </c:pt>
                <c:pt idx="123">
                  <c:v>0.4683</c:v>
                </c:pt>
                <c:pt idx="124">
                  <c:v>0.6468</c:v>
                </c:pt>
                <c:pt idx="125">
                  <c:v>0.3047</c:v>
                </c:pt>
                <c:pt idx="126">
                  <c:v>0.9866</c:v>
                </c:pt>
                <c:pt idx="127">
                  <c:v>0.0819</c:v>
                </c:pt>
                <c:pt idx="128">
                  <c:v>0.5153</c:v>
                </c:pt>
                <c:pt idx="129">
                  <c:v>0.42</c:v>
                </c:pt>
                <c:pt idx="130">
                  <c:v>0.8551</c:v>
                </c:pt>
                <c:pt idx="131">
                  <c:v>0.1973</c:v>
                </c:pt>
                <c:pt idx="132">
                  <c:v>0.8788</c:v>
                </c:pt>
                <c:pt idx="133">
                  <c:v>0.0337</c:v>
                </c:pt>
                <c:pt idx="134">
                  <c:v>0.7264</c:v>
                </c:pt>
                <c:pt idx="135">
                  <c:v>0.3187</c:v>
                </c:pt>
                <c:pt idx="136">
                  <c:v>0.7818</c:v>
                </c:pt>
                <c:pt idx="137">
                  <c:v>0.1261</c:v>
                </c:pt>
                <c:pt idx="138">
                  <c:v>0.567</c:v>
                </c:pt>
                <c:pt idx="139">
                  <c:v>0.4738</c:v>
                </c:pt>
                <c:pt idx="140">
                  <c:v>0.6688</c:v>
                </c:pt>
                <c:pt idx="141">
                  <c:v>0.263</c:v>
                </c:pt>
                <c:pt idx="142">
                  <c:v>0.9462</c:v>
                </c:pt>
                <c:pt idx="143">
                  <c:v>0.1029</c:v>
                </c:pt>
                <c:pt idx="144">
                  <c:v>0.9741</c:v>
                </c:pt>
                <c:pt idx="145">
                  <c:v>0.0672</c:v>
                </c:pt>
                <c:pt idx="146">
                  <c:v>0.6264</c:v>
                </c:pt>
                <c:pt idx="147">
                  <c:v>0.282</c:v>
                </c:pt>
                <c:pt idx="148">
                  <c:v>0.6026</c:v>
                </c:pt>
                <c:pt idx="149">
                  <c:v>0.446</c:v>
                </c:pt>
                <c:pt idx="150">
                  <c:v>0.7627</c:v>
                </c:pt>
                <c:pt idx="151">
                  <c:v>0.1686</c:v>
                </c:pt>
                <c:pt idx="152">
                  <c:v>0.6975</c:v>
                </c:pt>
                <c:pt idx="153">
                  <c:v>0.3554</c:v>
                </c:pt>
                <c:pt idx="154">
                  <c:v>0.9202</c:v>
                </c:pt>
                <c:pt idx="155">
                  <c:v>0.0156</c:v>
                </c:pt>
                <c:pt idx="156">
                  <c:v>0.8185</c:v>
                </c:pt>
                <c:pt idx="157">
                  <c:v>0.2261</c:v>
                </c:pt>
                <c:pt idx="158">
                  <c:v>0.5334</c:v>
                </c:pt>
                <c:pt idx="159">
                  <c:v>0.3785</c:v>
                </c:pt>
                <c:pt idx="160">
                  <c:v>0.8639</c:v>
                </c:pt>
                <c:pt idx="161">
                  <c:v>0.2081</c:v>
                </c:pt>
                <c:pt idx="162">
                  <c:v>0.5163</c:v>
                </c:pt>
                <c:pt idx="163">
                  <c:v>0.423</c:v>
                </c:pt>
                <c:pt idx="164">
                  <c:v>0.743</c:v>
                </c:pt>
                <c:pt idx="165">
                  <c:v>0.3373</c:v>
                </c:pt>
                <c:pt idx="166">
                  <c:v>0.9032</c:v>
                </c:pt>
                <c:pt idx="167">
                  <c:v>0.06</c:v>
                </c:pt>
                <c:pt idx="168">
                  <c:v>0.5895</c:v>
                </c:pt>
                <c:pt idx="169">
                  <c:v>0.4943</c:v>
                </c:pt>
                <c:pt idx="170">
                  <c:v>0.8121</c:v>
                </c:pt>
                <c:pt idx="171">
                  <c:v>0.1544</c:v>
                </c:pt>
                <c:pt idx="172">
                  <c:v>0.9609</c:v>
                </c:pt>
                <c:pt idx="173">
                  <c:v>0.1156</c:v>
                </c:pt>
                <c:pt idx="174">
                  <c:v>0.6757</c:v>
                </c:pt>
                <c:pt idx="175">
                  <c:v>0.2679</c:v>
                </c:pt>
                <c:pt idx="176">
                  <c:v>0.6547</c:v>
                </c:pt>
                <c:pt idx="177">
                  <c:v>0.3123</c:v>
                </c:pt>
                <c:pt idx="178">
                  <c:v>0.9946</c:v>
                </c:pt>
                <c:pt idx="179">
                  <c:v>0.0897</c:v>
                </c:pt>
                <c:pt idx="180">
                  <c:v>0.7676</c:v>
                </c:pt>
                <c:pt idx="181">
                  <c:v>0.1755</c:v>
                </c:pt>
                <c:pt idx="182">
                  <c:v>0.6153</c:v>
                </c:pt>
                <c:pt idx="183">
                  <c:v>0.4607</c:v>
                </c:pt>
                <c:pt idx="184">
                  <c:v>0.9232</c:v>
                </c:pt>
                <c:pt idx="185">
                  <c:v>0.0166</c:v>
                </c:pt>
                <c:pt idx="186">
                  <c:v>0.7083</c:v>
                </c:pt>
                <c:pt idx="187">
                  <c:v>0.3642</c:v>
                </c:pt>
                <c:pt idx="188">
                  <c:v>0.5598</c:v>
                </c:pt>
                <c:pt idx="189">
                  <c:v>0.4029</c:v>
                </c:pt>
                <c:pt idx="190">
                  <c:v>0.8371</c:v>
                </c:pt>
                <c:pt idx="191">
                  <c:v>0.2427</c:v>
                </c:pt>
                <c:pt idx="192">
                  <c:v>0.8937</c:v>
                </c:pt>
                <c:pt idx="193">
                  <c:v>0.0494</c:v>
                </c:pt>
                <c:pt idx="194">
                  <c:v>0.7414</c:v>
                </c:pt>
                <c:pt idx="195">
                  <c:v>0.3346</c:v>
                </c:pt>
                <c:pt idx="196">
                  <c:v>0.5306</c:v>
                </c:pt>
                <c:pt idx="197">
                  <c:v>0.4364</c:v>
                </c:pt>
                <c:pt idx="198">
                  <c:v>0.8705</c:v>
                </c:pt>
                <c:pt idx="199">
                  <c:v>0.2138</c:v>
                </c:pt>
                <c:pt idx="200">
                  <c:v>0.6837</c:v>
                </c:pt>
                <c:pt idx="201">
                  <c:v>0.279</c:v>
                </c:pt>
                <c:pt idx="202">
                  <c:v>0.961</c:v>
                </c:pt>
                <c:pt idx="203">
                  <c:v>0.1188</c:v>
                </c:pt>
                <c:pt idx="204">
                  <c:v>0.7973</c:v>
                </c:pt>
                <c:pt idx="205">
                  <c:v>0.1424</c:v>
                </c:pt>
                <c:pt idx="206">
                  <c:v>0.5824</c:v>
                </c:pt>
                <c:pt idx="207">
                  <c:v>0.49</c:v>
                </c:pt>
                <c:pt idx="208">
                  <c:v>0.6191</c:v>
                </c:pt>
                <c:pt idx="209">
                  <c:v>0.4612</c:v>
                </c:pt>
                <c:pt idx="210">
                  <c:v>0.7793</c:v>
                </c:pt>
                <c:pt idx="211">
                  <c:v>0.1839</c:v>
                </c:pt>
                <c:pt idx="212">
                  <c:v>0.9898</c:v>
                </c:pt>
                <c:pt idx="213">
                  <c:v>0.0822</c:v>
                </c:pt>
                <c:pt idx="214">
                  <c:v>0.6422</c:v>
                </c:pt>
                <c:pt idx="215">
                  <c:v>0.2971</c:v>
                </c:pt>
                <c:pt idx="216">
                  <c:v>0.8348</c:v>
                </c:pt>
                <c:pt idx="217">
                  <c:v>0.2417</c:v>
                </c:pt>
                <c:pt idx="218">
                  <c:v>0.5496</c:v>
                </c:pt>
                <c:pt idx="219">
                  <c:v>0.394</c:v>
                </c:pt>
                <c:pt idx="220">
                  <c:v>0.7136</c:v>
                </c:pt>
                <c:pt idx="221">
                  <c:v>0.3702</c:v>
                </c:pt>
                <c:pt idx="222">
                  <c:v>0.9362</c:v>
                </c:pt>
                <c:pt idx="223">
                  <c:v>0.0303</c:v>
                </c:pt>
                <c:pt idx="224">
                  <c:v>0.7268</c:v>
                </c:pt>
                <c:pt idx="225">
                  <c:v>0.3219</c:v>
                </c:pt>
                <c:pt idx="226">
                  <c:v>0.8869</c:v>
                </c:pt>
                <c:pt idx="227">
                  <c:v>0.0445</c:v>
                </c:pt>
                <c:pt idx="228">
                  <c:v>0.848</c:v>
                </c:pt>
                <c:pt idx="229">
                  <c:v>0.1933</c:v>
                </c:pt>
                <c:pt idx="230">
                  <c:v>0.5003</c:v>
                </c:pt>
                <c:pt idx="231">
                  <c:v>0.4081</c:v>
                </c:pt>
                <c:pt idx="232">
                  <c:v>0.9444</c:v>
                </c:pt>
                <c:pt idx="233">
                  <c:v>0.1002</c:v>
                </c:pt>
                <c:pt idx="234">
                  <c:v>0.6593</c:v>
                </c:pt>
                <c:pt idx="235">
                  <c:v>0.2527</c:v>
                </c:pt>
                <c:pt idx="236">
                  <c:v>0.5736</c:v>
                </c:pt>
                <c:pt idx="237">
                  <c:v>0.4793</c:v>
                </c:pt>
                <c:pt idx="238">
                  <c:v>0.7963</c:v>
                </c:pt>
                <c:pt idx="239">
                  <c:v>0.1395</c:v>
                </c:pt>
                <c:pt idx="240">
                  <c:v>0.7529</c:v>
                </c:pt>
                <c:pt idx="241">
                  <c:v>0.1595</c:v>
                </c:pt>
                <c:pt idx="242">
                  <c:v>0.6005</c:v>
                </c:pt>
                <c:pt idx="243">
                  <c:v>0.4446</c:v>
                </c:pt>
                <c:pt idx="244">
                  <c:v>0.6392</c:v>
                </c:pt>
                <c:pt idx="245">
                  <c:v>0.2961</c:v>
                </c:pt>
                <c:pt idx="246">
                  <c:v>0.979</c:v>
                </c:pt>
                <c:pt idx="247">
                  <c:v>0.0734</c:v>
                </c:pt>
                <c:pt idx="248">
                  <c:v>0.5447</c:v>
                </c:pt>
                <c:pt idx="249">
                  <c:v>0.3871</c:v>
                </c:pt>
                <c:pt idx="250">
                  <c:v>0.8221</c:v>
                </c:pt>
                <c:pt idx="251">
                  <c:v>0.227</c:v>
                </c:pt>
                <c:pt idx="252">
                  <c:v>0.9079</c:v>
                </c:pt>
                <c:pt idx="253">
                  <c:v>0</c:v>
                </c:pt>
                <c:pt idx="254">
                  <c:v>0.6931</c:v>
                </c:pt>
                <c:pt idx="255">
                  <c:v>0.3477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majorGridlines>
          <c:spPr>
            <a:ln w="6350" cap="flat">
              <a:solidFill>
                <a:srgbClr val="E6E8EE"/>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C6F7F"/>
                </a:solidFill>
                <a:latin typeface="Arial"/>
              </a:defRPr>
            </a:pPr>
            <a:endParaRPr lang="en-US"/>
          </a:p>
        </c:txPr>
        <c:crossAx val="2094734552"/>
        <c:crosses val="autoZero"/>
        <c:auto val="1"/>
        <c:lblAlgn val="ctr"/>
        <c:noMultiLvlLbl val="1"/>
        <c:majorUnit val="0.25"/>
      </c:valAx>
      <c:valAx>
        <c:axId val="2094734552"/>
        <c:scaling>
          <c:orientation val="minMax"/>
          <c:max val="1"/>
          <c:min val="0"/>
        </c:scaling>
        <c:delete val="0"/>
        <c:axPos val="l"/>
        <c:majorGridlines>
          <c:spPr>
            <a:ln w="6350" cap="flat">
              <a:solidFill>
                <a:srgbClr val="E6E8EE"/>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C6F7F"/>
                </a:solidFill>
                <a:latin typeface="Arial"/>
              </a:defRPr>
            </a:pPr>
            <a:endParaRPr lang="en-US"/>
          </a:p>
        </c:txPr>
        <c:crossAx val="2094734554"/>
        <c:crosses val="autoZero"/>
        <c:crossBetween val="midCat"/>
        <c:majorUnit val="0.25"/>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S1 推定値</c:v>
                </c:pt>
              </c:strCache>
            </c:strRef>
          </c:tx>
          <c:spPr>
            <a:solidFill>
              <a:srgbClr val="E76F51"/>
            </a:solidFill>
            <a:ln w="3175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76F51"/>
              </a:solidFill>
              <a:ln w="9525" cap="flat">
                <a:solidFill>
                  <a:srgbClr val="E76F51"/>
                </a:solidFill>
                <a:prstDash val="solid"/>
                <a:round/>
              </a:ln>
              <a:effectLst/>
            </c:spPr>
          </c:marker>
          <c:cat>
            <c:multiLvlStrRef>
              <c:f>Sheet1!$A$2:$A$10</c:f>
              <c:multiLvlStrCache>
                <c:ptCount val="9"/>
                <c:lvl>
                  <c:pt idx="0">
                    <c:v>64</c:v>
                  </c:pt>
                  <c:pt idx="1">
                    <c:v>128</c:v>
                  </c:pt>
                  <c:pt idx="2">
                    <c:v>256</c:v>
                  </c:pt>
                  <c:pt idx="3">
                    <c:v>512</c:v>
                  </c:pt>
                  <c:pt idx="4">
                    <c:v>1,024</c:v>
                  </c:pt>
                  <c:pt idx="5">
                    <c:v>2,048</c:v>
                  </c:pt>
                  <c:pt idx="6">
                    <c:v>4,096</c:v>
                  </c:pt>
                  <c:pt idx="7">
                    <c:v>8,192</c:v>
                  </c:pt>
                  <c:pt idx="8">
                    <c:v>16,384</c:v>
                  </c:pt>
                </c:lvl>
              </c:multiLvlStrCache>
            </c:multiLvlStrRef>
          </c:cat>
          <c:val>
            <c:numRef>
              <c:f>Sheet1!$B$2:$B$10</c:f>
              <c:numCache>
                <c:formatCode>General</c:formatCode>
                <c:ptCount val="9"/>
                <c:pt idx="0">
                  <c:v>0.2622</c:v>
                </c:pt>
                <c:pt idx="1">
                  <c:v>0.2823</c:v>
                </c:pt>
                <c:pt idx="2">
                  <c:v>0.2799</c:v>
                </c:pt>
                <c:pt idx="3">
                  <c:v>0.275</c:v>
                </c:pt>
                <c:pt idx="4">
                  <c:v>0.3134</c:v>
                </c:pt>
                <c:pt idx="5">
                  <c:v>0.3129</c:v>
                </c:pt>
                <c:pt idx="6">
                  <c:v>0.3141</c:v>
                </c:pt>
                <c:pt idx="7">
                  <c:v>0.3141</c:v>
                </c:pt>
                <c:pt idx="8">
                  <c:v>0.3139</c:v>
                </c:pt>
              </c:numCache>
            </c:numRef>
          </c:val>
          <c:smooth val="0"/>
        </c:ser>
        <c:ser>
          <c:idx val="1"/>
          <c:order val="1"/>
          <c:tx>
            <c:strRef>
              <c:f>Sheet1!$C$1</c:f>
              <c:strCache>
                <c:ptCount val="1"/>
                <c:pt idx="0">
                  <c:v>S2 推定値</c:v>
                </c:pt>
              </c:strCache>
            </c:strRef>
          </c:tx>
          <c:spPr>
            <a:solidFill>
              <a:srgbClr val="2A9D8F"/>
            </a:solidFill>
            <a:ln w="31750" cap="flat">
              <a:solidFill>
                <a:srgbClr val="2A9D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A9D8F"/>
              </a:solidFill>
              <a:ln w="9525" cap="flat">
                <a:solidFill>
                  <a:srgbClr val="2A9D8F"/>
                </a:solidFill>
                <a:prstDash val="solid"/>
                <a:round/>
              </a:ln>
              <a:effectLst/>
            </c:spPr>
          </c:marker>
          <c:cat>
            <c:multiLvlStrRef>
              <c:f>Sheet1!$A$2:$A$10</c:f>
              <c:multiLvlStrCache>
                <c:ptCount val="9"/>
                <c:lvl>
                  <c:pt idx="0">
                    <c:v>64</c:v>
                  </c:pt>
                  <c:pt idx="1">
                    <c:v>128</c:v>
                  </c:pt>
                  <c:pt idx="2">
                    <c:v>256</c:v>
                  </c:pt>
                  <c:pt idx="3">
                    <c:v>512</c:v>
                  </c:pt>
                  <c:pt idx="4">
                    <c:v>1,024</c:v>
                  </c:pt>
                  <c:pt idx="5">
                    <c:v>2,048</c:v>
                  </c:pt>
                  <c:pt idx="6">
                    <c:v>4,096</c:v>
                  </c:pt>
                  <c:pt idx="7">
                    <c:v>8,192</c:v>
                  </c:pt>
                  <c:pt idx="8">
                    <c:v>16,384</c:v>
                  </c:pt>
                </c:lvl>
              </c:multiLvlStrCache>
            </c:multiLvlStrRef>
          </c:cat>
          <c:val>
            <c:numRef>
              <c:f>Sheet1!$C$2:$C$10</c:f>
              <c:numCache>
                <c:formatCode>General</c:formatCode>
                <c:ptCount val="9"/>
                <c:pt idx="0">
                  <c:v>0.5092</c:v>
                </c:pt>
                <c:pt idx="1">
                  <c:v>0.478</c:v>
                </c:pt>
                <c:pt idx="2">
                  <c:v>0.4504</c:v>
                </c:pt>
                <c:pt idx="3">
                  <c:v>0.4466</c:v>
                </c:pt>
                <c:pt idx="4">
                  <c:v>0.4426</c:v>
                </c:pt>
                <c:pt idx="5">
                  <c:v>0.4425</c:v>
                </c:pt>
                <c:pt idx="6">
                  <c:v>0.4426</c:v>
                </c:pt>
                <c:pt idx="7">
                  <c:v>0.4426</c:v>
                </c:pt>
                <c:pt idx="8">
                  <c:v>0.4425</c:v>
                </c:pt>
              </c:numCache>
            </c:numRef>
          </c:val>
          <c:smooth val="0"/>
        </c:ser>
        <c:ser>
          <c:idx val="2"/>
          <c:order val="2"/>
          <c:tx>
            <c:strRef>
              <c:f>Sheet1!$D$1</c:f>
              <c:strCache>
                <c:ptCount val="1"/>
                <c:pt idx="0">
                  <c:v>S3 推定値</c:v>
                </c:pt>
              </c:strCache>
            </c:strRef>
          </c:tx>
          <c:spPr>
            <a:solidFill>
              <a:srgbClr val="9C7412"/>
            </a:solidFill>
            <a:ln w="31750" cap="flat">
              <a:solidFill>
                <a:srgbClr val="9C741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9C7412"/>
              </a:solidFill>
              <a:ln w="9525" cap="flat">
                <a:solidFill>
                  <a:srgbClr val="9C7412"/>
                </a:solidFill>
                <a:prstDash val="solid"/>
                <a:round/>
              </a:ln>
              <a:effectLst/>
            </c:spPr>
          </c:marker>
          <c:cat>
            <c:multiLvlStrRef>
              <c:f>Sheet1!$A$2:$A$10</c:f>
              <c:multiLvlStrCache>
                <c:ptCount val="9"/>
                <c:lvl>
                  <c:pt idx="0">
                    <c:v>64</c:v>
                  </c:pt>
                  <c:pt idx="1">
                    <c:v>128</c:v>
                  </c:pt>
                  <c:pt idx="2">
                    <c:v>256</c:v>
                  </c:pt>
                  <c:pt idx="3">
                    <c:v>512</c:v>
                  </c:pt>
                  <c:pt idx="4">
                    <c:v>1,024</c:v>
                  </c:pt>
                  <c:pt idx="5">
                    <c:v>2,048</c:v>
                  </c:pt>
                  <c:pt idx="6">
                    <c:v>4,096</c:v>
                  </c:pt>
                  <c:pt idx="7">
                    <c:v>8,192</c:v>
                  </c:pt>
                  <c:pt idx="8">
                    <c:v>16,384</c:v>
                  </c:pt>
                </c:lvl>
              </c:multiLvlStrCache>
            </c:multiLvlStrRef>
          </c:cat>
          <c:val>
            <c:numRef>
              <c:f>Sheet1!$D$2:$D$10</c:f>
              <c:numCache>
                <c:formatCode>General</c:formatCode>
                <c:ptCount val="9"/>
                <c:pt idx="0">
                  <c:v>-0.1085</c:v>
                </c:pt>
                <c:pt idx="1">
                  <c:v>0.0646</c:v>
                </c:pt>
                <c:pt idx="2">
                  <c:v>0.1106</c:v>
                </c:pt>
                <c:pt idx="3">
                  <c:v>0.132</c:v>
                </c:pt>
                <c:pt idx="4">
                  <c:v>-0.0023</c:v>
                </c:pt>
                <c:pt idx="5">
                  <c:v>0.0014</c:v>
                </c:pt>
                <c:pt idx="6">
                  <c:v>0</c:v>
                </c:pt>
                <c:pt idx="7">
                  <c:v>0.0001</c:v>
                </c:pt>
                <c:pt idx="8">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6F7F"/>
                </a:solidFill>
                <a:latin typeface="Arial"/>
              </a:defRPr>
            </a:pPr>
            <a:endParaRPr lang="en-US"/>
          </a:p>
        </c:txPr>
        <c:crossAx val="2094734552"/>
        <c:crosses val="autoZero"/>
        <c:auto val="1"/>
        <c:lblAlgn val="ctr"/>
        <c:noMultiLvlLbl val="1"/>
      </c:catAx>
      <c:valAx>
        <c:axId val="2094734552"/>
        <c:scaling>
          <c:orientation val="minMax"/>
          <c:max val="0.6"/>
          <c:min val="-0.2"/>
        </c:scaling>
        <c:delete val="0"/>
        <c:axPos val="l"/>
        <c:majorGridlines>
          <c:spPr>
            <a:ln w="6350" cap="flat">
              <a:solidFill>
                <a:srgbClr val="E6E8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6F7F"/>
                </a:solidFill>
                <a:latin typeface="Arial"/>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4A4E69"/>
              </a:solidFill>
              <a:latin typeface="BIZ UDGothic"/>
              <a:cs typeface="BIZ UD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は、Sobol感度解析の概念と原理を学ぶための教材です。右の円グラフは、後半で扱うIshigami関数の出力分散が「どの入力によるものか」を分けた結果です。この「分散を分ける」という考え方が、資料全体を通したテーマ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は4章構成です。第1章で感度解析の目的と、よく使われる「1つずつ動かす方法」の限界を確認します。第2章でSobol指数の定義を数式と図で理解し、第3章で実際にどう計算するか（推定のしくみ）を学びます。第4章は実務で使うときの手順と注意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感度解析は「出力のばらつきは、どの入力のばらつきから来ているのか」を調べる方法です。入力には実際に起こりうるばらつき（範囲や分布）を与え、モデルを通して出力がどれくらいばらつくかを見ます。目的は主に3つで、重要な因子に管理の力を集中する、効かない因子を固定して計算や実験を減らす、そして単独では見えない組み合わせの効果を見つけ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局所感度は「基準点のまわりの傾き」を見る方法で、計算は安いものの、基準点の近くしか見ていません。応答が曲がっている（非線形）場合や、他の入力の値によって効き方が変わる（交互作用）場合には、重要な入力を見落とすことがあります。グローバル感度解析は、入力を取りうる範囲全体で同時にばらつかせるため、非線形や交互作用も含めて評価できます。その代わり計算回数は多く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Ishigami関数は感度解析の検証によく使われる関数です。基準点(0, 0, 0)で X3 だけを動かすと、X3 の項に sin X1 = 0 が掛かるため、出力はまったく変化しません。OATでは「X3 は効かない」と判断してしまいます。しかし入力全体をばらつかせると、X3 は X1 との組み合わせを通じて出力分散の約24%に関わっています（総合効果 ST3 = 0.244）。これが局所的な方法の落とし穴です。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Sobol法の考え方はシンプルです。出力のばらつきを分散 V(Y) で測り、それを「各入力だけによる部分」と「入力の組み合わせによる部分」に分けます。そして各部分が全体に占める割合を感度の指標とします。これがSobol指数です。実験計画法の分散分析で、因子ごとの平方和が全体に占める割合（寄与率）を見るのと近い発想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ol法を正しく使うための前提です。特に「入力どうしが独立」という前提は重要で、相関のある入力にそのまま使うと分解の解釈があいまいになります。また、結果は入力に与えた範囲や分布によって変わります。同じモデルでも、範囲を広く取った入力ほど寄与が大きく出るので、設定の根拠を必ず記録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ol法の土台は、モデルを「定数項＋各入力だけの項＋2つの入力の組み合わせの項＋…」に分ける分解です。Hoeffding–Sobol分解やANOVA分解と呼ばれます。各項は条件付き期待値を使って順番に定義され、入力が独立なら各項は平均0で互いに相関しません（直交）。そのため、次のページのように分散も各項の分散の足し算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直交性のおかげで、出力の分散は各項の分散の和になります。両辺を V(Y) で割ると、すべての指数の合計がちょうど1になります。ただし項の数は 2^d − 1 個あり、入力が10個なら1,023項、20個なら100万項を超えます。すべてを求めるのは現実的ではないため、実務では「単独の効果」の S_i と「関わるすべての効果」の S_Ti の2つに要約して使います。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一次効果指数 S_i は「X_i だけで説明できる分散の割合」です。計算は内側と外側の2段階で考えます。まず X_i をある値に固定し、他の入力をすべてばらつかせて Y の平均を取ります。次に、その平均が X_i の値によってどれだけ上下するかを分散で測ります。全分散の公式から、これは「X_i を知ることで平均的に減らせる分散」とも言えます。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Ishigami関数のサンプル300点を、各入力を横軸にして描いたものです。濃い点は条件付き平均 E(Y|X_i) の理論値です。X1 と X2 では平均が大きく上下するので S_i が大きくなります。X3 では平均が一定（3.5）なので S3 = 0 です。ただし X3 の両端では点の散らばりが大きくなっており、X3 が別の入力との組み合わせで効いていることが読み取れます。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総合効果指数 S_Ti は「X_i が少しでも関わる分散の割合」です。X_i 以外の入力をすべて固定したときに、それでも残る分散の平均を考えます。分解の言葉でいえば、X_i を含むすべての項（主効果と交互作用）の合計です。したがって S_i ≤ S_Ti が常に成り立ち、その差が X_i の関わる交互作用の大きさになります。S_Ti がほぼ0なら、その入力は固定しても出力のばらつきにほとんど影響しません。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S_i と S_Ti を組み合わせると、入力の効き方をパターンで読み取れます。S_Ti がほぼ0なら固定してよい入力、S_i と S_Ti がほぼ同じで大きければ単独で効く入力、S_Ti が S_i よりずっと大きければ交互作用を通じて効く入力です。さらに S_i の合計が1に近いか、1よりどれだけ小さいかで、モデル全体にどの程度交互作用があるかが分かります。なお「ほぼ0」の基準は目的によって決め、推定値そのものではなく信頼区間の上限で判断します。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定義どおりに手で計算できる2つの例です。例題1は足し算だけのモデルで、係数が2倍の X2 は分散では4倍効くため、S2 = 0.8 になります。交互作用がないので S_i と S_Ti は一致します。例題2は掛け算だけのモデルです。X1 を固定しても X2 の平均は0なので、条件付き平均は常に0となり S1 = 0 です。しかし総合効果は1で、分散はすべて交互作用によるものです。S_i だけを見て「効かない」と判断すると誤ることが分かります。右下の値は、第3章の推定式で数値計算した結果です。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Ishigami関数は、Sobol指数の理論値が式で求められるため、プログラムの検算によく使われます。X2 は一次効果と総合効果が同じで、単独で効いています。X1 は総合効果が一次効果より0.244大きく、X3 との交互作用があります。X3 は一次効果が0なのに総合効果が0.244あり、交互作用だけで効いています。次に作るPythonスクリプトでも、まずこの理論値と一致するかを確認します。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定義の式をそのまま計算しようとすると、X_i の値を外側で M 通り、他の入力を内側で K 通り動かす二重ループになり、入力の数だけ繰り返すと d×M×K 回のモデル計算が必要です。M、K を1,000とすると、入力3個でも300万回になります。Saltelliの方法では、2つのランダムな行列の列を入れ替えるだけで、すべての S_i と S_Ti を N(d+2) 回で同時に推定できます。ここでの回数は目安で、実際に必要な N はモデルによって変わるため、収束の確認が欠かせません。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Saltelliサンプリングの手順です。まず 2d 列の乱数（実務では準乱数のSobol列）を N 行作り、左半分を行列 A、右半分を行列 B とします。値は入力の分布に合わせて変換します。次に、入力 i ごとに A の i 列目だけを B の i 列目に入れ替えた行列 A_B^(i) を作ります。最後に A、B、A_B^(1)〜A_B^(d) のすべての行でモデルを計算します。合計 N(d+2) 回です。2次の指数 S_ij も求める場合は、B の列を A に入れ替えた行列も加えて N(2d+2) 回になります。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推定式の直感です。B と A_B^(i) は X_i の列だけが同じなので、両者の出力が一緒に動く度合いは X_i 単独の効きを表します。これが一次効果の推定式です。一方、A と A_B^(i) は X_i の列だけが違うので、出力の差は X_i を動かしたときの変化そのもので、交互作用も含みます。これが総合効果の推定式です。どちらも最後に出力の分散 V(Y) で割ります。PythonのライブラリSALibの sobol.analyze も同じ式を使っています。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は普通の一様乱数、右はSobol列（準乱数）で、どちらも256点です。乱数では点が固まる場所とすき間ができますが、Sobol列は空間を均一に埋めます。均一さを表すディスクレパンシーは約100分の1です。均一なサンプルは、同じ点数でも積分（平均や分散）の推定が安定しやすいため、Saltelliサンプリングでもよく使われます。Sobol列は2のべき乗の点数で均一性が保たれるので、N は 512、1024 のように選びます。なお、Sobol列とSobol指数は同じSobol氏に由来しますが、まったく別のものです。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Ishigami関数で、サンプル数 N を64から16,384まで増やしたときの一次効果の推定値です。N が小さいうちは値が大きくぶれ、この計算例では N = 64 のとき S3 が −0.108 と負の値になりました。指数の定義上は負になりませんが、推定誤差で負になることがあります。N が1,024を超えるあたりから理論値の近くに落ち着いています。実務では N を2倍ずつ増やして値が落ち着くことを確認し、ブートストラップで求めた信頼区間と一緒に報告します。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務でSobol感度解析を行うときの流れです。最も大事なのはステップ2の範囲と分布の設定で、ここが結果を大きく左右します。ステップ3〜5はPythonスクリプトで自動化できる部分です。モデルの計算が重い場合は、ステップ4の前に代理モデルを作ることを検討します。最後に、指数の値だけでなく、前提とした範囲・分布や収束の確認結果も一緒に報告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ol法の主な注意点と対策です。入力に相関がある場合は、独立性の前提が崩れるため、Shapley効果など相関を扱える指標を検討します。分散だけを見ているので、裾の重い出力では分布全体を見る指標（Borgonovoのδ、PAWN）が向くことがあります。計算が重いモデルでは、ガウス過程回帰や多項式カオス展開などの代理モデルを使います。いずれの場合も、前提と設定を記録しておくことが重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代表的な感度解析手法との比較です。OATは安く簡単ですが、非線形や交互作用を見落とします。標準化回帰係数はモデルがほぼ線形のときに有効です。Morris法は入力が多いときに、効かない入力をふるい落とすのに向いています。Sobol法は計算回数が多い代わりに、交互作用を含めて寄与を定量的に示せます。入力が多い場合は、Morris法で候補を絞ってからSobol法で定量化する組み合わせがよく使わ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この資料で出てきた用語のまとめです。Pythonスクリプトを作るときや、結果を報告するときの確認用に使ってください。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まとめです。Sobol法は出力の分散を入力ごと・組み合わせごとに分解し、S_i と S_Ti の2つの指数で寄与を表します。推定はSaltelliサンプリングで行い、Sobol列と信頼区間で精度を確認します。結果は入力の範囲・分布や独立性の前提に左右される点に注意してください。次のステップでは、会社のPCで使えるライブラリを確認したうえでPythonスクリプトを作り、Ishigami関数の理論値で検算してから、実際のモデルに適用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主な参考文献です。まず全体像をつかむには Saltelli らの教科書（The Primer）、推定式の詳細は Saltelli et al. (2010) が参考になります。Pythonで実装する際は SALib のドキュメントも確認してください。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image" Target="../media/image-19-1.png"/><Relationship Id="rId4" Type="http://schemas.openxmlformats.org/officeDocument/2006/relationships/image" Target="../media/image-19-2.png"/><Relationship Id="rId5" Type="http://schemas.openxmlformats.org/officeDocument/2006/relationships/image" Target="../media/image-19-3.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23B"/>
        </a:solidFill>
      </p:bgPr>
    </p:bg>
    <p:spTree>
      <p:nvGrpSpPr>
        <p:cNvPr id="1" name=""/>
        <p:cNvGrpSpPr/>
        <p:nvPr/>
      </p:nvGrpSpPr>
      <p:grpSpPr>
        <a:xfrm>
          <a:off x="0" y="0"/>
          <a:ext cx="0" cy="0"/>
          <a:chOff x="0" y="0"/>
          <a:chExt cx="0" cy="0"/>
        </a:xfrm>
      </p:grpSpPr>
      <p:sp>
        <p:nvSpPr>
          <p:cNvPr id="3" name="Text 0"/>
          <p:cNvSpPr/>
          <p:nvPr/>
        </p:nvSpPr>
        <p:spPr>
          <a:xfrm>
            <a:off x="731520" y="822960"/>
            <a:ext cx="5943600" cy="365760"/>
          </a:xfrm>
          <a:prstGeom prst="rect">
            <a:avLst/>
          </a:prstGeom>
          <a:noFill/>
          <a:ln/>
        </p:spPr>
        <p:txBody>
          <a:bodyPr wrap="square" lIns="0" tIns="0" rIns="0" bIns="0" rtlCol="0" anchor="ctr"/>
          <a:lstStyle/>
          <a:p>
            <a:pPr indent="0" marL="0">
              <a:buNone/>
            </a:pPr>
            <a:r>
              <a:rPr lang="en-US" sz="1400" dirty="0">
                <a:solidFill>
                  <a:srgbClr val="A9ACC6"/>
                </a:solidFill>
                <a:latin typeface="BIZ UDGothic" pitchFamily="34" charset="0"/>
                <a:ea typeface="BIZ UDGothic" pitchFamily="34" charset="-122"/>
                <a:cs typeface="BIZ UDGothic" pitchFamily="34" charset="-120"/>
              </a:rPr>
              <a:t>学習用資料 ｜ グローバル感度解析</a:t>
            </a:r>
            <a:endParaRPr lang="en-US" sz="1400" dirty="0"/>
          </a:p>
        </p:txBody>
      </p:sp>
      <p:sp>
        <p:nvSpPr>
          <p:cNvPr id="4" name="Text 1"/>
          <p:cNvSpPr/>
          <p:nvPr/>
        </p:nvSpPr>
        <p:spPr>
          <a:xfrm>
            <a:off x="731520" y="1737360"/>
            <a:ext cx="6217920" cy="914400"/>
          </a:xfrm>
          <a:prstGeom prst="rect">
            <a:avLst/>
          </a:prstGeom>
          <a:noFill/>
          <a:ln/>
        </p:spPr>
        <p:txBody>
          <a:bodyPr wrap="square" lIns="0" tIns="0" rIns="0" bIns="0" rtlCol="0" anchor="ctr"/>
          <a:lstStyle/>
          <a:p>
            <a:pPr indent="0" marL="0">
              <a:buNone/>
            </a:pPr>
            <a:r>
              <a:rPr lang="en-US" sz="4600" b="1" dirty="0">
                <a:solidFill>
                  <a:srgbClr val="FFFFFF"/>
                </a:solidFill>
                <a:latin typeface="BIZ UDGothic" pitchFamily="34" charset="0"/>
                <a:ea typeface="BIZ UDGothic" pitchFamily="34" charset="-122"/>
                <a:cs typeface="BIZ UDGothic" pitchFamily="34" charset="-120"/>
              </a:rPr>
              <a:t>Sobol感度解析 入門</a:t>
            </a:r>
            <a:endParaRPr lang="en-US" sz="4600" dirty="0"/>
          </a:p>
        </p:txBody>
      </p:sp>
      <p:sp>
        <p:nvSpPr>
          <p:cNvPr id="5" name="Text 2"/>
          <p:cNvSpPr/>
          <p:nvPr/>
        </p:nvSpPr>
        <p:spPr>
          <a:xfrm>
            <a:off x="731520" y="2788920"/>
            <a:ext cx="6035040" cy="1005840"/>
          </a:xfrm>
          <a:prstGeom prst="rect">
            <a:avLst/>
          </a:prstGeom>
          <a:noFill/>
          <a:ln/>
        </p:spPr>
        <p:txBody>
          <a:bodyPr wrap="square" lIns="0" tIns="0" rIns="0" bIns="0" rtlCol="0" anchor="t"/>
          <a:lstStyle/>
          <a:p>
            <a:pPr indent="0" marL="0">
              <a:spcAft>
                <a:spcPts val="600"/>
              </a:spcAft>
              <a:buNone/>
            </a:pPr>
            <a:r>
              <a:rPr lang="en-US" sz="2000" dirty="0">
                <a:solidFill>
                  <a:srgbClr val="D9DBEA"/>
                </a:solidFill>
                <a:latin typeface="BIZ UDGothic" pitchFamily="34" charset="0"/>
                <a:ea typeface="BIZ UDGothic" pitchFamily="34" charset="-122"/>
                <a:cs typeface="BIZ UDGothic" pitchFamily="34" charset="-120"/>
              </a:rPr>
              <a:t>概念と原理</a:t>
            </a:r>
            <a:endParaRPr lang="en-US" sz="2000" dirty="0"/>
          </a:p>
          <a:p>
            <a:pPr indent="0" marL="0">
              <a:spcAft>
                <a:spcPts val="600"/>
              </a:spcAft>
              <a:buNone/>
            </a:pPr>
            <a:r>
              <a:rPr lang="en-US" sz="2000" dirty="0">
                <a:solidFill>
                  <a:srgbClr val="D9DBEA"/>
                </a:solidFill>
                <a:latin typeface="BIZ UDGothic" pitchFamily="34" charset="0"/>
                <a:ea typeface="BIZ UDGothic" pitchFamily="34" charset="-122"/>
                <a:cs typeface="BIZ UDGothic" pitchFamily="34" charset="-120"/>
              </a:rPr>
              <a:t>出力のばらつきを、入力ごとに「分けて」理解する</a:t>
            </a:r>
            <a:endParaRPr lang="en-US" sz="2000" dirty="0"/>
          </a:p>
        </p:txBody>
      </p:sp>
      <p:sp>
        <p:nvSpPr>
          <p:cNvPr id="6" name="Text 3"/>
          <p:cNvSpPr/>
          <p:nvPr/>
        </p:nvSpPr>
        <p:spPr>
          <a:xfrm>
            <a:off x="731520" y="5806440"/>
            <a:ext cx="6035040" cy="320040"/>
          </a:xfrm>
          <a:prstGeom prst="rect">
            <a:avLst/>
          </a:prstGeom>
          <a:noFill/>
          <a:ln/>
        </p:spPr>
        <p:txBody>
          <a:bodyPr wrap="square" lIns="0" tIns="0" rIns="0" bIns="0" rtlCol="0" anchor="ctr"/>
          <a:lstStyle/>
          <a:p>
            <a:pPr indent="0" marL="0">
              <a:buNone/>
            </a:pPr>
            <a:r>
              <a:rPr lang="en-US" sz="1200" dirty="0">
                <a:solidFill>
                  <a:srgbClr val="A9ACC6"/>
                </a:solidFill>
                <a:latin typeface="BIZ UDGothic" pitchFamily="34" charset="0"/>
                <a:ea typeface="BIZ UDGothic" pitchFamily="34" charset="-122"/>
                <a:cs typeface="BIZ UDGothic" pitchFamily="34" charset="-120"/>
              </a:rPr>
              <a:t>2026年9月 ｜ 例題の数値は Python（NumPy / SciPy）で計算</a:t>
            </a:r>
            <a:endParaRPr lang="en-US" sz="1200" dirty="0"/>
          </a:p>
        </p:txBody>
      </p:sp>
      <p:sp>
        <p:nvSpPr>
          <p:cNvPr id="7" name="Text 4"/>
          <p:cNvSpPr/>
          <p:nvPr/>
        </p:nvSpPr>
        <p:spPr>
          <a:xfrm>
            <a:off x="7315200" y="685800"/>
            <a:ext cx="4206240" cy="320040"/>
          </a:xfrm>
          <a:prstGeom prst="rect">
            <a:avLst/>
          </a:prstGeom>
          <a:noFill/>
          <a:ln/>
        </p:spPr>
        <p:txBody>
          <a:bodyPr wrap="square" lIns="0" tIns="0" rIns="0" bIns="0" rtlCol="0" anchor="ctr"/>
          <a:lstStyle/>
          <a:p>
            <a:pPr algn="ctr" indent="0" marL="0">
              <a:buNone/>
            </a:pPr>
            <a:r>
              <a:rPr lang="en-US" sz="1200" dirty="0">
                <a:solidFill>
                  <a:srgbClr val="A9ACC6"/>
                </a:solidFill>
                <a:latin typeface="BIZ UDGothic" pitchFamily="34" charset="0"/>
                <a:ea typeface="BIZ UDGothic" pitchFamily="34" charset="-122"/>
                <a:cs typeface="BIZ UDGothic" pitchFamily="34" charset="-120"/>
              </a:rPr>
              <a:t>例：Ishigami関数の出力分散の内訳（理論値）</a:t>
            </a:r>
            <a:endParaRPr lang="en-US" sz="1200" dirty="0"/>
          </a:p>
        </p:txBody>
      </p:sp>
      <p:graphicFrame>
        <p:nvGraphicFramePr>
          <p:cNvPr id="8" name="Chart 0" descr=""/>
          <p:cNvGraphicFramePr/>
          <p:nvPr/>
        </p:nvGraphicFramePr>
        <p:xfrm>
          <a:off x="7498080" y="1051560"/>
          <a:ext cx="3840480" cy="36576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8732520" y="2560320"/>
            <a:ext cx="1371600" cy="640080"/>
          </a:xfrm>
          <a:prstGeom prst="rect">
            <a:avLst/>
          </a:prstGeom>
          <a:noFill/>
          <a:ln/>
        </p:spPr>
        <p:txBody>
          <a:bodyPr wrap="square" lIns="0" tIns="0" rIns="0" bIns="0" rtlCol="0" anchor="ctr"/>
          <a:lstStyle/>
          <a:p>
            <a:pPr algn="ctr" indent="0" marL="0">
              <a:buNone/>
            </a:pPr>
            <a:r>
              <a:rPr lang="en-US" sz="2900" i="1" dirty="0">
                <a:solidFill>
                  <a:srgbClr val="FFFFFF"/>
                </a:solidFill>
                <a:latin typeface="Times New Roman" pitchFamily="34" charset="0"/>
                <a:ea typeface="Times New Roman" pitchFamily="34" charset="-122"/>
                <a:cs typeface="Times New Roman" pitchFamily="34" charset="-120"/>
              </a:rPr>
              <a:t>V(Y)</a:t>
            </a:r>
            <a:endParaRPr lang="en-US" sz="2900" dirty="0"/>
          </a:p>
        </p:txBody>
      </p:sp>
      <p:sp>
        <p:nvSpPr>
          <p:cNvPr id="10" name="Shape 6"/>
          <p:cNvSpPr/>
          <p:nvPr/>
        </p:nvSpPr>
        <p:spPr>
          <a:xfrm>
            <a:off x="7818120" y="4956048"/>
            <a:ext cx="164592" cy="164592"/>
          </a:xfrm>
          <a:prstGeom prst="ellipse">
            <a:avLst/>
          </a:prstGeom>
          <a:solidFill>
            <a:srgbClr val="E76F51"/>
          </a:solidFill>
          <a:ln/>
        </p:spPr>
      </p:sp>
      <p:sp>
        <p:nvSpPr>
          <p:cNvPr id="11" name="Text 7"/>
          <p:cNvSpPr/>
          <p:nvPr/>
        </p:nvSpPr>
        <p:spPr>
          <a:xfrm>
            <a:off x="8092440" y="4892040"/>
            <a:ext cx="3474720" cy="292608"/>
          </a:xfrm>
          <a:prstGeom prst="rect">
            <a:avLst/>
          </a:prstGeom>
          <a:noFill/>
          <a:ln/>
        </p:spPr>
        <p:txBody>
          <a:bodyPr wrap="square" lIns="0" tIns="0" rIns="0" bIns="0" rtlCol="0" anchor="ctr"/>
          <a:lstStyle/>
          <a:p>
            <a:pPr indent="0" marL="0">
              <a:buNone/>
            </a:pPr>
            <a:r>
              <a:rPr lang="en-US" sz="1500" i="1" dirty="0">
                <a:solidFill>
                  <a:srgbClr val="FFFFFF"/>
                </a:solidFill>
                <a:latin typeface="Times New Roman" pitchFamily="34" charset="0"/>
                <a:ea typeface="Times New Roman" pitchFamily="34" charset="-122"/>
                <a:cs typeface="Times New Roman" pitchFamily="34" charset="-120"/>
              </a:rPr>
              <a:t>X</a:t>
            </a:r>
            <a:r>
              <a:rPr lang="en-US" sz="1500" i="1" baseline="-40000" dirty="0">
                <a:solidFill>
                  <a:srgbClr val="FFFFFF"/>
                </a:solidFill>
                <a:latin typeface="Times New Roman" pitchFamily="34" charset="0"/>
                <a:ea typeface="Times New Roman" pitchFamily="34" charset="-122"/>
                <a:cs typeface="Times New Roman" pitchFamily="34" charset="-120"/>
              </a:rPr>
              <a:t>1</a:t>
            </a:r>
            <a:r>
              <a:rPr lang="en-US" sz="1300" dirty="0">
                <a:solidFill>
                  <a:srgbClr val="FFFFFF"/>
                </a:solidFill>
                <a:latin typeface="BIZ UDGothic" pitchFamily="34" charset="0"/>
                <a:ea typeface="BIZ UDGothic" pitchFamily="34" charset="-122"/>
                <a:cs typeface="BIZ UDGothic" pitchFamily="34" charset="-120"/>
              </a:rPr>
              <a:t> 単独の効果　31.4%</a:t>
            </a:r>
            <a:endParaRPr lang="en-US" sz="1500" dirty="0"/>
          </a:p>
        </p:txBody>
      </p:sp>
      <p:sp>
        <p:nvSpPr>
          <p:cNvPr id="12" name="Shape 8"/>
          <p:cNvSpPr/>
          <p:nvPr/>
        </p:nvSpPr>
        <p:spPr>
          <a:xfrm>
            <a:off x="7818120" y="5285232"/>
            <a:ext cx="164592" cy="164592"/>
          </a:xfrm>
          <a:prstGeom prst="ellipse">
            <a:avLst/>
          </a:prstGeom>
          <a:solidFill>
            <a:srgbClr val="2A9D8F"/>
          </a:solidFill>
          <a:ln/>
        </p:spPr>
      </p:sp>
      <p:sp>
        <p:nvSpPr>
          <p:cNvPr id="13" name="Text 9"/>
          <p:cNvSpPr/>
          <p:nvPr/>
        </p:nvSpPr>
        <p:spPr>
          <a:xfrm>
            <a:off x="8092440" y="5221224"/>
            <a:ext cx="3474720" cy="292608"/>
          </a:xfrm>
          <a:prstGeom prst="rect">
            <a:avLst/>
          </a:prstGeom>
          <a:noFill/>
          <a:ln/>
        </p:spPr>
        <p:txBody>
          <a:bodyPr wrap="square" lIns="0" tIns="0" rIns="0" bIns="0" rtlCol="0" anchor="ctr"/>
          <a:lstStyle/>
          <a:p>
            <a:pPr indent="0" marL="0">
              <a:buNone/>
            </a:pPr>
            <a:r>
              <a:rPr lang="en-US" sz="1500" i="1" dirty="0">
                <a:solidFill>
                  <a:srgbClr val="FFFFFF"/>
                </a:solidFill>
                <a:latin typeface="Times New Roman" pitchFamily="34" charset="0"/>
                <a:ea typeface="Times New Roman" pitchFamily="34" charset="-122"/>
                <a:cs typeface="Times New Roman" pitchFamily="34" charset="-120"/>
              </a:rPr>
              <a:t>X</a:t>
            </a:r>
            <a:r>
              <a:rPr lang="en-US" sz="1500" i="1" baseline="-40000" dirty="0">
                <a:solidFill>
                  <a:srgbClr val="FFFFFF"/>
                </a:solidFill>
                <a:latin typeface="Times New Roman" pitchFamily="34" charset="0"/>
                <a:ea typeface="Times New Roman" pitchFamily="34" charset="-122"/>
                <a:cs typeface="Times New Roman" pitchFamily="34" charset="-120"/>
              </a:rPr>
              <a:t>2</a:t>
            </a:r>
            <a:r>
              <a:rPr lang="en-US" sz="1300" dirty="0">
                <a:solidFill>
                  <a:srgbClr val="FFFFFF"/>
                </a:solidFill>
                <a:latin typeface="BIZ UDGothic" pitchFamily="34" charset="0"/>
                <a:ea typeface="BIZ UDGothic" pitchFamily="34" charset="-122"/>
                <a:cs typeface="BIZ UDGothic" pitchFamily="34" charset="-120"/>
              </a:rPr>
              <a:t> 単独の効果　44.2%</a:t>
            </a:r>
            <a:endParaRPr lang="en-US" sz="1500" dirty="0"/>
          </a:p>
        </p:txBody>
      </p:sp>
      <p:sp>
        <p:nvSpPr>
          <p:cNvPr id="14" name="Shape 10"/>
          <p:cNvSpPr/>
          <p:nvPr/>
        </p:nvSpPr>
        <p:spPr>
          <a:xfrm>
            <a:off x="7818120" y="5614416"/>
            <a:ext cx="164592" cy="164592"/>
          </a:xfrm>
          <a:prstGeom prst="ellipse">
            <a:avLst/>
          </a:prstGeom>
          <a:solidFill>
            <a:srgbClr val="8D6A9F"/>
          </a:solidFill>
          <a:ln/>
        </p:spPr>
      </p:sp>
      <p:sp>
        <p:nvSpPr>
          <p:cNvPr id="15" name="Text 11"/>
          <p:cNvSpPr/>
          <p:nvPr/>
        </p:nvSpPr>
        <p:spPr>
          <a:xfrm>
            <a:off x="8092440" y="5550408"/>
            <a:ext cx="3474720" cy="292608"/>
          </a:xfrm>
          <a:prstGeom prst="rect">
            <a:avLst/>
          </a:prstGeom>
          <a:noFill/>
          <a:ln/>
        </p:spPr>
        <p:txBody>
          <a:bodyPr wrap="square" lIns="0" tIns="0" rIns="0" bIns="0" rtlCol="0" anchor="ctr"/>
          <a:lstStyle/>
          <a:p>
            <a:pPr indent="0" marL="0">
              <a:buNone/>
            </a:pPr>
            <a:r>
              <a:rPr lang="en-US" sz="1500" i="1" dirty="0">
                <a:solidFill>
                  <a:srgbClr val="FFFFFF"/>
                </a:solidFill>
                <a:latin typeface="Times New Roman" pitchFamily="34" charset="0"/>
                <a:ea typeface="Times New Roman" pitchFamily="34" charset="-122"/>
                <a:cs typeface="Times New Roman" pitchFamily="34" charset="-120"/>
              </a:rPr>
              <a:t>X</a:t>
            </a:r>
            <a:r>
              <a:rPr lang="en-US" sz="1500" i="1" baseline="-40000" dirty="0">
                <a:solidFill>
                  <a:srgbClr val="FFFFFF"/>
                </a:solidFill>
                <a:latin typeface="Times New Roman" pitchFamily="34" charset="0"/>
                <a:ea typeface="Times New Roman" pitchFamily="34" charset="-122"/>
                <a:cs typeface="Times New Roman" pitchFamily="34" charset="-120"/>
              </a:rPr>
              <a:t>1</a:t>
            </a:r>
            <a:r>
              <a:rPr lang="en-US" sz="1300" dirty="0">
                <a:solidFill>
                  <a:srgbClr val="FFFFFF"/>
                </a:solidFill>
                <a:latin typeface="BIZ UDGothic" pitchFamily="34" charset="0"/>
                <a:ea typeface="BIZ UDGothic" pitchFamily="34" charset="-122"/>
                <a:cs typeface="BIZ UDGothic" pitchFamily="34" charset="-120"/>
              </a:rPr>
              <a:t>×</a:t>
            </a:r>
            <a:r>
              <a:rPr lang="en-US" sz="1500" i="1" dirty="0">
                <a:solidFill>
                  <a:srgbClr val="FFFFFF"/>
                </a:solidFill>
                <a:latin typeface="Times New Roman" pitchFamily="34" charset="0"/>
                <a:ea typeface="Times New Roman" pitchFamily="34" charset="-122"/>
                <a:cs typeface="Times New Roman" pitchFamily="34" charset="-120"/>
              </a:rPr>
              <a:t>X</a:t>
            </a:r>
            <a:r>
              <a:rPr lang="en-US" sz="1500" i="1" baseline="-40000" dirty="0">
                <a:solidFill>
                  <a:srgbClr val="FFFFFF"/>
                </a:solidFill>
                <a:latin typeface="Times New Roman" pitchFamily="34" charset="0"/>
                <a:ea typeface="Times New Roman" pitchFamily="34" charset="-122"/>
                <a:cs typeface="Times New Roman" pitchFamily="34" charset="-120"/>
              </a:rPr>
              <a:t>3</a:t>
            </a:r>
            <a:r>
              <a:rPr lang="en-US" sz="1300" dirty="0">
                <a:solidFill>
                  <a:srgbClr val="FFFFFF"/>
                </a:solidFill>
                <a:latin typeface="BIZ UDGothic" pitchFamily="34" charset="0"/>
                <a:ea typeface="BIZ UDGothic" pitchFamily="34" charset="-122"/>
                <a:cs typeface="BIZ UDGothic" pitchFamily="34" charset="-120"/>
              </a:rPr>
              <a:t> の交互作用　24.4%</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この資料で学ぶこと</a:t>
            </a:r>
            <a:endParaRPr lang="en-US" sz="2800" dirty="0"/>
          </a:p>
        </p:txBody>
      </p:sp>
      <p:sp>
        <p:nvSpPr>
          <p:cNvPr id="4" name="Shape 1"/>
          <p:cNvSpPr/>
          <p:nvPr/>
        </p:nvSpPr>
        <p:spPr>
          <a:xfrm>
            <a:off x="548640" y="1417320"/>
            <a:ext cx="11094415" cy="777240"/>
          </a:xfrm>
          <a:prstGeom prst="roundRect">
            <a:avLst>
              <a:gd name="adj" fmla="val 9412"/>
            </a:avLst>
          </a:prstGeom>
          <a:solidFill>
            <a:srgbClr val="F3F4F8"/>
          </a:solidFill>
          <a:ln/>
        </p:spPr>
      </p:sp>
      <p:sp>
        <p:nvSpPr>
          <p:cNvPr id="5" name="Shape 2"/>
          <p:cNvSpPr/>
          <p:nvPr/>
        </p:nvSpPr>
        <p:spPr>
          <a:xfrm>
            <a:off x="749808" y="1545336"/>
            <a:ext cx="521208" cy="521208"/>
          </a:xfrm>
          <a:prstGeom prst="ellipse">
            <a:avLst/>
          </a:prstGeom>
          <a:solidFill>
            <a:srgbClr val="22223B"/>
          </a:solidFill>
          <a:ln/>
        </p:spPr>
      </p:sp>
      <p:pic>
        <p:nvPicPr>
          <p:cNvPr id="6" name="Image 0" descr="preencoded.png">    </p:cNvPr>
          <p:cNvPicPr>
            <a:picLocks noChangeAspect="1"/>
          </p:cNvPicPr>
          <p:nvPr/>
        </p:nvPicPr>
        <p:blipFill>
          <a:blip r:embed="rId1"/>
          <a:stretch>
            <a:fillRect/>
          </a:stretch>
        </p:blipFill>
        <p:spPr>
          <a:xfrm>
            <a:off x="864474" y="1660002"/>
            <a:ext cx="291876" cy="291876"/>
          </a:xfrm>
          <a:prstGeom prst="rect">
            <a:avLst/>
          </a:prstGeom>
        </p:spPr>
      </p:pic>
      <p:sp>
        <p:nvSpPr>
          <p:cNvPr id="7" name="Text 3"/>
          <p:cNvSpPr/>
          <p:nvPr/>
        </p:nvSpPr>
        <p:spPr>
          <a:xfrm>
            <a:off x="1463040" y="1417320"/>
            <a:ext cx="9997135" cy="777240"/>
          </a:xfrm>
          <a:prstGeom prst="rect">
            <a:avLst/>
          </a:prstGeom>
          <a:noFill/>
          <a:ln/>
        </p:spPr>
        <p:txBody>
          <a:bodyPr wrap="square" lIns="0" tIns="0" rIns="0" bIns="0" rtlCol="0" anchor="ctr"/>
          <a:lstStyle/>
          <a:p>
            <a:pPr indent="0" marL="0">
              <a:buNone/>
            </a:pPr>
            <a:r>
              <a:rPr lang="en-US" sz="1600" b="1" dirty="0">
                <a:solidFill>
                  <a:srgbClr val="22223B"/>
                </a:solidFill>
                <a:latin typeface="BIZ UDGothic" pitchFamily="34" charset="0"/>
                <a:ea typeface="BIZ UDGothic" pitchFamily="34" charset="-122"/>
                <a:cs typeface="BIZ UDGothic" pitchFamily="34" charset="-120"/>
              </a:rPr>
              <a:t>ゴール：Sobol指数 </a:t>
            </a:r>
            <a:r>
              <a:rPr lang="en-US" sz="1800" b="1" i="1" dirty="0">
                <a:solidFill>
                  <a:srgbClr val="22223B"/>
                </a:solidFill>
                <a:latin typeface="Times New Roman" pitchFamily="34" charset="0"/>
                <a:ea typeface="Times New Roman" pitchFamily="34" charset="-122"/>
                <a:cs typeface="Times New Roman" pitchFamily="34" charset="-120"/>
              </a:rPr>
              <a:t>S</a:t>
            </a:r>
            <a:r>
              <a:rPr lang="en-US" sz="1800" b="1" i="1" baseline="-40000" dirty="0">
                <a:solidFill>
                  <a:srgbClr val="22223B"/>
                </a:solidFill>
                <a:latin typeface="Times New Roman" pitchFamily="34" charset="0"/>
                <a:ea typeface="Times New Roman" pitchFamily="34" charset="-122"/>
                <a:cs typeface="Times New Roman" pitchFamily="34" charset="-120"/>
              </a:rPr>
              <a:t>i</a:t>
            </a:r>
            <a:r>
              <a:rPr lang="en-US" sz="1600" b="1" dirty="0">
                <a:solidFill>
                  <a:srgbClr val="22223B"/>
                </a:solidFill>
                <a:latin typeface="BIZ UDGothic" pitchFamily="34" charset="0"/>
                <a:ea typeface="BIZ UDGothic" pitchFamily="34" charset="-122"/>
                <a:cs typeface="BIZ UDGothic" pitchFamily="34" charset="-120"/>
              </a:rPr>
              <a:t>・</a:t>
            </a:r>
            <a:r>
              <a:rPr lang="en-US" sz="1800" b="1" i="1" dirty="0">
                <a:solidFill>
                  <a:srgbClr val="22223B"/>
                </a:solidFill>
                <a:latin typeface="Times New Roman" pitchFamily="34" charset="0"/>
                <a:ea typeface="Times New Roman" pitchFamily="34" charset="-122"/>
                <a:cs typeface="Times New Roman" pitchFamily="34" charset="-120"/>
              </a:rPr>
              <a:t>S</a:t>
            </a:r>
            <a:r>
              <a:rPr lang="en-US" sz="1800" b="1" i="1" baseline="-40000" dirty="0">
                <a:solidFill>
                  <a:srgbClr val="22223B"/>
                </a:solidFill>
                <a:latin typeface="Times New Roman" pitchFamily="34" charset="0"/>
                <a:ea typeface="Times New Roman" pitchFamily="34" charset="-122"/>
                <a:cs typeface="Times New Roman" pitchFamily="34" charset="-120"/>
              </a:rPr>
              <a:t>Ti</a:t>
            </a:r>
            <a:r>
              <a:rPr lang="en-US" sz="1600" b="1" dirty="0">
                <a:solidFill>
                  <a:srgbClr val="22223B"/>
                </a:solidFill>
                <a:latin typeface="BIZ UDGothic" pitchFamily="34" charset="0"/>
                <a:ea typeface="BIZ UDGothic" pitchFamily="34" charset="-122"/>
                <a:cs typeface="BIZ UDGothic" pitchFamily="34" charset="-120"/>
              </a:rPr>
              <a:t> の意味と計算原理を説明でき、Pythonスクリプトの中身を理解できる状態になる</a:t>
            </a:r>
            <a:endParaRPr lang="en-US" sz="1600" dirty="0"/>
          </a:p>
        </p:txBody>
      </p:sp>
      <p:sp>
        <p:nvSpPr>
          <p:cNvPr id="8" name="Shape 4"/>
          <p:cNvSpPr/>
          <p:nvPr/>
        </p:nvSpPr>
        <p:spPr>
          <a:xfrm>
            <a:off x="548640" y="2514600"/>
            <a:ext cx="2567864" cy="3611880"/>
          </a:xfrm>
          <a:prstGeom prst="roundRect">
            <a:avLst>
              <a:gd name="adj" fmla="val 2849"/>
            </a:avLst>
          </a:prstGeom>
          <a:solidFill>
            <a:srgbClr val="FFFFFF"/>
          </a:solidFill>
          <a:ln w="9525">
            <a:solidFill>
              <a:srgbClr val="DADDE6"/>
            </a:solidFill>
            <a:prstDash val="solid"/>
          </a:ln>
        </p:spPr>
      </p:sp>
      <p:sp>
        <p:nvSpPr>
          <p:cNvPr id="9" name="Shape 5"/>
          <p:cNvSpPr/>
          <p:nvPr/>
        </p:nvSpPr>
        <p:spPr>
          <a:xfrm>
            <a:off x="822960" y="2788920"/>
            <a:ext cx="640080" cy="640080"/>
          </a:xfrm>
          <a:prstGeom prst="ellipse">
            <a:avLst/>
          </a:prstGeom>
          <a:solidFill>
            <a:srgbClr val="E76F51"/>
          </a:solidFill>
          <a:ln/>
        </p:spPr>
      </p:sp>
      <p:pic>
        <p:nvPicPr>
          <p:cNvPr id="10" name="Image 1" descr="preencoded.png">    </p:cNvPr>
          <p:cNvPicPr>
            <a:picLocks noChangeAspect="1"/>
          </p:cNvPicPr>
          <p:nvPr/>
        </p:nvPicPr>
        <p:blipFill>
          <a:blip r:embed="rId2"/>
          <a:stretch>
            <a:fillRect/>
          </a:stretch>
        </p:blipFill>
        <p:spPr>
          <a:xfrm>
            <a:off x="963778" y="2929738"/>
            <a:ext cx="358445" cy="358445"/>
          </a:xfrm>
          <a:prstGeom prst="rect">
            <a:avLst/>
          </a:prstGeom>
        </p:spPr>
      </p:pic>
      <p:sp>
        <p:nvSpPr>
          <p:cNvPr id="11" name="Text 6"/>
          <p:cNvSpPr/>
          <p:nvPr/>
        </p:nvSpPr>
        <p:spPr>
          <a:xfrm>
            <a:off x="2110664" y="2788920"/>
            <a:ext cx="731520" cy="640080"/>
          </a:xfrm>
          <a:prstGeom prst="rect">
            <a:avLst/>
          </a:prstGeom>
          <a:noFill/>
          <a:ln/>
        </p:spPr>
        <p:txBody>
          <a:bodyPr wrap="square" lIns="0" tIns="0" rIns="0" bIns="0" rtlCol="0" anchor="ctr"/>
          <a:lstStyle/>
          <a:p>
            <a:pPr algn="r" indent="0" marL="0">
              <a:buNone/>
            </a:pPr>
            <a:r>
              <a:rPr lang="en-US" sz="3000" b="1" dirty="0">
                <a:solidFill>
                  <a:srgbClr val="DADDE6"/>
                </a:solidFill>
                <a:latin typeface="BIZ UDGothic" pitchFamily="34" charset="0"/>
                <a:ea typeface="BIZ UDGothic" pitchFamily="34" charset="-122"/>
                <a:cs typeface="BIZ UDGothic" pitchFamily="34" charset="-120"/>
              </a:rPr>
              <a:t>01</a:t>
            </a:r>
            <a:endParaRPr lang="en-US" sz="3000" dirty="0"/>
          </a:p>
        </p:txBody>
      </p:sp>
      <p:sp>
        <p:nvSpPr>
          <p:cNvPr id="12" name="Text 7"/>
          <p:cNvSpPr/>
          <p:nvPr/>
        </p:nvSpPr>
        <p:spPr>
          <a:xfrm>
            <a:off x="822960" y="3611880"/>
            <a:ext cx="2019224" cy="457200"/>
          </a:xfrm>
          <a:prstGeom prst="rect">
            <a:avLst/>
          </a:prstGeom>
          <a:noFill/>
          <a:ln/>
        </p:spPr>
        <p:txBody>
          <a:bodyPr wrap="square" lIns="0" tIns="0" rIns="0" bIns="0" rtlCol="0" anchor="ctr"/>
          <a:lstStyle/>
          <a:p>
            <a:pPr indent="0" marL="0">
              <a:buNone/>
            </a:pPr>
            <a:r>
              <a:rPr lang="en-US" sz="1900" b="1" dirty="0">
                <a:solidFill>
                  <a:srgbClr val="22223B"/>
                </a:solidFill>
                <a:latin typeface="BIZ UDGothic" pitchFamily="34" charset="0"/>
                <a:ea typeface="BIZ UDGothic" pitchFamily="34" charset="-122"/>
                <a:cs typeface="BIZ UDGothic" pitchFamily="34" charset="-120"/>
              </a:rPr>
              <a:t>感度解析とは</a:t>
            </a:r>
            <a:endParaRPr lang="en-US" sz="1900" dirty="0"/>
          </a:p>
        </p:txBody>
      </p:sp>
      <p:sp>
        <p:nvSpPr>
          <p:cNvPr id="13" name="Text 8"/>
          <p:cNvSpPr/>
          <p:nvPr/>
        </p:nvSpPr>
        <p:spPr>
          <a:xfrm>
            <a:off x="822960" y="4160520"/>
            <a:ext cx="2019224" cy="1371600"/>
          </a:xfrm>
          <a:prstGeom prst="rect">
            <a:avLst/>
          </a:prstGeom>
          <a:noFill/>
          <a:ln/>
        </p:spPr>
        <p:txBody>
          <a:bodyPr wrap="square" lIns="0" tIns="0" rIns="0" bIns="0" rtlCol="0" anchor="t"/>
          <a:lstStyle/>
          <a:p>
            <a:pPr indent="0" marL="0">
              <a:lnSpc>
                <a:spcPct val="115000"/>
              </a:lnSpc>
              <a:buNone/>
            </a:pPr>
            <a:r>
              <a:rPr lang="en-US" sz="1300" dirty="0">
                <a:solidFill>
                  <a:srgbClr val="4A4E69"/>
                </a:solidFill>
                <a:latin typeface="BIZ UDGothic" pitchFamily="34" charset="0"/>
                <a:ea typeface="BIZ UDGothic" pitchFamily="34" charset="-122"/>
                <a:cs typeface="BIZ UDGothic" pitchFamily="34" charset="-120"/>
              </a:rPr>
              <a:t>局所感度とグローバル感度の違い。1つずつ動かす方法（OAT）の落とし穴</a:t>
            </a:r>
            <a:endParaRPr lang="en-US" sz="1300" dirty="0"/>
          </a:p>
        </p:txBody>
      </p:sp>
      <p:sp>
        <p:nvSpPr>
          <p:cNvPr id="14" name="Text 9"/>
          <p:cNvSpPr/>
          <p:nvPr/>
        </p:nvSpPr>
        <p:spPr>
          <a:xfrm>
            <a:off x="822960" y="5623560"/>
            <a:ext cx="2019224" cy="274320"/>
          </a:xfrm>
          <a:prstGeom prst="rect">
            <a:avLst/>
          </a:prstGeom>
          <a:noFill/>
          <a:ln/>
        </p:spPr>
        <p:txBody>
          <a:bodyPr wrap="square" lIns="0" tIns="0" rIns="0" bIns="0" rtlCol="0" anchor="ctr"/>
          <a:lstStyle/>
          <a:p>
            <a:pPr indent="0" marL="0">
              <a:buNone/>
            </a:pPr>
            <a:r>
              <a:rPr lang="en-US" sz="1100" dirty="0">
                <a:solidFill>
                  <a:srgbClr val="6C6F7F"/>
                </a:solidFill>
                <a:latin typeface="BIZ UDGothic" pitchFamily="34" charset="0"/>
                <a:ea typeface="BIZ UDGothic" pitchFamily="34" charset="-122"/>
                <a:cs typeface="BIZ UDGothic" pitchFamily="34" charset="-120"/>
              </a:rPr>
              <a:t>p.3–5</a:t>
            </a:r>
            <a:endParaRPr lang="en-US" sz="1100" dirty="0"/>
          </a:p>
        </p:txBody>
      </p:sp>
      <p:sp>
        <p:nvSpPr>
          <p:cNvPr id="15" name="Shape 10"/>
          <p:cNvSpPr/>
          <p:nvPr/>
        </p:nvSpPr>
        <p:spPr>
          <a:xfrm>
            <a:off x="3390824" y="2514600"/>
            <a:ext cx="2567864" cy="3611880"/>
          </a:xfrm>
          <a:prstGeom prst="roundRect">
            <a:avLst>
              <a:gd name="adj" fmla="val 2849"/>
            </a:avLst>
          </a:prstGeom>
          <a:solidFill>
            <a:srgbClr val="FFFFFF"/>
          </a:solidFill>
          <a:ln w="9525">
            <a:solidFill>
              <a:srgbClr val="DADDE6"/>
            </a:solidFill>
            <a:prstDash val="solid"/>
          </a:ln>
        </p:spPr>
      </p:sp>
      <p:sp>
        <p:nvSpPr>
          <p:cNvPr id="16" name="Shape 11"/>
          <p:cNvSpPr/>
          <p:nvPr/>
        </p:nvSpPr>
        <p:spPr>
          <a:xfrm>
            <a:off x="3665144" y="2788920"/>
            <a:ext cx="640080" cy="640080"/>
          </a:xfrm>
          <a:prstGeom prst="ellipse">
            <a:avLst/>
          </a:prstGeom>
          <a:solidFill>
            <a:srgbClr val="2A9D8F"/>
          </a:solidFill>
          <a:ln/>
        </p:spPr>
      </p:sp>
      <p:pic>
        <p:nvPicPr>
          <p:cNvPr id="17" name="Image 2" descr="preencoded.png">    </p:cNvPr>
          <p:cNvPicPr>
            <a:picLocks noChangeAspect="1"/>
          </p:cNvPicPr>
          <p:nvPr/>
        </p:nvPicPr>
        <p:blipFill>
          <a:blip r:embed="rId3"/>
          <a:stretch>
            <a:fillRect/>
          </a:stretch>
        </p:blipFill>
        <p:spPr>
          <a:xfrm>
            <a:off x="3805961" y="2929738"/>
            <a:ext cx="358445" cy="358445"/>
          </a:xfrm>
          <a:prstGeom prst="rect">
            <a:avLst/>
          </a:prstGeom>
        </p:spPr>
      </p:pic>
      <p:sp>
        <p:nvSpPr>
          <p:cNvPr id="18" name="Text 12"/>
          <p:cNvSpPr/>
          <p:nvPr/>
        </p:nvSpPr>
        <p:spPr>
          <a:xfrm>
            <a:off x="4952848" y="2788920"/>
            <a:ext cx="731520" cy="640080"/>
          </a:xfrm>
          <a:prstGeom prst="rect">
            <a:avLst/>
          </a:prstGeom>
          <a:noFill/>
          <a:ln/>
        </p:spPr>
        <p:txBody>
          <a:bodyPr wrap="square" lIns="0" tIns="0" rIns="0" bIns="0" rtlCol="0" anchor="ctr"/>
          <a:lstStyle/>
          <a:p>
            <a:pPr algn="r" indent="0" marL="0">
              <a:buNone/>
            </a:pPr>
            <a:r>
              <a:rPr lang="en-US" sz="3000" b="1" dirty="0">
                <a:solidFill>
                  <a:srgbClr val="DADDE6"/>
                </a:solidFill>
                <a:latin typeface="BIZ UDGothic" pitchFamily="34" charset="0"/>
                <a:ea typeface="BIZ UDGothic" pitchFamily="34" charset="-122"/>
                <a:cs typeface="BIZ UDGothic" pitchFamily="34" charset="-120"/>
              </a:rPr>
              <a:t>02</a:t>
            </a:r>
            <a:endParaRPr lang="en-US" sz="3000" dirty="0"/>
          </a:p>
        </p:txBody>
      </p:sp>
      <p:sp>
        <p:nvSpPr>
          <p:cNvPr id="19" name="Text 13"/>
          <p:cNvSpPr/>
          <p:nvPr/>
        </p:nvSpPr>
        <p:spPr>
          <a:xfrm>
            <a:off x="3665144" y="3611880"/>
            <a:ext cx="2019224" cy="457200"/>
          </a:xfrm>
          <a:prstGeom prst="rect">
            <a:avLst/>
          </a:prstGeom>
          <a:noFill/>
          <a:ln/>
        </p:spPr>
        <p:txBody>
          <a:bodyPr wrap="square" lIns="0" tIns="0" rIns="0" bIns="0" rtlCol="0" anchor="ctr"/>
          <a:lstStyle/>
          <a:p>
            <a:pPr indent="0" marL="0">
              <a:buNone/>
            </a:pPr>
            <a:r>
              <a:rPr lang="en-US" sz="1900" b="1" dirty="0">
                <a:solidFill>
                  <a:srgbClr val="22223B"/>
                </a:solidFill>
                <a:latin typeface="BIZ UDGothic" pitchFamily="34" charset="0"/>
                <a:ea typeface="BIZ UDGothic" pitchFamily="34" charset="-122"/>
                <a:cs typeface="BIZ UDGothic" pitchFamily="34" charset="-120"/>
              </a:rPr>
              <a:t>Sobol指数の定義</a:t>
            </a:r>
            <a:endParaRPr lang="en-US" sz="1900" dirty="0"/>
          </a:p>
        </p:txBody>
      </p:sp>
      <p:sp>
        <p:nvSpPr>
          <p:cNvPr id="20" name="Text 14"/>
          <p:cNvSpPr/>
          <p:nvPr/>
        </p:nvSpPr>
        <p:spPr>
          <a:xfrm>
            <a:off x="3665144" y="4160520"/>
            <a:ext cx="2019224" cy="1371600"/>
          </a:xfrm>
          <a:prstGeom prst="rect">
            <a:avLst/>
          </a:prstGeom>
          <a:noFill/>
          <a:ln/>
        </p:spPr>
        <p:txBody>
          <a:bodyPr wrap="square" lIns="0" tIns="0" rIns="0" bIns="0" rtlCol="0" anchor="t"/>
          <a:lstStyle/>
          <a:p>
            <a:pPr indent="0" marL="0">
              <a:lnSpc>
                <a:spcPct val="115000"/>
              </a:lnSpc>
              <a:buNone/>
            </a:pPr>
            <a:r>
              <a:rPr lang="en-US" sz="1300" dirty="0">
                <a:solidFill>
                  <a:srgbClr val="4A4E69"/>
                </a:solidFill>
                <a:latin typeface="BIZ UDGothic" pitchFamily="34" charset="0"/>
                <a:ea typeface="BIZ UDGothic" pitchFamily="34" charset="-122"/>
                <a:cs typeface="BIZ UDGothic" pitchFamily="34" charset="-120"/>
              </a:rPr>
              <a:t>分散分解（ANOVA分解）、一次効果 </a:t>
            </a:r>
            <a:r>
              <a:rPr lang="en-US" sz="1500" i="1" dirty="0">
                <a:solidFill>
                  <a:srgbClr val="4A4E69"/>
                </a:solidFill>
                <a:latin typeface="Times New Roman" pitchFamily="34" charset="0"/>
                <a:ea typeface="Times New Roman" pitchFamily="34" charset="-122"/>
                <a:cs typeface="Times New Roman" pitchFamily="34" charset="-120"/>
              </a:rPr>
              <a:t>S</a:t>
            </a:r>
            <a:r>
              <a:rPr lang="en-US" sz="1500" i="1" baseline="-40000" dirty="0">
                <a:solidFill>
                  <a:srgbClr val="4A4E69"/>
                </a:solidFill>
                <a:latin typeface="Times New Roman" pitchFamily="34" charset="0"/>
                <a:ea typeface="Times New Roman" pitchFamily="34" charset="-122"/>
                <a:cs typeface="Times New Roman" pitchFamily="34" charset="-120"/>
              </a:rPr>
              <a:t>i</a:t>
            </a:r>
            <a:r>
              <a:rPr lang="en-US" sz="1300" dirty="0">
                <a:solidFill>
                  <a:srgbClr val="4A4E69"/>
                </a:solidFill>
                <a:latin typeface="BIZ UDGothic" pitchFamily="34" charset="0"/>
                <a:ea typeface="BIZ UDGothic" pitchFamily="34" charset="-122"/>
                <a:cs typeface="BIZ UDGothic" pitchFamily="34" charset="-120"/>
              </a:rPr>
              <a:t> と総合効果 </a:t>
            </a:r>
            <a:r>
              <a:rPr lang="en-US" sz="1500" i="1" dirty="0">
                <a:solidFill>
                  <a:srgbClr val="4A4E69"/>
                </a:solidFill>
                <a:latin typeface="Times New Roman" pitchFamily="34" charset="0"/>
                <a:ea typeface="Times New Roman" pitchFamily="34" charset="-122"/>
                <a:cs typeface="Times New Roman" pitchFamily="34" charset="-120"/>
              </a:rPr>
              <a:t>S</a:t>
            </a:r>
            <a:r>
              <a:rPr lang="en-US" sz="1500" i="1" baseline="-40000" dirty="0">
                <a:solidFill>
                  <a:srgbClr val="4A4E69"/>
                </a:solidFill>
                <a:latin typeface="Times New Roman" pitchFamily="34" charset="0"/>
                <a:ea typeface="Times New Roman" pitchFamily="34" charset="-122"/>
                <a:cs typeface="Times New Roman" pitchFamily="34" charset="-120"/>
              </a:rPr>
              <a:t>Ti</a:t>
            </a:r>
            <a:r>
              <a:rPr lang="en-US" sz="1300" dirty="0">
                <a:solidFill>
                  <a:srgbClr val="4A4E69"/>
                </a:solidFill>
                <a:latin typeface="BIZ UDGothic" pitchFamily="34" charset="0"/>
                <a:ea typeface="BIZ UDGothic" pitchFamily="34" charset="-122"/>
                <a:cs typeface="BIZ UDGothic" pitchFamily="34" charset="-120"/>
              </a:rPr>
              <a:t>、手計算の例題</a:t>
            </a:r>
            <a:endParaRPr lang="en-US" sz="1300" dirty="0"/>
          </a:p>
        </p:txBody>
      </p:sp>
      <p:sp>
        <p:nvSpPr>
          <p:cNvPr id="21" name="Text 15"/>
          <p:cNvSpPr/>
          <p:nvPr/>
        </p:nvSpPr>
        <p:spPr>
          <a:xfrm>
            <a:off x="3665144" y="5623560"/>
            <a:ext cx="2019224" cy="274320"/>
          </a:xfrm>
          <a:prstGeom prst="rect">
            <a:avLst/>
          </a:prstGeom>
          <a:noFill/>
          <a:ln/>
        </p:spPr>
        <p:txBody>
          <a:bodyPr wrap="square" lIns="0" tIns="0" rIns="0" bIns="0" rtlCol="0" anchor="ctr"/>
          <a:lstStyle/>
          <a:p>
            <a:pPr indent="0" marL="0">
              <a:buNone/>
            </a:pPr>
            <a:r>
              <a:rPr lang="en-US" sz="1100" dirty="0">
                <a:solidFill>
                  <a:srgbClr val="6C6F7F"/>
                </a:solidFill>
                <a:latin typeface="BIZ UDGothic" pitchFamily="34" charset="0"/>
                <a:ea typeface="BIZ UDGothic" pitchFamily="34" charset="-122"/>
                <a:cs typeface="BIZ UDGothic" pitchFamily="34" charset="-120"/>
              </a:rPr>
              <a:t>p.6–15</a:t>
            </a:r>
            <a:endParaRPr lang="en-US" sz="1100" dirty="0"/>
          </a:p>
        </p:txBody>
      </p:sp>
      <p:sp>
        <p:nvSpPr>
          <p:cNvPr id="22" name="Shape 16"/>
          <p:cNvSpPr/>
          <p:nvPr/>
        </p:nvSpPr>
        <p:spPr>
          <a:xfrm>
            <a:off x="6233008" y="2514600"/>
            <a:ext cx="2567864" cy="3611880"/>
          </a:xfrm>
          <a:prstGeom prst="roundRect">
            <a:avLst>
              <a:gd name="adj" fmla="val 2849"/>
            </a:avLst>
          </a:prstGeom>
          <a:solidFill>
            <a:srgbClr val="FFFFFF"/>
          </a:solidFill>
          <a:ln w="9525">
            <a:solidFill>
              <a:srgbClr val="DADDE6"/>
            </a:solidFill>
            <a:prstDash val="solid"/>
          </a:ln>
        </p:spPr>
      </p:sp>
      <p:sp>
        <p:nvSpPr>
          <p:cNvPr id="23" name="Shape 17"/>
          <p:cNvSpPr/>
          <p:nvPr/>
        </p:nvSpPr>
        <p:spPr>
          <a:xfrm>
            <a:off x="6507328" y="2788920"/>
            <a:ext cx="640080" cy="640080"/>
          </a:xfrm>
          <a:prstGeom prst="ellipse">
            <a:avLst/>
          </a:prstGeom>
          <a:solidFill>
            <a:srgbClr val="8D6A9F"/>
          </a:solidFill>
          <a:ln/>
        </p:spPr>
      </p:sp>
      <p:pic>
        <p:nvPicPr>
          <p:cNvPr id="24" name="Image 3" descr="preencoded.png">    </p:cNvPr>
          <p:cNvPicPr>
            <a:picLocks noChangeAspect="1"/>
          </p:cNvPicPr>
          <p:nvPr/>
        </p:nvPicPr>
        <p:blipFill>
          <a:blip r:embed="rId4"/>
          <a:stretch>
            <a:fillRect/>
          </a:stretch>
        </p:blipFill>
        <p:spPr>
          <a:xfrm>
            <a:off x="6648145" y="2929738"/>
            <a:ext cx="358445" cy="358445"/>
          </a:xfrm>
          <a:prstGeom prst="rect">
            <a:avLst/>
          </a:prstGeom>
        </p:spPr>
      </p:pic>
      <p:sp>
        <p:nvSpPr>
          <p:cNvPr id="25" name="Text 18"/>
          <p:cNvSpPr/>
          <p:nvPr/>
        </p:nvSpPr>
        <p:spPr>
          <a:xfrm>
            <a:off x="7795031" y="2788920"/>
            <a:ext cx="731520" cy="640080"/>
          </a:xfrm>
          <a:prstGeom prst="rect">
            <a:avLst/>
          </a:prstGeom>
          <a:noFill/>
          <a:ln/>
        </p:spPr>
        <p:txBody>
          <a:bodyPr wrap="square" lIns="0" tIns="0" rIns="0" bIns="0" rtlCol="0" anchor="ctr"/>
          <a:lstStyle/>
          <a:p>
            <a:pPr algn="r" indent="0" marL="0">
              <a:buNone/>
            </a:pPr>
            <a:r>
              <a:rPr lang="en-US" sz="3000" b="1" dirty="0">
                <a:solidFill>
                  <a:srgbClr val="DADDE6"/>
                </a:solidFill>
                <a:latin typeface="BIZ UDGothic" pitchFamily="34" charset="0"/>
                <a:ea typeface="BIZ UDGothic" pitchFamily="34" charset="-122"/>
                <a:cs typeface="BIZ UDGothic" pitchFamily="34" charset="-120"/>
              </a:rPr>
              <a:t>03</a:t>
            </a:r>
            <a:endParaRPr lang="en-US" sz="3000" dirty="0"/>
          </a:p>
        </p:txBody>
      </p:sp>
      <p:sp>
        <p:nvSpPr>
          <p:cNvPr id="26" name="Text 19"/>
          <p:cNvSpPr/>
          <p:nvPr/>
        </p:nvSpPr>
        <p:spPr>
          <a:xfrm>
            <a:off x="6507328" y="3611880"/>
            <a:ext cx="2019224" cy="457200"/>
          </a:xfrm>
          <a:prstGeom prst="rect">
            <a:avLst/>
          </a:prstGeom>
          <a:noFill/>
          <a:ln/>
        </p:spPr>
        <p:txBody>
          <a:bodyPr wrap="square" lIns="0" tIns="0" rIns="0" bIns="0" rtlCol="0" anchor="ctr"/>
          <a:lstStyle/>
          <a:p>
            <a:pPr indent="0" marL="0">
              <a:buNone/>
            </a:pPr>
            <a:r>
              <a:rPr lang="en-US" sz="1900" b="1" dirty="0">
                <a:solidFill>
                  <a:srgbClr val="22223B"/>
                </a:solidFill>
                <a:latin typeface="BIZ UDGothic" pitchFamily="34" charset="0"/>
                <a:ea typeface="BIZ UDGothic" pitchFamily="34" charset="-122"/>
                <a:cs typeface="BIZ UDGothic" pitchFamily="34" charset="-120"/>
              </a:rPr>
              <a:t>推定のしくみ</a:t>
            </a:r>
            <a:endParaRPr lang="en-US" sz="1900" dirty="0"/>
          </a:p>
        </p:txBody>
      </p:sp>
      <p:sp>
        <p:nvSpPr>
          <p:cNvPr id="27" name="Text 20"/>
          <p:cNvSpPr/>
          <p:nvPr/>
        </p:nvSpPr>
        <p:spPr>
          <a:xfrm>
            <a:off x="6507328" y="4160520"/>
            <a:ext cx="2019224" cy="1371600"/>
          </a:xfrm>
          <a:prstGeom prst="rect">
            <a:avLst/>
          </a:prstGeom>
          <a:noFill/>
          <a:ln/>
        </p:spPr>
        <p:txBody>
          <a:bodyPr wrap="square" lIns="0" tIns="0" rIns="0" bIns="0" rtlCol="0" anchor="t"/>
          <a:lstStyle/>
          <a:p>
            <a:pPr indent="0" marL="0">
              <a:lnSpc>
                <a:spcPct val="115000"/>
              </a:lnSpc>
              <a:buNone/>
            </a:pPr>
            <a:r>
              <a:rPr lang="en-US" sz="1300" dirty="0">
                <a:solidFill>
                  <a:srgbClr val="4A4E69"/>
                </a:solidFill>
                <a:latin typeface="BIZ UDGothic" pitchFamily="34" charset="0"/>
                <a:ea typeface="BIZ UDGothic" pitchFamily="34" charset="-122"/>
                <a:cs typeface="BIZ UDGothic" pitchFamily="34" charset="-120"/>
              </a:rPr>
              <a:t>Saltelliサンプリング、推定式、Sobol列、収束と信頼区間</a:t>
            </a:r>
            <a:endParaRPr lang="en-US" sz="1300" dirty="0"/>
          </a:p>
        </p:txBody>
      </p:sp>
      <p:sp>
        <p:nvSpPr>
          <p:cNvPr id="28" name="Text 21"/>
          <p:cNvSpPr/>
          <p:nvPr/>
        </p:nvSpPr>
        <p:spPr>
          <a:xfrm>
            <a:off x="6507328" y="5623560"/>
            <a:ext cx="2019224" cy="274320"/>
          </a:xfrm>
          <a:prstGeom prst="rect">
            <a:avLst/>
          </a:prstGeom>
          <a:noFill/>
          <a:ln/>
        </p:spPr>
        <p:txBody>
          <a:bodyPr wrap="square" lIns="0" tIns="0" rIns="0" bIns="0" rtlCol="0" anchor="ctr"/>
          <a:lstStyle/>
          <a:p>
            <a:pPr indent="0" marL="0">
              <a:buNone/>
            </a:pPr>
            <a:r>
              <a:rPr lang="en-US" sz="1100" dirty="0">
                <a:solidFill>
                  <a:srgbClr val="6C6F7F"/>
                </a:solidFill>
                <a:latin typeface="BIZ UDGothic" pitchFamily="34" charset="0"/>
                <a:ea typeface="BIZ UDGothic" pitchFamily="34" charset="-122"/>
                <a:cs typeface="BIZ UDGothic" pitchFamily="34" charset="-120"/>
              </a:rPr>
              <a:t>p.16–20</a:t>
            </a:r>
            <a:endParaRPr lang="en-US" sz="1100" dirty="0"/>
          </a:p>
        </p:txBody>
      </p:sp>
      <p:sp>
        <p:nvSpPr>
          <p:cNvPr id="29" name="Shape 22"/>
          <p:cNvSpPr/>
          <p:nvPr/>
        </p:nvSpPr>
        <p:spPr>
          <a:xfrm>
            <a:off x="9075191" y="2514600"/>
            <a:ext cx="2567864" cy="3611880"/>
          </a:xfrm>
          <a:prstGeom prst="roundRect">
            <a:avLst>
              <a:gd name="adj" fmla="val 2849"/>
            </a:avLst>
          </a:prstGeom>
          <a:solidFill>
            <a:srgbClr val="FFFFFF"/>
          </a:solidFill>
          <a:ln w="9525">
            <a:solidFill>
              <a:srgbClr val="DADDE6"/>
            </a:solidFill>
            <a:prstDash val="solid"/>
          </a:ln>
        </p:spPr>
      </p:sp>
      <p:sp>
        <p:nvSpPr>
          <p:cNvPr id="30" name="Shape 23"/>
          <p:cNvSpPr/>
          <p:nvPr/>
        </p:nvSpPr>
        <p:spPr>
          <a:xfrm>
            <a:off x="9349511" y="2788920"/>
            <a:ext cx="640080" cy="640080"/>
          </a:xfrm>
          <a:prstGeom prst="ellipse">
            <a:avLst/>
          </a:prstGeom>
          <a:solidFill>
            <a:srgbClr val="9C7412"/>
          </a:solidFill>
          <a:ln/>
        </p:spPr>
      </p:sp>
      <p:pic>
        <p:nvPicPr>
          <p:cNvPr id="31" name="Image 4" descr="preencoded.png">    </p:cNvPr>
          <p:cNvPicPr>
            <a:picLocks noChangeAspect="1"/>
          </p:cNvPicPr>
          <p:nvPr/>
        </p:nvPicPr>
        <p:blipFill>
          <a:blip r:embed="rId5"/>
          <a:stretch>
            <a:fillRect/>
          </a:stretch>
        </p:blipFill>
        <p:spPr>
          <a:xfrm>
            <a:off x="9490329" y="2929738"/>
            <a:ext cx="358445" cy="358445"/>
          </a:xfrm>
          <a:prstGeom prst="rect">
            <a:avLst/>
          </a:prstGeom>
        </p:spPr>
      </p:pic>
      <p:sp>
        <p:nvSpPr>
          <p:cNvPr id="32" name="Text 24"/>
          <p:cNvSpPr/>
          <p:nvPr/>
        </p:nvSpPr>
        <p:spPr>
          <a:xfrm>
            <a:off x="10637215" y="2788920"/>
            <a:ext cx="731520" cy="640080"/>
          </a:xfrm>
          <a:prstGeom prst="rect">
            <a:avLst/>
          </a:prstGeom>
          <a:noFill/>
          <a:ln/>
        </p:spPr>
        <p:txBody>
          <a:bodyPr wrap="square" lIns="0" tIns="0" rIns="0" bIns="0" rtlCol="0" anchor="ctr"/>
          <a:lstStyle/>
          <a:p>
            <a:pPr algn="r" indent="0" marL="0">
              <a:buNone/>
            </a:pPr>
            <a:r>
              <a:rPr lang="en-US" sz="3000" b="1" dirty="0">
                <a:solidFill>
                  <a:srgbClr val="DADDE6"/>
                </a:solidFill>
                <a:latin typeface="BIZ UDGothic" pitchFamily="34" charset="0"/>
                <a:ea typeface="BIZ UDGothic" pitchFamily="34" charset="-122"/>
                <a:cs typeface="BIZ UDGothic" pitchFamily="34" charset="-120"/>
              </a:rPr>
              <a:t>04</a:t>
            </a:r>
            <a:endParaRPr lang="en-US" sz="3000" dirty="0"/>
          </a:p>
        </p:txBody>
      </p:sp>
      <p:sp>
        <p:nvSpPr>
          <p:cNvPr id="33" name="Text 25"/>
          <p:cNvSpPr/>
          <p:nvPr/>
        </p:nvSpPr>
        <p:spPr>
          <a:xfrm>
            <a:off x="9349511" y="3611880"/>
            <a:ext cx="2019224" cy="457200"/>
          </a:xfrm>
          <a:prstGeom prst="rect">
            <a:avLst/>
          </a:prstGeom>
          <a:noFill/>
          <a:ln/>
        </p:spPr>
        <p:txBody>
          <a:bodyPr wrap="square" lIns="0" tIns="0" rIns="0" bIns="0" rtlCol="0" anchor="ctr"/>
          <a:lstStyle/>
          <a:p>
            <a:pPr indent="0" marL="0">
              <a:buNone/>
            </a:pPr>
            <a:r>
              <a:rPr lang="en-US" sz="1900" b="1" dirty="0">
                <a:solidFill>
                  <a:srgbClr val="22223B"/>
                </a:solidFill>
                <a:latin typeface="BIZ UDGothic" pitchFamily="34" charset="0"/>
                <a:ea typeface="BIZ UDGothic" pitchFamily="34" charset="-122"/>
                <a:cs typeface="BIZ UDGothic" pitchFamily="34" charset="-120"/>
              </a:rPr>
              <a:t>実務で使うために</a:t>
            </a:r>
            <a:endParaRPr lang="en-US" sz="1900" dirty="0"/>
          </a:p>
        </p:txBody>
      </p:sp>
      <p:sp>
        <p:nvSpPr>
          <p:cNvPr id="34" name="Text 26"/>
          <p:cNvSpPr/>
          <p:nvPr/>
        </p:nvSpPr>
        <p:spPr>
          <a:xfrm>
            <a:off x="9349511" y="4160520"/>
            <a:ext cx="2019224" cy="1371600"/>
          </a:xfrm>
          <a:prstGeom prst="rect">
            <a:avLst/>
          </a:prstGeom>
          <a:noFill/>
          <a:ln/>
        </p:spPr>
        <p:txBody>
          <a:bodyPr wrap="square" lIns="0" tIns="0" rIns="0" bIns="0" rtlCol="0" anchor="t"/>
          <a:lstStyle/>
          <a:p>
            <a:pPr indent="0" marL="0">
              <a:lnSpc>
                <a:spcPct val="115000"/>
              </a:lnSpc>
              <a:buNone/>
            </a:pPr>
            <a:r>
              <a:rPr lang="en-US" sz="1300" dirty="0">
                <a:solidFill>
                  <a:srgbClr val="4A4E69"/>
                </a:solidFill>
                <a:latin typeface="BIZ UDGothic" pitchFamily="34" charset="0"/>
                <a:ea typeface="BIZ UDGothic" pitchFamily="34" charset="-122"/>
                <a:cs typeface="BIZ UDGothic" pitchFamily="34" charset="-120"/>
              </a:rPr>
              <a:t>進め方の6ステップ、注意点、他手法との比較、用語集</a:t>
            </a:r>
            <a:endParaRPr lang="en-US" sz="1300" dirty="0"/>
          </a:p>
        </p:txBody>
      </p:sp>
      <p:sp>
        <p:nvSpPr>
          <p:cNvPr id="35" name="Text 27"/>
          <p:cNvSpPr/>
          <p:nvPr/>
        </p:nvSpPr>
        <p:spPr>
          <a:xfrm>
            <a:off x="9349511" y="5623560"/>
            <a:ext cx="2019224" cy="274320"/>
          </a:xfrm>
          <a:prstGeom prst="rect">
            <a:avLst/>
          </a:prstGeom>
          <a:noFill/>
          <a:ln/>
        </p:spPr>
        <p:txBody>
          <a:bodyPr wrap="square" lIns="0" tIns="0" rIns="0" bIns="0" rtlCol="0" anchor="ctr"/>
          <a:lstStyle/>
          <a:p>
            <a:pPr indent="0" marL="0">
              <a:buNone/>
            </a:pPr>
            <a:r>
              <a:rPr lang="en-US" sz="1100" dirty="0">
                <a:solidFill>
                  <a:srgbClr val="6C6F7F"/>
                </a:solidFill>
                <a:latin typeface="BIZ UDGothic" pitchFamily="34" charset="0"/>
                <a:ea typeface="BIZ UDGothic" pitchFamily="34" charset="-122"/>
                <a:cs typeface="BIZ UDGothic" pitchFamily="34" charset="-120"/>
              </a:rPr>
              <a:t>p.21–24</a:t>
            </a:r>
            <a:endParaRPr lang="en-US" sz="1100" dirty="0"/>
          </a:p>
        </p:txBody>
      </p:sp>
      <p:sp>
        <p:nvSpPr>
          <p:cNvPr id="36" name="Text 28"/>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37" name="Text 29"/>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01　感度解析とは</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感度解析とは ― ばらつきの原因を入力に割り当てる</a:t>
            </a:r>
            <a:endParaRPr lang="en-US" sz="2800" dirty="0"/>
          </a:p>
        </p:txBody>
      </p:sp>
      <p:sp>
        <p:nvSpPr>
          <p:cNvPr id="5" name="Shape 2"/>
          <p:cNvSpPr/>
          <p:nvPr/>
        </p:nvSpPr>
        <p:spPr>
          <a:xfrm>
            <a:off x="548640" y="1572768"/>
            <a:ext cx="2377440" cy="566928"/>
          </a:xfrm>
          <a:prstGeom prst="roundRect">
            <a:avLst>
              <a:gd name="adj" fmla="val 12903"/>
            </a:avLst>
          </a:prstGeom>
          <a:solidFill>
            <a:srgbClr val="FBE3DC"/>
          </a:solidFill>
          <a:ln/>
        </p:spPr>
      </p:sp>
      <p:sp>
        <p:nvSpPr>
          <p:cNvPr id="6" name="Text 3"/>
          <p:cNvSpPr/>
          <p:nvPr/>
        </p:nvSpPr>
        <p:spPr>
          <a:xfrm>
            <a:off x="548640" y="1572768"/>
            <a:ext cx="2377440" cy="566928"/>
          </a:xfrm>
          <a:prstGeom prst="rect">
            <a:avLst/>
          </a:prstGeom>
          <a:noFill/>
          <a:ln/>
        </p:spPr>
        <p:txBody>
          <a:bodyPr wrap="square" lIns="0" tIns="0" rIns="0" bIns="0" rtlCol="0" anchor="ctr"/>
          <a:lstStyle/>
          <a:p>
            <a:pPr algn="ctr" indent="0" marL="0">
              <a:buNone/>
            </a:pPr>
            <a:r>
              <a:rPr lang="en-US" sz="1500" b="1" dirty="0">
                <a:solidFill>
                  <a:srgbClr val="22223B"/>
                </a:solidFill>
                <a:latin typeface="BIZ UDGothic" pitchFamily="34" charset="0"/>
                <a:ea typeface="BIZ UDGothic" pitchFamily="34" charset="-122"/>
                <a:cs typeface="BIZ UDGothic" pitchFamily="34" charset="-120"/>
              </a:rPr>
              <a:t>入力 </a:t>
            </a:r>
            <a:r>
              <a:rPr lang="en-US" sz="1700" b="1" i="1" dirty="0">
                <a:solidFill>
                  <a:srgbClr val="22223B"/>
                </a:solidFill>
                <a:latin typeface="Times New Roman" pitchFamily="34" charset="0"/>
                <a:ea typeface="Times New Roman" pitchFamily="34" charset="-122"/>
                <a:cs typeface="Times New Roman" pitchFamily="34" charset="-120"/>
              </a:rPr>
              <a:t>X</a:t>
            </a:r>
            <a:r>
              <a:rPr lang="en-US" sz="1700" b="1" i="1" baseline="-40000" dirty="0">
                <a:solidFill>
                  <a:srgbClr val="22223B"/>
                </a:solidFill>
                <a:latin typeface="Times New Roman" pitchFamily="34" charset="0"/>
                <a:ea typeface="Times New Roman" pitchFamily="34" charset="-122"/>
                <a:cs typeface="Times New Roman" pitchFamily="34" charset="-120"/>
              </a:rPr>
              <a:t>1</a:t>
            </a:r>
            <a:r>
              <a:rPr lang="en-US" sz="1500" b="1" dirty="0">
                <a:solidFill>
                  <a:srgbClr val="22223B"/>
                </a:solidFill>
                <a:latin typeface="BIZ UDGothic" pitchFamily="34" charset="0"/>
                <a:ea typeface="BIZ UDGothic" pitchFamily="34" charset="-122"/>
                <a:cs typeface="BIZ UDGothic" pitchFamily="34" charset="-120"/>
              </a:rPr>
              <a:t>（ばらつく）</a:t>
            </a:r>
            <a:endParaRPr lang="en-US" sz="1500" dirty="0"/>
          </a:p>
        </p:txBody>
      </p:sp>
      <p:sp>
        <p:nvSpPr>
          <p:cNvPr id="7" name="Shape 4"/>
          <p:cNvSpPr/>
          <p:nvPr/>
        </p:nvSpPr>
        <p:spPr>
          <a:xfrm>
            <a:off x="548640" y="2304288"/>
            <a:ext cx="2377440" cy="566928"/>
          </a:xfrm>
          <a:prstGeom prst="roundRect">
            <a:avLst>
              <a:gd name="adj" fmla="val 12903"/>
            </a:avLst>
          </a:prstGeom>
          <a:solidFill>
            <a:srgbClr val="D8F0ED"/>
          </a:solidFill>
          <a:ln/>
        </p:spPr>
      </p:sp>
      <p:sp>
        <p:nvSpPr>
          <p:cNvPr id="8" name="Text 5"/>
          <p:cNvSpPr/>
          <p:nvPr/>
        </p:nvSpPr>
        <p:spPr>
          <a:xfrm>
            <a:off x="548640" y="2304288"/>
            <a:ext cx="2377440" cy="566928"/>
          </a:xfrm>
          <a:prstGeom prst="rect">
            <a:avLst/>
          </a:prstGeom>
          <a:noFill/>
          <a:ln/>
        </p:spPr>
        <p:txBody>
          <a:bodyPr wrap="square" lIns="0" tIns="0" rIns="0" bIns="0" rtlCol="0" anchor="ctr"/>
          <a:lstStyle/>
          <a:p>
            <a:pPr algn="ctr" indent="0" marL="0">
              <a:buNone/>
            </a:pPr>
            <a:r>
              <a:rPr lang="en-US" sz="1500" b="1" dirty="0">
                <a:solidFill>
                  <a:srgbClr val="22223B"/>
                </a:solidFill>
                <a:latin typeface="BIZ UDGothic" pitchFamily="34" charset="0"/>
                <a:ea typeface="BIZ UDGothic" pitchFamily="34" charset="-122"/>
                <a:cs typeface="BIZ UDGothic" pitchFamily="34" charset="-120"/>
              </a:rPr>
              <a:t>入力 </a:t>
            </a:r>
            <a:r>
              <a:rPr lang="en-US" sz="1700" b="1" i="1" dirty="0">
                <a:solidFill>
                  <a:srgbClr val="22223B"/>
                </a:solidFill>
                <a:latin typeface="Times New Roman" pitchFamily="34" charset="0"/>
                <a:ea typeface="Times New Roman" pitchFamily="34" charset="-122"/>
                <a:cs typeface="Times New Roman" pitchFamily="34" charset="-120"/>
              </a:rPr>
              <a:t>X</a:t>
            </a:r>
            <a:r>
              <a:rPr lang="en-US" sz="1700" b="1" i="1" baseline="-40000" dirty="0">
                <a:solidFill>
                  <a:srgbClr val="22223B"/>
                </a:solidFill>
                <a:latin typeface="Times New Roman" pitchFamily="34" charset="0"/>
                <a:ea typeface="Times New Roman" pitchFamily="34" charset="-122"/>
                <a:cs typeface="Times New Roman" pitchFamily="34" charset="-120"/>
              </a:rPr>
              <a:t>2</a:t>
            </a:r>
            <a:r>
              <a:rPr lang="en-US" sz="1500" b="1" dirty="0">
                <a:solidFill>
                  <a:srgbClr val="22223B"/>
                </a:solidFill>
                <a:latin typeface="BIZ UDGothic" pitchFamily="34" charset="0"/>
                <a:ea typeface="BIZ UDGothic" pitchFamily="34" charset="-122"/>
                <a:cs typeface="BIZ UDGothic" pitchFamily="34" charset="-120"/>
              </a:rPr>
              <a:t>（ばらつく）</a:t>
            </a:r>
            <a:endParaRPr lang="en-US" sz="1500" dirty="0"/>
          </a:p>
        </p:txBody>
      </p:sp>
      <p:sp>
        <p:nvSpPr>
          <p:cNvPr id="9" name="Shape 6"/>
          <p:cNvSpPr/>
          <p:nvPr/>
        </p:nvSpPr>
        <p:spPr>
          <a:xfrm>
            <a:off x="548640" y="3035808"/>
            <a:ext cx="2377440" cy="566928"/>
          </a:xfrm>
          <a:prstGeom prst="roundRect">
            <a:avLst>
              <a:gd name="adj" fmla="val 12903"/>
            </a:avLst>
          </a:prstGeom>
          <a:solidFill>
            <a:srgbClr val="FBF1D6"/>
          </a:solidFill>
          <a:ln/>
        </p:spPr>
      </p:sp>
      <p:sp>
        <p:nvSpPr>
          <p:cNvPr id="10" name="Text 7"/>
          <p:cNvSpPr/>
          <p:nvPr/>
        </p:nvSpPr>
        <p:spPr>
          <a:xfrm>
            <a:off x="548640" y="3035808"/>
            <a:ext cx="2377440" cy="566928"/>
          </a:xfrm>
          <a:prstGeom prst="rect">
            <a:avLst/>
          </a:prstGeom>
          <a:noFill/>
          <a:ln/>
        </p:spPr>
        <p:txBody>
          <a:bodyPr wrap="square" lIns="0" tIns="0" rIns="0" bIns="0" rtlCol="0" anchor="ctr"/>
          <a:lstStyle/>
          <a:p>
            <a:pPr algn="ctr" indent="0" marL="0">
              <a:buNone/>
            </a:pPr>
            <a:r>
              <a:rPr lang="en-US" sz="1500" b="1" dirty="0">
                <a:solidFill>
                  <a:srgbClr val="22223B"/>
                </a:solidFill>
                <a:latin typeface="BIZ UDGothic" pitchFamily="34" charset="0"/>
                <a:ea typeface="BIZ UDGothic" pitchFamily="34" charset="-122"/>
                <a:cs typeface="BIZ UDGothic" pitchFamily="34" charset="-120"/>
              </a:rPr>
              <a:t>入力 </a:t>
            </a:r>
            <a:r>
              <a:rPr lang="en-US" sz="1700" b="1" i="1" dirty="0">
                <a:solidFill>
                  <a:srgbClr val="22223B"/>
                </a:solidFill>
                <a:latin typeface="Times New Roman" pitchFamily="34" charset="0"/>
                <a:ea typeface="Times New Roman" pitchFamily="34" charset="-122"/>
                <a:cs typeface="Times New Roman" pitchFamily="34" charset="-120"/>
              </a:rPr>
              <a:t>X</a:t>
            </a:r>
            <a:r>
              <a:rPr lang="en-US" sz="1700" b="1" i="1" baseline="-40000" dirty="0">
                <a:solidFill>
                  <a:srgbClr val="22223B"/>
                </a:solidFill>
                <a:latin typeface="Times New Roman" pitchFamily="34" charset="0"/>
                <a:ea typeface="Times New Roman" pitchFamily="34" charset="-122"/>
                <a:cs typeface="Times New Roman" pitchFamily="34" charset="-120"/>
              </a:rPr>
              <a:t>3</a:t>
            </a:r>
            <a:r>
              <a:rPr lang="en-US" sz="1500" b="1" dirty="0">
                <a:solidFill>
                  <a:srgbClr val="22223B"/>
                </a:solidFill>
                <a:latin typeface="BIZ UDGothic" pitchFamily="34" charset="0"/>
                <a:ea typeface="BIZ UDGothic" pitchFamily="34" charset="-122"/>
                <a:cs typeface="BIZ UDGothic" pitchFamily="34" charset="-120"/>
              </a:rPr>
              <a:t>（ばらつく）</a:t>
            </a:r>
            <a:endParaRPr lang="en-US" sz="1500" dirty="0"/>
          </a:p>
        </p:txBody>
      </p:sp>
      <p:sp>
        <p:nvSpPr>
          <p:cNvPr id="11" name="Shape 8"/>
          <p:cNvSpPr/>
          <p:nvPr/>
        </p:nvSpPr>
        <p:spPr>
          <a:xfrm>
            <a:off x="2971800" y="1856232"/>
            <a:ext cx="1188720" cy="502920"/>
          </a:xfrm>
          <a:prstGeom prst="line">
            <a:avLst/>
          </a:prstGeom>
          <a:noFill/>
          <a:ln w="25400">
            <a:solidFill>
              <a:srgbClr val="6C6F7F"/>
            </a:solidFill>
            <a:prstDash val="solid"/>
            <a:tailEnd type="triangle"/>
          </a:ln>
        </p:spPr>
      </p:sp>
      <p:sp>
        <p:nvSpPr>
          <p:cNvPr id="12" name="Shape 9"/>
          <p:cNvSpPr/>
          <p:nvPr/>
        </p:nvSpPr>
        <p:spPr>
          <a:xfrm>
            <a:off x="2971800" y="2587752"/>
            <a:ext cx="1188720" cy="0"/>
          </a:xfrm>
          <a:prstGeom prst="line">
            <a:avLst/>
          </a:prstGeom>
          <a:noFill/>
          <a:ln w="25400">
            <a:solidFill>
              <a:srgbClr val="6C6F7F"/>
            </a:solidFill>
            <a:prstDash val="solid"/>
            <a:tailEnd type="triangle"/>
          </a:ln>
        </p:spPr>
      </p:sp>
      <p:sp>
        <p:nvSpPr>
          <p:cNvPr id="13" name="Shape 10"/>
          <p:cNvSpPr/>
          <p:nvPr/>
        </p:nvSpPr>
        <p:spPr>
          <a:xfrm flipV="1">
            <a:off x="2971800" y="2816352"/>
            <a:ext cx="1188720" cy="502920"/>
          </a:xfrm>
          <a:prstGeom prst="line">
            <a:avLst/>
          </a:prstGeom>
          <a:noFill/>
          <a:ln w="25400">
            <a:solidFill>
              <a:srgbClr val="6C6F7F"/>
            </a:solidFill>
            <a:prstDash val="solid"/>
            <a:tailEnd type="triangle"/>
          </a:ln>
        </p:spPr>
      </p:sp>
      <p:sp>
        <p:nvSpPr>
          <p:cNvPr id="14" name="Shape 11"/>
          <p:cNvSpPr/>
          <p:nvPr/>
        </p:nvSpPr>
        <p:spPr>
          <a:xfrm>
            <a:off x="4206240" y="1764792"/>
            <a:ext cx="2926080" cy="1645920"/>
          </a:xfrm>
          <a:prstGeom prst="roundRect">
            <a:avLst>
              <a:gd name="adj" fmla="val 4444"/>
            </a:avLst>
          </a:prstGeom>
          <a:solidFill>
            <a:srgbClr val="22223B"/>
          </a:solidFill>
          <a:ln/>
        </p:spPr>
      </p:sp>
      <p:sp>
        <p:nvSpPr>
          <p:cNvPr id="15" name="Text 12"/>
          <p:cNvSpPr/>
          <p:nvPr/>
        </p:nvSpPr>
        <p:spPr>
          <a:xfrm>
            <a:off x="4206240" y="1764792"/>
            <a:ext cx="2926080" cy="1645920"/>
          </a:xfrm>
          <a:prstGeom prst="rect">
            <a:avLst/>
          </a:prstGeom>
          <a:noFill/>
          <a:ln/>
        </p:spPr>
        <p:txBody>
          <a:bodyPr wrap="square" lIns="1270" tIns="1270" rIns="1270" bIns="1270" rtlCol="0" anchor="ctr"/>
          <a:lstStyle/>
          <a:p>
            <a:pPr algn="ctr" indent="0" marL="0">
              <a:spcAft>
                <a:spcPts val="600"/>
              </a:spcAft>
              <a:buNone/>
            </a:pPr>
            <a:r>
              <a:rPr lang="en-US" sz="2200" b="1" dirty="0">
                <a:solidFill>
                  <a:srgbClr val="FFFFFF"/>
                </a:solidFill>
                <a:latin typeface="BIZ UDGothic" pitchFamily="34" charset="0"/>
                <a:ea typeface="BIZ UDGothic" pitchFamily="34" charset="-122"/>
                <a:cs typeface="BIZ UDGothic" pitchFamily="34" charset="-120"/>
              </a:rPr>
              <a:t>モデル </a:t>
            </a:r>
            <a:r>
              <a:rPr lang="en-US" sz="2500" b="1" i="1" dirty="0">
                <a:solidFill>
                  <a:srgbClr val="FFFFFF"/>
                </a:solidFill>
                <a:latin typeface="Times New Roman" pitchFamily="34" charset="0"/>
                <a:ea typeface="Times New Roman" pitchFamily="34" charset="-122"/>
                <a:cs typeface="Times New Roman" pitchFamily="34" charset="-120"/>
              </a:rPr>
              <a:t>f</a:t>
            </a:r>
            <a:endParaRPr lang="en-US" sz="2200" dirty="0"/>
          </a:p>
          <a:p>
            <a:pPr algn="ctr" indent="0" marL="0">
              <a:spcAft>
                <a:spcPts val="600"/>
              </a:spcAft>
              <a:buNone/>
            </a:pPr>
            <a:r>
              <a:rPr lang="en-US" sz="1200" dirty="0">
                <a:solidFill>
                  <a:srgbClr val="D9DBEA"/>
                </a:solidFill>
                <a:latin typeface="BIZ UDGothic" pitchFamily="34" charset="0"/>
                <a:ea typeface="BIZ UDGothic" pitchFamily="34" charset="-122"/>
                <a:cs typeface="BIZ UDGothic" pitchFamily="34" charset="-120"/>
              </a:rPr>
              <a:t>シミュレーション／計算式／代理モデル</a:t>
            </a:r>
            <a:endParaRPr lang="en-US" sz="2200" dirty="0"/>
          </a:p>
        </p:txBody>
      </p:sp>
      <p:sp>
        <p:nvSpPr>
          <p:cNvPr id="16" name="Shape 13"/>
          <p:cNvSpPr/>
          <p:nvPr/>
        </p:nvSpPr>
        <p:spPr>
          <a:xfrm>
            <a:off x="7178040" y="2587752"/>
            <a:ext cx="914400" cy="0"/>
          </a:xfrm>
          <a:prstGeom prst="line">
            <a:avLst/>
          </a:prstGeom>
          <a:noFill/>
          <a:ln w="25400">
            <a:solidFill>
              <a:srgbClr val="6C6F7F"/>
            </a:solidFill>
            <a:prstDash val="solid"/>
            <a:tailEnd type="triangle"/>
          </a:ln>
        </p:spPr>
      </p:sp>
      <p:sp>
        <p:nvSpPr>
          <p:cNvPr id="17" name="Shape 14"/>
          <p:cNvSpPr/>
          <p:nvPr/>
        </p:nvSpPr>
        <p:spPr>
          <a:xfrm>
            <a:off x="8138160" y="1764792"/>
            <a:ext cx="3504895" cy="1645920"/>
          </a:xfrm>
          <a:prstGeom prst="roundRect">
            <a:avLst>
              <a:gd name="adj" fmla="val 4444"/>
            </a:avLst>
          </a:prstGeom>
          <a:solidFill>
            <a:srgbClr val="F3F4F8"/>
          </a:solidFill>
          <a:ln/>
        </p:spPr>
      </p:sp>
      <p:sp>
        <p:nvSpPr>
          <p:cNvPr id="18" name="Text 15"/>
          <p:cNvSpPr/>
          <p:nvPr/>
        </p:nvSpPr>
        <p:spPr>
          <a:xfrm>
            <a:off x="8138160" y="1764792"/>
            <a:ext cx="3504895" cy="1645920"/>
          </a:xfrm>
          <a:prstGeom prst="rect">
            <a:avLst/>
          </a:prstGeom>
          <a:noFill/>
          <a:ln/>
        </p:spPr>
        <p:txBody>
          <a:bodyPr wrap="square" lIns="1270" tIns="1270" rIns="1270" bIns="1270" rtlCol="0" anchor="ctr"/>
          <a:lstStyle/>
          <a:p>
            <a:pPr algn="ctr" indent="0" marL="0">
              <a:spcAft>
                <a:spcPts val="600"/>
              </a:spcAft>
              <a:buNone/>
            </a:pPr>
            <a:r>
              <a:rPr lang="en-US" sz="2200" b="1" dirty="0">
                <a:solidFill>
                  <a:srgbClr val="22223B"/>
                </a:solidFill>
                <a:latin typeface="BIZ UDGothic" pitchFamily="34" charset="0"/>
                <a:ea typeface="BIZ UDGothic" pitchFamily="34" charset="-122"/>
                <a:cs typeface="BIZ UDGothic" pitchFamily="34" charset="-120"/>
              </a:rPr>
              <a:t>出力 </a:t>
            </a:r>
            <a:r>
              <a:rPr lang="en-US" sz="2500" b="1" i="1" dirty="0">
                <a:solidFill>
                  <a:srgbClr val="22223B"/>
                </a:solidFill>
                <a:latin typeface="Times New Roman" pitchFamily="34" charset="0"/>
                <a:ea typeface="Times New Roman" pitchFamily="34" charset="-122"/>
                <a:cs typeface="Times New Roman" pitchFamily="34" charset="-120"/>
              </a:rPr>
              <a:t>Y</a:t>
            </a:r>
            <a:r>
              <a:rPr lang="en-US" sz="2200" b="1" dirty="0">
                <a:solidFill>
                  <a:srgbClr val="22223B"/>
                </a:solidFill>
                <a:latin typeface="BIZ UDGothic" pitchFamily="34" charset="0"/>
                <a:ea typeface="BIZ UDGothic" pitchFamily="34" charset="-122"/>
                <a:cs typeface="BIZ UDGothic" pitchFamily="34" charset="-120"/>
              </a:rPr>
              <a:t> のばらつき</a:t>
            </a:r>
            <a:endParaRPr lang="en-US" sz="2200" dirty="0"/>
          </a:p>
          <a:p>
            <a:pPr algn="ctr" indent="0" marL="0">
              <a:spcAft>
                <a:spcPts val="600"/>
              </a:spcAft>
              <a:buNone/>
            </a:pPr>
            <a:r>
              <a:rPr lang="en-US" sz="1200" dirty="0">
                <a:solidFill>
                  <a:srgbClr val="6C6F7F"/>
                </a:solidFill>
                <a:latin typeface="BIZ UDGothic" pitchFamily="34" charset="0"/>
                <a:ea typeface="BIZ UDGothic" pitchFamily="34" charset="-122"/>
                <a:cs typeface="BIZ UDGothic" pitchFamily="34" charset="-120"/>
              </a:rPr>
              <a:t>例：寸法・誤差・性能指標など</a:t>
            </a:r>
            <a:endParaRPr lang="en-US" sz="2200" dirty="0"/>
          </a:p>
        </p:txBody>
      </p:sp>
      <p:sp>
        <p:nvSpPr>
          <p:cNvPr id="19" name="Text 16"/>
          <p:cNvSpPr/>
          <p:nvPr/>
        </p:nvSpPr>
        <p:spPr>
          <a:xfrm>
            <a:off x="548640" y="3749040"/>
            <a:ext cx="11094415" cy="502920"/>
          </a:xfrm>
          <a:prstGeom prst="rect">
            <a:avLst/>
          </a:prstGeom>
          <a:noFill/>
          <a:ln/>
        </p:spPr>
        <p:txBody>
          <a:bodyPr wrap="square" lIns="0" tIns="0" rIns="0" bIns="0" rtlCol="0" anchor="ctr"/>
          <a:lstStyle/>
          <a:p>
            <a:pPr indent="0" marL="0">
              <a:buNone/>
            </a:pPr>
            <a:r>
              <a:rPr lang="en-US" sz="1800" b="1" dirty="0">
                <a:solidFill>
                  <a:srgbClr val="22223B"/>
                </a:solidFill>
                <a:latin typeface="BIZ UDGothic" pitchFamily="34" charset="0"/>
                <a:ea typeface="BIZ UDGothic" pitchFamily="34" charset="-122"/>
                <a:cs typeface="BIZ UDGothic" pitchFamily="34" charset="-120"/>
              </a:rPr>
              <a:t>問い：</a:t>
            </a:r>
            <a:r>
              <a:rPr lang="en-US" sz="2000" b="1" i="1" dirty="0">
                <a:solidFill>
                  <a:srgbClr val="22223B"/>
                </a:solidFill>
                <a:latin typeface="Times New Roman" pitchFamily="34" charset="0"/>
                <a:ea typeface="Times New Roman" pitchFamily="34" charset="-122"/>
                <a:cs typeface="Times New Roman" pitchFamily="34" charset="-120"/>
              </a:rPr>
              <a:t>Y</a:t>
            </a:r>
            <a:r>
              <a:rPr lang="en-US" sz="1800" b="1" dirty="0">
                <a:solidFill>
                  <a:srgbClr val="22223B"/>
                </a:solidFill>
                <a:latin typeface="BIZ UDGothic" pitchFamily="34" charset="0"/>
                <a:ea typeface="BIZ UDGothic" pitchFamily="34" charset="-122"/>
                <a:cs typeface="BIZ UDGothic" pitchFamily="34" charset="-120"/>
              </a:rPr>
              <a:t> のばらつきのうち、どれだけが </a:t>
            </a:r>
            <a:r>
              <a:rPr lang="en-US" sz="2000" b="1" i="1" dirty="0">
                <a:solidFill>
                  <a:srgbClr val="22223B"/>
                </a:solidFill>
                <a:latin typeface="Times New Roman" pitchFamily="34" charset="0"/>
                <a:ea typeface="Times New Roman" pitchFamily="34" charset="-122"/>
                <a:cs typeface="Times New Roman" pitchFamily="34" charset="-120"/>
              </a:rPr>
              <a:t>X</a:t>
            </a:r>
            <a:r>
              <a:rPr lang="en-US" sz="2000" b="1" i="1" baseline="-40000" dirty="0">
                <a:solidFill>
                  <a:srgbClr val="22223B"/>
                </a:solidFill>
                <a:latin typeface="Times New Roman" pitchFamily="34" charset="0"/>
                <a:ea typeface="Times New Roman" pitchFamily="34" charset="-122"/>
                <a:cs typeface="Times New Roman" pitchFamily="34" charset="-120"/>
              </a:rPr>
              <a:t>1</a:t>
            </a:r>
            <a:r>
              <a:rPr lang="en-US" sz="1800" b="1" dirty="0">
                <a:solidFill>
                  <a:srgbClr val="22223B"/>
                </a:solidFill>
                <a:latin typeface="BIZ UDGothic" pitchFamily="34" charset="0"/>
                <a:ea typeface="BIZ UDGothic" pitchFamily="34" charset="-122"/>
                <a:cs typeface="BIZ UDGothic" pitchFamily="34" charset="-120"/>
              </a:rPr>
              <a:t> のせい？ </a:t>
            </a:r>
            <a:r>
              <a:rPr lang="en-US" sz="2000" b="1" i="1" dirty="0">
                <a:solidFill>
                  <a:srgbClr val="22223B"/>
                </a:solidFill>
                <a:latin typeface="Times New Roman" pitchFamily="34" charset="0"/>
                <a:ea typeface="Times New Roman" pitchFamily="34" charset="-122"/>
                <a:cs typeface="Times New Roman" pitchFamily="34" charset="-120"/>
              </a:rPr>
              <a:t>X</a:t>
            </a:r>
            <a:r>
              <a:rPr lang="en-US" sz="2000" b="1" i="1" baseline="-40000" dirty="0">
                <a:solidFill>
                  <a:srgbClr val="22223B"/>
                </a:solidFill>
                <a:latin typeface="Times New Roman" pitchFamily="34" charset="0"/>
                <a:ea typeface="Times New Roman" pitchFamily="34" charset="-122"/>
                <a:cs typeface="Times New Roman" pitchFamily="34" charset="-120"/>
              </a:rPr>
              <a:t>2</a:t>
            </a:r>
            <a:r>
              <a:rPr lang="en-US" sz="1800" b="1" dirty="0">
                <a:solidFill>
                  <a:srgbClr val="22223B"/>
                </a:solidFill>
                <a:latin typeface="BIZ UDGothic" pitchFamily="34" charset="0"/>
                <a:ea typeface="BIZ UDGothic" pitchFamily="34" charset="-122"/>
                <a:cs typeface="BIZ UDGothic" pitchFamily="34" charset="-120"/>
              </a:rPr>
              <a:t> のせい？ 組み合わせのせい？</a:t>
            </a:r>
            <a:endParaRPr lang="en-US" sz="1800" dirty="0"/>
          </a:p>
        </p:txBody>
      </p:sp>
      <p:sp>
        <p:nvSpPr>
          <p:cNvPr id="20" name="Shape 17"/>
          <p:cNvSpPr/>
          <p:nvPr/>
        </p:nvSpPr>
        <p:spPr>
          <a:xfrm>
            <a:off x="548640" y="4480560"/>
            <a:ext cx="3515258" cy="1691640"/>
          </a:xfrm>
          <a:prstGeom prst="roundRect">
            <a:avLst>
              <a:gd name="adj" fmla="val 4324"/>
            </a:avLst>
          </a:prstGeom>
          <a:solidFill>
            <a:srgbClr val="FFFFFF"/>
          </a:solidFill>
          <a:ln w="9525">
            <a:solidFill>
              <a:srgbClr val="DADDE6"/>
            </a:solidFill>
            <a:prstDash val="solid"/>
          </a:ln>
        </p:spPr>
      </p:sp>
      <p:sp>
        <p:nvSpPr>
          <p:cNvPr id="21" name="Shape 18"/>
          <p:cNvSpPr/>
          <p:nvPr/>
        </p:nvSpPr>
        <p:spPr>
          <a:xfrm>
            <a:off x="777240" y="4754880"/>
            <a:ext cx="548640" cy="548640"/>
          </a:xfrm>
          <a:prstGeom prst="ellipse">
            <a:avLst/>
          </a:prstGeom>
          <a:solidFill>
            <a:srgbClr val="E76F51"/>
          </a:solidFill>
          <a:ln/>
        </p:spPr>
      </p:sp>
      <p:pic>
        <p:nvPicPr>
          <p:cNvPr id="22" name="Image 0" descr="preencoded.png">    </p:cNvPr>
          <p:cNvPicPr>
            <a:picLocks noChangeAspect="1"/>
          </p:cNvPicPr>
          <p:nvPr/>
        </p:nvPicPr>
        <p:blipFill>
          <a:blip r:embed="rId1"/>
          <a:stretch>
            <a:fillRect/>
          </a:stretch>
        </p:blipFill>
        <p:spPr>
          <a:xfrm>
            <a:off x="897941" y="4875581"/>
            <a:ext cx="307238" cy="307238"/>
          </a:xfrm>
          <a:prstGeom prst="rect">
            <a:avLst/>
          </a:prstGeom>
        </p:spPr>
      </p:pic>
      <p:sp>
        <p:nvSpPr>
          <p:cNvPr id="23" name="Text 19"/>
          <p:cNvSpPr/>
          <p:nvPr/>
        </p:nvSpPr>
        <p:spPr>
          <a:xfrm>
            <a:off x="1508760" y="4754880"/>
            <a:ext cx="2372258" cy="548640"/>
          </a:xfrm>
          <a:prstGeom prst="rect">
            <a:avLst/>
          </a:prstGeom>
          <a:noFill/>
          <a:ln/>
        </p:spPr>
        <p:txBody>
          <a:bodyPr wrap="square" lIns="0" tIns="0" rIns="0" bIns="0" rtlCol="0" anchor="ctr"/>
          <a:lstStyle/>
          <a:p>
            <a:pPr indent="0" marL="0">
              <a:buNone/>
            </a:pPr>
            <a:r>
              <a:rPr lang="en-US" sz="1600" b="1" dirty="0">
                <a:solidFill>
                  <a:srgbClr val="22223B"/>
                </a:solidFill>
                <a:latin typeface="BIZ UDGothic" pitchFamily="34" charset="0"/>
                <a:ea typeface="BIZ UDGothic" pitchFamily="34" charset="-122"/>
                <a:cs typeface="BIZ UDGothic" pitchFamily="34" charset="-120"/>
              </a:rPr>
              <a:t>重要因子の特定</a:t>
            </a:r>
            <a:endParaRPr lang="en-US" sz="1600" dirty="0"/>
          </a:p>
        </p:txBody>
      </p:sp>
      <p:sp>
        <p:nvSpPr>
          <p:cNvPr id="24" name="Text 20"/>
          <p:cNvSpPr/>
          <p:nvPr/>
        </p:nvSpPr>
        <p:spPr>
          <a:xfrm>
            <a:off x="777240" y="5394960"/>
            <a:ext cx="3058058" cy="685800"/>
          </a:xfrm>
          <a:prstGeom prst="rect">
            <a:avLst/>
          </a:prstGeom>
          <a:noFill/>
          <a:ln/>
        </p:spPr>
        <p:txBody>
          <a:bodyPr wrap="square" lIns="0" tIns="0" rIns="0" bIns="0" rtlCol="0" anchor="t"/>
          <a:lstStyle/>
          <a:p>
            <a:pPr indent="0" marL="0">
              <a:buNone/>
            </a:pPr>
            <a:r>
              <a:rPr lang="en-US" sz="1300" dirty="0">
                <a:solidFill>
                  <a:srgbClr val="4A4E69"/>
                </a:solidFill>
                <a:latin typeface="BIZ UDGothic" pitchFamily="34" charset="0"/>
                <a:ea typeface="BIZ UDGothic" pitchFamily="34" charset="-122"/>
                <a:cs typeface="BIZ UDGothic" pitchFamily="34" charset="-120"/>
              </a:rPr>
              <a:t>管理・改善に力を入れるべき入力を、寄与の大きい順に並べる</a:t>
            </a:r>
            <a:endParaRPr lang="en-US" sz="1300" dirty="0"/>
          </a:p>
        </p:txBody>
      </p:sp>
      <p:sp>
        <p:nvSpPr>
          <p:cNvPr id="25" name="Shape 21"/>
          <p:cNvSpPr/>
          <p:nvPr/>
        </p:nvSpPr>
        <p:spPr>
          <a:xfrm>
            <a:off x="4338218" y="4480560"/>
            <a:ext cx="3515258" cy="1691640"/>
          </a:xfrm>
          <a:prstGeom prst="roundRect">
            <a:avLst>
              <a:gd name="adj" fmla="val 4324"/>
            </a:avLst>
          </a:prstGeom>
          <a:solidFill>
            <a:srgbClr val="FFFFFF"/>
          </a:solidFill>
          <a:ln w="9525">
            <a:solidFill>
              <a:srgbClr val="DADDE6"/>
            </a:solidFill>
            <a:prstDash val="solid"/>
          </a:ln>
        </p:spPr>
      </p:sp>
      <p:sp>
        <p:nvSpPr>
          <p:cNvPr id="26" name="Shape 22"/>
          <p:cNvSpPr/>
          <p:nvPr/>
        </p:nvSpPr>
        <p:spPr>
          <a:xfrm>
            <a:off x="4566818" y="4754880"/>
            <a:ext cx="548640" cy="548640"/>
          </a:xfrm>
          <a:prstGeom prst="ellipse">
            <a:avLst/>
          </a:prstGeom>
          <a:solidFill>
            <a:srgbClr val="2A9D8F"/>
          </a:solidFill>
          <a:ln/>
        </p:spPr>
      </p:sp>
      <p:pic>
        <p:nvPicPr>
          <p:cNvPr id="27" name="Image 1" descr="preencoded.png">    </p:cNvPr>
          <p:cNvPicPr>
            <a:picLocks noChangeAspect="1"/>
          </p:cNvPicPr>
          <p:nvPr/>
        </p:nvPicPr>
        <p:blipFill>
          <a:blip r:embed="rId2"/>
          <a:stretch>
            <a:fillRect/>
          </a:stretch>
        </p:blipFill>
        <p:spPr>
          <a:xfrm>
            <a:off x="4687519" y="4875581"/>
            <a:ext cx="307238" cy="307238"/>
          </a:xfrm>
          <a:prstGeom prst="rect">
            <a:avLst/>
          </a:prstGeom>
        </p:spPr>
      </p:pic>
      <p:sp>
        <p:nvSpPr>
          <p:cNvPr id="28" name="Text 23"/>
          <p:cNvSpPr/>
          <p:nvPr/>
        </p:nvSpPr>
        <p:spPr>
          <a:xfrm>
            <a:off x="5298338" y="4754880"/>
            <a:ext cx="2372258" cy="548640"/>
          </a:xfrm>
          <a:prstGeom prst="rect">
            <a:avLst/>
          </a:prstGeom>
          <a:noFill/>
          <a:ln/>
        </p:spPr>
        <p:txBody>
          <a:bodyPr wrap="square" lIns="0" tIns="0" rIns="0" bIns="0" rtlCol="0" anchor="ctr"/>
          <a:lstStyle/>
          <a:p>
            <a:pPr indent="0" marL="0">
              <a:buNone/>
            </a:pPr>
            <a:r>
              <a:rPr lang="en-US" sz="1600" b="1" dirty="0">
                <a:solidFill>
                  <a:srgbClr val="22223B"/>
                </a:solidFill>
                <a:latin typeface="BIZ UDGothic" pitchFamily="34" charset="0"/>
                <a:ea typeface="BIZ UDGothic" pitchFamily="34" charset="-122"/>
                <a:cs typeface="BIZ UDGothic" pitchFamily="34" charset="-120"/>
              </a:rPr>
              <a:t>影響の小さい因子の固定</a:t>
            </a:r>
            <a:endParaRPr lang="en-US" sz="1600" dirty="0"/>
          </a:p>
        </p:txBody>
      </p:sp>
      <p:sp>
        <p:nvSpPr>
          <p:cNvPr id="29" name="Text 24"/>
          <p:cNvSpPr/>
          <p:nvPr/>
        </p:nvSpPr>
        <p:spPr>
          <a:xfrm>
            <a:off x="4566818" y="5394960"/>
            <a:ext cx="3058058" cy="685800"/>
          </a:xfrm>
          <a:prstGeom prst="rect">
            <a:avLst/>
          </a:prstGeom>
          <a:noFill/>
          <a:ln/>
        </p:spPr>
        <p:txBody>
          <a:bodyPr wrap="square" lIns="0" tIns="0" rIns="0" bIns="0" rtlCol="0" anchor="t"/>
          <a:lstStyle/>
          <a:p>
            <a:pPr indent="0" marL="0">
              <a:buNone/>
            </a:pPr>
            <a:r>
              <a:rPr lang="en-US" sz="1300" dirty="0">
                <a:solidFill>
                  <a:srgbClr val="4A4E69"/>
                </a:solidFill>
                <a:latin typeface="BIZ UDGothic" pitchFamily="34" charset="0"/>
                <a:ea typeface="BIZ UDGothic" pitchFamily="34" charset="-122"/>
                <a:cs typeface="BIZ UDGothic" pitchFamily="34" charset="-120"/>
              </a:rPr>
              <a:t>効かない入力を固定値にして、計算や実験の対象を減らす</a:t>
            </a:r>
            <a:endParaRPr lang="en-US" sz="1300" dirty="0"/>
          </a:p>
        </p:txBody>
      </p:sp>
      <p:sp>
        <p:nvSpPr>
          <p:cNvPr id="30" name="Shape 25"/>
          <p:cNvSpPr/>
          <p:nvPr/>
        </p:nvSpPr>
        <p:spPr>
          <a:xfrm>
            <a:off x="8127797" y="4480560"/>
            <a:ext cx="3515258" cy="1691640"/>
          </a:xfrm>
          <a:prstGeom prst="roundRect">
            <a:avLst>
              <a:gd name="adj" fmla="val 4324"/>
            </a:avLst>
          </a:prstGeom>
          <a:solidFill>
            <a:srgbClr val="FFFFFF"/>
          </a:solidFill>
          <a:ln w="9525">
            <a:solidFill>
              <a:srgbClr val="DADDE6"/>
            </a:solidFill>
            <a:prstDash val="solid"/>
          </a:ln>
        </p:spPr>
      </p:sp>
      <p:sp>
        <p:nvSpPr>
          <p:cNvPr id="31" name="Shape 26"/>
          <p:cNvSpPr/>
          <p:nvPr/>
        </p:nvSpPr>
        <p:spPr>
          <a:xfrm>
            <a:off x="8356397" y="4754880"/>
            <a:ext cx="548640" cy="548640"/>
          </a:xfrm>
          <a:prstGeom prst="ellipse">
            <a:avLst/>
          </a:prstGeom>
          <a:solidFill>
            <a:srgbClr val="8D6A9F"/>
          </a:solidFill>
          <a:ln/>
        </p:spPr>
      </p:sp>
      <p:pic>
        <p:nvPicPr>
          <p:cNvPr id="32" name="Image 2" descr="preencoded.png">    </p:cNvPr>
          <p:cNvPicPr>
            <a:picLocks noChangeAspect="1"/>
          </p:cNvPicPr>
          <p:nvPr/>
        </p:nvPicPr>
        <p:blipFill>
          <a:blip r:embed="rId3"/>
          <a:stretch>
            <a:fillRect/>
          </a:stretch>
        </p:blipFill>
        <p:spPr>
          <a:xfrm>
            <a:off x="8477098" y="4875581"/>
            <a:ext cx="307238" cy="307238"/>
          </a:xfrm>
          <a:prstGeom prst="rect">
            <a:avLst/>
          </a:prstGeom>
        </p:spPr>
      </p:pic>
      <p:sp>
        <p:nvSpPr>
          <p:cNvPr id="33" name="Text 27"/>
          <p:cNvSpPr/>
          <p:nvPr/>
        </p:nvSpPr>
        <p:spPr>
          <a:xfrm>
            <a:off x="9087917" y="4754880"/>
            <a:ext cx="2372258" cy="548640"/>
          </a:xfrm>
          <a:prstGeom prst="rect">
            <a:avLst/>
          </a:prstGeom>
          <a:noFill/>
          <a:ln/>
        </p:spPr>
        <p:txBody>
          <a:bodyPr wrap="square" lIns="0" tIns="0" rIns="0" bIns="0" rtlCol="0" anchor="ctr"/>
          <a:lstStyle/>
          <a:p>
            <a:pPr indent="0" marL="0">
              <a:buNone/>
            </a:pPr>
            <a:r>
              <a:rPr lang="en-US" sz="1600" b="1" dirty="0">
                <a:solidFill>
                  <a:srgbClr val="22223B"/>
                </a:solidFill>
                <a:latin typeface="BIZ UDGothic" pitchFamily="34" charset="0"/>
                <a:ea typeface="BIZ UDGothic" pitchFamily="34" charset="-122"/>
                <a:cs typeface="BIZ UDGothic" pitchFamily="34" charset="-120"/>
              </a:rPr>
              <a:t>交互作用の発見</a:t>
            </a:r>
            <a:endParaRPr lang="en-US" sz="1600" dirty="0"/>
          </a:p>
        </p:txBody>
      </p:sp>
      <p:sp>
        <p:nvSpPr>
          <p:cNvPr id="34" name="Text 28"/>
          <p:cNvSpPr/>
          <p:nvPr/>
        </p:nvSpPr>
        <p:spPr>
          <a:xfrm>
            <a:off x="8356397" y="5394960"/>
            <a:ext cx="3058058" cy="685800"/>
          </a:xfrm>
          <a:prstGeom prst="rect">
            <a:avLst/>
          </a:prstGeom>
          <a:noFill/>
          <a:ln/>
        </p:spPr>
        <p:txBody>
          <a:bodyPr wrap="square" lIns="0" tIns="0" rIns="0" bIns="0" rtlCol="0" anchor="t"/>
          <a:lstStyle/>
          <a:p>
            <a:pPr indent="0" marL="0">
              <a:buNone/>
            </a:pPr>
            <a:r>
              <a:rPr lang="en-US" sz="1300" dirty="0">
                <a:solidFill>
                  <a:srgbClr val="4A4E69"/>
                </a:solidFill>
                <a:latin typeface="BIZ UDGothic" pitchFamily="34" charset="0"/>
                <a:ea typeface="BIZ UDGothic" pitchFamily="34" charset="-122"/>
                <a:cs typeface="BIZ UDGothic" pitchFamily="34" charset="-120"/>
              </a:rPr>
              <a:t>単独では効かないが、組み合わせると効く入力を見つける</a:t>
            </a:r>
            <a:endParaRPr lang="en-US" sz="1300" dirty="0"/>
          </a:p>
        </p:txBody>
      </p:sp>
      <p:sp>
        <p:nvSpPr>
          <p:cNvPr id="35" name="Text 29"/>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36" name="Text 30"/>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01　感度解析とは</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局所感度とグローバル感度</a:t>
            </a:r>
            <a:endParaRPr lang="en-US" sz="2800" dirty="0"/>
          </a:p>
        </p:txBody>
      </p:sp>
      <p:sp>
        <p:nvSpPr>
          <p:cNvPr id="5" name="Shape 2"/>
          <p:cNvSpPr/>
          <p:nvPr/>
        </p:nvSpPr>
        <p:spPr>
          <a:xfrm>
            <a:off x="2697480" y="1417320"/>
            <a:ext cx="4343400" cy="4434840"/>
          </a:xfrm>
          <a:prstGeom prst="roundRect">
            <a:avLst>
              <a:gd name="adj" fmla="val 1684"/>
            </a:avLst>
          </a:prstGeom>
          <a:solidFill>
            <a:srgbClr val="F3F4F8"/>
          </a:solidFill>
          <a:ln/>
        </p:spPr>
      </p:sp>
      <p:sp>
        <p:nvSpPr>
          <p:cNvPr id="6" name="Shape 3"/>
          <p:cNvSpPr/>
          <p:nvPr/>
        </p:nvSpPr>
        <p:spPr>
          <a:xfrm>
            <a:off x="7296912" y="1417320"/>
            <a:ext cx="4343400" cy="4434840"/>
          </a:xfrm>
          <a:prstGeom prst="roundRect">
            <a:avLst>
              <a:gd name="adj" fmla="val 1684"/>
            </a:avLst>
          </a:prstGeom>
          <a:solidFill>
            <a:srgbClr val="D8F0ED"/>
          </a:solidFill>
          <a:ln/>
        </p:spPr>
      </p:sp>
      <p:sp>
        <p:nvSpPr>
          <p:cNvPr id="7" name="Shape 4"/>
          <p:cNvSpPr/>
          <p:nvPr/>
        </p:nvSpPr>
        <p:spPr>
          <a:xfrm>
            <a:off x="2926080" y="1645920"/>
            <a:ext cx="594360" cy="594360"/>
          </a:xfrm>
          <a:prstGeom prst="ellipse">
            <a:avLst/>
          </a:prstGeom>
          <a:solidFill>
            <a:srgbClr val="4A4E69"/>
          </a:solidFill>
          <a:ln/>
        </p:spPr>
      </p:sp>
      <p:pic>
        <p:nvPicPr>
          <p:cNvPr id="8" name="Image 0" descr="preencoded.png">    </p:cNvPr>
          <p:cNvPicPr>
            <a:picLocks noChangeAspect="1"/>
          </p:cNvPicPr>
          <p:nvPr/>
        </p:nvPicPr>
        <p:blipFill>
          <a:blip r:embed="rId1"/>
          <a:stretch>
            <a:fillRect/>
          </a:stretch>
        </p:blipFill>
        <p:spPr>
          <a:xfrm>
            <a:off x="3056839" y="1776679"/>
            <a:ext cx="332842" cy="332842"/>
          </a:xfrm>
          <a:prstGeom prst="rect">
            <a:avLst/>
          </a:prstGeom>
        </p:spPr>
      </p:pic>
      <p:sp>
        <p:nvSpPr>
          <p:cNvPr id="9" name="Text 5"/>
          <p:cNvSpPr/>
          <p:nvPr/>
        </p:nvSpPr>
        <p:spPr>
          <a:xfrm>
            <a:off x="3657600" y="1554480"/>
            <a:ext cx="3246120" cy="777240"/>
          </a:xfrm>
          <a:prstGeom prst="rect">
            <a:avLst/>
          </a:prstGeom>
          <a:noFill/>
          <a:ln/>
        </p:spPr>
        <p:txBody>
          <a:bodyPr wrap="square" lIns="0" tIns="0" rIns="0" bIns="0" rtlCol="0" anchor="ctr"/>
          <a:lstStyle/>
          <a:p>
            <a:pPr indent="0" marL="0">
              <a:spcAft>
                <a:spcPts val="400"/>
              </a:spcAft>
              <a:buNone/>
            </a:pPr>
            <a:r>
              <a:rPr lang="en-US" sz="1800" b="1" dirty="0">
                <a:solidFill>
                  <a:srgbClr val="22223B"/>
                </a:solidFill>
                <a:latin typeface="BIZ UDGothic" pitchFamily="34" charset="0"/>
                <a:ea typeface="BIZ UDGothic" pitchFamily="34" charset="-122"/>
                <a:cs typeface="BIZ UDGothic" pitchFamily="34" charset="-120"/>
              </a:rPr>
              <a:t>局所感度（OAT・偏微分）</a:t>
            </a:r>
            <a:endParaRPr lang="en-US" sz="1800" dirty="0"/>
          </a:p>
          <a:p>
            <a:pPr indent="0" marL="0">
              <a:spcAft>
                <a:spcPts val="400"/>
              </a:spcAft>
              <a:buNone/>
            </a:pPr>
            <a:r>
              <a:rPr lang="en-US" sz="1200" dirty="0">
                <a:solidFill>
                  <a:srgbClr val="4A4E69"/>
                </a:solidFill>
                <a:latin typeface="BIZ UDGothic" pitchFamily="34" charset="0"/>
                <a:ea typeface="BIZ UDGothic" pitchFamily="34" charset="-122"/>
                <a:cs typeface="BIZ UDGothic" pitchFamily="34" charset="-120"/>
              </a:rPr>
              <a:t>基準点で入力を1つずつ少し動かす</a:t>
            </a:r>
            <a:endParaRPr lang="en-US" sz="1800" dirty="0"/>
          </a:p>
        </p:txBody>
      </p:sp>
      <p:sp>
        <p:nvSpPr>
          <p:cNvPr id="10" name="Shape 6"/>
          <p:cNvSpPr/>
          <p:nvPr/>
        </p:nvSpPr>
        <p:spPr>
          <a:xfrm>
            <a:off x="7525512" y="1645920"/>
            <a:ext cx="594360" cy="594360"/>
          </a:xfrm>
          <a:prstGeom prst="ellipse">
            <a:avLst/>
          </a:prstGeom>
          <a:solidFill>
            <a:srgbClr val="2A9D8F"/>
          </a:solidFill>
          <a:ln/>
        </p:spPr>
      </p:sp>
      <p:pic>
        <p:nvPicPr>
          <p:cNvPr id="11" name="Image 1" descr="preencoded.png">    </p:cNvPr>
          <p:cNvPicPr>
            <a:picLocks noChangeAspect="1"/>
          </p:cNvPicPr>
          <p:nvPr/>
        </p:nvPicPr>
        <p:blipFill>
          <a:blip r:embed="rId2"/>
          <a:stretch>
            <a:fillRect/>
          </a:stretch>
        </p:blipFill>
        <p:spPr>
          <a:xfrm>
            <a:off x="7656271" y="1776679"/>
            <a:ext cx="332842" cy="332842"/>
          </a:xfrm>
          <a:prstGeom prst="rect">
            <a:avLst/>
          </a:prstGeom>
        </p:spPr>
      </p:pic>
      <p:sp>
        <p:nvSpPr>
          <p:cNvPr id="12" name="Text 7"/>
          <p:cNvSpPr/>
          <p:nvPr/>
        </p:nvSpPr>
        <p:spPr>
          <a:xfrm>
            <a:off x="8257032" y="1554480"/>
            <a:ext cx="3246120" cy="777240"/>
          </a:xfrm>
          <a:prstGeom prst="rect">
            <a:avLst/>
          </a:prstGeom>
          <a:noFill/>
          <a:ln/>
        </p:spPr>
        <p:txBody>
          <a:bodyPr wrap="square" lIns="0" tIns="0" rIns="0" bIns="0" rtlCol="0" anchor="ctr"/>
          <a:lstStyle/>
          <a:p>
            <a:pPr indent="0" marL="0">
              <a:spcAft>
                <a:spcPts val="400"/>
              </a:spcAft>
              <a:buNone/>
            </a:pPr>
            <a:r>
              <a:rPr lang="en-US" sz="1800" b="1" dirty="0">
                <a:solidFill>
                  <a:srgbClr val="22223B"/>
                </a:solidFill>
                <a:latin typeface="BIZ UDGothic" pitchFamily="34" charset="0"/>
                <a:ea typeface="BIZ UDGothic" pitchFamily="34" charset="-122"/>
                <a:cs typeface="BIZ UDGothic" pitchFamily="34" charset="-120"/>
              </a:rPr>
              <a:t>グローバル感度</a:t>
            </a:r>
            <a:endParaRPr lang="en-US" sz="1800" dirty="0"/>
          </a:p>
          <a:p>
            <a:pPr indent="0" marL="0">
              <a:spcAft>
                <a:spcPts val="400"/>
              </a:spcAft>
              <a:buNone/>
            </a:pPr>
            <a:r>
              <a:rPr lang="en-US" sz="1200" dirty="0">
                <a:solidFill>
                  <a:srgbClr val="4A4E69"/>
                </a:solidFill>
                <a:latin typeface="BIZ UDGothic" pitchFamily="34" charset="0"/>
                <a:ea typeface="BIZ UDGothic" pitchFamily="34" charset="-122"/>
                <a:cs typeface="BIZ UDGothic" pitchFamily="34" charset="-120"/>
              </a:rPr>
              <a:t>範囲全体で全入力を同時にばらつかせる（Sobol法など）</a:t>
            </a:r>
            <a:endParaRPr lang="en-US" sz="1800" dirty="0"/>
          </a:p>
        </p:txBody>
      </p:sp>
      <p:sp>
        <p:nvSpPr>
          <p:cNvPr id="13" name="Text 8"/>
          <p:cNvSpPr/>
          <p:nvPr/>
        </p:nvSpPr>
        <p:spPr>
          <a:xfrm>
            <a:off x="548640" y="2514600"/>
            <a:ext cx="2011680" cy="566928"/>
          </a:xfrm>
          <a:prstGeom prst="rect">
            <a:avLst/>
          </a:prstGeom>
          <a:noFill/>
          <a:ln/>
        </p:spPr>
        <p:txBody>
          <a:bodyPr wrap="square" lIns="0" tIns="0" rIns="0" bIns="0" rtlCol="0" anchor="ctr"/>
          <a:lstStyle/>
          <a:p>
            <a:pPr indent="0" marL="0">
              <a:buNone/>
            </a:pPr>
            <a:r>
              <a:rPr lang="en-US" sz="1400" b="1" dirty="0">
                <a:solidFill>
                  <a:srgbClr val="6C6F7F"/>
                </a:solidFill>
                <a:latin typeface="BIZ UDGothic" pitchFamily="34" charset="0"/>
                <a:ea typeface="BIZ UDGothic" pitchFamily="34" charset="-122"/>
                <a:cs typeface="BIZ UDGothic" pitchFamily="34" charset="-120"/>
              </a:rPr>
              <a:t>見る範囲</a:t>
            </a:r>
            <a:endParaRPr lang="en-US" sz="1400" dirty="0"/>
          </a:p>
        </p:txBody>
      </p:sp>
      <p:sp>
        <p:nvSpPr>
          <p:cNvPr id="14" name="Shape 9"/>
          <p:cNvSpPr/>
          <p:nvPr/>
        </p:nvSpPr>
        <p:spPr>
          <a:xfrm>
            <a:off x="2926080" y="2468880"/>
            <a:ext cx="3886200" cy="0"/>
          </a:xfrm>
          <a:prstGeom prst="line">
            <a:avLst/>
          </a:prstGeom>
          <a:noFill/>
          <a:ln w="9525">
            <a:solidFill>
              <a:srgbClr val="DADDE6"/>
            </a:solidFill>
            <a:prstDash val="solid"/>
          </a:ln>
        </p:spPr>
      </p:sp>
      <p:sp>
        <p:nvSpPr>
          <p:cNvPr id="15" name="Shape 10"/>
          <p:cNvSpPr/>
          <p:nvPr/>
        </p:nvSpPr>
        <p:spPr>
          <a:xfrm>
            <a:off x="7525512" y="2468880"/>
            <a:ext cx="3886200" cy="0"/>
          </a:xfrm>
          <a:prstGeom prst="line">
            <a:avLst/>
          </a:prstGeom>
          <a:noFill/>
          <a:ln w="9525">
            <a:solidFill>
              <a:srgbClr val="B5DDD7"/>
            </a:solidFill>
            <a:prstDash val="solid"/>
          </a:ln>
        </p:spPr>
      </p:sp>
      <p:sp>
        <p:nvSpPr>
          <p:cNvPr id="16" name="Text 11"/>
          <p:cNvSpPr/>
          <p:nvPr/>
        </p:nvSpPr>
        <p:spPr>
          <a:xfrm>
            <a:off x="2971800" y="2514600"/>
            <a:ext cx="3886200" cy="566928"/>
          </a:xfrm>
          <a:prstGeom prst="rect">
            <a:avLst/>
          </a:prstGeom>
          <a:noFill/>
          <a:ln/>
        </p:spPr>
        <p:txBody>
          <a:bodyPr wrap="square" lIns="0" tIns="0" rIns="0" bIns="0" rtlCol="0" anchor="ctr"/>
          <a:lstStyle/>
          <a:p>
            <a:pPr indent="0" marL="0">
              <a:buNone/>
            </a:pPr>
            <a:r>
              <a:rPr lang="en-US" sz="1400" dirty="0">
                <a:solidFill>
                  <a:srgbClr val="22223B"/>
                </a:solidFill>
                <a:latin typeface="BIZ UDGothic" pitchFamily="34" charset="0"/>
                <a:ea typeface="BIZ UDGothic" pitchFamily="34" charset="-122"/>
                <a:cs typeface="BIZ UDGothic" pitchFamily="34" charset="-120"/>
              </a:rPr>
              <a:t>基準点のすぐ近くだけ</a:t>
            </a:r>
            <a:endParaRPr lang="en-US" sz="1400" dirty="0"/>
          </a:p>
        </p:txBody>
      </p:sp>
      <p:sp>
        <p:nvSpPr>
          <p:cNvPr id="17" name="Text 12"/>
          <p:cNvSpPr/>
          <p:nvPr/>
        </p:nvSpPr>
        <p:spPr>
          <a:xfrm>
            <a:off x="7571232" y="2514600"/>
            <a:ext cx="3886200" cy="566928"/>
          </a:xfrm>
          <a:prstGeom prst="rect">
            <a:avLst/>
          </a:prstGeom>
          <a:noFill/>
          <a:ln/>
        </p:spPr>
        <p:txBody>
          <a:bodyPr wrap="square" lIns="0" tIns="0" rIns="0" bIns="0" rtlCol="0" anchor="ctr"/>
          <a:lstStyle/>
          <a:p>
            <a:pPr indent="0" marL="0">
              <a:buNone/>
            </a:pPr>
            <a:r>
              <a:rPr lang="en-US" sz="1400" dirty="0">
                <a:solidFill>
                  <a:srgbClr val="22223B"/>
                </a:solidFill>
                <a:latin typeface="BIZ UDGothic" pitchFamily="34" charset="0"/>
                <a:ea typeface="BIZ UDGothic" pitchFamily="34" charset="-122"/>
                <a:cs typeface="BIZ UDGothic" pitchFamily="34" charset="-120"/>
              </a:rPr>
              <a:t>入力の取りうる範囲全体</a:t>
            </a:r>
            <a:endParaRPr lang="en-US" sz="1400" dirty="0"/>
          </a:p>
        </p:txBody>
      </p:sp>
      <p:sp>
        <p:nvSpPr>
          <p:cNvPr id="18" name="Text 13"/>
          <p:cNvSpPr/>
          <p:nvPr/>
        </p:nvSpPr>
        <p:spPr>
          <a:xfrm>
            <a:off x="548640" y="3172968"/>
            <a:ext cx="2011680" cy="566928"/>
          </a:xfrm>
          <a:prstGeom prst="rect">
            <a:avLst/>
          </a:prstGeom>
          <a:noFill/>
          <a:ln/>
        </p:spPr>
        <p:txBody>
          <a:bodyPr wrap="square" lIns="0" tIns="0" rIns="0" bIns="0" rtlCol="0" anchor="ctr"/>
          <a:lstStyle/>
          <a:p>
            <a:pPr indent="0" marL="0">
              <a:buNone/>
            </a:pPr>
            <a:r>
              <a:rPr lang="en-US" sz="1400" b="1" dirty="0">
                <a:solidFill>
                  <a:srgbClr val="6C6F7F"/>
                </a:solidFill>
                <a:latin typeface="BIZ UDGothic" pitchFamily="34" charset="0"/>
                <a:ea typeface="BIZ UDGothic" pitchFamily="34" charset="-122"/>
                <a:cs typeface="BIZ UDGothic" pitchFamily="34" charset="-120"/>
              </a:rPr>
              <a:t>非線形な応答</a:t>
            </a:r>
            <a:endParaRPr lang="en-US" sz="1400" dirty="0"/>
          </a:p>
        </p:txBody>
      </p:sp>
      <p:sp>
        <p:nvSpPr>
          <p:cNvPr id="19" name="Shape 14"/>
          <p:cNvSpPr/>
          <p:nvPr/>
        </p:nvSpPr>
        <p:spPr>
          <a:xfrm>
            <a:off x="2926080" y="3127248"/>
            <a:ext cx="3886200" cy="0"/>
          </a:xfrm>
          <a:prstGeom prst="line">
            <a:avLst/>
          </a:prstGeom>
          <a:noFill/>
          <a:ln w="9525">
            <a:solidFill>
              <a:srgbClr val="DADDE6"/>
            </a:solidFill>
            <a:prstDash val="solid"/>
          </a:ln>
        </p:spPr>
      </p:sp>
      <p:sp>
        <p:nvSpPr>
          <p:cNvPr id="20" name="Shape 15"/>
          <p:cNvSpPr/>
          <p:nvPr/>
        </p:nvSpPr>
        <p:spPr>
          <a:xfrm>
            <a:off x="7525512" y="3127248"/>
            <a:ext cx="3886200" cy="0"/>
          </a:xfrm>
          <a:prstGeom prst="line">
            <a:avLst/>
          </a:prstGeom>
          <a:noFill/>
          <a:ln w="9525">
            <a:solidFill>
              <a:srgbClr val="B5DDD7"/>
            </a:solidFill>
            <a:prstDash val="solid"/>
          </a:ln>
        </p:spPr>
      </p:sp>
      <p:sp>
        <p:nvSpPr>
          <p:cNvPr id="21" name="Text 16"/>
          <p:cNvSpPr/>
          <p:nvPr/>
        </p:nvSpPr>
        <p:spPr>
          <a:xfrm>
            <a:off x="2971800" y="3172968"/>
            <a:ext cx="3886200" cy="566928"/>
          </a:xfrm>
          <a:prstGeom prst="rect">
            <a:avLst/>
          </a:prstGeom>
          <a:noFill/>
          <a:ln/>
        </p:spPr>
        <p:txBody>
          <a:bodyPr wrap="square" lIns="0" tIns="0" rIns="0" bIns="0" rtlCol="0" anchor="ctr"/>
          <a:lstStyle/>
          <a:p>
            <a:pPr indent="0" marL="0">
              <a:buNone/>
            </a:pPr>
            <a:r>
              <a:rPr lang="en-US" sz="1400" dirty="0">
                <a:solidFill>
                  <a:srgbClr val="22223B"/>
                </a:solidFill>
                <a:latin typeface="BIZ UDGothic" pitchFamily="34" charset="0"/>
                <a:ea typeface="BIZ UDGothic" pitchFamily="34" charset="-122"/>
                <a:cs typeface="BIZ UDGothic" pitchFamily="34" charset="-120"/>
              </a:rPr>
              <a:t>×　傾き（接線）でしか見ない</a:t>
            </a:r>
            <a:endParaRPr lang="en-US" sz="1400" dirty="0"/>
          </a:p>
        </p:txBody>
      </p:sp>
      <p:sp>
        <p:nvSpPr>
          <p:cNvPr id="22" name="Text 17"/>
          <p:cNvSpPr/>
          <p:nvPr/>
        </p:nvSpPr>
        <p:spPr>
          <a:xfrm>
            <a:off x="7571232" y="3172968"/>
            <a:ext cx="3886200" cy="566928"/>
          </a:xfrm>
          <a:prstGeom prst="rect">
            <a:avLst/>
          </a:prstGeom>
          <a:noFill/>
          <a:ln/>
        </p:spPr>
        <p:txBody>
          <a:bodyPr wrap="square" lIns="0" tIns="0" rIns="0" bIns="0" rtlCol="0" anchor="ctr"/>
          <a:lstStyle/>
          <a:p>
            <a:pPr indent="0" marL="0">
              <a:buNone/>
            </a:pPr>
            <a:r>
              <a:rPr lang="en-US" sz="1400" dirty="0">
                <a:solidFill>
                  <a:srgbClr val="22223B"/>
                </a:solidFill>
                <a:latin typeface="BIZ UDGothic" pitchFamily="34" charset="0"/>
                <a:ea typeface="BIZ UDGothic" pitchFamily="34" charset="-122"/>
                <a:cs typeface="BIZ UDGothic" pitchFamily="34" charset="-120"/>
              </a:rPr>
              <a:t>○　範囲全体の変化をとらえる</a:t>
            </a:r>
            <a:endParaRPr lang="en-US" sz="1400" dirty="0"/>
          </a:p>
        </p:txBody>
      </p:sp>
      <p:sp>
        <p:nvSpPr>
          <p:cNvPr id="23" name="Text 18"/>
          <p:cNvSpPr/>
          <p:nvPr/>
        </p:nvSpPr>
        <p:spPr>
          <a:xfrm>
            <a:off x="548640" y="3831336"/>
            <a:ext cx="2011680" cy="566928"/>
          </a:xfrm>
          <a:prstGeom prst="rect">
            <a:avLst/>
          </a:prstGeom>
          <a:noFill/>
          <a:ln/>
        </p:spPr>
        <p:txBody>
          <a:bodyPr wrap="square" lIns="0" tIns="0" rIns="0" bIns="0" rtlCol="0" anchor="ctr"/>
          <a:lstStyle/>
          <a:p>
            <a:pPr indent="0" marL="0">
              <a:buNone/>
            </a:pPr>
            <a:r>
              <a:rPr lang="en-US" sz="1400" b="1" dirty="0">
                <a:solidFill>
                  <a:srgbClr val="6C6F7F"/>
                </a:solidFill>
                <a:latin typeface="BIZ UDGothic" pitchFamily="34" charset="0"/>
                <a:ea typeface="BIZ UDGothic" pitchFamily="34" charset="-122"/>
                <a:cs typeface="BIZ UDGothic" pitchFamily="34" charset="-120"/>
              </a:rPr>
              <a:t>交互作用</a:t>
            </a:r>
            <a:endParaRPr lang="en-US" sz="1400" dirty="0"/>
          </a:p>
        </p:txBody>
      </p:sp>
      <p:sp>
        <p:nvSpPr>
          <p:cNvPr id="24" name="Shape 19"/>
          <p:cNvSpPr/>
          <p:nvPr/>
        </p:nvSpPr>
        <p:spPr>
          <a:xfrm>
            <a:off x="2926080" y="3785616"/>
            <a:ext cx="3886200" cy="0"/>
          </a:xfrm>
          <a:prstGeom prst="line">
            <a:avLst/>
          </a:prstGeom>
          <a:noFill/>
          <a:ln w="9525">
            <a:solidFill>
              <a:srgbClr val="DADDE6"/>
            </a:solidFill>
            <a:prstDash val="solid"/>
          </a:ln>
        </p:spPr>
      </p:sp>
      <p:sp>
        <p:nvSpPr>
          <p:cNvPr id="25" name="Shape 20"/>
          <p:cNvSpPr/>
          <p:nvPr/>
        </p:nvSpPr>
        <p:spPr>
          <a:xfrm>
            <a:off x="7525512" y="3785616"/>
            <a:ext cx="3886200" cy="0"/>
          </a:xfrm>
          <a:prstGeom prst="line">
            <a:avLst/>
          </a:prstGeom>
          <a:noFill/>
          <a:ln w="9525">
            <a:solidFill>
              <a:srgbClr val="B5DDD7"/>
            </a:solidFill>
            <a:prstDash val="solid"/>
          </a:ln>
        </p:spPr>
      </p:sp>
      <p:sp>
        <p:nvSpPr>
          <p:cNvPr id="26" name="Text 21"/>
          <p:cNvSpPr/>
          <p:nvPr/>
        </p:nvSpPr>
        <p:spPr>
          <a:xfrm>
            <a:off x="2971800" y="3831336"/>
            <a:ext cx="3886200" cy="566928"/>
          </a:xfrm>
          <a:prstGeom prst="rect">
            <a:avLst/>
          </a:prstGeom>
          <a:noFill/>
          <a:ln/>
        </p:spPr>
        <p:txBody>
          <a:bodyPr wrap="square" lIns="0" tIns="0" rIns="0" bIns="0" rtlCol="0" anchor="ctr"/>
          <a:lstStyle/>
          <a:p>
            <a:pPr indent="0" marL="0">
              <a:buNone/>
            </a:pPr>
            <a:r>
              <a:rPr lang="en-US" sz="1400" dirty="0">
                <a:solidFill>
                  <a:srgbClr val="22223B"/>
                </a:solidFill>
                <a:latin typeface="BIZ UDGothic" pitchFamily="34" charset="0"/>
                <a:ea typeface="BIZ UDGothic" pitchFamily="34" charset="-122"/>
                <a:cs typeface="BIZ UDGothic" pitchFamily="34" charset="-120"/>
              </a:rPr>
              <a:t>×　他の入力は基準値に固定</a:t>
            </a:r>
            <a:endParaRPr lang="en-US" sz="1400" dirty="0"/>
          </a:p>
        </p:txBody>
      </p:sp>
      <p:sp>
        <p:nvSpPr>
          <p:cNvPr id="27" name="Text 22"/>
          <p:cNvSpPr/>
          <p:nvPr/>
        </p:nvSpPr>
        <p:spPr>
          <a:xfrm>
            <a:off x="7571232" y="3831336"/>
            <a:ext cx="3886200" cy="566928"/>
          </a:xfrm>
          <a:prstGeom prst="rect">
            <a:avLst/>
          </a:prstGeom>
          <a:noFill/>
          <a:ln/>
        </p:spPr>
        <p:txBody>
          <a:bodyPr wrap="square" lIns="0" tIns="0" rIns="0" bIns="0" rtlCol="0" anchor="ctr"/>
          <a:lstStyle/>
          <a:p>
            <a:pPr indent="0" marL="0">
              <a:buNone/>
            </a:pPr>
            <a:r>
              <a:rPr lang="en-US" sz="1400" dirty="0">
                <a:solidFill>
                  <a:srgbClr val="22223B"/>
                </a:solidFill>
                <a:latin typeface="BIZ UDGothic" pitchFamily="34" charset="0"/>
                <a:ea typeface="BIZ UDGothic" pitchFamily="34" charset="-122"/>
                <a:cs typeface="BIZ UDGothic" pitchFamily="34" charset="-120"/>
              </a:rPr>
              <a:t>○　他の入力も同時にばらつかせる</a:t>
            </a:r>
            <a:endParaRPr lang="en-US" sz="1400" dirty="0"/>
          </a:p>
        </p:txBody>
      </p:sp>
      <p:sp>
        <p:nvSpPr>
          <p:cNvPr id="28" name="Text 23"/>
          <p:cNvSpPr/>
          <p:nvPr/>
        </p:nvSpPr>
        <p:spPr>
          <a:xfrm>
            <a:off x="548640" y="4489704"/>
            <a:ext cx="2011680" cy="566928"/>
          </a:xfrm>
          <a:prstGeom prst="rect">
            <a:avLst/>
          </a:prstGeom>
          <a:noFill/>
          <a:ln/>
        </p:spPr>
        <p:txBody>
          <a:bodyPr wrap="square" lIns="0" tIns="0" rIns="0" bIns="0" rtlCol="0" anchor="ctr"/>
          <a:lstStyle/>
          <a:p>
            <a:pPr indent="0" marL="0">
              <a:buNone/>
            </a:pPr>
            <a:r>
              <a:rPr lang="en-US" sz="1400" b="1" dirty="0">
                <a:solidFill>
                  <a:srgbClr val="6C6F7F"/>
                </a:solidFill>
                <a:latin typeface="BIZ UDGothic" pitchFamily="34" charset="0"/>
                <a:ea typeface="BIZ UDGothic" pitchFamily="34" charset="-122"/>
                <a:cs typeface="BIZ UDGothic" pitchFamily="34" charset="-120"/>
              </a:rPr>
              <a:t>計算回数の目安</a:t>
            </a:r>
            <a:endParaRPr lang="en-US" sz="1400" dirty="0"/>
          </a:p>
        </p:txBody>
      </p:sp>
      <p:sp>
        <p:nvSpPr>
          <p:cNvPr id="29" name="Shape 24"/>
          <p:cNvSpPr/>
          <p:nvPr/>
        </p:nvSpPr>
        <p:spPr>
          <a:xfrm>
            <a:off x="2926080" y="4443984"/>
            <a:ext cx="3886200" cy="0"/>
          </a:xfrm>
          <a:prstGeom prst="line">
            <a:avLst/>
          </a:prstGeom>
          <a:noFill/>
          <a:ln w="9525">
            <a:solidFill>
              <a:srgbClr val="DADDE6"/>
            </a:solidFill>
            <a:prstDash val="solid"/>
          </a:ln>
        </p:spPr>
      </p:sp>
      <p:sp>
        <p:nvSpPr>
          <p:cNvPr id="30" name="Shape 25"/>
          <p:cNvSpPr/>
          <p:nvPr/>
        </p:nvSpPr>
        <p:spPr>
          <a:xfrm>
            <a:off x="7525512" y="4443984"/>
            <a:ext cx="3886200" cy="0"/>
          </a:xfrm>
          <a:prstGeom prst="line">
            <a:avLst/>
          </a:prstGeom>
          <a:noFill/>
          <a:ln w="9525">
            <a:solidFill>
              <a:srgbClr val="B5DDD7"/>
            </a:solidFill>
            <a:prstDash val="solid"/>
          </a:ln>
        </p:spPr>
      </p:sp>
      <p:sp>
        <p:nvSpPr>
          <p:cNvPr id="31" name="Text 26"/>
          <p:cNvSpPr/>
          <p:nvPr/>
        </p:nvSpPr>
        <p:spPr>
          <a:xfrm>
            <a:off x="2971800" y="4489704"/>
            <a:ext cx="3886200" cy="566928"/>
          </a:xfrm>
          <a:prstGeom prst="rect">
            <a:avLst/>
          </a:prstGeom>
          <a:noFill/>
          <a:ln/>
        </p:spPr>
        <p:txBody>
          <a:bodyPr wrap="square" lIns="0" tIns="0" rIns="0" bIns="0" rtlCol="0" anchor="ctr"/>
          <a:lstStyle/>
          <a:p>
            <a:pPr indent="0" marL="0">
              <a:buNone/>
            </a:pPr>
            <a:r>
              <a:rPr lang="en-US" sz="1400" dirty="0">
                <a:solidFill>
                  <a:srgbClr val="22223B"/>
                </a:solidFill>
                <a:latin typeface="BIZ UDGothic" pitchFamily="34" charset="0"/>
                <a:ea typeface="BIZ UDGothic" pitchFamily="34" charset="-122"/>
                <a:cs typeface="BIZ UDGothic" pitchFamily="34" charset="-120"/>
              </a:rPr>
              <a:t>◎　入力数 </a:t>
            </a:r>
            <a:r>
              <a:rPr lang="en-US" sz="1600" i="1" dirty="0">
                <a:solidFill>
                  <a:srgbClr val="22223B"/>
                </a:solidFill>
                <a:latin typeface="Times New Roman" pitchFamily="34" charset="0"/>
                <a:ea typeface="Times New Roman" pitchFamily="34" charset="-122"/>
                <a:cs typeface="Times New Roman" pitchFamily="34" charset="-120"/>
              </a:rPr>
              <a:t>d</a:t>
            </a:r>
            <a:r>
              <a:rPr lang="en-US" sz="1400" dirty="0">
                <a:solidFill>
                  <a:srgbClr val="22223B"/>
                </a:solidFill>
                <a:latin typeface="BIZ UDGothic" pitchFamily="34" charset="0"/>
                <a:ea typeface="BIZ UDGothic" pitchFamily="34" charset="-122"/>
                <a:cs typeface="BIZ UDGothic" pitchFamily="34" charset="-120"/>
              </a:rPr>
              <a:t> ＋ 1 回</a:t>
            </a:r>
            <a:endParaRPr lang="en-US" sz="1400" dirty="0"/>
          </a:p>
        </p:txBody>
      </p:sp>
      <p:sp>
        <p:nvSpPr>
          <p:cNvPr id="32" name="Text 27"/>
          <p:cNvSpPr/>
          <p:nvPr/>
        </p:nvSpPr>
        <p:spPr>
          <a:xfrm>
            <a:off x="7571232" y="4489704"/>
            <a:ext cx="3886200" cy="566928"/>
          </a:xfrm>
          <a:prstGeom prst="rect">
            <a:avLst/>
          </a:prstGeom>
          <a:noFill/>
          <a:ln/>
        </p:spPr>
        <p:txBody>
          <a:bodyPr wrap="square" lIns="0" tIns="0" rIns="0" bIns="0" rtlCol="0" anchor="ctr"/>
          <a:lstStyle/>
          <a:p>
            <a:pPr indent="0" marL="0">
              <a:buNone/>
            </a:pPr>
            <a:r>
              <a:rPr lang="en-US" sz="1400" dirty="0">
                <a:solidFill>
                  <a:srgbClr val="22223B"/>
                </a:solidFill>
                <a:latin typeface="BIZ UDGothic" pitchFamily="34" charset="0"/>
                <a:ea typeface="BIZ UDGothic" pitchFamily="34" charset="-122"/>
                <a:cs typeface="BIZ UDGothic" pitchFamily="34" charset="-120"/>
              </a:rPr>
              <a:t>△　数千〜数万回</a:t>
            </a:r>
            <a:endParaRPr lang="en-US" sz="1400" dirty="0"/>
          </a:p>
        </p:txBody>
      </p:sp>
      <p:sp>
        <p:nvSpPr>
          <p:cNvPr id="33" name="Text 28"/>
          <p:cNvSpPr/>
          <p:nvPr/>
        </p:nvSpPr>
        <p:spPr>
          <a:xfrm>
            <a:off x="548640" y="5148072"/>
            <a:ext cx="2011680" cy="566928"/>
          </a:xfrm>
          <a:prstGeom prst="rect">
            <a:avLst/>
          </a:prstGeom>
          <a:noFill/>
          <a:ln/>
        </p:spPr>
        <p:txBody>
          <a:bodyPr wrap="square" lIns="0" tIns="0" rIns="0" bIns="0" rtlCol="0" anchor="ctr"/>
          <a:lstStyle/>
          <a:p>
            <a:pPr indent="0" marL="0">
              <a:buNone/>
            </a:pPr>
            <a:r>
              <a:rPr lang="en-US" sz="1400" b="1" dirty="0">
                <a:solidFill>
                  <a:srgbClr val="6C6F7F"/>
                </a:solidFill>
                <a:latin typeface="BIZ UDGothic" pitchFamily="34" charset="0"/>
                <a:ea typeface="BIZ UDGothic" pitchFamily="34" charset="-122"/>
                <a:cs typeface="BIZ UDGothic" pitchFamily="34" charset="-120"/>
              </a:rPr>
              <a:t>結果の安定性</a:t>
            </a:r>
            <a:endParaRPr lang="en-US" sz="1400" dirty="0"/>
          </a:p>
        </p:txBody>
      </p:sp>
      <p:sp>
        <p:nvSpPr>
          <p:cNvPr id="34" name="Shape 29"/>
          <p:cNvSpPr/>
          <p:nvPr/>
        </p:nvSpPr>
        <p:spPr>
          <a:xfrm>
            <a:off x="2926080" y="5102352"/>
            <a:ext cx="3886200" cy="0"/>
          </a:xfrm>
          <a:prstGeom prst="line">
            <a:avLst/>
          </a:prstGeom>
          <a:noFill/>
          <a:ln w="9525">
            <a:solidFill>
              <a:srgbClr val="DADDE6"/>
            </a:solidFill>
            <a:prstDash val="solid"/>
          </a:ln>
        </p:spPr>
      </p:sp>
      <p:sp>
        <p:nvSpPr>
          <p:cNvPr id="35" name="Shape 30"/>
          <p:cNvSpPr/>
          <p:nvPr/>
        </p:nvSpPr>
        <p:spPr>
          <a:xfrm>
            <a:off x="7525512" y="5102352"/>
            <a:ext cx="3886200" cy="0"/>
          </a:xfrm>
          <a:prstGeom prst="line">
            <a:avLst/>
          </a:prstGeom>
          <a:noFill/>
          <a:ln w="9525">
            <a:solidFill>
              <a:srgbClr val="B5DDD7"/>
            </a:solidFill>
            <a:prstDash val="solid"/>
          </a:ln>
        </p:spPr>
      </p:sp>
      <p:sp>
        <p:nvSpPr>
          <p:cNvPr id="36" name="Text 31"/>
          <p:cNvSpPr/>
          <p:nvPr/>
        </p:nvSpPr>
        <p:spPr>
          <a:xfrm>
            <a:off x="2971800" y="5148072"/>
            <a:ext cx="3886200" cy="566928"/>
          </a:xfrm>
          <a:prstGeom prst="rect">
            <a:avLst/>
          </a:prstGeom>
          <a:noFill/>
          <a:ln/>
        </p:spPr>
        <p:txBody>
          <a:bodyPr wrap="square" lIns="0" tIns="0" rIns="0" bIns="0" rtlCol="0" anchor="ctr"/>
          <a:lstStyle/>
          <a:p>
            <a:pPr indent="0" marL="0">
              <a:buNone/>
            </a:pPr>
            <a:r>
              <a:rPr lang="en-US" sz="1400" dirty="0">
                <a:solidFill>
                  <a:srgbClr val="22223B"/>
                </a:solidFill>
                <a:latin typeface="BIZ UDGothic" pitchFamily="34" charset="0"/>
                <a:ea typeface="BIZ UDGothic" pitchFamily="34" charset="-122"/>
                <a:cs typeface="BIZ UDGothic" pitchFamily="34" charset="-120"/>
              </a:rPr>
              <a:t>基準点を変えると結論が変わりうる</a:t>
            </a:r>
            <a:endParaRPr lang="en-US" sz="1400" dirty="0"/>
          </a:p>
        </p:txBody>
      </p:sp>
      <p:sp>
        <p:nvSpPr>
          <p:cNvPr id="37" name="Text 32"/>
          <p:cNvSpPr/>
          <p:nvPr/>
        </p:nvSpPr>
        <p:spPr>
          <a:xfrm>
            <a:off x="7571232" y="5148072"/>
            <a:ext cx="3886200" cy="566928"/>
          </a:xfrm>
          <a:prstGeom prst="rect">
            <a:avLst/>
          </a:prstGeom>
          <a:noFill/>
          <a:ln/>
        </p:spPr>
        <p:txBody>
          <a:bodyPr wrap="square" lIns="0" tIns="0" rIns="0" bIns="0" rtlCol="0" anchor="ctr"/>
          <a:lstStyle/>
          <a:p>
            <a:pPr indent="0" marL="0">
              <a:buNone/>
            </a:pPr>
            <a:r>
              <a:rPr lang="en-US" sz="1400" dirty="0">
                <a:solidFill>
                  <a:srgbClr val="22223B"/>
                </a:solidFill>
                <a:latin typeface="BIZ UDGothic" pitchFamily="34" charset="0"/>
                <a:ea typeface="BIZ UDGothic" pitchFamily="34" charset="-122"/>
                <a:cs typeface="BIZ UDGothic" pitchFamily="34" charset="-120"/>
              </a:rPr>
              <a:t>設定した範囲・分布に対して定まる</a:t>
            </a:r>
            <a:endParaRPr lang="en-US" sz="1400" dirty="0"/>
          </a:p>
        </p:txBody>
      </p:sp>
      <p:sp>
        <p:nvSpPr>
          <p:cNvPr id="38" name="Text 33"/>
          <p:cNvSpPr/>
          <p:nvPr/>
        </p:nvSpPr>
        <p:spPr>
          <a:xfrm>
            <a:off x="548640" y="5989320"/>
            <a:ext cx="11094415" cy="365760"/>
          </a:xfrm>
          <a:prstGeom prst="rect">
            <a:avLst/>
          </a:prstGeom>
          <a:noFill/>
          <a:ln/>
        </p:spPr>
        <p:txBody>
          <a:bodyPr wrap="square" lIns="0" tIns="0" rIns="0" bIns="0" rtlCol="0" anchor="ctr"/>
          <a:lstStyle/>
          <a:p>
            <a:pPr indent="0" marL="0">
              <a:buNone/>
            </a:pPr>
            <a:r>
              <a:rPr lang="en-US" sz="1600" b="1" dirty="0">
                <a:solidFill>
                  <a:srgbClr val="22223B"/>
                </a:solidFill>
                <a:latin typeface="BIZ UDGothic" pitchFamily="34" charset="0"/>
                <a:ea typeface="BIZ UDGothic" pitchFamily="34" charset="-122"/>
                <a:cs typeface="BIZ UDGothic" pitchFamily="34" charset="-120"/>
              </a:rPr>
              <a:t>→ 非線形や交互作用がありうるモデルでは、グローバル感度解析を使う</a:t>
            </a:r>
            <a:endParaRPr lang="en-US" sz="1600" dirty="0"/>
          </a:p>
        </p:txBody>
      </p:sp>
      <p:sp>
        <p:nvSpPr>
          <p:cNvPr id="39" name="Text 34"/>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40" name="Text 35"/>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01　感度解析とは</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OATの落とし穴 ― 「効かない」と誤判定する例</a:t>
            </a:r>
            <a:endParaRPr lang="en-US" sz="2800" dirty="0"/>
          </a:p>
        </p:txBody>
      </p:sp>
      <p:sp>
        <p:nvSpPr>
          <p:cNvPr id="5" name="Shape 2"/>
          <p:cNvSpPr/>
          <p:nvPr/>
        </p:nvSpPr>
        <p:spPr>
          <a:xfrm>
            <a:off x="548640" y="1417320"/>
            <a:ext cx="11094415" cy="960120"/>
          </a:xfrm>
          <a:prstGeom prst="roundRect">
            <a:avLst>
              <a:gd name="adj" fmla="val 7619"/>
            </a:avLst>
          </a:prstGeom>
          <a:solidFill>
            <a:srgbClr val="F3F4F8"/>
          </a:solidFill>
          <a:ln/>
        </p:spPr>
      </p:sp>
      <p:sp>
        <p:nvSpPr>
          <p:cNvPr id="6" name="Text 3"/>
          <p:cNvSpPr/>
          <p:nvPr/>
        </p:nvSpPr>
        <p:spPr>
          <a:xfrm>
            <a:off x="548640" y="1417320"/>
            <a:ext cx="11094415" cy="960120"/>
          </a:xfrm>
          <a:prstGeom prst="rect">
            <a:avLst/>
          </a:prstGeom>
          <a:noFill/>
          <a:ln/>
        </p:spPr>
        <p:txBody>
          <a:bodyPr wrap="square" lIns="1270" tIns="1270" rIns="1270" bIns="1270" rtlCol="0" anchor="ctr"/>
          <a:lstStyle/>
          <a:p>
            <a:pPr algn="ctr" indent="0" marL="0">
              <a:buNone/>
            </a:pPr>
            <a:r>
              <a:rPr lang="en-US" sz="2700" i="1" dirty="0">
                <a:solidFill>
                  <a:srgbClr val="22223B"/>
                </a:solidFill>
                <a:latin typeface="Times New Roman" pitchFamily="34" charset="0"/>
                <a:ea typeface="Times New Roman" pitchFamily="34" charset="-122"/>
                <a:cs typeface="Times New Roman" pitchFamily="34" charset="-120"/>
              </a:rPr>
              <a:t>Y = </a:t>
            </a:r>
            <a:r>
              <a:rPr lang="en-US" sz="2700" dirty="0">
                <a:solidFill>
                  <a:srgbClr val="22223B"/>
                </a:solidFill>
                <a:latin typeface="Times New Roman" pitchFamily="34" charset="0"/>
                <a:ea typeface="Times New Roman" pitchFamily="34" charset="-122"/>
                <a:cs typeface="Times New Roman" pitchFamily="34" charset="-120"/>
              </a:rPr>
              <a:t>sin</a:t>
            </a:r>
            <a:r>
              <a:rPr lang="en-US" sz="2700" i="1" dirty="0">
                <a:solidFill>
                  <a:srgbClr val="22223B"/>
                </a:solidFill>
                <a:latin typeface="Times New Roman" pitchFamily="34" charset="0"/>
                <a:ea typeface="Times New Roman" pitchFamily="34" charset="-122"/>
                <a:cs typeface="Times New Roman" pitchFamily="34" charset="-120"/>
              </a:rPr>
              <a:t> X</a:t>
            </a:r>
            <a:r>
              <a:rPr lang="en-US" sz="2700" i="1" baseline="-40000" dirty="0">
                <a:solidFill>
                  <a:srgbClr val="22223B"/>
                </a:solidFill>
                <a:latin typeface="Times New Roman" pitchFamily="34" charset="0"/>
                <a:ea typeface="Times New Roman" pitchFamily="34" charset="-122"/>
                <a:cs typeface="Times New Roman" pitchFamily="34" charset="-120"/>
              </a:rPr>
              <a:t>1</a:t>
            </a:r>
            <a:r>
              <a:rPr lang="en-US" sz="2700" i="1" dirty="0">
                <a:solidFill>
                  <a:srgbClr val="22223B"/>
                </a:solidFill>
                <a:latin typeface="Times New Roman" pitchFamily="34" charset="0"/>
                <a:ea typeface="Times New Roman" pitchFamily="34" charset="-122"/>
                <a:cs typeface="Times New Roman" pitchFamily="34" charset="-120"/>
              </a:rPr>
              <a:t> + 7 </a:t>
            </a:r>
            <a:r>
              <a:rPr lang="en-US" sz="2700" dirty="0">
                <a:solidFill>
                  <a:srgbClr val="22223B"/>
                </a:solidFill>
                <a:latin typeface="Times New Roman" pitchFamily="34" charset="0"/>
                <a:ea typeface="Times New Roman" pitchFamily="34" charset="-122"/>
                <a:cs typeface="Times New Roman" pitchFamily="34" charset="-120"/>
              </a:rPr>
              <a:t>sin</a:t>
            </a:r>
            <a:r>
              <a:rPr lang="en-US" sz="2700" i="1" baseline="30000" dirty="0">
                <a:solidFill>
                  <a:srgbClr val="22223B"/>
                </a:solidFill>
                <a:latin typeface="Times New Roman" pitchFamily="34" charset="0"/>
                <a:ea typeface="Times New Roman" pitchFamily="34" charset="-122"/>
                <a:cs typeface="Times New Roman" pitchFamily="34" charset="-120"/>
              </a:rPr>
              <a:t>2</a:t>
            </a:r>
            <a:r>
              <a:rPr lang="en-US" sz="2700" i="1" dirty="0">
                <a:solidFill>
                  <a:srgbClr val="22223B"/>
                </a:solidFill>
                <a:latin typeface="Times New Roman" pitchFamily="34" charset="0"/>
                <a:ea typeface="Times New Roman" pitchFamily="34" charset="-122"/>
                <a:cs typeface="Times New Roman" pitchFamily="34" charset="-120"/>
              </a:rPr>
              <a:t>X</a:t>
            </a:r>
            <a:r>
              <a:rPr lang="en-US" sz="2700" i="1" baseline="-40000" dirty="0">
                <a:solidFill>
                  <a:srgbClr val="22223B"/>
                </a:solidFill>
                <a:latin typeface="Times New Roman" pitchFamily="34" charset="0"/>
                <a:ea typeface="Times New Roman" pitchFamily="34" charset="-122"/>
                <a:cs typeface="Times New Roman" pitchFamily="34" charset="-120"/>
              </a:rPr>
              <a:t>2</a:t>
            </a:r>
            <a:r>
              <a:rPr lang="en-US" sz="2700" i="1" dirty="0">
                <a:solidFill>
                  <a:srgbClr val="22223B"/>
                </a:solidFill>
                <a:latin typeface="Times New Roman" pitchFamily="34" charset="0"/>
                <a:ea typeface="Times New Roman" pitchFamily="34" charset="-122"/>
                <a:cs typeface="Times New Roman" pitchFamily="34" charset="-120"/>
              </a:rPr>
              <a:t> + 0.1 X</a:t>
            </a:r>
            <a:r>
              <a:rPr lang="en-US" sz="2700" i="1" baseline="-40000" dirty="0">
                <a:solidFill>
                  <a:srgbClr val="22223B"/>
                </a:solidFill>
                <a:latin typeface="Times New Roman" pitchFamily="34" charset="0"/>
                <a:ea typeface="Times New Roman" pitchFamily="34" charset="-122"/>
                <a:cs typeface="Times New Roman" pitchFamily="34" charset="-120"/>
              </a:rPr>
              <a:t>3</a:t>
            </a:r>
            <a:r>
              <a:rPr lang="en-US" sz="2700" i="1" baseline="30000" dirty="0">
                <a:solidFill>
                  <a:srgbClr val="22223B"/>
                </a:solidFill>
                <a:latin typeface="Times New Roman" pitchFamily="34" charset="0"/>
                <a:ea typeface="Times New Roman" pitchFamily="34" charset="-122"/>
                <a:cs typeface="Times New Roman" pitchFamily="34" charset="-120"/>
              </a:rPr>
              <a:t>4</a:t>
            </a:r>
            <a:r>
              <a:rPr lang="en-US" sz="2700" i="1" dirty="0">
                <a:solidFill>
                  <a:srgbClr val="22223B"/>
                </a:solidFill>
                <a:latin typeface="Times New Roman" pitchFamily="34" charset="0"/>
                <a:ea typeface="Times New Roman" pitchFamily="34" charset="-122"/>
                <a:cs typeface="Times New Roman" pitchFamily="34" charset="-120"/>
              </a:rPr>
              <a:t> </a:t>
            </a:r>
            <a:r>
              <a:rPr lang="en-US" sz="2700" dirty="0">
                <a:solidFill>
                  <a:srgbClr val="22223B"/>
                </a:solidFill>
                <a:latin typeface="Times New Roman" pitchFamily="34" charset="0"/>
                <a:ea typeface="Times New Roman" pitchFamily="34" charset="-122"/>
                <a:cs typeface="Times New Roman" pitchFamily="34" charset="-120"/>
              </a:rPr>
              <a:t>sin</a:t>
            </a:r>
            <a:r>
              <a:rPr lang="en-US" sz="2700" i="1" dirty="0">
                <a:solidFill>
                  <a:srgbClr val="22223B"/>
                </a:solidFill>
                <a:latin typeface="Times New Roman" pitchFamily="34" charset="0"/>
                <a:ea typeface="Times New Roman" pitchFamily="34" charset="-122"/>
                <a:cs typeface="Times New Roman" pitchFamily="34" charset="-120"/>
              </a:rPr>
              <a:t> X</a:t>
            </a:r>
            <a:r>
              <a:rPr lang="en-US" sz="2700" i="1" baseline="-40000" dirty="0">
                <a:solidFill>
                  <a:srgbClr val="22223B"/>
                </a:solidFill>
                <a:latin typeface="Times New Roman" pitchFamily="34" charset="0"/>
                <a:ea typeface="Times New Roman" pitchFamily="34" charset="-122"/>
                <a:cs typeface="Times New Roman" pitchFamily="34" charset="-120"/>
              </a:rPr>
              <a:t>1</a:t>
            </a:r>
            <a:endParaRPr lang="en-US" sz="2700" dirty="0"/>
          </a:p>
        </p:txBody>
      </p:sp>
      <p:sp>
        <p:nvSpPr>
          <p:cNvPr id="7" name="Text 4"/>
          <p:cNvSpPr/>
          <p:nvPr/>
        </p:nvSpPr>
        <p:spPr>
          <a:xfrm>
            <a:off x="548640" y="2450592"/>
            <a:ext cx="11094415" cy="320040"/>
          </a:xfrm>
          <a:prstGeom prst="rect">
            <a:avLst/>
          </a:prstGeom>
          <a:noFill/>
          <a:ln/>
        </p:spPr>
        <p:txBody>
          <a:bodyPr wrap="square" lIns="0" tIns="0" rIns="0" bIns="0" rtlCol="0" anchor="ctr"/>
          <a:lstStyle/>
          <a:p>
            <a:pPr indent="0" marL="0">
              <a:buNone/>
            </a:pPr>
            <a:r>
              <a:rPr lang="en-US" sz="1300" dirty="0">
                <a:solidFill>
                  <a:srgbClr val="6C6F7F"/>
                </a:solidFill>
                <a:latin typeface="BIZ UDGothic" pitchFamily="34" charset="0"/>
                <a:ea typeface="BIZ UDGothic" pitchFamily="34" charset="-122"/>
                <a:cs typeface="BIZ UDGothic" pitchFamily="34" charset="-120"/>
              </a:rPr>
              <a:t>Ishigami関数（感度解析のベンチマーク）　入力はすべて一様分布 </a:t>
            </a:r>
            <a:r>
              <a:rPr lang="en-US" sz="1500" i="1" dirty="0">
                <a:solidFill>
                  <a:srgbClr val="6C6F7F"/>
                </a:solidFill>
                <a:latin typeface="Times New Roman" pitchFamily="34" charset="0"/>
                <a:ea typeface="Times New Roman" pitchFamily="34" charset="-122"/>
                <a:cs typeface="Times New Roman" pitchFamily="34" charset="-120"/>
              </a:rPr>
              <a:t>U(−π, π)</a:t>
            </a:r>
            <a:r>
              <a:rPr lang="en-US" sz="1300" dirty="0">
                <a:solidFill>
                  <a:srgbClr val="6C6F7F"/>
                </a:solidFill>
                <a:latin typeface="BIZ UDGothic" pitchFamily="34" charset="0"/>
                <a:ea typeface="BIZ UDGothic" pitchFamily="34" charset="-122"/>
                <a:cs typeface="BIZ UDGothic" pitchFamily="34" charset="-120"/>
              </a:rPr>
              <a:t> に従う</a:t>
            </a:r>
            <a:endParaRPr lang="en-US" sz="1300" dirty="0"/>
          </a:p>
        </p:txBody>
      </p:sp>
      <p:sp>
        <p:nvSpPr>
          <p:cNvPr id="8" name="Text 5"/>
          <p:cNvSpPr/>
          <p:nvPr/>
        </p:nvSpPr>
        <p:spPr>
          <a:xfrm>
            <a:off x="548640" y="2926080"/>
            <a:ext cx="3931920" cy="365760"/>
          </a:xfrm>
          <a:prstGeom prst="rect">
            <a:avLst/>
          </a:prstGeom>
          <a:noFill/>
          <a:ln/>
        </p:spPr>
        <p:txBody>
          <a:bodyPr wrap="square" lIns="0" tIns="0" rIns="0" bIns="0" rtlCol="0" anchor="ctr"/>
          <a:lstStyle/>
          <a:p>
            <a:pPr indent="0" marL="0">
              <a:buNone/>
            </a:pPr>
            <a:r>
              <a:rPr lang="en-US" sz="1500" b="1" dirty="0">
                <a:solidFill>
                  <a:srgbClr val="22223B"/>
                </a:solidFill>
                <a:latin typeface="BIZ UDGothic" pitchFamily="34" charset="0"/>
                <a:ea typeface="BIZ UDGothic" pitchFamily="34" charset="-122"/>
                <a:cs typeface="BIZ UDGothic" pitchFamily="34" charset="-120"/>
              </a:rPr>
              <a:t>基準点 (0, 0, 0) で </a:t>
            </a:r>
            <a:r>
              <a:rPr lang="en-US" sz="1700" b="1" i="1" dirty="0">
                <a:solidFill>
                  <a:srgbClr val="22223B"/>
                </a:solidFill>
                <a:latin typeface="Times New Roman" pitchFamily="34" charset="0"/>
                <a:ea typeface="Times New Roman" pitchFamily="34" charset="-122"/>
                <a:cs typeface="Times New Roman" pitchFamily="34" charset="-120"/>
              </a:rPr>
              <a:t>X</a:t>
            </a:r>
            <a:r>
              <a:rPr lang="en-US" sz="1700" b="1" i="1" baseline="-40000" dirty="0">
                <a:solidFill>
                  <a:srgbClr val="22223B"/>
                </a:solidFill>
                <a:latin typeface="Times New Roman" pitchFamily="34" charset="0"/>
                <a:ea typeface="Times New Roman" pitchFamily="34" charset="-122"/>
                <a:cs typeface="Times New Roman" pitchFamily="34" charset="-120"/>
              </a:rPr>
              <a:t>3</a:t>
            </a:r>
            <a:r>
              <a:rPr lang="en-US" sz="1500" b="1" dirty="0">
                <a:solidFill>
                  <a:srgbClr val="22223B"/>
                </a:solidFill>
                <a:latin typeface="BIZ UDGothic" pitchFamily="34" charset="0"/>
                <a:ea typeface="BIZ UDGothic" pitchFamily="34" charset="-122"/>
                <a:cs typeface="BIZ UDGothic" pitchFamily="34" charset="-120"/>
              </a:rPr>
              <a:t> だけを動かすと…</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3931920" cy="914400"/>
        </p:xfrm>
        <a:graphic>
          <a:graphicData uri="http://schemas.openxmlformats.org/drawingml/2006/table">
            <a:tbl>
              <a:tblPr/>
              <a:tblGrid>
                <a:gridCol w="1965960"/>
                <a:gridCol w="1965960"/>
              </a:tblGrid>
              <a:tr h="475488">
                <a:tc>
                  <a:txBody>
                    <a:bodyPr/>
                    <a:lstStyle/>
                    <a:p>
                      <a:pPr algn="ctr" indent="0" marL="0">
                        <a:buNone/>
                      </a:pPr>
                      <a:r>
                        <a:rPr lang="en-US" sz="1600" b="1" i="1" dirty="0">
                          <a:solidFill>
                            <a:srgbClr val="FFFFFF"/>
                          </a:solidFill>
                          <a:latin typeface="Times New Roman" pitchFamily="34" charset="0"/>
                          <a:ea typeface="Times New Roman" pitchFamily="34" charset="-122"/>
                          <a:cs typeface="Times New Roman" pitchFamily="34" charset="-120"/>
                        </a:rPr>
                        <a:t>X</a:t>
                      </a:r>
                      <a:r>
                        <a:rPr lang="en-US" sz="1600" b="1" i="1" baseline="-40000" dirty="0">
                          <a:solidFill>
                            <a:srgbClr val="FFFFFF"/>
                          </a:solidFill>
                          <a:latin typeface="Times New Roman" pitchFamily="34" charset="0"/>
                          <a:ea typeface="Times New Roman" pitchFamily="34" charset="-122"/>
                          <a:cs typeface="Times New Roman" pitchFamily="34" charset="-120"/>
                        </a:rPr>
                        <a:t>3</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c>
                  <a:txBody>
                    <a:bodyPr/>
                    <a:lstStyle/>
                    <a:p>
                      <a:pPr algn="ctr" indent="0" marL="0">
                        <a:buNone/>
                      </a:pPr>
                      <a:r>
                        <a:rPr lang="en-US" sz="1600" b="1" i="1" dirty="0">
                          <a:solidFill>
                            <a:srgbClr val="FFFFFF"/>
                          </a:solidFill>
                          <a:latin typeface="Times New Roman" pitchFamily="34" charset="0"/>
                          <a:ea typeface="Times New Roman" pitchFamily="34" charset="-122"/>
                          <a:cs typeface="Times New Roman" pitchFamily="34" charset="-120"/>
                        </a:rPr>
                        <a:t>Y</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r>
              <a:tr h="475488">
                <a:tc>
                  <a:txBody>
                    <a:bodyPr/>
                    <a:lstStyle/>
                    <a:p>
                      <a:pPr algn="ctr" indent="0" marL="0">
                        <a:buNone/>
                      </a:pPr>
                      <a:r>
                        <a:rPr lang="en-US" sz="1600" i="1" dirty="0">
                          <a:solidFill>
                            <a:srgbClr val="22223B"/>
                          </a:solidFill>
                          <a:latin typeface="Times New Roman" pitchFamily="34" charset="0"/>
                          <a:ea typeface="Times New Roman" pitchFamily="34" charset="-122"/>
                          <a:cs typeface="Times New Roman" pitchFamily="34" charset="-120"/>
                        </a:rPr>
                        <a:t>−π</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76F51"/>
                          </a:solidFill>
                          <a:latin typeface="BIZ UDGothic" pitchFamily="34" charset="0"/>
                          <a:ea typeface="BIZ UDGothic" pitchFamily="34" charset="-122"/>
                          <a:cs typeface="BIZ UDGothic" pitchFamily="34" charset="-120"/>
                        </a:rPr>
                        <a:t>0</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r>
              <a:tr h="475488">
                <a:tc>
                  <a:txBody>
                    <a:bodyPr/>
                    <a:lstStyle/>
                    <a:p>
                      <a:pPr algn="ctr" indent="0" marL="0">
                        <a:buNone/>
                      </a:pPr>
                      <a:r>
                        <a:rPr lang="en-US" sz="1600" i="1" dirty="0">
                          <a:solidFill>
                            <a:srgbClr val="22223B"/>
                          </a:solidFill>
                          <a:latin typeface="Times New Roman" pitchFamily="34" charset="0"/>
                          <a:ea typeface="Times New Roman" pitchFamily="34" charset="-122"/>
                          <a:cs typeface="Times New Roman" pitchFamily="34" charset="-120"/>
                        </a:rPr>
                        <a:t>−π/2</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76F51"/>
                          </a:solidFill>
                          <a:latin typeface="BIZ UDGothic" pitchFamily="34" charset="0"/>
                          <a:ea typeface="BIZ UDGothic" pitchFamily="34" charset="-122"/>
                          <a:cs typeface="BIZ UDGothic" pitchFamily="34" charset="-120"/>
                        </a:rPr>
                        <a:t>0</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r>
              <a:tr h="475488">
                <a:tc>
                  <a:txBody>
                    <a:bodyPr/>
                    <a:lstStyle/>
                    <a:p>
                      <a:pPr algn="ctr" indent="0" marL="0">
                        <a:buNone/>
                      </a:pPr>
                      <a:r>
                        <a:rPr lang="en-US" sz="1600" i="1" dirty="0">
                          <a:solidFill>
                            <a:srgbClr val="22223B"/>
                          </a:solidFill>
                          <a:latin typeface="Times New Roman" pitchFamily="34" charset="0"/>
                          <a:ea typeface="Times New Roman" pitchFamily="34" charset="-122"/>
                          <a:cs typeface="Times New Roman" pitchFamily="34" charset="-120"/>
                        </a:rPr>
                        <a:t>0</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76F51"/>
                          </a:solidFill>
                          <a:latin typeface="BIZ UDGothic" pitchFamily="34" charset="0"/>
                          <a:ea typeface="BIZ UDGothic" pitchFamily="34" charset="-122"/>
                          <a:cs typeface="BIZ UDGothic" pitchFamily="34" charset="-120"/>
                        </a:rPr>
                        <a:t>0</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r>
              <a:tr h="475488">
                <a:tc>
                  <a:txBody>
                    <a:bodyPr/>
                    <a:lstStyle/>
                    <a:p>
                      <a:pPr algn="ctr" indent="0" marL="0">
                        <a:buNone/>
                      </a:pPr>
                      <a:r>
                        <a:rPr lang="en-US" sz="1600" i="1" dirty="0">
                          <a:solidFill>
                            <a:srgbClr val="22223B"/>
                          </a:solidFill>
                          <a:latin typeface="Times New Roman" pitchFamily="34" charset="0"/>
                          <a:ea typeface="Times New Roman" pitchFamily="34" charset="-122"/>
                          <a:cs typeface="Times New Roman" pitchFamily="34" charset="-120"/>
                        </a:rPr>
                        <a:t>π/2</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76F51"/>
                          </a:solidFill>
                          <a:latin typeface="BIZ UDGothic" pitchFamily="34" charset="0"/>
                          <a:ea typeface="BIZ UDGothic" pitchFamily="34" charset="-122"/>
                          <a:cs typeface="BIZ UDGothic" pitchFamily="34" charset="-120"/>
                        </a:rPr>
                        <a:t>0</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r>
              <a:tr h="475488">
                <a:tc>
                  <a:txBody>
                    <a:bodyPr/>
                    <a:lstStyle/>
                    <a:p>
                      <a:pPr algn="ctr" indent="0" marL="0">
                        <a:buNone/>
                      </a:pPr>
                      <a:r>
                        <a:rPr lang="en-US" sz="1600" i="1" dirty="0">
                          <a:solidFill>
                            <a:srgbClr val="22223B"/>
                          </a:solidFill>
                          <a:latin typeface="Times New Roman" pitchFamily="34" charset="0"/>
                          <a:ea typeface="Times New Roman" pitchFamily="34" charset="-122"/>
                          <a:cs typeface="Times New Roman" pitchFamily="34" charset="-120"/>
                        </a:rPr>
                        <a:t>π</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76F51"/>
                          </a:solidFill>
                          <a:latin typeface="BIZ UDGothic" pitchFamily="34" charset="0"/>
                          <a:ea typeface="BIZ UDGothic" pitchFamily="34" charset="-122"/>
                          <a:cs typeface="BIZ UDGothic" pitchFamily="34" charset="-120"/>
                        </a:rPr>
                        <a:t>0</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r>
            </a:tbl>
          </a:graphicData>
        </a:graphic>
      </p:graphicFrame>
      <p:sp>
        <p:nvSpPr>
          <p:cNvPr id="10" name="Shape 6"/>
          <p:cNvSpPr/>
          <p:nvPr/>
        </p:nvSpPr>
        <p:spPr>
          <a:xfrm>
            <a:off x="4663440" y="4526280"/>
            <a:ext cx="640080" cy="0"/>
          </a:xfrm>
          <a:prstGeom prst="line">
            <a:avLst/>
          </a:prstGeom>
          <a:noFill/>
          <a:ln w="25400">
            <a:solidFill>
              <a:srgbClr val="6C6F7F"/>
            </a:solidFill>
            <a:prstDash val="solid"/>
            <a:tailEnd type="triangle"/>
          </a:ln>
        </p:spPr>
      </p:sp>
      <p:sp>
        <p:nvSpPr>
          <p:cNvPr id="11" name="Shape 7"/>
          <p:cNvSpPr/>
          <p:nvPr/>
        </p:nvSpPr>
        <p:spPr>
          <a:xfrm>
            <a:off x="5440680" y="3337560"/>
            <a:ext cx="2743200" cy="2377440"/>
          </a:xfrm>
          <a:prstGeom prst="roundRect">
            <a:avLst>
              <a:gd name="adj" fmla="val 3077"/>
            </a:avLst>
          </a:prstGeom>
          <a:solidFill>
            <a:srgbClr val="FBE3DC"/>
          </a:solidFill>
          <a:ln/>
        </p:spPr>
      </p:sp>
      <p:sp>
        <p:nvSpPr>
          <p:cNvPr id="12" name="Shape 8"/>
          <p:cNvSpPr/>
          <p:nvPr/>
        </p:nvSpPr>
        <p:spPr>
          <a:xfrm>
            <a:off x="5669280" y="3566160"/>
            <a:ext cx="548640" cy="548640"/>
          </a:xfrm>
          <a:prstGeom prst="ellipse">
            <a:avLst/>
          </a:prstGeom>
          <a:solidFill>
            <a:srgbClr val="E76F51"/>
          </a:solidFill>
          <a:ln/>
        </p:spPr>
      </p:sp>
      <p:pic>
        <p:nvPicPr>
          <p:cNvPr id="13" name="Image 0" descr="preencoded.png">    </p:cNvPr>
          <p:cNvPicPr>
            <a:picLocks noChangeAspect="1"/>
          </p:cNvPicPr>
          <p:nvPr/>
        </p:nvPicPr>
        <p:blipFill>
          <a:blip r:embed="rId1"/>
          <a:stretch>
            <a:fillRect/>
          </a:stretch>
        </p:blipFill>
        <p:spPr>
          <a:xfrm>
            <a:off x="5789981" y="3686861"/>
            <a:ext cx="307238" cy="307238"/>
          </a:xfrm>
          <a:prstGeom prst="rect">
            <a:avLst/>
          </a:prstGeom>
        </p:spPr>
      </p:pic>
      <p:sp>
        <p:nvSpPr>
          <p:cNvPr id="14" name="Text 9"/>
          <p:cNvSpPr/>
          <p:nvPr/>
        </p:nvSpPr>
        <p:spPr>
          <a:xfrm>
            <a:off x="5669280" y="4206240"/>
            <a:ext cx="2377440" cy="1371600"/>
          </a:xfrm>
          <a:prstGeom prst="rect">
            <a:avLst/>
          </a:prstGeom>
          <a:noFill/>
          <a:ln/>
        </p:spPr>
        <p:txBody>
          <a:bodyPr wrap="square" lIns="0" tIns="0" rIns="0" bIns="0" rtlCol="0" anchor="t"/>
          <a:lstStyle/>
          <a:p>
            <a:pPr indent="0" marL="0">
              <a:spcAft>
                <a:spcPts val="600"/>
              </a:spcAft>
              <a:buNone/>
            </a:pPr>
            <a:r>
              <a:rPr lang="en-US" sz="1400" b="1" dirty="0">
                <a:solidFill>
                  <a:srgbClr val="E76F51"/>
                </a:solidFill>
                <a:latin typeface="BIZ UDGothic" pitchFamily="34" charset="0"/>
                <a:ea typeface="BIZ UDGothic" pitchFamily="34" charset="-122"/>
                <a:cs typeface="BIZ UDGothic" pitchFamily="34" charset="-120"/>
              </a:rPr>
              <a:t>OATの判定</a:t>
            </a:r>
            <a:endParaRPr lang="en-US" sz="1400" dirty="0"/>
          </a:p>
          <a:p>
            <a:pPr indent="0" marL="0">
              <a:spcAft>
                <a:spcPts val="600"/>
              </a:spcAft>
              <a:buNone/>
            </a:pPr>
            <a:r>
              <a:rPr lang="en-US" sz="2200" b="1" i="1" dirty="0">
                <a:solidFill>
                  <a:srgbClr val="22223B"/>
                </a:solidFill>
                <a:latin typeface="Times New Roman" pitchFamily="34" charset="0"/>
                <a:ea typeface="Times New Roman" pitchFamily="34" charset="-122"/>
                <a:cs typeface="Times New Roman" pitchFamily="34" charset="-120"/>
              </a:rPr>
              <a:t>X</a:t>
            </a:r>
            <a:r>
              <a:rPr lang="en-US" sz="2200" b="1" i="1" baseline="-40000" dirty="0">
                <a:solidFill>
                  <a:srgbClr val="22223B"/>
                </a:solidFill>
                <a:latin typeface="Times New Roman" pitchFamily="34" charset="0"/>
                <a:ea typeface="Times New Roman" pitchFamily="34" charset="-122"/>
                <a:cs typeface="Times New Roman" pitchFamily="34" charset="-120"/>
              </a:rPr>
              <a:t>3</a:t>
            </a:r>
            <a:r>
              <a:rPr lang="en-US" sz="2000" b="1" dirty="0">
                <a:solidFill>
                  <a:srgbClr val="22223B"/>
                </a:solidFill>
                <a:latin typeface="BIZ UDGothic" pitchFamily="34" charset="0"/>
                <a:ea typeface="BIZ UDGothic" pitchFamily="34" charset="-122"/>
                <a:cs typeface="BIZ UDGothic" pitchFamily="34" charset="-120"/>
              </a:rPr>
              <a:t> の影響 ＝ 0</a:t>
            </a:r>
            <a:endParaRPr lang="en-US" sz="1400" dirty="0"/>
          </a:p>
          <a:p>
            <a:pPr indent="0" marL="0">
              <a:spcAft>
                <a:spcPts val="600"/>
              </a:spcAft>
              <a:buNone/>
            </a:pPr>
            <a:r>
              <a:rPr lang="en-US" sz="1300" dirty="0">
                <a:solidFill>
                  <a:srgbClr val="4A4E69"/>
                </a:solidFill>
                <a:latin typeface="BIZ UDGothic" pitchFamily="34" charset="0"/>
                <a:ea typeface="BIZ UDGothic" pitchFamily="34" charset="-122"/>
                <a:cs typeface="BIZ UDGothic" pitchFamily="34" charset="-120"/>
              </a:rPr>
              <a:t>（固定してよい？）</a:t>
            </a:r>
            <a:endParaRPr lang="en-US" sz="1400" dirty="0"/>
          </a:p>
        </p:txBody>
      </p:sp>
      <p:sp>
        <p:nvSpPr>
          <p:cNvPr id="15" name="Shape 10"/>
          <p:cNvSpPr/>
          <p:nvPr/>
        </p:nvSpPr>
        <p:spPr>
          <a:xfrm>
            <a:off x="8458200" y="2926080"/>
            <a:ext cx="3184855" cy="2788920"/>
          </a:xfrm>
          <a:prstGeom prst="roundRect">
            <a:avLst>
              <a:gd name="adj" fmla="val 2623"/>
            </a:avLst>
          </a:prstGeom>
          <a:solidFill>
            <a:srgbClr val="22223B"/>
          </a:solidFill>
          <a:ln/>
        </p:spPr>
      </p:sp>
      <p:sp>
        <p:nvSpPr>
          <p:cNvPr id="16" name="Text 11"/>
          <p:cNvSpPr/>
          <p:nvPr/>
        </p:nvSpPr>
        <p:spPr>
          <a:xfrm>
            <a:off x="8686800" y="3063240"/>
            <a:ext cx="2743200" cy="960120"/>
          </a:xfrm>
          <a:prstGeom prst="rect">
            <a:avLst/>
          </a:prstGeom>
          <a:noFill/>
          <a:ln/>
        </p:spPr>
        <p:txBody>
          <a:bodyPr wrap="square" lIns="0" tIns="0" rIns="0" bIns="0" rtlCol="0" anchor="ctr"/>
          <a:lstStyle/>
          <a:p>
            <a:pPr indent="0" marL="0">
              <a:buNone/>
            </a:pPr>
            <a:r>
              <a:rPr lang="en-US" sz="6000" b="1" dirty="0">
                <a:solidFill>
                  <a:srgbClr val="E9C46A"/>
                </a:solidFill>
                <a:latin typeface="BIZ UDGothic" pitchFamily="34" charset="0"/>
                <a:ea typeface="BIZ UDGothic" pitchFamily="34" charset="-122"/>
                <a:cs typeface="BIZ UDGothic" pitchFamily="34" charset="-120"/>
              </a:rPr>
              <a:t>24%</a:t>
            </a:r>
            <a:endParaRPr lang="en-US" sz="6000" dirty="0"/>
          </a:p>
        </p:txBody>
      </p:sp>
      <p:sp>
        <p:nvSpPr>
          <p:cNvPr id="17" name="Text 12"/>
          <p:cNvSpPr/>
          <p:nvPr/>
        </p:nvSpPr>
        <p:spPr>
          <a:xfrm>
            <a:off x="8686800" y="4023360"/>
            <a:ext cx="2743200" cy="594360"/>
          </a:xfrm>
          <a:prstGeom prst="rect">
            <a:avLst/>
          </a:prstGeom>
          <a:noFill/>
          <a:ln/>
        </p:spPr>
        <p:txBody>
          <a:bodyPr wrap="square" lIns="0" tIns="0" rIns="0" bIns="0" rtlCol="0" anchor="t"/>
          <a:lstStyle/>
          <a:p>
            <a:pPr indent="0" marL="0">
              <a:buNone/>
            </a:pPr>
            <a:r>
              <a:rPr lang="en-US" sz="1600" b="1" i="1" dirty="0">
                <a:solidFill>
                  <a:srgbClr val="FFFFFF"/>
                </a:solidFill>
                <a:latin typeface="Times New Roman" pitchFamily="34" charset="0"/>
                <a:ea typeface="Times New Roman" pitchFamily="34" charset="-122"/>
                <a:cs typeface="Times New Roman" pitchFamily="34" charset="-120"/>
              </a:rPr>
              <a:t>X</a:t>
            </a:r>
            <a:r>
              <a:rPr lang="en-US" sz="1600" b="1" i="1" baseline="-40000" dirty="0">
                <a:solidFill>
                  <a:srgbClr val="FFFFFF"/>
                </a:solidFill>
                <a:latin typeface="Times New Roman" pitchFamily="34" charset="0"/>
                <a:ea typeface="Times New Roman" pitchFamily="34" charset="-122"/>
                <a:cs typeface="Times New Roman" pitchFamily="34" charset="-120"/>
              </a:rPr>
              <a:t>3</a:t>
            </a:r>
            <a:r>
              <a:rPr lang="en-US" sz="1400" b="1" dirty="0">
                <a:solidFill>
                  <a:srgbClr val="FFFFFF"/>
                </a:solidFill>
                <a:latin typeface="BIZ UDGothic" pitchFamily="34" charset="0"/>
                <a:ea typeface="BIZ UDGothic" pitchFamily="34" charset="-122"/>
                <a:cs typeface="BIZ UDGothic" pitchFamily="34" charset="-120"/>
              </a:rPr>
              <a:t> が関わる分散の割合（総合効果 </a:t>
            </a:r>
            <a:r>
              <a:rPr lang="en-US" sz="1600" b="1" i="1" dirty="0">
                <a:solidFill>
                  <a:srgbClr val="FFFFFF"/>
                </a:solidFill>
                <a:latin typeface="Times New Roman" pitchFamily="34" charset="0"/>
                <a:ea typeface="Times New Roman" pitchFamily="34" charset="-122"/>
                <a:cs typeface="Times New Roman" pitchFamily="34" charset="-120"/>
              </a:rPr>
              <a:t>S</a:t>
            </a:r>
            <a:r>
              <a:rPr lang="en-US" sz="1600" b="1" i="1" baseline="-40000" dirty="0">
                <a:solidFill>
                  <a:srgbClr val="FFFFFF"/>
                </a:solidFill>
                <a:latin typeface="Times New Roman" pitchFamily="34" charset="0"/>
                <a:ea typeface="Times New Roman" pitchFamily="34" charset="-122"/>
                <a:cs typeface="Times New Roman" pitchFamily="34" charset="-120"/>
              </a:rPr>
              <a:t>T3</a:t>
            </a:r>
            <a:r>
              <a:rPr lang="en-US" sz="1400" b="1" dirty="0">
                <a:solidFill>
                  <a:srgbClr val="FFFFFF"/>
                </a:solidFill>
                <a:latin typeface="BIZ UDGothic" pitchFamily="34" charset="0"/>
                <a:ea typeface="BIZ UDGothic" pitchFamily="34" charset="-122"/>
                <a:cs typeface="BIZ UDGothic" pitchFamily="34" charset="-120"/>
              </a:rPr>
              <a:t> = 0.244）</a:t>
            </a:r>
            <a:endParaRPr lang="en-US" sz="1600" dirty="0"/>
          </a:p>
        </p:txBody>
      </p:sp>
      <p:sp>
        <p:nvSpPr>
          <p:cNvPr id="18" name="Text 13"/>
          <p:cNvSpPr/>
          <p:nvPr/>
        </p:nvSpPr>
        <p:spPr>
          <a:xfrm>
            <a:off x="8686800" y="4663440"/>
            <a:ext cx="2743200" cy="960120"/>
          </a:xfrm>
          <a:prstGeom prst="rect">
            <a:avLst/>
          </a:prstGeom>
          <a:noFill/>
          <a:ln/>
        </p:spPr>
        <p:txBody>
          <a:bodyPr wrap="square" lIns="0" tIns="0" rIns="0" bIns="0" rtlCol="0" anchor="t"/>
          <a:lstStyle/>
          <a:p>
            <a:pPr indent="0" marL="0">
              <a:buNone/>
            </a:pPr>
            <a:r>
              <a:rPr lang="en-US" sz="1200" dirty="0">
                <a:solidFill>
                  <a:srgbClr val="D9DBEA"/>
                </a:solidFill>
                <a:latin typeface="BIZ UDGothic" pitchFamily="34" charset="0"/>
                <a:ea typeface="BIZ UDGothic" pitchFamily="34" charset="-122"/>
                <a:cs typeface="BIZ UDGothic" pitchFamily="34" charset="-120"/>
              </a:rPr>
              <a:t>基準点では </a:t>
            </a:r>
            <a:r>
              <a:rPr lang="en-US" sz="1300" dirty="0">
                <a:solidFill>
                  <a:srgbClr val="D9DBEA"/>
                </a:solidFill>
                <a:latin typeface="Times New Roman" pitchFamily="34" charset="0"/>
                <a:ea typeface="Times New Roman" pitchFamily="34" charset="-122"/>
                <a:cs typeface="Times New Roman" pitchFamily="34" charset="-120"/>
              </a:rPr>
              <a:t>sin</a:t>
            </a:r>
            <a:r>
              <a:rPr lang="en-US" sz="1300" i="1" dirty="0">
                <a:solidFill>
                  <a:srgbClr val="D9DBEA"/>
                </a:solidFill>
                <a:latin typeface="Times New Roman" pitchFamily="34" charset="0"/>
                <a:ea typeface="Times New Roman" pitchFamily="34" charset="-122"/>
                <a:cs typeface="Times New Roman" pitchFamily="34" charset="-120"/>
              </a:rPr>
              <a:t> X</a:t>
            </a:r>
            <a:r>
              <a:rPr lang="en-US" sz="1300" i="1" baseline="-40000" dirty="0">
                <a:solidFill>
                  <a:srgbClr val="D9DBEA"/>
                </a:solidFill>
                <a:latin typeface="Times New Roman" pitchFamily="34" charset="0"/>
                <a:ea typeface="Times New Roman" pitchFamily="34" charset="-122"/>
                <a:cs typeface="Times New Roman" pitchFamily="34" charset="-120"/>
              </a:rPr>
              <a:t>1</a:t>
            </a:r>
            <a:r>
              <a:rPr lang="en-US" sz="1200" dirty="0">
                <a:solidFill>
                  <a:srgbClr val="D9DBEA"/>
                </a:solidFill>
                <a:latin typeface="BIZ UDGothic" pitchFamily="34" charset="0"/>
                <a:ea typeface="BIZ UDGothic" pitchFamily="34" charset="-122"/>
                <a:cs typeface="BIZ UDGothic" pitchFamily="34" charset="-120"/>
              </a:rPr>
              <a:t> = 0 のため </a:t>
            </a:r>
            <a:r>
              <a:rPr lang="en-US" sz="1300" i="1" dirty="0">
                <a:solidFill>
                  <a:srgbClr val="D9DBEA"/>
                </a:solidFill>
                <a:latin typeface="Times New Roman" pitchFamily="34" charset="0"/>
                <a:ea typeface="Times New Roman" pitchFamily="34" charset="-122"/>
                <a:cs typeface="Times New Roman" pitchFamily="34" charset="-120"/>
              </a:rPr>
              <a:t>X</a:t>
            </a:r>
            <a:r>
              <a:rPr lang="en-US" sz="1300" i="1" baseline="-40000" dirty="0">
                <a:solidFill>
                  <a:srgbClr val="D9DBEA"/>
                </a:solidFill>
                <a:latin typeface="Times New Roman" pitchFamily="34" charset="0"/>
                <a:ea typeface="Times New Roman" pitchFamily="34" charset="-122"/>
                <a:cs typeface="Times New Roman" pitchFamily="34" charset="-120"/>
              </a:rPr>
              <a:t>3</a:t>
            </a:r>
            <a:r>
              <a:rPr lang="en-US" sz="1200" dirty="0">
                <a:solidFill>
                  <a:srgbClr val="D9DBEA"/>
                </a:solidFill>
                <a:latin typeface="BIZ UDGothic" pitchFamily="34" charset="0"/>
                <a:ea typeface="BIZ UDGothic" pitchFamily="34" charset="-122"/>
                <a:cs typeface="BIZ UDGothic" pitchFamily="34" charset="-120"/>
              </a:rPr>
              <a:t> の効果が隠れていただけ。</a:t>
            </a:r>
            <a:r>
              <a:rPr lang="en-US" sz="1300" i="1" dirty="0">
                <a:solidFill>
                  <a:srgbClr val="D9DBEA"/>
                </a:solidFill>
                <a:latin typeface="Times New Roman" pitchFamily="34" charset="0"/>
                <a:ea typeface="Times New Roman" pitchFamily="34" charset="-122"/>
                <a:cs typeface="Times New Roman" pitchFamily="34" charset="-120"/>
              </a:rPr>
              <a:t>X</a:t>
            </a:r>
            <a:r>
              <a:rPr lang="en-US" sz="1300" i="1" baseline="-40000" dirty="0">
                <a:solidFill>
                  <a:srgbClr val="D9DBEA"/>
                </a:solidFill>
                <a:latin typeface="Times New Roman" pitchFamily="34" charset="0"/>
                <a:ea typeface="Times New Roman" pitchFamily="34" charset="-122"/>
                <a:cs typeface="Times New Roman" pitchFamily="34" charset="-120"/>
              </a:rPr>
              <a:t>1</a:t>
            </a:r>
            <a:r>
              <a:rPr lang="en-US" sz="1200" dirty="0">
                <a:solidFill>
                  <a:srgbClr val="D9DBEA"/>
                </a:solidFill>
                <a:latin typeface="BIZ UDGothic" pitchFamily="34" charset="0"/>
                <a:ea typeface="BIZ UDGothic" pitchFamily="34" charset="-122"/>
                <a:cs typeface="BIZ UDGothic" pitchFamily="34" charset="-120"/>
              </a:rPr>
              <a:t> ≠ 0 では </a:t>
            </a:r>
            <a:r>
              <a:rPr lang="en-US" sz="1300" i="1" dirty="0">
                <a:solidFill>
                  <a:srgbClr val="D9DBEA"/>
                </a:solidFill>
                <a:latin typeface="Times New Roman" pitchFamily="34" charset="0"/>
                <a:ea typeface="Times New Roman" pitchFamily="34" charset="-122"/>
                <a:cs typeface="Times New Roman" pitchFamily="34" charset="-120"/>
              </a:rPr>
              <a:t>X</a:t>
            </a:r>
            <a:r>
              <a:rPr lang="en-US" sz="1300" i="1" baseline="-40000" dirty="0">
                <a:solidFill>
                  <a:srgbClr val="D9DBEA"/>
                </a:solidFill>
                <a:latin typeface="Times New Roman" pitchFamily="34" charset="0"/>
                <a:ea typeface="Times New Roman" pitchFamily="34" charset="-122"/>
                <a:cs typeface="Times New Roman" pitchFamily="34" charset="-120"/>
              </a:rPr>
              <a:t>3</a:t>
            </a:r>
            <a:r>
              <a:rPr lang="en-US" sz="1200" dirty="0">
                <a:solidFill>
                  <a:srgbClr val="D9DBEA"/>
                </a:solidFill>
                <a:latin typeface="BIZ UDGothic" pitchFamily="34" charset="0"/>
                <a:ea typeface="BIZ UDGothic" pitchFamily="34" charset="-122"/>
                <a:cs typeface="BIZ UDGothic" pitchFamily="34" charset="-120"/>
              </a:rPr>
              <a:t> が </a:t>
            </a:r>
            <a:r>
              <a:rPr lang="en-US" sz="1300" i="1" dirty="0">
                <a:solidFill>
                  <a:srgbClr val="D9DBEA"/>
                </a:solidFill>
                <a:latin typeface="Times New Roman" pitchFamily="34" charset="0"/>
                <a:ea typeface="Times New Roman" pitchFamily="34" charset="-122"/>
                <a:cs typeface="Times New Roman" pitchFamily="34" charset="-120"/>
              </a:rPr>
              <a:t>Y</a:t>
            </a:r>
            <a:r>
              <a:rPr lang="en-US" sz="1200" dirty="0">
                <a:solidFill>
                  <a:srgbClr val="D9DBEA"/>
                </a:solidFill>
                <a:latin typeface="BIZ UDGothic" pitchFamily="34" charset="0"/>
                <a:ea typeface="BIZ UDGothic" pitchFamily="34" charset="-122"/>
                <a:cs typeface="BIZ UDGothic" pitchFamily="34" charset="-120"/>
              </a:rPr>
              <a:t> を動かす（交互作用）</a:t>
            </a:r>
            <a:endParaRPr lang="en-US" sz="1200" dirty="0"/>
          </a:p>
        </p:txBody>
      </p:sp>
      <p:sp>
        <p:nvSpPr>
          <p:cNvPr id="19" name="Text 14"/>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20" name="Text 15"/>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02　Sobol指数の定義</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Sobol法の基本アイデア ― 出力の分散を「分けて」数える</a:t>
            </a:r>
            <a:endParaRPr lang="en-US" sz="2800" dirty="0"/>
          </a:p>
        </p:txBody>
      </p:sp>
      <p:sp>
        <p:nvSpPr>
          <p:cNvPr id="5" name="Shape 2"/>
          <p:cNvSpPr/>
          <p:nvPr/>
        </p:nvSpPr>
        <p:spPr>
          <a:xfrm>
            <a:off x="548640" y="1645920"/>
            <a:ext cx="548640" cy="548640"/>
          </a:xfrm>
          <a:prstGeom prst="ellipse">
            <a:avLst/>
          </a:prstGeom>
          <a:solidFill>
            <a:srgbClr val="22223B"/>
          </a:solidFill>
          <a:ln/>
        </p:spPr>
      </p:sp>
      <p:sp>
        <p:nvSpPr>
          <p:cNvPr id="6" name="Text 3"/>
          <p:cNvSpPr/>
          <p:nvPr/>
        </p:nvSpPr>
        <p:spPr>
          <a:xfrm>
            <a:off x="548640" y="1645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BIZ UDGothic" pitchFamily="34" charset="0"/>
                <a:ea typeface="BIZ UDGothic" pitchFamily="34" charset="-122"/>
                <a:cs typeface="BIZ UDGothic" pitchFamily="34" charset="-120"/>
              </a:rPr>
              <a:t>1</a:t>
            </a:r>
            <a:endParaRPr lang="en-US" sz="1800" dirty="0"/>
          </a:p>
        </p:txBody>
      </p:sp>
      <p:sp>
        <p:nvSpPr>
          <p:cNvPr id="7" name="Text 4"/>
          <p:cNvSpPr/>
          <p:nvPr/>
        </p:nvSpPr>
        <p:spPr>
          <a:xfrm>
            <a:off x="1325880" y="1554480"/>
            <a:ext cx="4069080" cy="960120"/>
          </a:xfrm>
          <a:prstGeom prst="rect">
            <a:avLst/>
          </a:prstGeom>
          <a:noFill/>
          <a:ln/>
        </p:spPr>
        <p:txBody>
          <a:bodyPr wrap="square" lIns="0" tIns="0" rIns="0" bIns="0" rtlCol="0" anchor="t"/>
          <a:lstStyle/>
          <a:p>
            <a:pPr indent="0" marL="0">
              <a:buNone/>
            </a:pPr>
            <a:r>
              <a:rPr lang="en-US" sz="1700" dirty="0">
                <a:solidFill>
                  <a:srgbClr val="22223B"/>
                </a:solidFill>
                <a:latin typeface="BIZ UDGothic" pitchFamily="34" charset="0"/>
                <a:ea typeface="BIZ UDGothic" pitchFamily="34" charset="-122"/>
                <a:cs typeface="BIZ UDGothic" pitchFamily="34" charset="-120"/>
              </a:rPr>
              <a:t>ばらつきの大きさを、出力の分散 </a:t>
            </a:r>
            <a:r>
              <a:rPr lang="en-US" sz="1900" i="1" dirty="0">
                <a:solidFill>
                  <a:srgbClr val="22223B"/>
                </a:solidFill>
                <a:latin typeface="Times New Roman" pitchFamily="34" charset="0"/>
                <a:ea typeface="Times New Roman" pitchFamily="34" charset="-122"/>
                <a:cs typeface="Times New Roman" pitchFamily="34" charset="-120"/>
              </a:rPr>
              <a:t>V(Y)</a:t>
            </a:r>
            <a:r>
              <a:rPr lang="en-US" sz="1700" dirty="0">
                <a:solidFill>
                  <a:srgbClr val="22223B"/>
                </a:solidFill>
                <a:latin typeface="BIZ UDGothic" pitchFamily="34" charset="0"/>
                <a:ea typeface="BIZ UDGothic" pitchFamily="34" charset="-122"/>
                <a:cs typeface="BIZ UDGothic" pitchFamily="34" charset="-120"/>
              </a:rPr>
              <a:t> で測る</a:t>
            </a:r>
            <a:endParaRPr lang="en-US" sz="1700" dirty="0"/>
          </a:p>
        </p:txBody>
      </p:sp>
      <p:sp>
        <p:nvSpPr>
          <p:cNvPr id="8" name="Shape 5"/>
          <p:cNvSpPr/>
          <p:nvPr/>
        </p:nvSpPr>
        <p:spPr>
          <a:xfrm>
            <a:off x="548640" y="2834640"/>
            <a:ext cx="548640" cy="548640"/>
          </a:xfrm>
          <a:prstGeom prst="ellipse">
            <a:avLst/>
          </a:prstGeom>
          <a:solidFill>
            <a:srgbClr val="22223B"/>
          </a:solidFill>
          <a:ln/>
        </p:spPr>
      </p:sp>
      <p:sp>
        <p:nvSpPr>
          <p:cNvPr id="9" name="Text 6"/>
          <p:cNvSpPr/>
          <p:nvPr/>
        </p:nvSpPr>
        <p:spPr>
          <a:xfrm>
            <a:off x="548640" y="2834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BIZ UDGothic" pitchFamily="34" charset="0"/>
                <a:ea typeface="BIZ UDGothic" pitchFamily="34" charset="-122"/>
                <a:cs typeface="BIZ UDGothic" pitchFamily="34" charset="-120"/>
              </a:rPr>
              <a:t>2</a:t>
            </a:r>
            <a:endParaRPr lang="en-US" sz="1800" dirty="0"/>
          </a:p>
        </p:txBody>
      </p:sp>
      <p:sp>
        <p:nvSpPr>
          <p:cNvPr id="10" name="Text 7"/>
          <p:cNvSpPr/>
          <p:nvPr/>
        </p:nvSpPr>
        <p:spPr>
          <a:xfrm>
            <a:off x="1325880" y="2743200"/>
            <a:ext cx="4069080" cy="960120"/>
          </a:xfrm>
          <a:prstGeom prst="rect">
            <a:avLst/>
          </a:prstGeom>
          <a:noFill/>
          <a:ln/>
        </p:spPr>
        <p:txBody>
          <a:bodyPr wrap="square" lIns="0" tIns="0" rIns="0" bIns="0" rtlCol="0" anchor="t"/>
          <a:lstStyle/>
          <a:p>
            <a:pPr indent="0" marL="0">
              <a:buNone/>
            </a:pPr>
            <a:r>
              <a:rPr lang="en-US" sz="1900" i="1" dirty="0">
                <a:solidFill>
                  <a:srgbClr val="22223B"/>
                </a:solidFill>
                <a:latin typeface="Times New Roman" pitchFamily="34" charset="0"/>
                <a:ea typeface="Times New Roman" pitchFamily="34" charset="-122"/>
                <a:cs typeface="Times New Roman" pitchFamily="34" charset="-120"/>
              </a:rPr>
              <a:t>V(Y)</a:t>
            </a:r>
            <a:r>
              <a:rPr lang="en-US" sz="1700" dirty="0">
                <a:solidFill>
                  <a:srgbClr val="22223B"/>
                </a:solidFill>
                <a:latin typeface="BIZ UDGothic" pitchFamily="34" charset="0"/>
                <a:ea typeface="BIZ UDGothic" pitchFamily="34" charset="-122"/>
                <a:cs typeface="BIZ UDGothic" pitchFamily="34" charset="-120"/>
              </a:rPr>
              <a:t> を「各入力だけによる部分」と「組み合わせ（交互作用）による部分」に分解する</a:t>
            </a:r>
            <a:endParaRPr lang="en-US" sz="1900" dirty="0"/>
          </a:p>
        </p:txBody>
      </p:sp>
      <p:sp>
        <p:nvSpPr>
          <p:cNvPr id="11" name="Shape 8"/>
          <p:cNvSpPr/>
          <p:nvPr/>
        </p:nvSpPr>
        <p:spPr>
          <a:xfrm>
            <a:off x="548640" y="4023360"/>
            <a:ext cx="548640" cy="548640"/>
          </a:xfrm>
          <a:prstGeom prst="ellipse">
            <a:avLst/>
          </a:prstGeom>
          <a:solidFill>
            <a:srgbClr val="2A9D8F"/>
          </a:solidFill>
          <a:ln/>
        </p:spPr>
      </p:sp>
      <p:sp>
        <p:nvSpPr>
          <p:cNvPr id="12" name="Text 9"/>
          <p:cNvSpPr/>
          <p:nvPr/>
        </p:nvSpPr>
        <p:spPr>
          <a:xfrm>
            <a:off x="548640" y="4023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BIZ UDGothic" pitchFamily="34" charset="0"/>
                <a:ea typeface="BIZ UDGothic" pitchFamily="34" charset="-122"/>
                <a:cs typeface="BIZ UDGothic" pitchFamily="34" charset="-120"/>
              </a:rPr>
              <a:t>3</a:t>
            </a:r>
            <a:endParaRPr lang="en-US" sz="1800" dirty="0"/>
          </a:p>
        </p:txBody>
      </p:sp>
      <p:sp>
        <p:nvSpPr>
          <p:cNvPr id="13" name="Text 10"/>
          <p:cNvSpPr/>
          <p:nvPr/>
        </p:nvSpPr>
        <p:spPr>
          <a:xfrm>
            <a:off x="1325880" y="3931920"/>
            <a:ext cx="4069080" cy="960120"/>
          </a:xfrm>
          <a:prstGeom prst="rect">
            <a:avLst/>
          </a:prstGeom>
          <a:noFill/>
          <a:ln/>
        </p:spPr>
        <p:txBody>
          <a:bodyPr wrap="square" lIns="0" tIns="0" rIns="0" bIns="0" rtlCol="0" anchor="t"/>
          <a:lstStyle/>
          <a:p>
            <a:pPr indent="0" marL="0">
              <a:buNone/>
            </a:pPr>
            <a:r>
              <a:rPr lang="en-US" sz="1700" b="1" dirty="0">
                <a:solidFill>
                  <a:srgbClr val="22223B"/>
                </a:solidFill>
                <a:latin typeface="BIZ UDGothic" pitchFamily="34" charset="0"/>
                <a:ea typeface="BIZ UDGothic" pitchFamily="34" charset="-122"/>
                <a:cs typeface="BIZ UDGothic" pitchFamily="34" charset="-120"/>
              </a:rPr>
              <a:t>各部分が全体に占める割合 ＝ Sobol指数（0〜1の値）</a:t>
            </a:r>
            <a:endParaRPr lang="en-US" sz="1700" dirty="0"/>
          </a:p>
        </p:txBody>
      </p:sp>
      <p:sp>
        <p:nvSpPr>
          <p:cNvPr id="14" name="Shape 11"/>
          <p:cNvSpPr/>
          <p:nvPr/>
        </p:nvSpPr>
        <p:spPr>
          <a:xfrm>
            <a:off x="5669280" y="1463040"/>
            <a:ext cx="5973775" cy="822960"/>
          </a:xfrm>
          <a:prstGeom prst="roundRect">
            <a:avLst>
              <a:gd name="adj" fmla="val 8889"/>
            </a:avLst>
          </a:prstGeom>
          <a:solidFill>
            <a:srgbClr val="F3F4F8"/>
          </a:solidFill>
          <a:ln/>
        </p:spPr>
      </p:sp>
      <p:sp>
        <p:nvSpPr>
          <p:cNvPr id="15" name="Text 12"/>
          <p:cNvSpPr/>
          <p:nvPr/>
        </p:nvSpPr>
        <p:spPr>
          <a:xfrm>
            <a:off x="5669280" y="1463040"/>
            <a:ext cx="5973775" cy="822960"/>
          </a:xfrm>
          <a:prstGeom prst="rect">
            <a:avLst/>
          </a:prstGeom>
          <a:noFill/>
          <a:ln/>
        </p:spPr>
        <p:txBody>
          <a:bodyPr wrap="square" lIns="1270" tIns="1270" rIns="1270" bIns="1270" rtlCol="0" anchor="ctr"/>
          <a:lstStyle/>
          <a:p>
            <a:pPr algn="ctr" indent="0" marL="0">
              <a:buNone/>
            </a:pPr>
            <a:r>
              <a:rPr lang="en-US" sz="2200" i="1" dirty="0">
                <a:solidFill>
                  <a:srgbClr val="22223B"/>
                </a:solidFill>
                <a:latin typeface="Times New Roman" pitchFamily="34" charset="0"/>
                <a:ea typeface="Times New Roman" pitchFamily="34" charset="-122"/>
                <a:cs typeface="Times New Roman" pitchFamily="34" charset="-120"/>
              </a:rPr>
              <a:t>V(Y) = V</a:t>
            </a:r>
            <a:r>
              <a:rPr lang="en-US" sz="2200" i="1" baseline="-40000" dirty="0">
                <a:solidFill>
                  <a:srgbClr val="22223B"/>
                </a:solidFill>
                <a:latin typeface="Times New Roman" pitchFamily="34" charset="0"/>
                <a:ea typeface="Times New Roman" pitchFamily="34" charset="-122"/>
                <a:cs typeface="Times New Roman" pitchFamily="34" charset="-120"/>
              </a:rPr>
              <a:t>1</a:t>
            </a:r>
            <a:r>
              <a:rPr lang="en-US" sz="2200" i="1" dirty="0">
                <a:solidFill>
                  <a:srgbClr val="22223B"/>
                </a:solidFill>
                <a:latin typeface="Times New Roman" pitchFamily="34" charset="0"/>
                <a:ea typeface="Times New Roman" pitchFamily="34" charset="-122"/>
                <a:cs typeface="Times New Roman" pitchFamily="34" charset="-120"/>
              </a:rPr>
              <a:t> + V</a:t>
            </a:r>
            <a:r>
              <a:rPr lang="en-US" sz="2200" i="1" baseline="-40000" dirty="0">
                <a:solidFill>
                  <a:srgbClr val="22223B"/>
                </a:solidFill>
                <a:latin typeface="Times New Roman" pitchFamily="34" charset="0"/>
                <a:ea typeface="Times New Roman" pitchFamily="34" charset="-122"/>
                <a:cs typeface="Times New Roman" pitchFamily="34" charset="-120"/>
              </a:rPr>
              <a:t>2</a:t>
            </a:r>
            <a:r>
              <a:rPr lang="en-US" sz="2200" i="1" dirty="0">
                <a:solidFill>
                  <a:srgbClr val="22223B"/>
                </a:solidFill>
                <a:latin typeface="Times New Roman" pitchFamily="34" charset="0"/>
                <a:ea typeface="Times New Roman" pitchFamily="34" charset="-122"/>
                <a:cs typeface="Times New Roman" pitchFamily="34" charset="-120"/>
              </a:rPr>
              <a:t> + V</a:t>
            </a:r>
            <a:r>
              <a:rPr lang="en-US" sz="2200" i="1" baseline="-40000" dirty="0">
                <a:solidFill>
                  <a:srgbClr val="22223B"/>
                </a:solidFill>
                <a:latin typeface="Times New Roman" pitchFamily="34" charset="0"/>
                <a:ea typeface="Times New Roman" pitchFamily="34" charset="-122"/>
                <a:cs typeface="Times New Roman" pitchFamily="34" charset="-120"/>
              </a:rPr>
              <a:t>3</a:t>
            </a:r>
            <a:r>
              <a:rPr lang="en-US" sz="2200" i="1" dirty="0">
                <a:solidFill>
                  <a:srgbClr val="22223B"/>
                </a:solidFill>
                <a:latin typeface="Times New Roman" pitchFamily="34" charset="0"/>
                <a:ea typeface="Times New Roman" pitchFamily="34" charset="-122"/>
                <a:cs typeface="Times New Roman" pitchFamily="34" charset="-120"/>
              </a:rPr>
              <a:t> + V</a:t>
            </a:r>
            <a:r>
              <a:rPr lang="en-US" sz="2200" i="1" baseline="-40000" dirty="0">
                <a:solidFill>
                  <a:srgbClr val="22223B"/>
                </a:solidFill>
                <a:latin typeface="Times New Roman" pitchFamily="34" charset="0"/>
                <a:ea typeface="Times New Roman" pitchFamily="34" charset="-122"/>
                <a:cs typeface="Times New Roman" pitchFamily="34" charset="-120"/>
              </a:rPr>
              <a:t>12</a:t>
            </a:r>
            <a:r>
              <a:rPr lang="en-US" sz="2200" i="1" dirty="0">
                <a:solidFill>
                  <a:srgbClr val="22223B"/>
                </a:solidFill>
                <a:latin typeface="Times New Roman" pitchFamily="34" charset="0"/>
                <a:ea typeface="Times New Roman" pitchFamily="34" charset="-122"/>
                <a:cs typeface="Times New Roman" pitchFamily="34" charset="-120"/>
              </a:rPr>
              <a:t> + V</a:t>
            </a:r>
            <a:r>
              <a:rPr lang="en-US" sz="2200" i="1" baseline="-40000" dirty="0">
                <a:solidFill>
                  <a:srgbClr val="22223B"/>
                </a:solidFill>
                <a:latin typeface="Times New Roman" pitchFamily="34" charset="0"/>
                <a:ea typeface="Times New Roman" pitchFamily="34" charset="-122"/>
                <a:cs typeface="Times New Roman" pitchFamily="34" charset="-120"/>
              </a:rPr>
              <a:t>13</a:t>
            </a:r>
            <a:r>
              <a:rPr lang="en-US" sz="2200" i="1" dirty="0">
                <a:solidFill>
                  <a:srgbClr val="22223B"/>
                </a:solidFill>
                <a:latin typeface="Times New Roman" pitchFamily="34" charset="0"/>
                <a:ea typeface="Times New Roman" pitchFamily="34" charset="-122"/>
                <a:cs typeface="Times New Roman" pitchFamily="34" charset="-120"/>
              </a:rPr>
              <a:t> + V</a:t>
            </a:r>
            <a:r>
              <a:rPr lang="en-US" sz="2200" i="1" baseline="-40000" dirty="0">
                <a:solidFill>
                  <a:srgbClr val="22223B"/>
                </a:solidFill>
                <a:latin typeface="Times New Roman" pitchFamily="34" charset="0"/>
                <a:ea typeface="Times New Roman" pitchFamily="34" charset="-122"/>
                <a:cs typeface="Times New Roman" pitchFamily="34" charset="-120"/>
              </a:rPr>
              <a:t>23</a:t>
            </a:r>
            <a:r>
              <a:rPr lang="en-US" sz="2200" i="1" dirty="0">
                <a:solidFill>
                  <a:srgbClr val="22223B"/>
                </a:solidFill>
                <a:latin typeface="Times New Roman" pitchFamily="34" charset="0"/>
                <a:ea typeface="Times New Roman" pitchFamily="34" charset="-122"/>
                <a:cs typeface="Times New Roman" pitchFamily="34" charset="-120"/>
              </a:rPr>
              <a:t> + V</a:t>
            </a:r>
            <a:r>
              <a:rPr lang="en-US" sz="2200" i="1" baseline="-40000" dirty="0">
                <a:solidFill>
                  <a:srgbClr val="22223B"/>
                </a:solidFill>
                <a:latin typeface="Times New Roman" pitchFamily="34" charset="0"/>
                <a:ea typeface="Times New Roman" pitchFamily="34" charset="-122"/>
                <a:cs typeface="Times New Roman" pitchFamily="34" charset="-120"/>
              </a:rPr>
              <a:t>123</a:t>
            </a:r>
            <a:endParaRPr lang="en-US" sz="2200" dirty="0"/>
          </a:p>
        </p:txBody>
      </p:sp>
      <p:sp>
        <p:nvSpPr>
          <p:cNvPr id="16" name="Text 13"/>
          <p:cNvSpPr/>
          <p:nvPr/>
        </p:nvSpPr>
        <p:spPr>
          <a:xfrm>
            <a:off x="5669280" y="2468880"/>
            <a:ext cx="5973775" cy="320040"/>
          </a:xfrm>
          <a:prstGeom prst="rect">
            <a:avLst/>
          </a:prstGeom>
          <a:noFill/>
          <a:ln/>
        </p:spPr>
        <p:txBody>
          <a:bodyPr wrap="square" lIns="0" tIns="0" rIns="0" bIns="0" rtlCol="0" anchor="ctr"/>
          <a:lstStyle/>
          <a:p>
            <a:pPr indent="0" marL="0">
              <a:buNone/>
            </a:pPr>
            <a:r>
              <a:rPr lang="en-US" sz="1300" b="1" dirty="0">
                <a:solidFill>
                  <a:srgbClr val="6C6F7F"/>
                </a:solidFill>
                <a:latin typeface="BIZ UDGothic" pitchFamily="34" charset="0"/>
                <a:ea typeface="BIZ UDGothic" pitchFamily="34" charset="-122"/>
                <a:cs typeface="BIZ UDGothic" pitchFamily="34" charset="-120"/>
              </a:rPr>
              <a:t>例：Ishigami関数（理論値）の分散の内訳</a:t>
            </a:r>
            <a:endParaRPr lang="en-US" sz="1300" dirty="0"/>
          </a:p>
        </p:txBody>
      </p:sp>
      <p:graphicFrame>
        <p:nvGraphicFramePr>
          <p:cNvPr id="17" name="Chart 0" descr=""/>
          <p:cNvGraphicFramePr/>
          <p:nvPr/>
        </p:nvGraphicFramePr>
        <p:xfrm>
          <a:off x="5669280" y="2788920"/>
          <a:ext cx="5973775" cy="1737360"/>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p:nvPr/>
        </p:nvSpPr>
        <p:spPr>
          <a:xfrm>
            <a:off x="5669280" y="4572000"/>
            <a:ext cx="5973775" cy="365760"/>
          </a:xfrm>
          <a:prstGeom prst="rect">
            <a:avLst/>
          </a:prstGeom>
          <a:noFill/>
          <a:ln/>
        </p:spPr>
        <p:txBody>
          <a:bodyPr wrap="square" lIns="0" tIns="0" rIns="0" bIns="0" rtlCol="0" anchor="ctr"/>
          <a:lstStyle/>
          <a:p>
            <a:pPr algn="ctr" indent="0" marL="0">
              <a:buNone/>
            </a:pP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1</a:t>
            </a:r>
            <a:r>
              <a:rPr lang="en-US" sz="1500" dirty="0">
                <a:solidFill>
                  <a:srgbClr val="22223B"/>
                </a:solidFill>
                <a:latin typeface="BIZ UDGothic" pitchFamily="34" charset="0"/>
                <a:ea typeface="BIZ UDGothic" pitchFamily="34" charset="-122"/>
                <a:cs typeface="BIZ UDGothic" pitchFamily="34" charset="-120"/>
              </a:rPr>
              <a:t> = 0.314　　</a:t>
            </a: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2</a:t>
            </a:r>
            <a:r>
              <a:rPr lang="en-US" sz="1500" dirty="0">
                <a:solidFill>
                  <a:srgbClr val="22223B"/>
                </a:solidFill>
                <a:latin typeface="BIZ UDGothic" pitchFamily="34" charset="0"/>
                <a:ea typeface="BIZ UDGothic" pitchFamily="34" charset="-122"/>
                <a:cs typeface="BIZ UDGothic" pitchFamily="34" charset="-120"/>
              </a:rPr>
              <a:t> = 0.442　　</a:t>
            </a: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13</a:t>
            </a:r>
            <a:r>
              <a:rPr lang="en-US" sz="1500" dirty="0">
                <a:solidFill>
                  <a:srgbClr val="22223B"/>
                </a:solidFill>
                <a:latin typeface="BIZ UDGothic" pitchFamily="34" charset="0"/>
                <a:ea typeface="BIZ UDGothic" pitchFamily="34" charset="-122"/>
                <a:cs typeface="BIZ UDGothic" pitchFamily="34" charset="-120"/>
              </a:rPr>
              <a:t> = 0.244　　（その他の項は 0）</a:t>
            </a:r>
            <a:endParaRPr lang="en-US" sz="1700" dirty="0"/>
          </a:p>
        </p:txBody>
      </p:sp>
      <p:sp>
        <p:nvSpPr>
          <p:cNvPr id="19" name="Shape 15"/>
          <p:cNvSpPr/>
          <p:nvPr/>
        </p:nvSpPr>
        <p:spPr>
          <a:xfrm>
            <a:off x="548640" y="5257800"/>
            <a:ext cx="11094415" cy="868680"/>
          </a:xfrm>
          <a:prstGeom prst="roundRect">
            <a:avLst>
              <a:gd name="adj" fmla="val 8421"/>
            </a:avLst>
          </a:prstGeom>
          <a:solidFill>
            <a:srgbClr val="F3F4F8"/>
          </a:solidFill>
          <a:ln/>
        </p:spPr>
      </p:sp>
      <p:sp>
        <p:nvSpPr>
          <p:cNvPr id="20" name="Shape 16"/>
          <p:cNvSpPr/>
          <p:nvPr/>
        </p:nvSpPr>
        <p:spPr>
          <a:xfrm>
            <a:off x="749808" y="5431536"/>
            <a:ext cx="521208" cy="521208"/>
          </a:xfrm>
          <a:prstGeom prst="ellipse">
            <a:avLst/>
          </a:prstGeom>
          <a:solidFill>
            <a:srgbClr val="4A4E69"/>
          </a:solidFill>
          <a:ln/>
        </p:spPr>
      </p:sp>
      <p:pic>
        <p:nvPicPr>
          <p:cNvPr id="21" name="Image 0" descr="preencoded.png">    </p:cNvPr>
          <p:cNvPicPr>
            <a:picLocks noChangeAspect="1"/>
          </p:cNvPicPr>
          <p:nvPr/>
        </p:nvPicPr>
        <p:blipFill>
          <a:blip r:embed="rId2"/>
          <a:stretch>
            <a:fillRect/>
          </a:stretch>
        </p:blipFill>
        <p:spPr>
          <a:xfrm>
            <a:off x="864474" y="5546202"/>
            <a:ext cx="291876" cy="291876"/>
          </a:xfrm>
          <a:prstGeom prst="rect">
            <a:avLst/>
          </a:prstGeom>
        </p:spPr>
      </p:pic>
      <p:sp>
        <p:nvSpPr>
          <p:cNvPr id="22" name="Text 17"/>
          <p:cNvSpPr/>
          <p:nvPr/>
        </p:nvSpPr>
        <p:spPr>
          <a:xfrm>
            <a:off x="1463040" y="5257800"/>
            <a:ext cx="9997135" cy="868680"/>
          </a:xfrm>
          <a:prstGeom prst="rect">
            <a:avLst/>
          </a:prstGeom>
          <a:noFill/>
          <a:ln/>
        </p:spPr>
        <p:txBody>
          <a:bodyPr wrap="square" lIns="0" tIns="0" rIns="0" bIns="0" rtlCol="0" anchor="ctr"/>
          <a:lstStyle/>
          <a:p>
            <a:pPr indent="0" marL="0">
              <a:buNone/>
            </a:pPr>
            <a:r>
              <a:rPr lang="en-US" sz="1400" dirty="0">
                <a:solidFill>
                  <a:srgbClr val="22223B"/>
                </a:solidFill>
                <a:latin typeface="BIZ UDGothic" pitchFamily="34" charset="0"/>
                <a:ea typeface="BIZ UDGothic" pitchFamily="34" charset="-122"/>
                <a:cs typeface="BIZ UDGothic" pitchFamily="34" charset="-120"/>
              </a:rPr>
              <a:t>イメージ：実験計画法（DOE）の分散分析で、因子ごとの平方和が全体に占める割合（寄与率）を見るのに近い。Sobol法はこれを、非線形なモデル全体に一般化したもの</a:t>
            </a:r>
            <a:endParaRPr lang="en-US" sz="1400" dirty="0"/>
          </a:p>
        </p:txBody>
      </p:sp>
      <p:sp>
        <p:nvSpPr>
          <p:cNvPr id="23" name="Text 18"/>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24" name="Text 19"/>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02　Sobol指数の定義</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前提 ― どんなモデル・入力を想定しているか</a:t>
            </a:r>
            <a:endParaRPr lang="en-US" sz="2800" dirty="0"/>
          </a:p>
        </p:txBody>
      </p:sp>
      <p:sp>
        <p:nvSpPr>
          <p:cNvPr id="5" name="Shape 2"/>
          <p:cNvSpPr/>
          <p:nvPr/>
        </p:nvSpPr>
        <p:spPr>
          <a:xfrm>
            <a:off x="548640" y="1508760"/>
            <a:ext cx="5410048" cy="2148840"/>
          </a:xfrm>
          <a:prstGeom prst="roundRect">
            <a:avLst>
              <a:gd name="adj" fmla="val 3404"/>
            </a:avLst>
          </a:prstGeom>
          <a:solidFill>
            <a:srgbClr val="FFFFFF"/>
          </a:solidFill>
          <a:ln w="9525">
            <a:solidFill>
              <a:srgbClr val="DADDE6"/>
            </a:solidFill>
            <a:prstDash val="solid"/>
          </a:ln>
        </p:spPr>
      </p:sp>
      <p:sp>
        <p:nvSpPr>
          <p:cNvPr id="6" name="Shape 3"/>
          <p:cNvSpPr/>
          <p:nvPr/>
        </p:nvSpPr>
        <p:spPr>
          <a:xfrm>
            <a:off x="822960" y="1783080"/>
            <a:ext cx="685800" cy="685800"/>
          </a:xfrm>
          <a:prstGeom prst="ellipse">
            <a:avLst/>
          </a:prstGeom>
          <a:solidFill>
            <a:srgbClr val="22223B"/>
          </a:solidFill>
          <a:ln/>
        </p:spPr>
      </p:sp>
      <p:pic>
        <p:nvPicPr>
          <p:cNvPr id="7" name="Image 0" descr="preencoded.png">    </p:cNvPr>
          <p:cNvPicPr>
            <a:picLocks noChangeAspect="1"/>
          </p:cNvPicPr>
          <p:nvPr/>
        </p:nvPicPr>
        <p:blipFill>
          <a:blip r:embed="rId1"/>
          <a:stretch>
            <a:fillRect/>
          </a:stretch>
        </p:blipFill>
        <p:spPr>
          <a:xfrm>
            <a:off x="973836" y="1933956"/>
            <a:ext cx="384048" cy="384048"/>
          </a:xfrm>
          <a:prstGeom prst="rect">
            <a:avLst/>
          </a:prstGeom>
        </p:spPr>
      </p:pic>
      <p:sp>
        <p:nvSpPr>
          <p:cNvPr id="8" name="Text 4"/>
          <p:cNvSpPr/>
          <p:nvPr/>
        </p:nvSpPr>
        <p:spPr>
          <a:xfrm>
            <a:off x="1737360" y="1783080"/>
            <a:ext cx="3992728" cy="685800"/>
          </a:xfrm>
          <a:prstGeom prst="rect">
            <a:avLst/>
          </a:prstGeom>
          <a:noFill/>
          <a:ln/>
        </p:spPr>
        <p:txBody>
          <a:bodyPr wrap="square" lIns="0" tIns="0" rIns="0" bIns="0" rtlCol="0" anchor="ctr"/>
          <a:lstStyle/>
          <a:p>
            <a:pPr indent="0" marL="0">
              <a:buNone/>
            </a:pPr>
            <a:r>
              <a:rPr lang="en-US" sz="1800" b="1" dirty="0">
                <a:solidFill>
                  <a:srgbClr val="22223B"/>
                </a:solidFill>
                <a:latin typeface="BIZ UDGothic" pitchFamily="34" charset="0"/>
                <a:ea typeface="BIZ UDGothic" pitchFamily="34" charset="-122"/>
                <a:cs typeface="BIZ UDGothic" pitchFamily="34" charset="-120"/>
              </a:rPr>
              <a:t>決定論的なモデル　</a:t>
            </a:r>
            <a:r>
              <a:rPr lang="en-US" sz="2000" b="1" i="1" dirty="0">
                <a:solidFill>
                  <a:srgbClr val="22223B"/>
                </a:solidFill>
                <a:latin typeface="Times New Roman" pitchFamily="34" charset="0"/>
                <a:ea typeface="Times New Roman" pitchFamily="34" charset="-122"/>
                <a:cs typeface="Times New Roman" pitchFamily="34" charset="-120"/>
              </a:rPr>
              <a:t>Y = f(X</a:t>
            </a:r>
            <a:r>
              <a:rPr lang="en-US" sz="2000" b="1" i="1" baseline="-40000" dirty="0">
                <a:solidFill>
                  <a:srgbClr val="22223B"/>
                </a:solidFill>
                <a:latin typeface="Times New Roman" pitchFamily="34" charset="0"/>
                <a:ea typeface="Times New Roman" pitchFamily="34" charset="-122"/>
                <a:cs typeface="Times New Roman" pitchFamily="34" charset="-120"/>
              </a:rPr>
              <a:t>1</a:t>
            </a:r>
            <a:r>
              <a:rPr lang="en-US" sz="2000" b="1" i="1" dirty="0">
                <a:solidFill>
                  <a:srgbClr val="22223B"/>
                </a:solidFill>
                <a:latin typeface="Times New Roman" pitchFamily="34" charset="0"/>
                <a:ea typeface="Times New Roman" pitchFamily="34" charset="-122"/>
                <a:cs typeface="Times New Roman" pitchFamily="34" charset="-120"/>
              </a:rPr>
              <a:t>, …, X</a:t>
            </a:r>
            <a:r>
              <a:rPr lang="en-US" sz="2000" b="1" i="1" baseline="-40000" dirty="0">
                <a:solidFill>
                  <a:srgbClr val="22223B"/>
                </a:solidFill>
                <a:latin typeface="Times New Roman" pitchFamily="34" charset="0"/>
                <a:ea typeface="Times New Roman" pitchFamily="34" charset="-122"/>
                <a:cs typeface="Times New Roman" pitchFamily="34" charset="-120"/>
              </a:rPr>
              <a:t>d</a:t>
            </a:r>
            <a:r>
              <a:rPr lang="en-US" sz="2000" b="1" i="1" dirty="0">
                <a:solidFill>
                  <a:srgbClr val="22223B"/>
                </a:solidFill>
                <a:latin typeface="Times New Roman" pitchFamily="34" charset="0"/>
                <a:ea typeface="Times New Roman" pitchFamily="34" charset="-122"/>
                <a:cs typeface="Times New Roman" pitchFamily="34" charset="-120"/>
              </a:rPr>
              <a:t>)</a:t>
            </a:r>
            <a:endParaRPr lang="en-US" sz="1800" dirty="0"/>
          </a:p>
        </p:txBody>
      </p:sp>
      <p:sp>
        <p:nvSpPr>
          <p:cNvPr id="9" name="Text 5"/>
          <p:cNvSpPr/>
          <p:nvPr/>
        </p:nvSpPr>
        <p:spPr>
          <a:xfrm>
            <a:off x="1737360" y="2560320"/>
            <a:ext cx="3992728" cy="960120"/>
          </a:xfrm>
          <a:prstGeom prst="rect">
            <a:avLst/>
          </a:prstGeom>
          <a:noFill/>
          <a:ln/>
        </p:spPr>
        <p:txBody>
          <a:bodyPr wrap="square" lIns="0" tIns="0" rIns="0" bIns="0" rtlCol="0" anchor="t"/>
          <a:lstStyle/>
          <a:p>
            <a:pPr indent="0" marL="0">
              <a:buNone/>
            </a:pPr>
            <a:r>
              <a:rPr lang="en-US" sz="1400" dirty="0">
                <a:solidFill>
                  <a:srgbClr val="4A4E69"/>
                </a:solidFill>
                <a:latin typeface="BIZ UDGothic" pitchFamily="34" charset="0"/>
                <a:ea typeface="BIZ UDGothic" pitchFamily="34" charset="-122"/>
                <a:cs typeface="BIZ UDGothic" pitchFamily="34" charset="-120"/>
              </a:rPr>
              <a:t>同じ入力なら同じ出力になる。シミュレーション、計算式、学習済みの代理モデルなど。出力は1つの数値（複数あれば1つずつ扱う）</a:t>
            </a:r>
            <a:endParaRPr lang="en-US" sz="1400" dirty="0"/>
          </a:p>
        </p:txBody>
      </p:sp>
      <p:sp>
        <p:nvSpPr>
          <p:cNvPr id="10" name="Shape 6"/>
          <p:cNvSpPr/>
          <p:nvPr/>
        </p:nvSpPr>
        <p:spPr>
          <a:xfrm>
            <a:off x="6233008" y="1508760"/>
            <a:ext cx="5410048" cy="2148840"/>
          </a:xfrm>
          <a:prstGeom prst="roundRect">
            <a:avLst>
              <a:gd name="adj" fmla="val 3404"/>
            </a:avLst>
          </a:prstGeom>
          <a:solidFill>
            <a:srgbClr val="FFFFFF"/>
          </a:solidFill>
          <a:ln w="9525">
            <a:solidFill>
              <a:srgbClr val="DADDE6"/>
            </a:solidFill>
            <a:prstDash val="solid"/>
          </a:ln>
        </p:spPr>
      </p:sp>
      <p:sp>
        <p:nvSpPr>
          <p:cNvPr id="11" name="Shape 7"/>
          <p:cNvSpPr/>
          <p:nvPr/>
        </p:nvSpPr>
        <p:spPr>
          <a:xfrm>
            <a:off x="6507328" y="1783080"/>
            <a:ext cx="685800" cy="685800"/>
          </a:xfrm>
          <a:prstGeom prst="ellipse">
            <a:avLst/>
          </a:prstGeom>
          <a:solidFill>
            <a:srgbClr val="2A9D8F"/>
          </a:solidFill>
          <a:ln/>
        </p:spPr>
      </p:sp>
      <p:pic>
        <p:nvPicPr>
          <p:cNvPr id="12" name="Image 1" descr="preencoded.png">    </p:cNvPr>
          <p:cNvPicPr>
            <a:picLocks noChangeAspect="1"/>
          </p:cNvPicPr>
          <p:nvPr/>
        </p:nvPicPr>
        <p:blipFill>
          <a:blip r:embed="rId2"/>
          <a:stretch>
            <a:fillRect/>
          </a:stretch>
        </p:blipFill>
        <p:spPr>
          <a:xfrm>
            <a:off x="6658204" y="1933956"/>
            <a:ext cx="384048" cy="384048"/>
          </a:xfrm>
          <a:prstGeom prst="rect">
            <a:avLst/>
          </a:prstGeom>
        </p:spPr>
      </p:pic>
      <p:sp>
        <p:nvSpPr>
          <p:cNvPr id="13" name="Text 8"/>
          <p:cNvSpPr/>
          <p:nvPr/>
        </p:nvSpPr>
        <p:spPr>
          <a:xfrm>
            <a:off x="7421728" y="1783080"/>
            <a:ext cx="3992728" cy="685800"/>
          </a:xfrm>
          <a:prstGeom prst="rect">
            <a:avLst/>
          </a:prstGeom>
          <a:noFill/>
          <a:ln/>
        </p:spPr>
        <p:txBody>
          <a:bodyPr wrap="square" lIns="0" tIns="0" rIns="0" bIns="0" rtlCol="0" anchor="ctr"/>
          <a:lstStyle/>
          <a:p>
            <a:pPr indent="0" marL="0">
              <a:buNone/>
            </a:pPr>
            <a:r>
              <a:rPr lang="en-US" sz="1800" b="1" dirty="0">
                <a:solidFill>
                  <a:srgbClr val="22223B"/>
                </a:solidFill>
                <a:latin typeface="BIZ UDGothic" pitchFamily="34" charset="0"/>
                <a:ea typeface="BIZ UDGothic" pitchFamily="34" charset="-122"/>
                <a:cs typeface="BIZ UDGothic" pitchFamily="34" charset="-120"/>
              </a:rPr>
              <a:t>入力は確率分布をもつ</a:t>
            </a:r>
            <a:endParaRPr lang="en-US" sz="1800" dirty="0"/>
          </a:p>
        </p:txBody>
      </p:sp>
      <p:sp>
        <p:nvSpPr>
          <p:cNvPr id="14" name="Text 9"/>
          <p:cNvSpPr/>
          <p:nvPr/>
        </p:nvSpPr>
        <p:spPr>
          <a:xfrm>
            <a:off x="7421728" y="2560320"/>
            <a:ext cx="3992728" cy="960120"/>
          </a:xfrm>
          <a:prstGeom prst="rect">
            <a:avLst/>
          </a:prstGeom>
          <a:noFill/>
          <a:ln/>
        </p:spPr>
        <p:txBody>
          <a:bodyPr wrap="square" lIns="0" tIns="0" rIns="0" bIns="0" rtlCol="0" anchor="t"/>
          <a:lstStyle/>
          <a:p>
            <a:pPr indent="0" marL="0">
              <a:buNone/>
            </a:pPr>
            <a:r>
              <a:rPr lang="en-US" sz="1400" dirty="0">
                <a:solidFill>
                  <a:srgbClr val="4A4E69"/>
                </a:solidFill>
                <a:latin typeface="BIZ UDGothic" pitchFamily="34" charset="0"/>
                <a:ea typeface="BIZ UDGothic" pitchFamily="34" charset="-122"/>
                <a:cs typeface="BIZ UDGothic" pitchFamily="34" charset="-120"/>
              </a:rPr>
              <a:t>各入力 </a:t>
            </a:r>
            <a:r>
              <a:rPr lang="en-US" sz="1600" i="1" dirty="0">
                <a:solidFill>
                  <a:srgbClr val="4A4E69"/>
                </a:solidFill>
                <a:latin typeface="Times New Roman" pitchFamily="34" charset="0"/>
                <a:ea typeface="Times New Roman" pitchFamily="34" charset="-122"/>
                <a:cs typeface="Times New Roman" pitchFamily="34" charset="-120"/>
              </a:rPr>
              <a:t>X</a:t>
            </a:r>
            <a:r>
              <a:rPr lang="en-US" sz="1600" i="1" baseline="-40000" dirty="0">
                <a:solidFill>
                  <a:srgbClr val="4A4E69"/>
                </a:solidFill>
                <a:latin typeface="Times New Roman" pitchFamily="34" charset="0"/>
                <a:ea typeface="Times New Roman" pitchFamily="34" charset="-122"/>
                <a:cs typeface="Times New Roman" pitchFamily="34" charset="-120"/>
              </a:rPr>
              <a:t>i</a:t>
            </a:r>
            <a:r>
              <a:rPr lang="en-US" sz="1400" dirty="0">
                <a:solidFill>
                  <a:srgbClr val="4A4E69"/>
                </a:solidFill>
                <a:latin typeface="BIZ UDGothic" pitchFamily="34" charset="0"/>
                <a:ea typeface="BIZ UDGothic" pitchFamily="34" charset="-122"/>
                <a:cs typeface="BIZ UDGothic" pitchFamily="34" charset="-120"/>
              </a:rPr>
              <a:t> に範囲と分布（一様分布・正規分布など）を与える。結果はこの設定に依存する</a:t>
            </a:r>
            <a:endParaRPr lang="en-US" sz="1400" dirty="0"/>
          </a:p>
        </p:txBody>
      </p:sp>
      <p:sp>
        <p:nvSpPr>
          <p:cNvPr id="15" name="Shape 10"/>
          <p:cNvSpPr/>
          <p:nvPr/>
        </p:nvSpPr>
        <p:spPr>
          <a:xfrm>
            <a:off x="548640" y="3931920"/>
            <a:ext cx="5410048" cy="2148840"/>
          </a:xfrm>
          <a:prstGeom prst="roundRect">
            <a:avLst>
              <a:gd name="adj" fmla="val 3404"/>
            </a:avLst>
          </a:prstGeom>
          <a:solidFill>
            <a:srgbClr val="FFFFFF"/>
          </a:solidFill>
          <a:ln w="9525">
            <a:solidFill>
              <a:srgbClr val="DADDE6"/>
            </a:solidFill>
            <a:prstDash val="solid"/>
          </a:ln>
        </p:spPr>
      </p:sp>
      <p:sp>
        <p:nvSpPr>
          <p:cNvPr id="16" name="Shape 11"/>
          <p:cNvSpPr/>
          <p:nvPr/>
        </p:nvSpPr>
        <p:spPr>
          <a:xfrm>
            <a:off x="822960" y="4206240"/>
            <a:ext cx="685800" cy="685800"/>
          </a:xfrm>
          <a:prstGeom prst="ellipse">
            <a:avLst/>
          </a:prstGeom>
          <a:solidFill>
            <a:srgbClr val="E76F51"/>
          </a:solidFill>
          <a:ln/>
        </p:spPr>
      </p:sp>
      <p:pic>
        <p:nvPicPr>
          <p:cNvPr id="17" name="Image 2" descr="preencoded.png">    </p:cNvPr>
          <p:cNvPicPr>
            <a:picLocks noChangeAspect="1"/>
          </p:cNvPicPr>
          <p:nvPr/>
        </p:nvPicPr>
        <p:blipFill>
          <a:blip r:embed="rId3"/>
          <a:stretch>
            <a:fillRect/>
          </a:stretch>
        </p:blipFill>
        <p:spPr>
          <a:xfrm>
            <a:off x="973836" y="4357116"/>
            <a:ext cx="384048" cy="384048"/>
          </a:xfrm>
          <a:prstGeom prst="rect">
            <a:avLst/>
          </a:prstGeom>
        </p:spPr>
      </p:pic>
      <p:sp>
        <p:nvSpPr>
          <p:cNvPr id="18" name="Text 12"/>
          <p:cNvSpPr/>
          <p:nvPr/>
        </p:nvSpPr>
        <p:spPr>
          <a:xfrm>
            <a:off x="1737360" y="4206240"/>
            <a:ext cx="3992728" cy="685800"/>
          </a:xfrm>
          <a:prstGeom prst="rect">
            <a:avLst/>
          </a:prstGeom>
          <a:noFill/>
          <a:ln/>
        </p:spPr>
        <p:txBody>
          <a:bodyPr wrap="square" lIns="0" tIns="0" rIns="0" bIns="0" rtlCol="0" anchor="ctr"/>
          <a:lstStyle/>
          <a:p>
            <a:pPr indent="0" marL="0">
              <a:buNone/>
            </a:pPr>
            <a:r>
              <a:rPr lang="en-US" sz="1800" b="1" dirty="0">
                <a:solidFill>
                  <a:srgbClr val="22223B"/>
                </a:solidFill>
                <a:latin typeface="BIZ UDGothic" pitchFamily="34" charset="0"/>
                <a:ea typeface="BIZ UDGothic" pitchFamily="34" charset="-122"/>
                <a:cs typeface="BIZ UDGothic" pitchFamily="34" charset="-120"/>
              </a:rPr>
              <a:t>入力どうしは独立</a:t>
            </a:r>
            <a:endParaRPr lang="en-US" sz="1800" dirty="0"/>
          </a:p>
        </p:txBody>
      </p:sp>
      <p:sp>
        <p:nvSpPr>
          <p:cNvPr id="19" name="Text 13"/>
          <p:cNvSpPr/>
          <p:nvPr/>
        </p:nvSpPr>
        <p:spPr>
          <a:xfrm>
            <a:off x="1737360" y="4983480"/>
            <a:ext cx="3992728" cy="960120"/>
          </a:xfrm>
          <a:prstGeom prst="rect">
            <a:avLst/>
          </a:prstGeom>
          <a:noFill/>
          <a:ln/>
        </p:spPr>
        <p:txBody>
          <a:bodyPr wrap="square" lIns="0" tIns="0" rIns="0" bIns="0" rtlCol="0" anchor="t"/>
          <a:lstStyle/>
          <a:p>
            <a:pPr indent="0" marL="0">
              <a:buNone/>
            </a:pPr>
            <a:r>
              <a:rPr lang="en-US" sz="1400" dirty="0">
                <a:solidFill>
                  <a:srgbClr val="4A4E69"/>
                </a:solidFill>
                <a:latin typeface="BIZ UDGothic" pitchFamily="34" charset="0"/>
                <a:ea typeface="BIZ UDGothic" pitchFamily="34" charset="-122"/>
                <a:cs typeface="BIZ UDGothic" pitchFamily="34" charset="-120"/>
              </a:rPr>
              <a:t>相関があると分散がきれいに分解できない。相関がある場合の対処は p.22 を参照</a:t>
            </a:r>
            <a:endParaRPr lang="en-US" sz="1400" dirty="0"/>
          </a:p>
        </p:txBody>
      </p:sp>
      <p:sp>
        <p:nvSpPr>
          <p:cNvPr id="20" name="Shape 14"/>
          <p:cNvSpPr/>
          <p:nvPr/>
        </p:nvSpPr>
        <p:spPr>
          <a:xfrm>
            <a:off x="6233008" y="3931920"/>
            <a:ext cx="5410048" cy="2148840"/>
          </a:xfrm>
          <a:prstGeom prst="roundRect">
            <a:avLst>
              <a:gd name="adj" fmla="val 3404"/>
            </a:avLst>
          </a:prstGeom>
          <a:solidFill>
            <a:srgbClr val="FFFFFF"/>
          </a:solidFill>
          <a:ln w="9525">
            <a:solidFill>
              <a:srgbClr val="DADDE6"/>
            </a:solidFill>
            <a:prstDash val="solid"/>
          </a:ln>
        </p:spPr>
      </p:sp>
      <p:sp>
        <p:nvSpPr>
          <p:cNvPr id="21" name="Shape 15"/>
          <p:cNvSpPr/>
          <p:nvPr/>
        </p:nvSpPr>
        <p:spPr>
          <a:xfrm>
            <a:off x="6507328" y="4206240"/>
            <a:ext cx="685800" cy="685800"/>
          </a:xfrm>
          <a:prstGeom prst="ellipse">
            <a:avLst/>
          </a:prstGeom>
          <a:solidFill>
            <a:srgbClr val="8D6A9F"/>
          </a:solidFill>
          <a:ln/>
        </p:spPr>
      </p:sp>
      <p:pic>
        <p:nvPicPr>
          <p:cNvPr id="22" name="Image 3" descr="preencoded.png">    </p:cNvPr>
          <p:cNvPicPr>
            <a:picLocks noChangeAspect="1"/>
          </p:cNvPicPr>
          <p:nvPr/>
        </p:nvPicPr>
        <p:blipFill>
          <a:blip r:embed="rId4"/>
          <a:stretch>
            <a:fillRect/>
          </a:stretch>
        </p:blipFill>
        <p:spPr>
          <a:xfrm>
            <a:off x="6658204" y="4357116"/>
            <a:ext cx="384048" cy="384048"/>
          </a:xfrm>
          <a:prstGeom prst="rect">
            <a:avLst/>
          </a:prstGeom>
        </p:spPr>
      </p:pic>
      <p:sp>
        <p:nvSpPr>
          <p:cNvPr id="23" name="Text 16"/>
          <p:cNvSpPr/>
          <p:nvPr/>
        </p:nvSpPr>
        <p:spPr>
          <a:xfrm>
            <a:off x="7421728" y="4206240"/>
            <a:ext cx="3992728" cy="685800"/>
          </a:xfrm>
          <a:prstGeom prst="rect">
            <a:avLst/>
          </a:prstGeom>
          <a:noFill/>
          <a:ln/>
        </p:spPr>
        <p:txBody>
          <a:bodyPr wrap="square" lIns="0" tIns="0" rIns="0" bIns="0" rtlCol="0" anchor="ctr"/>
          <a:lstStyle/>
          <a:p>
            <a:pPr indent="0" marL="0">
              <a:buNone/>
            </a:pPr>
            <a:r>
              <a:rPr lang="en-US" sz="1800" b="1" dirty="0">
                <a:solidFill>
                  <a:srgbClr val="22223B"/>
                </a:solidFill>
                <a:latin typeface="BIZ UDGothic" pitchFamily="34" charset="0"/>
                <a:ea typeface="BIZ UDGothic" pitchFamily="34" charset="-122"/>
                <a:cs typeface="BIZ UDGothic" pitchFamily="34" charset="-120"/>
              </a:rPr>
              <a:t>出力の分散が有限</a:t>
            </a:r>
            <a:endParaRPr lang="en-US" sz="1800" dirty="0"/>
          </a:p>
        </p:txBody>
      </p:sp>
      <p:sp>
        <p:nvSpPr>
          <p:cNvPr id="24" name="Text 17"/>
          <p:cNvSpPr/>
          <p:nvPr/>
        </p:nvSpPr>
        <p:spPr>
          <a:xfrm>
            <a:off x="7421728" y="4983480"/>
            <a:ext cx="3992728" cy="960120"/>
          </a:xfrm>
          <a:prstGeom prst="rect">
            <a:avLst/>
          </a:prstGeom>
          <a:noFill/>
          <a:ln/>
        </p:spPr>
        <p:txBody>
          <a:bodyPr wrap="square" lIns="0" tIns="0" rIns="0" bIns="0" rtlCol="0" anchor="t"/>
          <a:lstStyle/>
          <a:p>
            <a:pPr indent="0" marL="0">
              <a:buNone/>
            </a:pPr>
            <a:r>
              <a:rPr lang="en-US" sz="1400" dirty="0">
                <a:solidFill>
                  <a:srgbClr val="4A4E69"/>
                </a:solidFill>
                <a:latin typeface="BIZ UDGothic" pitchFamily="34" charset="0"/>
                <a:ea typeface="BIZ UDGothic" pitchFamily="34" charset="-122"/>
                <a:cs typeface="BIZ UDGothic" pitchFamily="34" charset="-120"/>
              </a:rPr>
              <a:t>「ばらつき」を分散で測るため。裾が極端に重い出力や、分散で表しにくい出力には向かない</a:t>
            </a:r>
            <a:endParaRPr lang="en-US" sz="1400" dirty="0"/>
          </a:p>
        </p:txBody>
      </p:sp>
      <p:sp>
        <p:nvSpPr>
          <p:cNvPr id="25" name="Text 18"/>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26" name="Text 19"/>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02　Sobol指数の定義</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ANOVA分解（Hoeffding–Sobol分解）</a:t>
            </a:r>
            <a:endParaRPr lang="en-US" sz="2800" dirty="0"/>
          </a:p>
        </p:txBody>
      </p:sp>
      <p:sp>
        <p:nvSpPr>
          <p:cNvPr id="5" name="Shape 2"/>
          <p:cNvSpPr/>
          <p:nvPr/>
        </p:nvSpPr>
        <p:spPr>
          <a:xfrm>
            <a:off x="548640" y="1463040"/>
            <a:ext cx="11094415" cy="960120"/>
          </a:xfrm>
          <a:prstGeom prst="roundRect">
            <a:avLst>
              <a:gd name="adj" fmla="val 7619"/>
            </a:avLst>
          </a:prstGeom>
          <a:solidFill>
            <a:srgbClr val="22223B"/>
          </a:solidFill>
          <a:ln/>
        </p:spPr>
      </p:sp>
      <p:sp>
        <p:nvSpPr>
          <p:cNvPr id="6" name="Text 3"/>
          <p:cNvSpPr/>
          <p:nvPr/>
        </p:nvSpPr>
        <p:spPr>
          <a:xfrm>
            <a:off x="548640" y="1463040"/>
            <a:ext cx="11094415" cy="960120"/>
          </a:xfrm>
          <a:prstGeom prst="rect">
            <a:avLst/>
          </a:prstGeom>
          <a:noFill/>
          <a:ln/>
        </p:spPr>
        <p:txBody>
          <a:bodyPr wrap="square" lIns="1270" tIns="1270" rIns="1270" bIns="1270" rtlCol="0" anchor="ctr"/>
          <a:lstStyle/>
          <a:p>
            <a:pPr algn="ctr" indent="0" marL="0">
              <a:buNone/>
            </a:pPr>
            <a:r>
              <a:rPr lang="en-US" sz="2500" i="1" dirty="0">
                <a:solidFill>
                  <a:srgbClr val="FFFFFF"/>
                </a:solidFill>
                <a:latin typeface="Times New Roman" pitchFamily="34" charset="0"/>
                <a:ea typeface="Times New Roman" pitchFamily="34" charset="-122"/>
                <a:cs typeface="Times New Roman" pitchFamily="34" charset="-120"/>
              </a:rPr>
              <a:t>f(X) = f</a:t>
            </a:r>
            <a:r>
              <a:rPr lang="en-US" sz="2500" i="1" baseline="-40000" dirty="0">
                <a:solidFill>
                  <a:srgbClr val="FFFFFF"/>
                </a:solidFill>
                <a:latin typeface="Times New Roman" pitchFamily="34" charset="0"/>
                <a:ea typeface="Times New Roman" pitchFamily="34" charset="-122"/>
                <a:cs typeface="Times New Roman" pitchFamily="34" charset="-120"/>
              </a:rPr>
              <a:t>0</a:t>
            </a:r>
            <a:r>
              <a:rPr lang="en-US" sz="2500" i="1" dirty="0">
                <a:solidFill>
                  <a:srgbClr val="FFFFFF"/>
                </a:solidFill>
                <a:latin typeface="Times New Roman" pitchFamily="34" charset="0"/>
                <a:ea typeface="Times New Roman" pitchFamily="34" charset="-122"/>
                <a:cs typeface="Times New Roman" pitchFamily="34" charset="-120"/>
              </a:rPr>
              <a:t> + Σ</a:t>
            </a:r>
            <a:r>
              <a:rPr lang="en-US" sz="2500" i="1" baseline="-40000" dirty="0">
                <a:solidFill>
                  <a:srgbClr val="FFFFFF"/>
                </a:solidFill>
                <a:latin typeface="Times New Roman" pitchFamily="34" charset="0"/>
                <a:ea typeface="Times New Roman" pitchFamily="34" charset="-122"/>
                <a:cs typeface="Times New Roman" pitchFamily="34" charset="-120"/>
              </a:rPr>
              <a:t>i</a:t>
            </a:r>
            <a:r>
              <a:rPr lang="en-US" sz="2500" i="1" dirty="0">
                <a:solidFill>
                  <a:srgbClr val="FFFFFF"/>
                </a:solidFill>
                <a:latin typeface="Times New Roman" pitchFamily="34" charset="0"/>
                <a:ea typeface="Times New Roman" pitchFamily="34" charset="-122"/>
                <a:cs typeface="Times New Roman" pitchFamily="34" charset="-120"/>
              </a:rPr>
              <a:t> f</a:t>
            </a:r>
            <a:r>
              <a:rPr lang="en-US" sz="2500" i="1" baseline="-40000" dirty="0">
                <a:solidFill>
                  <a:srgbClr val="FFFFFF"/>
                </a:solidFill>
                <a:latin typeface="Times New Roman" pitchFamily="34" charset="0"/>
                <a:ea typeface="Times New Roman" pitchFamily="34" charset="-122"/>
                <a:cs typeface="Times New Roman" pitchFamily="34" charset="-120"/>
              </a:rPr>
              <a:t>i</a:t>
            </a:r>
            <a:r>
              <a:rPr lang="en-US" sz="2500" i="1" dirty="0">
                <a:solidFill>
                  <a:srgbClr val="FFFFFF"/>
                </a:solidFill>
                <a:latin typeface="Times New Roman" pitchFamily="34" charset="0"/>
                <a:ea typeface="Times New Roman" pitchFamily="34" charset="-122"/>
                <a:cs typeface="Times New Roman" pitchFamily="34" charset="-120"/>
              </a:rPr>
              <a:t>(X</a:t>
            </a:r>
            <a:r>
              <a:rPr lang="en-US" sz="2500" i="1" baseline="-40000" dirty="0">
                <a:solidFill>
                  <a:srgbClr val="FFFFFF"/>
                </a:solidFill>
                <a:latin typeface="Times New Roman" pitchFamily="34" charset="0"/>
                <a:ea typeface="Times New Roman" pitchFamily="34" charset="-122"/>
                <a:cs typeface="Times New Roman" pitchFamily="34" charset="-120"/>
              </a:rPr>
              <a:t>i</a:t>
            </a:r>
            <a:r>
              <a:rPr lang="en-US" sz="2500" i="1" dirty="0">
                <a:solidFill>
                  <a:srgbClr val="FFFFFF"/>
                </a:solidFill>
                <a:latin typeface="Times New Roman" pitchFamily="34" charset="0"/>
                <a:ea typeface="Times New Roman" pitchFamily="34" charset="-122"/>
                <a:cs typeface="Times New Roman" pitchFamily="34" charset="-120"/>
              </a:rPr>
              <a:t>) + Σ</a:t>
            </a:r>
            <a:r>
              <a:rPr lang="en-US" sz="2500" i="1" baseline="-40000" dirty="0">
                <a:solidFill>
                  <a:srgbClr val="FFFFFF"/>
                </a:solidFill>
                <a:latin typeface="Times New Roman" pitchFamily="34" charset="0"/>
                <a:ea typeface="Times New Roman" pitchFamily="34" charset="-122"/>
                <a:cs typeface="Times New Roman" pitchFamily="34" charset="-120"/>
              </a:rPr>
              <a:t>i&lt;j</a:t>
            </a:r>
            <a:r>
              <a:rPr lang="en-US" sz="2500" i="1" dirty="0">
                <a:solidFill>
                  <a:srgbClr val="FFFFFF"/>
                </a:solidFill>
                <a:latin typeface="Times New Roman" pitchFamily="34" charset="0"/>
                <a:ea typeface="Times New Roman" pitchFamily="34" charset="-122"/>
                <a:cs typeface="Times New Roman" pitchFamily="34" charset="-120"/>
              </a:rPr>
              <a:t> f</a:t>
            </a:r>
            <a:r>
              <a:rPr lang="en-US" sz="2500" i="1" baseline="-40000" dirty="0">
                <a:solidFill>
                  <a:srgbClr val="FFFFFF"/>
                </a:solidFill>
                <a:latin typeface="Times New Roman" pitchFamily="34" charset="0"/>
                <a:ea typeface="Times New Roman" pitchFamily="34" charset="-122"/>
                <a:cs typeface="Times New Roman" pitchFamily="34" charset="-120"/>
              </a:rPr>
              <a:t>ij</a:t>
            </a:r>
            <a:r>
              <a:rPr lang="en-US" sz="2500" i="1" dirty="0">
                <a:solidFill>
                  <a:srgbClr val="FFFFFF"/>
                </a:solidFill>
                <a:latin typeface="Times New Roman" pitchFamily="34" charset="0"/>
                <a:ea typeface="Times New Roman" pitchFamily="34" charset="-122"/>
                <a:cs typeface="Times New Roman" pitchFamily="34" charset="-120"/>
              </a:rPr>
              <a:t>(X</a:t>
            </a:r>
            <a:r>
              <a:rPr lang="en-US" sz="2500" i="1" baseline="-40000" dirty="0">
                <a:solidFill>
                  <a:srgbClr val="FFFFFF"/>
                </a:solidFill>
                <a:latin typeface="Times New Roman" pitchFamily="34" charset="0"/>
                <a:ea typeface="Times New Roman" pitchFamily="34" charset="-122"/>
                <a:cs typeface="Times New Roman" pitchFamily="34" charset="-120"/>
              </a:rPr>
              <a:t>i</a:t>
            </a:r>
            <a:r>
              <a:rPr lang="en-US" sz="2500" i="1" dirty="0">
                <a:solidFill>
                  <a:srgbClr val="FFFFFF"/>
                </a:solidFill>
                <a:latin typeface="Times New Roman" pitchFamily="34" charset="0"/>
                <a:ea typeface="Times New Roman" pitchFamily="34" charset="-122"/>
                <a:cs typeface="Times New Roman" pitchFamily="34" charset="-120"/>
              </a:rPr>
              <a:t>, X</a:t>
            </a:r>
            <a:r>
              <a:rPr lang="en-US" sz="2500" i="1" baseline="-40000" dirty="0">
                <a:solidFill>
                  <a:srgbClr val="FFFFFF"/>
                </a:solidFill>
                <a:latin typeface="Times New Roman" pitchFamily="34" charset="0"/>
                <a:ea typeface="Times New Roman" pitchFamily="34" charset="-122"/>
                <a:cs typeface="Times New Roman" pitchFamily="34" charset="-120"/>
              </a:rPr>
              <a:t>j</a:t>
            </a:r>
            <a:r>
              <a:rPr lang="en-US" sz="2500" i="1" dirty="0">
                <a:solidFill>
                  <a:srgbClr val="FFFFFF"/>
                </a:solidFill>
                <a:latin typeface="Times New Roman" pitchFamily="34" charset="0"/>
                <a:ea typeface="Times New Roman" pitchFamily="34" charset="-122"/>
                <a:cs typeface="Times New Roman" pitchFamily="34" charset="-120"/>
              </a:rPr>
              <a:t>) + … + f</a:t>
            </a:r>
            <a:r>
              <a:rPr lang="en-US" sz="2500" i="1" baseline="-40000" dirty="0">
                <a:solidFill>
                  <a:srgbClr val="FFFFFF"/>
                </a:solidFill>
                <a:latin typeface="Times New Roman" pitchFamily="34" charset="0"/>
                <a:ea typeface="Times New Roman" pitchFamily="34" charset="-122"/>
                <a:cs typeface="Times New Roman" pitchFamily="34" charset="-120"/>
              </a:rPr>
              <a:t>12…d</a:t>
            </a:r>
            <a:r>
              <a:rPr lang="en-US" sz="2500" i="1" dirty="0">
                <a:solidFill>
                  <a:srgbClr val="FFFFFF"/>
                </a:solidFill>
                <a:latin typeface="Times New Roman" pitchFamily="34" charset="0"/>
                <a:ea typeface="Times New Roman" pitchFamily="34" charset="-122"/>
                <a:cs typeface="Times New Roman" pitchFamily="34" charset="-120"/>
              </a:rPr>
              <a:t>(X</a:t>
            </a:r>
            <a:r>
              <a:rPr lang="en-US" sz="2500" i="1" baseline="-40000" dirty="0">
                <a:solidFill>
                  <a:srgbClr val="FFFFFF"/>
                </a:solidFill>
                <a:latin typeface="Times New Roman" pitchFamily="34" charset="0"/>
                <a:ea typeface="Times New Roman" pitchFamily="34" charset="-122"/>
                <a:cs typeface="Times New Roman" pitchFamily="34" charset="-120"/>
              </a:rPr>
              <a:t>1</a:t>
            </a:r>
            <a:r>
              <a:rPr lang="en-US" sz="2500" i="1" dirty="0">
                <a:solidFill>
                  <a:srgbClr val="FFFFFF"/>
                </a:solidFill>
                <a:latin typeface="Times New Roman" pitchFamily="34" charset="0"/>
                <a:ea typeface="Times New Roman" pitchFamily="34" charset="-122"/>
                <a:cs typeface="Times New Roman" pitchFamily="34" charset="-120"/>
              </a:rPr>
              <a:t>, …, X</a:t>
            </a:r>
            <a:r>
              <a:rPr lang="en-US" sz="2500" i="1" baseline="-40000" dirty="0">
                <a:solidFill>
                  <a:srgbClr val="FFFFFF"/>
                </a:solidFill>
                <a:latin typeface="Times New Roman" pitchFamily="34" charset="0"/>
                <a:ea typeface="Times New Roman" pitchFamily="34" charset="-122"/>
                <a:cs typeface="Times New Roman" pitchFamily="34" charset="-120"/>
              </a:rPr>
              <a:t>d</a:t>
            </a:r>
            <a:r>
              <a:rPr lang="en-US" sz="2500" i="1" dirty="0">
                <a:solidFill>
                  <a:srgbClr val="FFFFFF"/>
                </a:solidFill>
                <a:latin typeface="Times New Roman" pitchFamily="34" charset="0"/>
                <a:ea typeface="Times New Roman" pitchFamily="34" charset="-122"/>
                <a:cs typeface="Times New Roman" pitchFamily="34" charset="-120"/>
              </a:rPr>
              <a:t>)</a:t>
            </a:r>
            <a:endParaRPr lang="en-US" sz="2500" dirty="0"/>
          </a:p>
        </p:txBody>
      </p:sp>
      <p:sp>
        <p:nvSpPr>
          <p:cNvPr id="7" name="Shape 4"/>
          <p:cNvSpPr/>
          <p:nvPr/>
        </p:nvSpPr>
        <p:spPr>
          <a:xfrm>
            <a:off x="548640" y="2697480"/>
            <a:ext cx="3515258" cy="2286000"/>
          </a:xfrm>
          <a:prstGeom prst="roundRect">
            <a:avLst>
              <a:gd name="adj" fmla="val 3200"/>
            </a:avLst>
          </a:prstGeom>
          <a:solidFill>
            <a:srgbClr val="F3F4F8"/>
          </a:solidFill>
          <a:ln/>
        </p:spPr>
      </p:sp>
      <p:sp>
        <p:nvSpPr>
          <p:cNvPr id="8" name="Text 5"/>
          <p:cNvSpPr/>
          <p:nvPr/>
        </p:nvSpPr>
        <p:spPr>
          <a:xfrm>
            <a:off x="822960" y="2926080"/>
            <a:ext cx="2966618" cy="411480"/>
          </a:xfrm>
          <a:prstGeom prst="rect">
            <a:avLst/>
          </a:prstGeom>
          <a:noFill/>
          <a:ln/>
        </p:spPr>
        <p:txBody>
          <a:bodyPr wrap="square" lIns="0" tIns="0" rIns="0" bIns="0" rtlCol="0" anchor="ctr"/>
          <a:lstStyle/>
          <a:p>
            <a:pPr indent="0" marL="0">
              <a:buNone/>
            </a:pPr>
            <a:r>
              <a:rPr lang="en-US" sz="1800" b="1" dirty="0">
                <a:solidFill>
                  <a:srgbClr val="4A4E69"/>
                </a:solidFill>
                <a:latin typeface="BIZ UDGothic" pitchFamily="34" charset="0"/>
                <a:ea typeface="BIZ UDGothic" pitchFamily="34" charset="-122"/>
                <a:cs typeface="BIZ UDGothic" pitchFamily="34" charset="-120"/>
              </a:rPr>
              <a:t>定数項</a:t>
            </a:r>
            <a:endParaRPr lang="en-US" sz="1800" dirty="0"/>
          </a:p>
        </p:txBody>
      </p:sp>
      <p:sp>
        <p:nvSpPr>
          <p:cNvPr id="9" name="Text 6"/>
          <p:cNvSpPr/>
          <p:nvPr/>
        </p:nvSpPr>
        <p:spPr>
          <a:xfrm>
            <a:off x="731520" y="3474720"/>
            <a:ext cx="3149498" cy="685800"/>
          </a:xfrm>
          <a:prstGeom prst="rect">
            <a:avLst/>
          </a:prstGeom>
          <a:noFill/>
          <a:ln/>
        </p:spPr>
        <p:txBody>
          <a:bodyPr wrap="square" lIns="0" tIns="0" rIns="0" bIns="0" rtlCol="0" anchor="ctr"/>
          <a:lstStyle/>
          <a:p>
            <a:pPr algn="ctr" indent="0" marL="0">
              <a:buNone/>
            </a:pPr>
            <a:r>
              <a:rPr lang="en-US" sz="1900" i="1" dirty="0">
                <a:solidFill>
                  <a:srgbClr val="22223B"/>
                </a:solidFill>
                <a:latin typeface="Times New Roman" pitchFamily="34" charset="0"/>
                <a:ea typeface="Times New Roman" pitchFamily="34" charset="-122"/>
                <a:cs typeface="Times New Roman" pitchFamily="34" charset="-120"/>
              </a:rPr>
              <a:t>f</a:t>
            </a:r>
            <a:r>
              <a:rPr lang="en-US" sz="1900" i="1" baseline="-40000" dirty="0">
                <a:solidFill>
                  <a:srgbClr val="22223B"/>
                </a:solidFill>
                <a:latin typeface="Times New Roman" pitchFamily="34" charset="0"/>
                <a:ea typeface="Times New Roman" pitchFamily="34" charset="-122"/>
                <a:cs typeface="Times New Roman" pitchFamily="34" charset="-120"/>
              </a:rPr>
              <a:t>0</a:t>
            </a:r>
            <a:r>
              <a:rPr lang="en-US" sz="1900" i="1" dirty="0">
                <a:solidFill>
                  <a:srgbClr val="22223B"/>
                </a:solidFill>
                <a:latin typeface="Times New Roman" pitchFamily="34" charset="0"/>
                <a:ea typeface="Times New Roman" pitchFamily="34" charset="-122"/>
                <a:cs typeface="Times New Roman" pitchFamily="34" charset="-120"/>
              </a:rPr>
              <a:t> = E(Y)</a:t>
            </a:r>
            <a:endParaRPr lang="en-US" sz="1900" dirty="0"/>
          </a:p>
        </p:txBody>
      </p:sp>
      <p:sp>
        <p:nvSpPr>
          <p:cNvPr id="10" name="Text 7"/>
          <p:cNvSpPr/>
          <p:nvPr/>
        </p:nvSpPr>
        <p:spPr>
          <a:xfrm>
            <a:off x="822960" y="4251960"/>
            <a:ext cx="2966618" cy="594360"/>
          </a:xfrm>
          <a:prstGeom prst="rect">
            <a:avLst/>
          </a:prstGeom>
          <a:noFill/>
          <a:ln/>
        </p:spPr>
        <p:txBody>
          <a:bodyPr wrap="square" lIns="0" tIns="0" rIns="0" bIns="0" rtlCol="0" anchor="t"/>
          <a:lstStyle/>
          <a:p>
            <a:pPr indent="0" marL="0">
              <a:buNone/>
            </a:pPr>
            <a:r>
              <a:rPr lang="en-US" sz="1400" dirty="0">
                <a:solidFill>
                  <a:srgbClr val="4A4E69"/>
                </a:solidFill>
                <a:latin typeface="BIZ UDGothic" pitchFamily="34" charset="0"/>
                <a:ea typeface="BIZ UDGothic" pitchFamily="34" charset="-122"/>
                <a:cs typeface="BIZ UDGothic" pitchFamily="34" charset="-120"/>
              </a:rPr>
              <a:t>出力の平均</a:t>
            </a:r>
            <a:endParaRPr lang="en-US" sz="1400" dirty="0"/>
          </a:p>
        </p:txBody>
      </p:sp>
      <p:sp>
        <p:nvSpPr>
          <p:cNvPr id="11" name="Shape 8"/>
          <p:cNvSpPr/>
          <p:nvPr/>
        </p:nvSpPr>
        <p:spPr>
          <a:xfrm>
            <a:off x="4338218" y="2697480"/>
            <a:ext cx="3515258" cy="2286000"/>
          </a:xfrm>
          <a:prstGeom prst="roundRect">
            <a:avLst>
              <a:gd name="adj" fmla="val 3200"/>
            </a:avLst>
          </a:prstGeom>
          <a:solidFill>
            <a:srgbClr val="D8F0ED"/>
          </a:solidFill>
          <a:ln/>
        </p:spPr>
      </p:sp>
      <p:sp>
        <p:nvSpPr>
          <p:cNvPr id="12" name="Text 9"/>
          <p:cNvSpPr/>
          <p:nvPr/>
        </p:nvSpPr>
        <p:spPr>
          <a:xfrm>
            <a:off x="4612538" y="2926080"/>
            <a:ext cx="2966618" cy="411480"/>
          </a:xfrm>
          <a:prstGeom prst="rect">
            <a:avLst/>
          </a:prstGeom>
          <a:noFill/>
          <a:ln/>
        </p:spPr>
        <p:txBody>
          <a:bodyPr wrap="square" lIns="0" tIns="0" rIns="0" bIns="0" rtlCol="0" anchor="ctr"/>
          <a:lstStyle/>
          <a:p>
            <a:pPr indent="0" marL="0">
              <a:buNone/>
            </a:pPr>
            <a:r>
              <a:rPr lang="en-US" sz="1800" b="1" dirty="0">
                <a:solidFill>
                  <a:srgbClr val="2A9D8F"/>
                </a:solidFill>
                <a:latin typeface="BIZ UDGothic" pitchFamily="34" charset="0"/>
                <a:ea typeface="BIZ UDGothic" pitchFamily="34" charset="-122"/>
                <a:cs typeface="BIZ UDGothic" pitchFamily="34" charset="-120"/>
              </a:rPr>
              <a:t>主効果項</a:t>
            </a:r>
            <a:endParaRPr lang="en-US" sz="1800" dirty="0"/>
          </a:p>
        </p:txBody>
      </p:sp>
      <p:sp>
        <p:nvSpPr>
          <p:cNvPr id="13" name="Text 10"/>
          <p:cNvSpPr/>
          <p:nvPr/>
        </p:nvSpPr>
        <p:spPr>
          <a:xfrm>
            <a:off x="4521098" y="3474720"/>
            <a:ext cx="3149498" cy="685800"/>
          </a:xfrm>
          <a:prstGeom prst="rect">
            <a:avLst/>
          </a:prstGeom>
          <a:noFill/>
          <a:ln/>
        </p:spPr>
        <p:txBody>
          <a:bodyPr wrap="square" lIns="0" tIns="0" rIns="0" bIns="0" rtlCol="0" anchor="ctr"/>
          <a:lstStyle/>
          <a:p>
            <a:pPr algn="ctr" indent="0" marL="0">
              <a:buNone/>
            </a:pPr>
            <a:r>
              <a:rPr lang="en-US" sz="1900" i="1" dirty="0">
                <a:solidFill>
                  <a:srgbClr val="22223B"/>
                </a:solidFill>
                <a:latin typeface="Times New Roman" pitchFamily="34" charset="0"/>
                <a:ea typeface="Times New Roman" pitchFamily="34" charset="-122"/>
                <a:cs typeface="Times New Roman" pitchFamily="34" charset="-120"/>
              </a:rPr>
              <a:t>f</a:t>
            </a:r>
            <a:r>
              <a:rPr lang="en-US" sz="1900" i="1" baseline="-40000" dirty="0">
                <a:solidFill>
                  <a:srgbClr val="22223B"/>
                </a:solidFill>
                <a:latin typeface="Times New Roman" pitchFamily="34" charset="0"/>
                <a:ea typeface="Times New Roman" pitchFamily="34" charset="-122"/>
                <a:cs typeface="Times New Roman" pitchFamily="34" charset="-120"/>
              </a:rPr>
              <a:t>i</a:t>
            </a:r>
            <a:r>
              <a:rPr lang="en-US" sz="1900" i="1" dirty="0">
                <a:solidFill>
                  <a:srgbClr val="22223B"/>
                </a:solidFill>
                <a:latin typeface="Times New Roman" pitchFamily="34" charset="0"/>
                <a:ea typeface="Times New Roman" pitchFamily="34" charset="-122"/>
                <a:cs typeface="Times New Roman" pitchFamily="34" charset="-120"/>
              </a:rPr>
              <a:t>(X</a:t>
            </a:r>
            <a:r>
              <a:rPr lang="en-US" sz="1900" i="1" baseline="-40000" dirty="0">
                <a:solidFill>
                  <a:srgbClr val="22223B"/>
                </a:solidFill>
                <a:latin typeface="Times New Roman" pitchFamily="34" charset="0"/>
                <a:ea typeface="Times New Roman" pitchFamily="34" charset="-122"/>
                <a:cs typeface="Times New Roman" pitchFamily="34" charset="-120"/>
              </a:rPr>
              <a:t>i</a:t>
            </a:r>
            <a:r>
              <a:rPr lang="en-US" sz="1900" i="1" dirty="0">
                <a:solidFill>
                  <a:srgbClr val="22223B"/>
                </a:solidFill>
                <a:latin typeface="Times New Roman" pitchFamily="34" charset="0"/>
                <a:ea typeface="Times New Roman" pitchFamily="34" charset="-122"/>
                <a:cs typeface="Times New Roman" pitchFamily="34" charset="-120"/>
              </a:rPr>
              <a:t>) = E(Y|X</a:t>
            </a:r>
            <a:r>
              <a:rPr lang="en-US" sz="1900" i="1" baseline="-40000" dirty="0">
                <a:solidFill>
                  <a:srgbClr val="22223B"/>
                </a:solidFill>
                <a:latin typeface="Times New Roman" pitchFamily="34" charset="0"/>
                <a:ea typeface="Times New Roman" pitchFamily="34" charset="-122"/>
                <a:cs typeface="Times New Roman" pitchFamily="34" charset="-120"/>
              </a:rPr>
              <a:t>i</a:t>
            </a:r>
            <a:r>
              <a:rPr lang="en-US" sz="1900" i="1" dirty="0">
                <a:solidFill>
                  <a:srgbClr val="22223B"/>
                </a:solidFill>
                <a:latin typeface="Times New Roman" pitchFamily="34" charset="0"/>
                <a:ea typeface="Times New Roman" pitchFamily="34" charset="-122"/>
                <a:cs typeface="Times New Roman" pitchFamily="34" charset="-120"/>
              </a:rPr>
              <a:t>) − f</a:t>
            </a:r>
            <a:r>
              <a:rPr lang="en-US" sz="1900" i="1" baseline="-40000" dirty="0">
                <a:solidFill>
                  <a:srgbClr val="22223B"/>
                </a:solidFill>
                <a:latin typeface="Times New Roman" pitchFamily="34" charset="0"/>
                <a:ea typeface="Times New Roman" pitchFamily="34" charset="-122"/>
                <a:cs typeface="Times New Roman" pitchFamily="34" charset="-120"/>
              </a:rPr>
              <a:t>0</a:t>
            </a:r>
            <a:endParaRPr lang="en-US" sz="1900" dirty="0"/>
          </a:p>
        </p:txBody>
      </p:sp>
      <p:sp>
        <p:nvSpPr>
          <p:cNvPr id="14" name="Text 11"/>
          <p:cNvSpPr/>
          <p:nvPr/>
        </p:nvSpPr>
        <p:spPr>
          <a:xfrm>
            <a:off x="4612538" y="4251960"/>
            <a:ext cx="2966618" cy="594360"/>
          </a:xfrm>
          <a:prstGeom prst="rect">
            <a:avLst/>
          </a:prstGeom>
          <a:noFill/>
          <a:ln/>
        </p:spPr>
        <p:txBody>
          <a:bodyPr wrap="square" lIns="0" tIns="0" rIns="0" bIns="0" rtlCol="0" anchor="t"/>
          <a:lstStyle/>
          <a:p>
            <a:pPr indent="0" marL="0">
              <a:buNone/>
            </a:pPr>
            <a:r>
              <a:rPr lang="en-US" sz="1600" i="1" dirty="0">
                <a:solidFill>
                  <a:srgbClr val="4A4E69"/>
                </a:solidFill>
                <a:latin typeface="Times New Roman" pitchFamily="34" charset="0"/>
                <a:ea typeface="Times New Roman" pitchFamily="34" charset="-122"/>
                <a:cs typeface="Times New Roman" pitchFamily="34" charset="-120"/>
              </a:rPr>
              <a:t>X</a:t>
            </a:r>
            <a:r>
              <a:rPr lang="en-US" sz="1600" i="1" baseline="-40000" dirty="0">
                <a:solidFill>
                  <a:srgbClr val="4A4E69"/>
                </a:solidFill>
                <a:latin typeface="Times New Roman" pitchFamily="34" charset="0"/>
                <a:ea typeface="Times New Roman" pitchFamily="34" charset="-122"/>
                <a:cs typeface="Times New Roman" pitchFamily="34" charset="-120"/>
              </a:rPr>
              <a:t>i</a:t>
            </a:r>
            <a:r>
              <a:rPr lang="en-US" sz="1400" dirty="0">
                <a:solidFill>
                  <a:srgbClr val="4A4E69"/>
                </a:solidFill>
                <a:latin typeface="BIZ UDGothic" pitchFamily="34" charset="0"/>
                <a:ea typeface="BIZ UDGothic" pitchFamily="34" charset="-122"/>
                <a:cs typeface="BIZ UDGothic" pitchFamily="34" charset="-120"/>
              </a:rPr>
              <a:t> の値だけで決まる、平均からのずれ</a:t>
            </a:r>
            <a:endParaRPr lang="en-US" sz="1600" dirty="0"/>
          </a:p>
        </p:txBody>
      </p:sp>
      <p:sp>
        <p:nvSpPr>
          <p:cNvPr id="15" name="Shape 12"/>
          <p:cNvSpPr/>
          <p:nvPr/>
        </p:nvSpPr>
        <p:spPr>
          <a:xfrm>
            <a:off x="8127797" y="2697480"/>
            <a:ext cx="3515258" cy="2286000"/>
          </a:xfrm>
          <a:prstGeom prst="roundRect">
            <a:avLst>
              <a:gd name="adj" fmla="val 3200"/>
            </a:avLst>
          </a:prstGeom>
          <a:solidFill>
            <a:srgbClr val="ECE3F1"/>
          </a:solidFill>
          <a:ln/>
        </p:spPr>
      </p:sp>
      <p:sp>
        <p:nvSpPr>
          <p:cNvPr id="16" name="Text 13"/>
          <p:cNvSpPr/>
          <p:nvPr/>
        </p:nvSpPr>
        <p:spPr>
          <a:xfrm>
            <a:off x="8402117" y="2926080"/>
            <a:ext cx="2966618" cy="411480"/>
          </a:xfrm>
          <a:prstGeom prst="rect">
            <a:avLst/>
          </a:prstGeom>
          <a:noFill/>
          <a:ln/>
        </p:spPr>
        <p:txBody>
          <a:bodyPr wrap="square" lIns="0" tIns="0" rIns="0" bIns="0" rtlCol="0" anchor="ctr"/>
          <a:lstStyle/>
          <a:p>
            <a:pPr indent="0" marL="0">
              <a:buNone/>
            </a:pPr>
            <a:r>
              <a:rPr lang="en-US" sz="1800" b="1" dirty="0">
                <a:solidFill>
                  <a:srgbClr val="8D6A9F"/>
                </a:solidFill>
                <a:latin typeface="BIZ UDGothic" pitchFamily="34" charset="0"/>
                <a:ea typeface="BIZ UDGothic" pitchFamily="34" charset="-122"/>
                <a:cs typeface="BIZ UDGothic" pitchFamily="34" charset="-120"/>
              </a:rPr>
              <a:t>交互作用項</a:t>
            </a:r>
            <a:endParaRPr lang="en-US" sz="1800" dirty="0"/>
          </a:p>
        </p:txBody>
      </p:sp>
      <p:sp>
        <p:nvSpPr>
          <p:cNvPr id="17" name="Text 14"/>
          <p:cNvSpPr/>
          <p:nvPr/>
        </p:nvSpPr>
        <p:spPr>
          <a:xfrm>
            <a:off x="8310677" y="3474720"/>
            <a:ext cx="3149498" cy="685800"/>
          </a:xfrm>
          <a:prstGeom prst="rect">
            <a:avLst/>
          </a:prstGeom>
          <a:noFill/>
          <a:ln/>
        </p:spPr>
        <p:txBody>
          <a:bodyPr wrap="square" lIns="0" tIns="0" rIns="0" bIns="0" rtlCol="0" anchor="ctr"/>
          <a:lstStyle/>
          <a:p>
            <a:pPr algn="ctr" indent="0" marL="0">
              <a:buNone/>
            </a:pPr>
            <a:r>
              <a:rPr lang="en-US" sz="1900" i="1" dirty="0">
                <a:solidFill>
                  <a:srgbClr val="22223B"/>
                </a:solidFill>
                <a:latin typeface="Times New Roman" pitchFamily="34" charset="0"/>
                <a:ea typeface="Times New Roman" pitchFamily="34" charset="-122"/>
                <a:cs typeface="Times New Roman" pitchFamily="34" charset="-120"/>
              </a:rPr>
              <a:t>f</a:t>
            </a:r>
            <a:r>
              <a:rPr lang="en-US" sz="1900" i="1" baseline="-40000" dirty="0">
                <a:solidFill>
                  <a:srgbClr val="22223B"/>
                </a:solidFill>
                <a:latin typeface="Times New Roman" pitchFamily="34" charset="0"/>
                <a:ea typeface="Times New Roman" pitchFamily="34" charset="-122"/>
                <a:cs typeface="Times New Roman" pitchFamily="34" charset="-120"/>
              </a:rPr>
              <a:t>ij</a:t>
            </a:r>
            <a:r>
              <a:rPr lang="en-US" sz="1900" i="1" dirty="0">
                <a:solidFill>
                  <a:srgbClr val="22223B"/>
                </a:solidFill>
                <a:latin typeface="Times New Roman" pitchFamily="34" charset="0"/>
                <a:ea typeface="Times New Roman" pitchFamily="34" charset="-122"/>
                <a:cs typeface="Times New Roman" pitchFamily="34" charset="-120"/>
              </a:rPr>
              <a:t> = E(Y|X</a:t>
            </a:r>
            <a:r>
              <a:rPr lang="en-US" sz="1900" i="1" baseline="-40000" dirty="0">
                <a:solidFill>
                  <a:srgbClr val="22223B"/>
                </a:solidFill>
                <a:latin typeface="Times New Roman" pitchFamily="34" charset="0"/>
                <a:ea typeface="Times New Roman" pitchFamily="34" charset="-122"/>
                <a:cs typeface="Times New Roman" pitchFamily="34" charset="-120"/>
              </a:rPr>
              <a:t>i</a:t>
            </a:r>
            <a:r>
              <a:rPr lang="en-US" sz="1900" i="1" dirty="0">
                <a:solidFill>
                  <a:srgbClr val="22223B"/>
                </a:solidFill>
                <a:latin typeface="Times New Roman" pitchFamily="34" charset="0"/>
                <a:ea typeface="Times New Roman" pitchFamily="34" charset="-122"/>
                <a:cs typeface="Times New Roman" pitchFamily="34" charset="-120"/>
              </a:rPr>
              <a:t>, X</a:t>
            </a:r>
            <a:r>
              <a:rPr lang="en-US" sz="1900" i="1" baseline="-40000" dirty="0">
                <a:solidFill>
                  <a:srgbClr val="22223B"/>
                </a:solidFill>
                <a:latin typeface="Times New Roman" pitchFamily="34" charset="0"/>
                <a:ea typeface="Times New Roman" pitchFamily="34" charset="-122"/>
                <a:cs typeface="Times New Roman" pitchFamily="34" charset="-120"/>
              </a:rPr>
              <a:t>j</a:t>
            </a:r>
            <a:r>
              <a:rPr lang="en-US" sz="1900" i="1" dirty="0">
                <a:solidFill>
                  <a:srgbClr val="22223B"/>
                </a:solidFill>
                <a:latin typeface="Times New Roman" pitchFamily="34" charset="0"/>
                <a:ea typeface="Times New Roman" pitchFamily="34" charset="-122"/>
                <a:cs typeface="Times New Roman" pitchFamily="34" charset="-120"/>
              </a:rPr>
              <a:t>) − f</a:t>
            </a:r>
            <a:r>
              <a:rPr lang="en-US" sz="1900" i="1" baseline="-40000" dirty="0">
                <a:solidFill>
                  <a:srgbClr val="22223B"/>
                </a:solidFill>
                <a:latin typeface="Times New Roman" pitchFamily="34" charset="0"/>
                <a:ea typeface="Times New Roman" pitchFamily="34" charset="-122"/>
                <a:cs typeface="Times New Roman" pitchFamily="34" charset="-120"/>
              </a:rPr>
              <a:t>i</a:t>
            </a:r>
            <a:r>
              <a:rPr lang="en-US" sz="1900" i="1" dirty="0">
                <a:solidFill>
                  <a:srgbClr val="22223B"/>
                </a:solidFill>
                <a:latin typeface="Times New Roman" pitchFamily="34" charset="0"/>
                <a:ea typeface="Times New Roman" pitchFamily="34" charset="-122"/>
                <a:cs typeface="Times New Roman" pitchFamily="34" charset="-120"/>
              </a:rPr>
              <a:t> − f</a:t>
            </a:r>
            <a:r>
              <a:rPr lang="en-US" sz="1900" i="1" baseline="-40000" dirty="0">
                <a:solidFill>
                  <a:srgbClr val="22223B"/>
                </a:solidFill>
                <a:latin typeface="Times New Roman" pitchFamily="34" charset="0"/>
                <a:ea typeface="Times New Roman" pitchFamily="34" charset="-122"/>
                <a:cs typeface="Times New Roman" pitchFamily="34" charset="-120"/>
              </a:rPr>
              <a:t>j</a:t>
            </a:r>
            <a:r>
              <a:rPr lang="en-US" sz="1900" i="1" dirty="0">
                <a:solidFill>
                  <a:srgbClr val="22223B"/>
                </a:solidFill>
                <a:latin typeface="Times New Roman" pitchFamily="34" charset="0"/>
                <a:ea typeface="Times New Roman" pitchFamily="34" charset="-122"/>
                <a:cs typeface="Times New Roman" pitchFamily="34" charset="-120"/>
              </a:rPr>
              <a:t> − f</a:t>
            </a:r>
            <a:r>
              <a:rPr lang="en-US" sz="1900" i="1" baseline="-40000" dirty="0">
                <a:solidFill>
                  <a:srgbClr val="22223B"/>
                </a:solidFill>
                <a:latin typeface="Times New Roman" pitchFamily="34" charset="0"/>
                <a:ea typeface="Times New Roman" pitchFamily="34" charset="-122"/>
                <a:cs typeface="Times New Roman" pitchFamily="34" charset="-120"/>
              </a:rPr>
              <a:t>0</a:t>
            </a:r>
            <a:endParaRPr lang="en-US" sz="1900" dirty="0"/>
          </a:p>
        </p:txBody>
      </p:sp>
      <p:sp>
        <p:nvSpPr>
          <p:cNvPr id="18" name="Text 15"/>
          <p:cNvSpPr/>
          <p:nvPr/>
        </p:nvSpPr>
        <p:spPr>
          <a:xfrm>
            <a:off x="8402117" y="4251960"/>
            <a:ext cx="2966618" cy="594360"/>
          </a:xfrm>
          <a:prstGeom prst="rect">
            <a:avLst/>
          </a:prstGeom>
          <a:noFill/>
          <a:ln/>
        </p:spPr>
        <p:txBody>
          <a:bodyPr wrap="square" lIns="0" tIns="0" rIns="0" bIns="0" rtlCol="0" anchor="t"/>
          <a:lstStyle/>
          <a:p>
            <a:pPr indent="0" marL="0">
              <a:buNone/>
            </a:pPr>
            <a:r>
              <a:rPr lang="en-US" sz="1400" dirty="0">
                <a:solidFill>
                  <a:srgbClr val="4A4E69"/>
                </a:solidFill>
                <a:latin typeface="BIZ UDGothic" pitchFamily="34" charset="0"/>
                <a:ea typeface="BIZ UDGothic" pitchFamily="34" charset="-122"/>
                <a:cs typeface="BIZ UDGothic" pitchFamily="34" charset="-120"/>
              </a:rPr>
              <a:t>2つの入力を組み合わせたときにだけ現れる上乗せ分</a:t>
            </a:r>
            <a:endParaRPr lang="en-US" sz="1400" dirty="0"/>
          </a:p>
        </p:txBody>
      </p:sp>
      <p:sp>
        <p:nvSpPr>
          <p:cNvPr id="19" name="Shape 16"/>
          <p:cNvSpPr/>
          <p:nvPr/>
        </p:nvSpPr>
        <p:spPr>
          <a:xfrm>
            <a:off x="548640" y="5257800"/>
            <a:ext cx="11094415" cy="868680"/>
          </a:xfrm>
          <a:prstGeom prst="roundRect">
            <a:avLst>
              <a:gd name="adj" fmla="val 8421"/>
            </a:avLst>
          </a:prstGeom>
          <a:solidFill>
            <a:srgbClr val="FFFFFF"/>
          </a:solidFill>
          <a:ln w="9525">
            <a:solidFill>
              <a:srgbClr val="DADDE6"/>
            </a:solidFill>
            <a:prstDash val="solid"/>
          </a:ln>
        </p:spPr>
      </p:sp>
      <p:sp>
        <p:nvSpPr>
          <p:cNvPr id="20" name="Shape 17"/>
          <p:cNvSpPr/>
          <p:nvPr/>
        </p:nvSpPr>
        <p:spPr>
          <a:xfrm>
            <a:off x="749808" y="5431536"/>
            <a:ext cx="521208" cy="521208"/>
          </a:xfrm>
          <a:prstGeom prst="ellipse">
            <a:avLst/>
          </a:prstGeom>
          <a:solidFill>
            <a:srgbClr val="2A9D8F"/>
          </a:solidFill>
          <a:ln/>
        </p:spPr>
      </p:sp>
      <p:pic>
        <p:nvPicPr>
          <p:cNvPr id="21" name="Image 0" descr="preencoded.png">    </p:cNvPr>
          <p:cNvPicPr>
            <a:picLocks noChangeAspect="1"/>
          </p:cNvPicPr>
          <p:nvPr/>
        </p:nvPicPr>
        <p:blipFill>
          <a:blip r:embed="rId1"/>
          <a:stretch>
            <a:fillRect/>
          </a:stretch>
        </p:blipFill>
        <p:spPr>
          <a:xfrm>
            <a:off x="864474" y="5546202"/>
            <a:ext cx="291876" cy="291876"/>
          </a:xfrm>
          <a:prstGeom prst="rect">
            <a:avLst/>
          </a:prstGeom>
        </p:spPr>
      </p:pic>
      <p:sp>
        <p:nvSpPr>
          <p:cNvPr id="22" name="Text 18"/>
          <p:cNvSpPr/>
          <p:nvPr/>
        </p:nvSpPr>
        <p:spPr>
          <a:xfrm>
            <a:off x="1463040" y="5257800"/>
            <a:ext cx="9997135" cy="868680"/>
          </a:xfrm>
          <a:prstGeom prst="rect">
            <a:avLst/>
          </a:prstGeom>
          <a:noFill/>
          <a:ln/>
        </p:spPr>
        <p:txBody>
          <a:bodyPr wrap="square" lIns="0" tIns="0" rIns="0" bIns="0" rtlCol="0" anchor="ctr"/>
          <a:lstStyle/>
          <a:p>
            <a:pPr indent="0" marL="0">
              <a:buNone/>
            </a:pPr>
            <a:r>
              <a:rPr lang="en-US" sz="1500" b="1" dirty="0">
                <a:solidFill>
                  <a:srgbClr val="22223B"/>
                </a:solidFill>
                <a:latin typeface="BIZ UDGothic" pitchFamily="34" charset="0"/>
                <a:ea typeface="BIZ UDGothic" pitchFamily="34" charset="-122"/>
                <a:cs typeface="BIZ UDGothic" pitchFamily="34" charset="-120"/>
              </a:rPr>
              <a:t>ポイント：入力が独立なら、各項は平均 0 で互いに直交（相関 0）→ 出力の分散が「各項の分散の足し算」になる</a:t>
            </a:r>
            <a:endParaRPr lang="en-US" sz="1500" dirty="0"/>
          </a:p>
        </p:txBody>
      </p:sp>
      <p:sp>
        <p:nvSpPr>
          <p:cNvPr id="23" name="Text 19"/>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24" name="Text 20"/>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02　Sobol指数の定義</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分散分解 ― 割合の合計はちょうど 1</a:t>
            </a:r>
            <a:endParaRPr lang="en-US" sz="2800" dirty="0"/>
          </a:p>
        </p:txBody>
      </p:sp>
      <p:sp>
        <p:nvSpPr>
          <p:cNvPr id="5" name="Shape 2"/>
          <p:cNvSpPr/>
          <p:nvPr/>
        </p:nvSpPr>
        <p:spPr>
          <a:xfrm>
            <a:off x="548640" y="1508760"/>
            <a:ext cx="6766560" cy="868680"/>
          </a:xfrm>
          <a:prstGeom prst="roundRect">
            <a:avLst>
              <a:gd name="adj" fmla="val 8421"/>
            </a:avLst>
          </a:prstGeom>
          <a:solidFill>
            <a:srgbClr val="F3F4F8"/>
          </a:solidFill>
          <a:ln/>
        </p:spPr>
      </p:sp>
      <p:sp>
        <p:nvSpPr>
          <p:cNvPr id="6" name="Text 3"/>
          <p:cNvSpPr/>
          <p:nvPr/>
        </p:nvSpPr>
        <p:spPr>
          <a:xfrm>
            <a:off x="548640" y="1508760"/>
            <a:ext cx="6766560" cy="868680"/>
          </a:xfrm>
          <a:prstGeom prst="rect">
            <a:avLst/>
          </a:prstGeom>
          <a:noFill/>
          <a:ln/>
        </p:spPr>
        <p:txBody>
          <a:bodyPr wrap="square" lIns="1270" tIns="1270" rIns="1270" bIns="1270" rtlCol="0" anchor="ctr"/>
          <a:lstStyle/>
          <a:p>
            <a:pPr algn="ctr" indent="0" marL="0">
              <a:buNone/>
            </a:pPr>
            <a:r>
              <a:rPr lang="en-US" sz="2500" i="1" dirty="0">
                <a:solidFill>
                  <a:srgbClr val="22223B"/>
                </a:solidFill>
                <a:latin typeface="Times New Roman" pitchFamily="34" charset="0"/>
                <a:ea typeface="Times New Roman" pitchFamily="34" charset="-122"/>
                <a:cs typeface="Times New Roman" pitchFamily="34" charset="-120"/>
              </a:rPr>
              <a:t>V(Y) = Σ</a:t>
            </a:r>
            <a:r>
              <a:rPr lang="en-US" sz="2500" i="1" baseline="-40000" dirty="0">
                <a:solidFill>
                  <a:srgbClr val="22223B"/>
                </a:solidFill>
                <a:latin typeface="Times New Roman" pitchFamily="34" charset="0"/>
                <a:ea typeface="Times New Roman" pitchFamily="34" charset="-122"/>
                <a:cs typeface="Times New Roman" pitchFamily="34" charset="-120"/>
              </a:rPr>
              <a:t>i</a:t>
            </a:r>
            <a:r>
              <a:rPr lang="en-US" sz="2500" i="1" dirty="0">
                <a:solidFill>
                  <a:srgbClr val="22223B"/>
                </a:solidFill>
                <a:latin typeface="Times New Roman" pitchFamily="34" charset="0"/>
                <a:ea typeface="Times New Roman" pitchFamily="34" charset="-122"/>
                <a:cs typeface="Times New Roman" pitchFamily="34" charset="-120"/>
              </a:rPr>
              <a:t> V</a:t>
            </a:r>
            <a:r>
              <a:rPr lang="en-US" sz="2500" i="1" baseline="-40000" dirty="0">
                <a:solidFill>
                  <a:srgbClr val="22223B"/>
                </a:solidFill>
                <a:latin typeface="Times New Roman" pitchFamily="34" charset="0"/>
                <a:ea typeface="Times New Roman" pitchFamily="34" charset="-122"/>
                <a:cs typeface="Times New Roman" pitchFamily="34" charset="-120"/>
              </a:rPr>
              <a:t>i</a:t>
            </a:r>
            <a:r>
              <a:rPr lang="en-US" sz="2500" i="1" dirty="0">
                <a:solidFill>
                  <a:srgbClr val="22223B"/>
                </a:solidFill>
                <a:latin typeface="Times New Roman" pitchFamily="34" charset="0"/>
                <a:ea typeface="Times New Roman" pitchFamily="34" charset="-122"/>
                <a:cs typeface="Times New Roman" pitchFamily="34" charset="-120"/>
              </a:rPr>
              <a:t> + Σ</a:t>
            </a:r>
            <a:r>
              <a:rPr lang="en-US" sz="2500" i="1" baseline="-40000" dirty="0">
                <a:solidFill>
                  <a:srgbClr val="22223B"/>
                </a:solidFill>
                <a:latin typeface="Times New Roman" pitchFamily="34" charset="0"/>
                <a:ea typeface="Times New Roman" pitchFamily="34" charset="-122"/>
                <a:cs typeface="Times New Roman" pitchFamily="34" charset="-120"/>
              </a:rPr>
              <a:t>i&lt;j</a:t>
            </a:r>
            <a:r>
              <a:rPr lang="en-US" sz="2500" i="1" dirty="0">
                <a:solidFill>
                  <a:srgbClr val="22223B"/>
                </a:solidFill>
                <a:latin typeface="Times New Roman" pitchFamily="34" charset="0"/>
                <a:ea typeface="Times New Roman" pitchFamily="34" charset="-122"/>
                <a:cs typeface="Times New Roman" pitchFamily="34" charset="-120"/>
              </a:rPr>
              <a:t> V</a:t>
            </a:r>
            <a:r>
              <a:rPr lang="en-US" sz="2500" i="1" baseline="-40000" dirty="0">
                <a:solidFill>
                  <a:srgbClr val="22223B"/>
                </a:solidFill>
                <a:latin typeface="Times New Roman" pitchFamily="34" charset="0"/>
                <a:ea typeface="Times New Roman" pitchFamily="34" charset="-122"/>
                <a:cs typeface="Times New Roman" pitchFamily="34" charset="-120"/>
              </a:rPr>
              <a:t>ij</a:t>
            </a:r>
            <a:r>
              <a:rPr lang="en-US" sz="2500" i="1" dirty="0">
                <a:solidFill>
                  <a:srgbClr val="22223B"/>
                </a:solidFill>
                <a:latin typeface="Times New Roman" pitchFamily="34" charset="0"/>
                <a:ea typeface="Times New Roman" pitchFamily="34" charset="-122"/>
                <a:cs typeface="Times New Roman" pitchFamily="34" charset="-120"/>
              </a:rPr>
              <a:t> + … + V</a:t>
            </a:r>
            <a:r>
              <a:rPr lang="en-US" sz="2500" i="1" baseline="-40000" dirty="0">
                <a:solidFill>
                  <a:srgbClr val="22223B"/>
                </a:solidFill>
                <a:latin typeface="Times New Roman" pitchFamily="34" charset="0"/>
                <a:ea typeface="Times New Roman" pitchFamily="34" charset="-122"/>
                <a:cs typeface="Times New Roman" pitchFamily="34" charset="-120"/>
              </a:rPr>
              <a:t>12…d</a:t>
            </a:r>
            <a:endParaRPr lang="en-US" sz="2500" dirty="0"/>
          </a:p>
        </p:txBody>
      </p:sp>
      <p:sp>
        <p:nvSpPr>
          <p:cNvPr id="7" name="Shape 4"/>
          <p:cNvSpPr/>
          <p:nvPr/>
        </p:nvSpPr>
        <p:spPr>
          <a:xfrm>
            <a:off x="548640" y="2651760"/>
            <a:ext cx="6766560" cy="868680"/>
          </a:xfrm>
          <a:prstGeom prst="roundRect">
            <a:avLst>
              <a:gd name="adj" fmla="val 8421"/>
            </a:avLst>
          </a:prstGeom>
          <a:solidFill>
            <a:srgbClr val="F3F4F8"/>
          </a:solidFill>
          <a:ln/>
        </p:spPr>
      </p:sp>
      <p:sp>
        <p:nvSpPr>
          <p:cNvPr id="8" name="Text 5"/>
          <p:cNvSpPr/>
          <p:nvPr/>
        </p:nvSpPr>
        <p:spPr>
          <a:xfrm>
            <a:off x="548640" y="2651760"/>
            <a:ext cx="6766560" cy="868680"/>
          </a:xfrm>
          <a:prstGeom prst="rect">
            <a:avLst/>
          </a:prstGeom>
          <a:noFill/>
          <a:ln/>
        </p:spPr>
        <p:txBody>
          <a:bodyPr wrap="square" lIns="1270" tIns="1270" rIns="1270" bIns="1270" rtlCol="0" anchor="ctr"/>
          <a:lstStyle/>
          <a:p>
            <a:pPr algn="ctr" indent="0" marL="0">
              <a:buNone/>
            </a:pPr>
            <a:r>
              <a:rPr lang="en-US" sz="2100" i="1" dirty="0">
                <a:solidFill>
                  <a:srgbClr val="22223B"/>
                </a:solidFill>
                <a:latin typeface="Times New Roman" pitchFamily="34" charset="0"/>
                <a:ea typeface="Times New Roman" pitchFamily="34" charset="-122"/>
                <a:cs typeface="Times New Roman" pitchFamily="34" charset="-120"/>
              </a:rPr>
              <a:t>V</a:t>
            </a:r>
            <a:r>
              <a:rPr lang="en-US" sz="2100" i="1" baseline="-40000" dirty="0">
                <a:solidFill>
                  <a:srgbClr val="22223B"/>
                </a:solidFill>
                <a:latin typeface="Times New Roman" pitchFamily="34" charset="0"/>
                <a:ea typeface="Times New Roman" pitchFamily="34" charset="-122"/>
                <a:cs typeface="Times New Roman" pitchFamily="34" charset="-120"/>
              </a:rPr>
              <a:t>i</a:t>
            </a:r>
            <a:r>
              <a:rPr lang="en-US" sz="2100" i="1" dirty="0">
                <a:solidFill>
                  <a:srgbClr val="22223B"/>
                </a:solidFill>
                <a:latin typeface="Times New Roman" pitchFamily="34" charset="0"/>
                <a:ea typeface="Times New Roman" pitchFamily="34" charset="-122"/>
                <a:cs typeface="Times New Roman" pitchFamily="34" charset="-120"/>
              </a:rPr>
              <a:t> = V[E(Y|X</a:t>
            </a:r>
            <a:r>
              <a:rPr lang="en-US" sz="2100" i="1" baseline="-40000" dirty="0">
                <a:solidFill>
                  <a:srgbClr val="22223B"/>
                </a:solidFill>
                <a:latin typeface="Times New Roman" pitchFamily="34" charset="0"/>
                <a:ea typeface="Times New Roman" pitchFamily="34" charset="-122"/>
                <a:cs typeface="Times New Roman" pitchFamily="34" charset="-120"/>
              </a:rPr>
              <a:t>i</a:t>
            </a:r>
            <a:r>
              <a:rPr lang="en-US" sz="2100" i="1" dirty="0">
                <a:solidFill>
                  <a:srgbClr val="22223B"/>
                </a:solidFill>
                <a:latin typeface="Times New Roman" pitchFamily="34" charset="0"/>
                <a:ea typeface="Times New Roman" pitchFamily="34" charset="-122"/>
                <a:cs typeface="Times New Roman" pitchFamily="34" charset="-120"/>
              </a:rPr>
              <a:t>)]</a:t>
            </a:r>
            <a:r>
              <a:rPr lang="en-US" sz="1900" dirty="0">
                <a:solidFill>
                  <a:srgbClr val="22223B"/>
                </a:solidFill>
                <a:latin typeface="BIZ UDGothic" pitchFamily="34" charset="0"/>
                <a:ea typeface="BIZ UDGothic" pitchFamily="34" charset="-122"/>
                <a:cs typeface="BIZ UDGothic" pitchFamily="34" charset="-120"/>
              </a:rPr>
              <a:t>,　　</a:t>
            </a:r>
            <a:r>
              <a:rPr lang="en-US" sz="2100" i="1" dirty="0">
                <a:solidFill>
                  <a:srgbClr val="22223B"/>
                </a:solidFill>
                <a:latin typeface="Times New Roman" pitchFamily="34" charset="0"/>
                <a:ea typeface="Times New Roman" pitchFamily="34" charset="-122"/>
                <a:cs typeface="Times New Roman" pitchFamily="34" charset="-120"/>
              </a:rPr>
              <a:t>V</a:t>
            </a:r>
            <a:r>
              <a:rPr lang="en-US" sz="2100" i="1" baseline="-40000" dirty="0">
                <a:solidFill>
                  <a:srgbClr val="22223B"/>
                </a:solidFill>
                <a:latin typeface="Times New Roman" pitchFamily="34" charset="0"/>
                <a:ea typeface="Times New Roman" pitchFamily="34" charset="-122"/>
                <a:cs typeface="Times New Roman" pitchFamily="34" charset="-120"/>
              </a:rPr>
              <a:t>ij</a:t>
            </a:r>
            <a:r>
              <a:rPr lang="en-US" sz="2100" i="1" dirty="0">
                <a:solidFill>
                  <a:srgbClr val="22223B"/>
                </a:solidFill>
                <a:latin typeface="Times New Roman" pitchFamily="34" charset="0"/>
                <a:ea typeface="Times New Roman" pitchFamily="34" charset="-122"/>
                <a:cs typeface="Times New Roman" pitchFamily="34" charset="-120"/>
              </a:rPr>
              <a:t> = V[E(Y|X</a:t>
            </a:r>
            <a:r>
              <a:rPr lang="en-US" sz="2100" i="1" baseline="-40000" dirty="0">
                <a:solidFill>
                  <a:srgbClr val="22223B"/>
                </a:solidFill>
                <a:latin typeface="Times New Roman" pitchFamily="34" charset="0"/>
                <a:ea typeface="Times New Roman" pitchFamily="34" charset="-122"/>
                <a:cs typeface="Times New Roman" pitchFamily="34" charset="-120"/>
              </a:rPr>
              <a:t>i</a:t>
            </a:r>
            <a:r>
              <a:rPr lang="en-US" sz="2100" i="1" dirty="0">
                <a:solidFill>
                  <a:srgbClr val="22223B"/>
                </a:solidFill>
                <a:latin typeface="Times New Roman" pitchFamily="34" charset="0"/>
                <a:ea typeface="Times New Roman" pitchFamily="34" charset="-122"/>
                <a:cs typeface="Times New Roman" pitchFamily="34" charset="-120"/>
              </a:rPr>
              <a:t>, X</a:t>
            </a:r>
            <a:r>
              <a:rPr lang="en-US" sz="2100" i="1" baseline="-40000" dirty="0">
                <a:solidFill>
                  <a:srgbClr val="22223B"/>
                </a:solidFill>
                <a:latin typeface="Times New Roman" pitchFamily="34" charset="0"/>
                <a:ea typeface="Times New Roman" pitchFamily="34" charset="-122"/>
                <a:cs typeface="Times New Roman" pitchFamily="34" charset="-120"/>
              </a:rPr>
              <a:t>j</a:t>
            </a:r>
            <a:r>
              <a:rPr lang="en-US" sz="2100" i="1" dirty="0">
                <a:solidFill>
                  <a:srgbClr val="22223B"/>
                </a:solidFill>
                <a:latin typeface="Times New Roman" pitchFamily="34" charset="0"/>
                <a:ea typeface="Times New Roman" pitchFamily="34" charset="-122"/>
                <a:cs typeface="Times New Roman" pitchFamily="34" charset="-120"/>
              </a:rPr>
              <a:t>)] − V</a:t>
            </a:r>
            <a:r>
              <a:rPr lang="en-US" sz="2100" i="1" baseline="-40000" dirty="0">
                <a:solidFill>
                  <a:srgbClr val="22223B"/>
                </a:solidFill>
                <a:latin typeface="Times New Roman" pitchFamily="34" charset="0"/>
                <a:ea typeface="Times New Roman" pitchFamily="34" charset="-122"/>
                <a:cs typeface="Times New Roman" pitchFamily="34" charset="-120"/>
              </a:rPr>
              <a:t>i</a:t>
            </a:r>
            <a:r>
              <a:rPr lang="en-US" sz="2100" i="1" dirty="0">
                <a:solidFill>
                  <a:srgbClr val="22223B"/>
                </a:solidFill>
                <a:latin typeface="Times New Roman" pitchFamily="34" charset="0"/>
                <a:ea typeface="Times New Roman" pitchFamily="34" charset="-122"/>
                <a:cs typeface="Times New Roman" pitchFamily="34" charset="-120"/>
              </a:rPr>
              <a:t> − V</a:t>
            </a:r>
            <a:r>
              <a:rPr lang="en-US" sz="2100" i="1" baseline="-40000" dirty="0">
                <a:solidFill>
                  <a:srgbClr val="22223B"/>
                </a:solidFill>
                <a:latin typeface="Times New Roman" pitchFamily="34" charset="0"/>
                <a:ea typeface="Times New Roman" pitchFamily="34" charset="-122"/>
                <a:cs typeface="Times New Roman" pitchFamily="34" charset="-120"/>
              </a:rPr>
              <a:t>j</a:t>
            </a:r>
            <a:endParaRPr lang="en-US" sz="2100" dirty="0"/>
          </a:p>
        </p:txBody>
      </p:sp>
      <p:sp>
        <p:nvSpPr>
          <p:cNvPr id="9" name="Shape 6"/>
          <p:cNvSpPr/>
          <p:nvPr/>
        </p:nvSpPr>
        <p:spPr>
          <a:xfrm>
            <a:off x="548640" y="3794760"/>
            <a:ext cx="6766560" cy="1051560"/>
          </a:xfrm>
          <a:prstGeom prst="roundRect">
            <a:avLst>
              <a:gd name="adj" fmla="val 6957"/>
            </a:avLst>
          </a:prstGeom>
          <a:solidFill>
            <a:srgbClr val="22223B"/>
          </a:solidFill>
          <a:ln/>
        </p:spPr>
      </p:sp>
      <p:sp>
        <p:nvSpPr>
          <p:cNvPr id="10" name="Text 7"/>
          <p:cNvSpPr/>
          <p:nvPr/>
        </p:nvSpPr>
        <p:spPr>
          <a:xfrm>
            <a:off x="548640" y="3794760"/>
            <a:ext cx="6766560" cy="1051560"/>
          </a:xfrm>
          <a:prstGeom prst="rect">
            <a:avLst/>
          </a:prstGeom>
          <a:noFill/>
          <a:ln/>
        </p:spPr>
        <p:txBody>
          <a:bodyPr wrap="square" lIns="0" tIns="0" rIns="0" bIns="0" rtlCol="0" anchor="ctr"/>
          <a:lstStyle/>
          <a:p>
            <a:pPr algn="ctr" indent="0" marL="0">
              <a:spcAft>
                <a:spcPts val="400"/>
              </a:spcAft>
              <a:buNone/>
            </a:pPr>
            <a:r>
              <a:rPr lang="en-US" sz="1500" b="1" i="1" dirty="0">
                <a:solidFill>
                  <a:srgbClr val="A9ACC6"/>
                </a:solidFill>
                <a:latin typeface="Times New Roman" pitchFamily="34" charset="0"/>
                <a:ea typeface="Times New Roman" pitchFamily="34" charset="-122"/>
                <a:cs typeface="Times New Roman" pitchFamily="34" charset="-120"/>
              </a:rPr>
              <a:t>V(Y)</a:t>
            </a:r>
            <a:r>
              <a:rPr lang="en-US" sz="1300" b="1" dirty="0">
                <a:solidFill>
                  <a:srgbClr val="A9ACC6"/>
                </a:solidFill>
                <a:latin typeface="BIZ UDGothic" pitchFamily="34" charset="0"/>
                <a:ea typeface="BIZ UDGothic" pitchFamily="34" charset="-122"/>
                <a:cs typeface="BIZ UDGothic" pitchFamily="34" charset="-120"/>
              </a:rPr>
              <a:t> で割ると</a:t>
            </a:r>
            <a:endParaRPr lang="en-US" sz="1500" dirty="0"/>
          </a:p>
          <a:p>
            <a:pPr algn="ctr" indent="0" marL="0">
              <a:spcAft>
                <a:spcPts val="400"/>
              </a:spcAft>
              <a:buNone/>
            </a:pPr>
            <a:r>
              <a:rPr lang="en-US" sz="2500" i="1" dirty="0">
                <a:solidFill>
                  <a:srgbClr val="FFFFFF"/>
                </a:solidFill>
                <a:latin typeface="Times New Roman" pitchFamily="34" charset="0"/>
                <a:ea typeface="Times New Roman" pitchFamily="34" charset="-122"/>
                <a:cs typeface="Times New Roman" pitchFamily="34" charset="-120"/>
              </a:rPr>
              <a:t>Σ</a:t>
            </a:r>
            <a:r>
              <a:rPr lang="en-US" sz="2500" i="1" baseline="-40000" dirty="0">
                <a:solidFill>
                  <a:srgbClr val="FFFFFF"/>
                </a:solidFill>
                <a:latin typeface="Times New Roman" pitchFamily="34" charset="0"/>
                <a:ea typeface="Times New Roman" pitchFamily="34" charset="-122"/>
                <a:cs typeface="Times New Roman" pitchFamily="34" charset="-120"/>
              </a:rPr>
              <a:t>i</a:t>
            </a:r>
            <a:r>
              <a:rPr lang="en-US" sz="2500" i="1" dirty="0">
                <a:solidFill>
                  <a:srgbClr val="FFFFFF"/>
                </a:solidFill>
                <a:latin typeface="Times New Roman" pitchFamily="34" charset="0"/>
                <a:ea typeface="Times New Roman" pitchFamily="34" charset="-122"/>
                <a:cs typeface="Times New Roman" pitchFamily="34" charset="-120"/>
              </a:rPr>
              <a:t> S</a:t>
            </a:r>
            <a:r>
              <a:rPr lang="en-US" sz="2500" i="1" baseline="-40000" dirty="0">
                <a:solidFill>
                  <a:srgbClr val="FFFFFF"/>
                </a:solidFill>
                <a:latin typeface="Times New Roman" pitchFamily="34" charset="0"/>
                <a:ea typeface="Times New Roman" pitchFamily="34" charset="-122"/>
                <a:cs typeface="Times New Roman" pitchFamily="34" charset="-120"/>
              </a:rPr>
              <a:t>i</a:t>
            </a:r>
            <a:r>
              <a:rPr lang="en-US" sz="2500" i="1" dirty="0">
                <a:solidFill>
                  <a:srgbClr val="FFFFFF"/>
                </a:solidFill>
                <a:latin typeface="Times New Roman" pitchFamily="34" charset="0"/>
                <a:ea typeface="Times New Roman" pitchFamily="34" charset="-122"/>
                <a:cs typeface="Times New Roman" pitchFamily="34" charset="-120"/>
              </a:rPr>
              <a:t> + Σ</a:t>
            </a:r>
            <a:r>
              <a:rPr lang="en-US" sz="2500" i="1" baseline="-40000" dirty="0">
                <a:solidFill>
                  <a:srgbClr val="FFFFFF"/>
                </a:solidFill>
                <a:latin typeface="Times New Roman" pitchFamily="34" charset="0"/>
                <a:ea typeface="Times New Roman" pitchFamily="34" charset="-122"/>
                <a:cs typeface="Times New Roman" pitchFamily="34" charset="-120"/>
              </a:rPr>
              <a:t>i&lt;j</a:t>
            </a:r>
            <a:r>
              <a:rPr lang="en-US" sz="2500" i="1" dirty="0">
                <a:solidFill>
                  <a:srgbClr val="FFFFFF"/>
                </a:solidFill>
                <a:latin typeface="Times New Roman" pitchFamily="34" charset="0"/>
                <a:ea typeface="Times New Roman" pitchFamily="34" charset="-122"/>
                <a:cs typeface="Times New Roman" pitchFamily="34" charset="-120"/>
              </a:rPr>
              <a:t> S</a:t>
            </a:r>
            <a:r>
              <a:rPr lang="en-US" sz="2500" i="1" baseline="-40000" dirty="0">
                <a:solidFill>
                  <a:srgbClr val="FFFFFF"/>
                </a:solidFill>
                <a:latin typeface="Times New Roman" pitchFamily="34" charset="0"/>
                <a:ea typeface="Times New Roman" pitchFamily="34" charset="-122"/>
                <a:cs typeface="Times New Roman" pitchFamily="34" charset="-120"/>
              </a:rPr>
              <a:t>ij</a:t>
            </a:r>
            <a:r>
              <a:rPr lang="en-US" sz="2500" i="1" dirty="0">
                <a:solidFill>
                  <a:srgbClr val="FFFFFF"/>
                </a:solidFill>
                <a:latin typeface="Times New Roman" pitchFamily="34" charset="0"/>
                <a:ea typeface="Times New Roman" pitchFamily="34" charset="-122"/>
                <a:cs typeface="Times New Roman" pitchFamily="34" charset="-120"/>
              </a:rPr>
              <a:t> + … + S</a:t>
            </a:r>
            <a:r>
              <a:rPr lang="en-US" sz="2500" i="1" baseline="-40000" dirty="0">
                <a:solidFill>
                  <a:srgbClr val="FFFFFF"/>
                </a:solidFill>
                <a:latin typeface="Times New Roman" pitchFamily="34" charset="0"/>
                <a:ea typeface="Times New Roman" pitchFamily="34" charset="-122"/>
                <a:cs typeface="Times New Roman" pitchFamily="34" charset="-120"/>
              </a:rPr>
              <a:t>12…d</a:t>
            </a:r>
            <a:r>
              <a:rPr lang="en-US" sz="2500" i="1" dirty="0">
                <a:solidFill>
                  <a:srgbClr val="FFFFFF"/>
                </a:solidFill>
                <a:latin typeface="Times New Roman" pitchFamily="34" charset="0"/>
                <a:ea typeface="Times New Roman" pitchFamily="34" charset="-122"/>
                <a:cs typeface="Times New Roman" pitchFamily="34" charset="-120"/>
              </a:rPr>
              <a:t> = 1</a:t>
            </a:r>
            <a:endParaRPr lang="en-US" sz="1500" dirty="0"/>
          </a:p>
        </p:txBody>
      </p:sp>
      <p:sp>
        <p:nvSpPr>
          <p:cNvPr id="11" name="Text 8"/>
          <p:cNvSpPr/>
          <p:nvPr/>
        </p:nvSpPr>
        <p:spPr>
          <a:xfrm>
            <a:off x="548640" y="5029200"/>
            <a:ext cx="6766560" cy="868680"/>
          </a:xfrm>
          <a:prstGeom prst="rect">
            <a:avLst/>
          </a:prstGeom>
          <a:noFill/>
          <a:ln/>
        </p:spPr>
        <p:txBody>
          <a:bodyPr wrap="square" lIns="0" tIns="0" rIns="0" bIns="0" rtlCol="0" anchor="t"/>
          <a:lstStyle/>
          <a:p>
            <a:pPr marL="342900" indent="-342900">
              <a:spcAft>
                <a:spcPts val="600"/>
              </a:spcAft>
              <a:buSzPct val="100000"/>
              <a:buChar char="•"/>
            </a:pP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i</a:t>
            </a:r>
            <a:r>
              <a:rPr lang="en-US" sz="1700" i="1" dirty="0">
                <a:solidFill>
                  <a:srgbClr val="22223B"/>
                </a:solidFill>
                <a:latin typeface="Times New Roman" pitchFamily="34" charset="0"/>
                <a:ea typeface="Times New Roman" pitchFamily="34" charset="-122"/>
                <a:cs typeface="Times New Roman" pitchFamily="34" charset="-120"/>
              </a:rPr>
              <a:t> = V</a:t>
            </a:r>
            <a:r>
              <a:rPr lang="en-US" sz="1700" i="1" baseline="-40000" dirty="0">
                <a:solidFill>
                  <a:srgbClr val="22223B"/>
                </a:solidFill>
                <a:latin typeface="Times New Roman" pitchFamily="34" charset="0"/>
                <a:ea typeface="Times New Roman" pitchFamily="34" charset="-122"/>
                <a:cs typeface="Times New Roman" pitchFamily="34" charset="-120"/>
              </a:rPr>
              <a:t>i</a:t>
            </a:r>
            <a:r>
              <a:rPr lang="en-US" sz="1700" i="1" dirty="0">
                <a:solidFill>
                  <a:srgbClr val="22223B"/>
                </a:solidFill>
                <a:latin typeface="Times New Roman" pitchFamily="34" charset="0"/>
                <a:ea typeface="Times New Roman" pitchFamily="34" charset="-122"/>
                <a:cs typeface="Times New Roman" pitchFamily="34" charset="-120"/>
              </a:rPr>
              <a:t> / V(Y)</a:t>
            </a:r>
            <a:r>
              <a:rPr lang="en-US" sz="1500" dirty="0">
                <a:solidFill>
                  <a:srgbClr val="22223B"/>
                </a:solidFill>
                <a:latin typeface="BIZ UDGothic" pitchFamily="34" charset="0"/>
                <a:ea typeface="BIZ UDGothic" pitchFamily="34" charset="-122"/>
                <a:cs typeface="BIZ UDGothic" pitchFamily="34" charset="-120"/>
              </a:rPr>
              <a:t>：一次効果指数（主効果）</a:t>
            </a:r>
            <a:endParaRPr lang="en-US" sz="1700" dirty="0"/>
          </a:p>
          <a:p>
            <a:pPr marL="342900" indent="-342900">
              <a:spcAft>
                <a:spcPts val="600"/>
              </a:spcAft>
              <a:buSzPct val="100000"/>
              <a:buChar char="•"/>
            </a:pP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ij</a:t>
            </a:r>
            <a:r>
              <a:rPr lang="en-US" sz="1700" i="1" dirty="0">
                <a:solidFill>
                  <a:srgbClr val="22223B"/>
                </a:solidFill>
                <a:latin typeface="Times New Roman" pitchFamily="34" charset="0"/>
                <a:ea typeface="Times New Roman" pitchFamily="34" charset="-122"/>
                <a:cs typeface="Times New Roman" pitchFamily="34" charset="-120"/>
              </a:rPr>
              <a:t> = V</a:t>
            </a:r>
            <a:r>
              <a:rPr lang="en-US" sz="1700" i="1" baseline="-40000" dirty="0">
                <a:solidFill>
                  <a:srgbClr val="22223B"/>
                </a:solidFill>
                <a:latin typeface="Times New Roman" pitchFamily="34" charset="0"/>
                <a:ea typeface="Times New Roman" pitchFamily="34" charset="-122"/>
                <a:cs typeface="Times New Roman" pitchFamily="34" charset="-120"/>
              </a:rPr>
              <a:t>ij</a:t>
            </a:r>
            <a:r>
              <a:rPr lang="en-US" sz="1700" i="1" dirty="0">
                <a:solidFill>
                  <a:srgbClr val="22223B"/>
                </a:solidFill>
                <a:latin typeface="Times New Roman" pitchFamily="34" charset="0"/>
                <a:ea typeface="Times New Roman" pitchFamily="34" charset="-122"/>
                <a:cs typeface="Times New Roman" pitchFamily="34" charset="-120"/>
              </a:rPr>
              <a:t> / V(Y)</a:t>
            </a:r>
            <a:r>
              <a:rPr lang="en-US" sz="1500" dirty="0">
                <a:solidFill>
                  <a:srgbClr val="22223B"/>
                </a:solidFill>
                <a:latin typeface="BIZ UDGothic" pitchFamily="34" charset="0"/>
                <a:ea typeface="BIZ UDGothic" pitchFamily="34" charset="-122"/>
                <a:cs typeface="BIZ UDGothic" pitchFamily="34" charset="-120"/>
              </a:rPr>
              <a:t>：2次の交互作用指数</a:t>
            </a:r>
            <a:endParaRPr lang="en-US" sz="1700" dirty="0"/>
          </a:p>
        </p:txBody>
      </p:sp>
      <p:sp>
        <p:nvSpPr>
          <p:cNvPr id="12" name="Shape 9"/>
          <p:cNvSpPr/>
          <p:nvPr/>
        </p:nvSpPr>
        <p:spPr>
          <a:xfrm>
            <a:off x="7680960" y="1508760"/>
            <a:ext cx="3962095" cy="4617720"/>
          </a:xfrm>
          <a:prstGeom prst="roundRect">
            <a:avLst>
              <a:gd name="adj" fmla="val 1846"/>
            </a:avLst>
          </a:prstGeom>
          <a:solidFill>
            <a:srgbClr val="F3F4F8"/>
          </a:solidFill>
          <a:ln/>
        </p:spPr>
      </p:sp>
      <p:sp>
        <p:nvSpPr>
          <p:cNvPr id="13" name="Text 10"/>
          <p:cNvSpPr/>
          <p:nvPr/>
        </p:nvSpPr>
        <p:spPr>
          <a:xfrm>
            <a:off x="8001000" y="1691640"/>
            <a:ext cx="3322015" cy="457200"/>
          </a:xfrm>
          <a:prstGeom prst="rect">
            <a:avLst/>
          </a:prstGeom>
          <a:noFill/>
          <a:ln/>
        </p:spPr>
        <p:txBody>
          <a:bodyPr wrap="square" lIns="0" tIns="0" rIns="0" bIns="0" rtlCol="0" anchor="ctr"/>
          <a:lstStyle/>
          <a:p>
            <a:pPr indent="0" marL="0">
              <a:buNone/>
            </a:pPr>
            <a:r>
              <a:rPr lang="en-US" sz="1800" b="1" dirty="0">
                <a:solidFill>
                  <a:srgbClr val="22223B"/>
                </a:solidFill>
                <a:latin typeface="BIZ UDGothic" pitchFamily="34" charset="0"/>
                <a:ea typeface="BIZ UDGothic" pitchFamily="34" charset="-122"/>
                <a:cs typeface="BIZ UDGothic" pitchFamily="34" charset="-120"/>
              </a:rPr>
              <a:t>項の数 ＝ </a:t>
            </a:r>
            <a:r>
              <a:rPr lang="en-US" sz="2000" b="1" i="1" dirty="0">
                <a:solidFill>
                  <a:srgbClr val="22223B"/>
                </a:solidFill>
                <a:latin typeface="Times New Roman" pitchFamily="34" charset="0"/>
                <a:ea typeface="Times New Roman" pitchFamily="34" charset="-122"/>
                <a:cs typeface="Times New Roman" pitchFamily="34" charset="-120"/>
              </a:rPr>
              <a:t>2</a:t>
            </a:r>
            <a:r>
              <a:rPr lang="en-US" sz="2000" b="1" i="1" baseline="30000" dirty="0">
                <a:solidFill>
                  <a:srgbClr val="22223B"/>
                </a:solidFill>
                <a:latin typeface="Times New Roman" pitchFamily="34" charset="0"/>
                <a:ea typeface="Times New Roman" pitchFamily="34" charset="-122"/>
                <a:cs typeface="Times New Roman" pitchFamily="34" charset="-120"/>
              </a:rPr>
              <a:t>d</a:t>
            </a:r>
            <a:r>
              <a:rPr lang="en-US" sz="2000" b="1" i="1" dirty="0">
                <a:solidFill>
                  <a:srgbClr val="22223B"/>
                </a:solidFill>
                <a:latin typeface="Times New Roman" pitchFamily="34" charset="0"/>
                <a:ea typeface="Times New Roman" pitchFamily="34" charset="-122"/>
                <a:cs typeface="Times New Roman" pitchFamily="34" charset="-120"/>
              </a:rPr>
              <a:t> − 1</a:t>
            </a:r>
            <a:endParaRPr lang="en-US" sz="1800" dirty="0"/>
          </a:p>
        </p:txBody>
      </p:sp>
      <p:sp>
        <p:nvSpPr>
          <p:cNvPr id="14" name="Text 11"/>
          <p:cNvSpPr/>
          <p:nvPr/>
        </p:nvSpPr>
        <p:spPr>
          <a:xfrm>
            <a:off x="8001000" y="2286000"/>
            <a:ext cx="1188720" cy="731520"/>
          </a:xfrm>
          <a:prstGeom prst="rect">
            <a:avLst/>
          </a:prstGeom>
          <a:noFill/>
          <a:ln/>
        </p:spPr>
        <p:txBody>
          <a:bodyPr wrap="square" lIns="0" tIns="0" rIns="0" bIns="0" rtlCol="0" anchor="ctr"/>
          <a:lstStyle/>
          <a:p>
            <a:pPr indent="0" marL="0">
              <a:buNone/>
            </a:pPr>
            <a:r>
              <a:rPr lang="en-US" sz="1800" i="1" dirty="0">
                <a:solidFill>
                  <a:srgbClr val="6C6F7F"/>
                </a:solidFill>
                <a:latin typeface="Times New Roman" pitchFamily="34" charset="0"/>
                <a:ea typeface="Times New Roman" pitchFamily="34" charset="-122"/>
                <a:cs typeface="Times New Roman" pitchFamily="34" charset="-120"/>
              </a:rPr>
              <a:t>d</a:t>
            </a:r>
            <a:r>
              <a:rPr lang="en-US" sz="1600" dirty="0">
                <a:solidFill>
                  <a:srgbClr val="6C6F7F"/>
                </a:solidFill>
                <a:latin typeface="BIZ UDGothic" pitchFamily="34" charset="0"/>
                <a:ea typeface="BIZ UDGothic" pitchFamily="34" charset="-122"/>
                <a:cs typeface="BIZ UDGothic" pitchFamily="34" charset="-120"/>
              </a:rPr>
              <a:t> = 3</a:t>
            </a:r>
            <a:endParaRPr lang="en-US" sz="1800" dirty="0"/>
          </a:p>
        </p:txBody>
      </p:sp>
      <p:sp>
        <p:nvSpPr>
          <p:cNvPr id="15" name="Text 12"/>
          <p:cNvSpPr/>
          <p:nvPr/>
        </p:nvSpPr>
        <p:spPr>
          <a:xfrm>
            <a:off x="9144000" y="2286000"/>
            <a:ext cx="2179015" cy="731520"/>
          </a:xfrm>
          <a:prstGeom prst="rect">
            <a:avLst/>
          </a:prstGeom>
          <a:noFill/>
          <a:ln/>
        </p:spPr>
        <p:txBody>
          <a:bodyPr wrap="square" lIns="0" tIns="0" rIns="0" bIns="0" rtlCol="0" anchor="ctr"/>
          <a:lstStyle/>
          <a:p>
            <a:pPr algn="r" indent="0" marL="0">
              <a:buNone/>
            </a:pPr>
            <a:r>
              <a:rPr lang="en-US" sz="3400" b="1" dirty="0">
                <a:solidFill>
                  <a:srgbClr val="22223B"/>
                </a:solidFill>
                <a:latin typeface="BIZ UDGothic" pitchFamily="34" charset="0"/>
                <a:ea typeface="BIZ UDGothic" pitchFamily="34" charset="-122"/>
                <a:cs typeface="BIZ UDGothic" pitchFamily="34" charset="-120"/>
              </a:rPr>
              <a:t>7</a:t>
            </a:r>
            <a:endParaRPr lang="en-US" sz="3400" dirty="0"/>
          </a:p>
        </p:txBody>
      </p:sp>
      <p:sp>
        <p:nvSpPr>
          <p:cNvPr id="16" name="Text 13"/>
          <p:cNvSpPr/>
          <p:nvPr/>
        </p:nvSpPr>
        <p:spPr>
          <a:xfrm>
            <a:off x="8001000" y="3154680"/>
            <a:ext cx="1188720" cy="731520"/>
          </a:xfrm>
          <a:prstGeom prst="rect">
            <a:avLst/>
          </a:prstGeom>
          <a:noFill/>
          <a:ln/>
        </p:spPr>
        <p:txBody>
          <a:bodyPr wrap="square" lIns="0" tIns="0" rIns="0" bIns="0" rtlCol="0" anchor="ctr"/>
          <a:lstStyle/>
          <a:p>
            <a:pPr indent="0" marL="0">
              <a:buNone/>
            </a:pPr>
            <a:r>
              <a:rPr lang="en-US" sz="1800" i="1" dirty="0">
                <a:solidFill>
                  <a:srgbClr val="6C6F7F"/>
                </a:solidFill>
                <a:latin typeface="Times New Roman" pitchFamily="34" charset="0"/>
                <a:ea typeface="Times New Roman" pitchFamily="34" charset="-122"/>
                <a:cs typeface="Times New Roman" pitchFamily="34" charset="-120"/>
              </a:rPr>
              <a:t>d</a:t>
            </a:r>
            <a:r>
              <a:rPr lang="en-US" sz="1600" dirty="0">
                <a:solidFill>
                  <a:srgbClr val="6C6F7F"/>
                </a:solidFill>
                <a:latin typeface="BIZ UDGothic" pitchFamily="34" charset="0"/>
                <a:ea typeface="BIZ UDGothic" pitchFamily="34" charset="-122"/>
                <a:cs typeface="BIZ UDGothic" pitchFamily="34" charset="-120"/>
              </a:rPr>
              <a:t> = 10</a:t>
            </a:r>
            <a:endParaRPr lang="en-US" sz="1800" dirty="0"/>
          </a:p>
        </p:txBody>
      </p:sp>
      <p:sp>
        <p:nvSpPr>
          <p:cNvPr id="17" name="Text 14"/>
          <p:cNvSpPr/>
          <p:nvPr/>
        </p:nvSpPr>
        <p:spPr>
          <a:xfrm>
            <a:off x="9144000" y="3154680"/>
            <a:ext cx="2179015" cy="731520"/>
          </a:xfrm>
          <a:prstGeom prst="rect">
            <a:avLst/>
          </a:prstGeom>
          <a:noFill/>
          <a:ln/>
        </p:spPr>
        <p:txBody>
          <a:bodyPr wrap="square" lIns="0" tIns="0" rIns="0" bIns="0" rtlCol="0" anchor="ctr"/>
          <a:lstStyle/>
          <a:p>
            <a:pPr algn="r" indent="0" marL="0">
              <a:buNone/>
            </a:pPr>
            <a:r>
              <a:rPr lang="en-US" sz="3400" b="1" dirty="0">
                <a:solidFill>
                  <a:srgbClr val="E76F51"/>
                </a:solidFill>
                <a:latin typeface="BIZ UDGothic" pitchFamily="34" charset="0"/>
                <a:ea typeface="BIZ UDGothic" pitchFamily="34" charset="-122"/>
                <a:cs typeface="BIZ UDGothic" pitchFamily="34" charset="-120"/>
              </a:rPr>
              <a:t>1,023</a:t>
            </a:r>
            <a:endParaRPr lang="en-US" sz="3400" dirty="0"/>
          </a:p>
        </p:txBody>
      </p:sp>
      <p:sp>
        <p:nvSpPr>
          <p:cNvPr id="18" name="Text 15"/>
          <p:cNvSpPr/>
          <p:nvPr/>
        </p:nvSpPr>
        <p:spPr>
          <a:xfrm>
            <a:off x="8001000" y="4023360"/>
            <a:ext cx="1188720" cy="731520"/>
          </a:xfrm>
          <a:prstGeom prst="rect">
            <a:avLst/>
          </a:prstGeom>
          <a:noFill/>
          <a:ln/>
        </p:spPr>
        <p:txBody>
          <a:bodyPr wrap="square" lIns="0" tIns="0" rIns="0" bIns="0" rtlCol="0" anchor="ctr"/>
          <a:lstStyle/>
          <a:p>
            <a:pPr indent="0" marL="0">
              <a:buNone/>
            </a:pPr>
            <a:r>
              <a:rPr lang="en-US" sz="1800" i="1" dirty="0">
                <a:solidFill>
                  <a:srgbClr val="6C6F7F"/>
                </a:solidFill>
                <a:latin typeface="Times New Roman" pitchFamily="34" charset="0"/>
                <a:ea typeface="Times New Roman" pitchFamily="34" charset="-122"/>
                <a:cs typeface="Times New Roman" pitchFamily="34" charset="-120"/>
              </a:rPr>
              <a:t>d</a:t>
            </a:r>
            <a:r>
              <a:rPr lang="en-US" sz="1600" dirty="0">
                <a:solidFill>
                  <a:srgbClr val="6C6F7F"/>
                </a:solidFill>
                <a:latin typeface="BIZ UDGothic" pitchFamily="34" charset="0"/>
                <a:ea typeface="BIZ UDGothic" pitchFamily="34" charset="-122"/>
                <a:cs typeface="BIZ UDGothic" pitchFamily="34" charset="-120"/>
              </a:rPr>
              <a:t> = 20</a:t>
            </a:r>
            <a:endParaRPr lang="en-US" sz="1800" dirty="0"/>
          </a:p>
        </p:txBody>
      </p:sp>
      <p:sp>
        <p:nvSpPr>
          <p:cNvPr id="19" name="Text 16"/>
          <p:cNvSpPr/>
          <p:nvPr/>
        </p:nvSpPr>
        <p:spPr>
          <a:xfrm>
            <a:off x="9144000" y="4023360"/>
            <a:ext cx="2179015" cy="731520"/>
          </a:xfrm>
          <a:prstGeom prst="rect">
            <a:avLst/>
          </a:prstGeom>
          <a:noFill/>
          <a:ln/>
        </p:spPr>
        <p:txBody>
          <a:bodyPr wrap="square" lIns="0" tIns="0" rIns="0" bIns="0" rtlCol="0" anchor="ctr"/>
          <a:lstStyle/>
          <a:p>
            <a:pPr algn="r" indent="0" marL="0">
              <a:buNone/>
            </a:pPr>
            <a:r>
              <a:rPr lang="en-US" sz="3400" b="1" dirty="0">
                <a:solidFill>
                  <a:srgbClr val="E76F51"/>
                </a:solidFill>
                <a:latin typeface="BIZ UDGothic" pitchFamily="34" charset="0"/>
                <a:ea typeface="BIZ UDGothic" pitchFamily="34" charset="-122"/>
                <a:cs typeface="BIZ UDGothic" pitchFamily="34" charset="-120"/>
              </a:rPr>
              <a:t>1,048,575</a:t>
            </a:r>
            <a:endParaRPr lang="en-US" sz="3400" dirty="0"/>
          </a:p>
        </p:txBody>
      </p:sp>
      <p:sp>
        <p:nvSpPr>
          <p:cNvPr id="20" name="Text 17"/>
          <p:cNvSpPr/>
          <p:nvPr/>
        </p:nvSpPr>
        <p:spPr>
          <a:xfrm>
            <a:off x="8001000" y="4983480"/>
            <a:ext cx="3322015" cy="914400"/>
          </a:xfrm>
          <a:prstGeom prst="rect">
            <a:avLst/>
          </a:prstGeom>
          <a:noFill/>
          <a:ln/>
        </p:spPr>
        <p:txBody>
          <a:bodyPr wrap="square" lIns="0" tIns="0" rIns="0" bIns="0" rtlCol="0" anchor="ctr"/>
          <a:lstStyle/>
          <a:p>
            <a:pPr indent="0" marL="0">
              <a:buNone/>
            </a:pPr>
            <a:r>
              <a:rPr lang="en-US" sz="1500" b="1" dirty="0">
                <a:solidFill>
                  <a:srgbClr val="22223B"/>
                </a:solidFill>
                <a:latin typeface="BIZ UDGothic" pitchFamily="34" charset="0"/>
                <a:ea typeface="BIZ UDGothic" pitchFamily="34" charset="-122"/>
                <a:cs typeface="BIZ UDGothic" pitchFamily="34" charset="-120"/>
              </a:rPr>
              <a:t>全部は求められない → 実務では </a:t>
            </a:r>
            <a:r>
              <a:rPr lang="en-US" sz="1700" b="1" i="1" dirty="0">
                <a:solidFill>
                  <a:srgbClr val="22223B"/>
                </a:solidFill>
                <a:latin typeface="Times New Roman" pitchFamily="34" charset="0"/>
                <a:ea typeface="Times New Roman" pitchFamily="34" charset="-122"/>
                <a:cs typeface="Times New Roman" pitchFamily="34" charset="-120"/>
              </a:rPr>
              <a:t>S</a:t>
            </a:r>
            <a:r>
              <a:rPr lang="en-US" sz="1700" b="1" i="1" baseline="-40000" dirty="0">
                <a:solidFill>
                  <a:srgbClr val="22223B"/>
                </a:solidFill>
                <a:latin typeface="Times New Roman" pitchFamily="34" charset="0"/>
                <a:ea typeface="Times New Roman" pitchFamily="34" charset="-122"/>
                <a:cs typeface="Times New Roman" pitchFamily="34" charset="-120"/>
              </a:rPr>
              <a:t>i</a:t>
            </a:r>
            <a:r>
              <a:rPr lang="en-US" sz="1500" b="1" dirty="0">
                <a:solidFill>
                  <a:srgbClr val="22223B"/>
                </a:solidFill>
                <a:latin typeface="BIZ UDGothic" pitchFamily="34" charset="0"/>
                <a:ea typeface="BIZ UDGothic" pitchFamily="34" charset="-122"/>
                <a:cs typeface="BIZ UDGothic" pitchFamily="34" charset="-120"/>
              </a:rPr>
              <a:t> と </a:t>
            </a:r>
            <a:r>
              <a:rPr lang="en-US" sz="1700" b="1" i="1" dirty="0">
                <a:solidFill>
                  <a:srgbClr val="22223B"/>
                </a:solidFill>
                <a:latin typeface="Times New Roman" pitchFamily="34" charset="0"/>
                <a:ea typeface="Times New Roman" pitchFamily="34" charset="-122"/>
                <a:cs typeface="Times New Roman" pitchFamily="34" charset="-120"/>
              </a:rPr>
              <a:t>S</a:t>
            </a:r>
            <a:r>
              <a:rPr lang="en-US" sz="1700" b="1" i="1" baseline="-40000" dirty="0">
                <a:solidFill>
                  <a:srgbClr val="22223B"/>
                </a:solidFill>
                <a:latin typeface="Times New Roman" pitchFamily="34" charset="0"/>
                <a:ea typeface="Times New Roman" pitchFamily="34" charset="-122"/>
                <a:cs typeface="Times New Roman" pitchFamily="34" charset="-120"/>
              </a:rPr>
              <a:t>Ti</a:t>
            </a:r>
            <a:r>
              <a:rPr lang="en-US" sz="1500" b="1" dirty="0">
                <a:solidFill>
                  <a:srgbClr val="22223B"/>
                </a:solidFill>
                <a:latin typeface="BIZ UDGothic" pitchFamily="34" charset="0"/>
                <a:ea typeface="BIZ UDGothic" pitchFamily="34" charset="-122"/>
                <a:cs typeface="BIZ UDGothic" pitchFamily="34" charset="-120"/>
              </a:rPr>
              <a:t> の2つに要約する</a:t>
            </a:r>
            <a:endParaRPr lang="en-US" sz="1500" dirty="0"/>
          </a:p>
        </p:txBody>
      </p:sp>
      <p:sp>
        <p:nvSpPr>
          <p:cNvPr id="21" name="Text 18"/>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22" name="Text 19"/>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02　Sobol指数の定義</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一次効果指数 </a:t>
            </a:r>
            <a:r>
              <a:rPr lang="en-US" sz="3100" b="1" i="1" dirty="0">
                <a:solidFill>
                  <a:srgbClr val="22223B"/>
                </a:solidFill>
                <a:latin typeface="Times New Roman" pitchFamily="34" charset="0"/>
                <a:ea typeface="Times New Roman" pitchFamily="34" charset="-122"/>
                <a:cs typeface="Times New Roman" pitchFamily="34" charset="-120"/>
              </a:rPr>
              <a:t>S</a:t>
            </a:r>
            <a:r>
              <a:rPr lang="en-US" sz="3100" b="1" i="1" baseline="-40000" dirty="0">
                <a:solidFill>
                  <a:srgbClr val="22223B"/>
                </a:solidFill>
                <a:latin typeface="Times New Roman" pitchFamily="34" charset="0"/>
                <a:ea typeface="Times New Roman" pitchFamily="34" charset="-122"/>
                <a:cs typeface="Times New Roman" pitchFamily="34" charset="-120"/>
              </a:rPr>
              <a:t>i</a:t>
            </a:r>
            <a:r>
              <a:rPr lang="en-US" sz="2800" b="1" dirty="0">
                <a:solidFill>
                  <a:srgbClr val="22223B"/>
                </a:solidFill>
                <a:latin typeface="BIZ UDGothic" pitchFamily="34" charset="0"/>
                <a:ea typeface="BIZ UDGothic" pitchFamily="34" charset="-122"/>
                <a:cs typeface="BIZ UDGothic" pitchFamily="34" charset="-120"/>
              </a:rPr>
              <a:t> ― 「その入力だけ」の寄与</a:t>
            </a:r>
            <a:endParaRPr lang="en-US" sz="2800" dirty="0"/>
          </a:p>
        </p:txBody>
      </p:sp>
      <p:sp>
        <p:nvSpPr>
          <p:cNvPr id="5" name="Shape 2"/>
          <p:cNvSpPr/>
          <p:nvPr/>
        </p:nvSpPr>
        <p:spPr>
          <a:xfrm>
            <a:off x="548640" y="1463040"/>
            <a:ext cx="6675120" cy="1143000"/>
          </a:xfrm>
          <a:prstGeom prst="roundRect">
            <a:avLst>
              <a:gd name="adj" fmla="val 6400"/>
            </a:avLst>
          </a:prstGeom>
          <a:solidFill>
            <a:srgbClr val="22223B"/>
          </a:solidFill>
          <a:ln/>
        </p:spPr>
      </p:sp>
      <p:sp>
        <p:nvSpPr>
          <p:cNvPr id="6" name="Text 3"/>
          <p:cNvSpPr/>
          <p:nvPr/>
        </p:nvSpPr>
        <p:spPr>
          <a:xfrm>
            <a:off x="548640" y="1463040"/>
            <a:ext cx="6675120" cy="1143000"/>
          </a:xfrm>
          <a:prstGeom prst="rect">
            <a:avLst/>
          </a:prstGeom>
          <a:noFill/>
          <a:ln/>
        </p:spPr>
        <p:txBody>
          <a:bodyPr wrap="square" lIns="1270" tIns="1270" rIns="1270" bIns="1270" rtlCol="0" anchor="ctr"/>
          <a:lstStyle/>
          <a:p>
            <a:pPr algn="ctr" indent="0" marL="0">
              <a:buNone/>
            </a:pPr>
            <a:r>
              <a:rPr lang="en-US" sz="3400" i="1" dirty="0">
                <a:solidFill>
                  <a:srgbClr val="FFFFFF"/>
                </a:solidFill>
                <a:latin typeface="Times New Roman" pitchFamily="34" charset="0"/>
                <a:ea typeface="Times New Roman" pitchFamily="34" charset="-122"/>
                <a:cs typeface="Times New Roman" pitchFamily="34" charset="-120"/>
              </a:rPr>
              <a:t>S</a:t>
            </a:r>
            <a:r>
              <a:rPr lang="en-US" sz="3400" i="1" baseline="-40000" dirty="0">
                <a:solidFill>
                  <a:srgbClr val="FFFFFF"/>
                </a:solidFill>
                <a:latin typeface="Times New Roman" pitchFamily="34" charset="0"/>
                <a:ea typeface="Times New Roman" pitchFamily="34" charset="-122"/>
                <a:cs typeface="Times New Roman" pitchFamily="34" charset="-120"/>
              </a:rPr>
              <a:t>i</a:t>
            </a:r>
            <a:r>
              <a:rPr lang="en-US" sz="3400" i="1" dirty="0">
                <a:solidFill>
                  <a:srgbClr val="FFFFFF"/>
                </a:solidFill>
                <a:latin typeface="Times New Roman" pitchFamily="34" charset="0"/>
                <a:ea typeface="Times New Roman" pitchFamily="34" charset="-122"/>
                <a:cs typeface="Times New Roman" pitchFamily="34" charset="-120"/>
              </a:rPr>
              <a:t> = V[E(Y|X</a:t>
            </a:r>
            <a:r>
              <a:rPr lang="en-US" sz="3400" i="1" baseline="-40000" dirty="0">
                <a:solidFill>
                  <a:srgbClr val="FFFFFF"/>
                </a:solidFill>
                <a:latin typeface="Times New Roman" pitchFamily="34" charset="0"/>
                <a:ea typeface="Times New Roman" pitchFamily="34" charset="-122"/>
                <a:cs typeface="Times New Roman" pitchFamily="34" charset="-120"/>
              </a:rPr>
              <a:t>i</a:t>
            </a:r>
            <a:r>
              <a:rPr lang="en-US" sz="3400" i="1" dirty="0">
                <a:solidFill>
                  <a:srgbClr val="FFFFFF"/>
                </a:solidFill>
                <a:latin typeface="Times New Roman" pitchFamily="34" charset="0"/>
                <a:ea typeface="Times New Roman" pitchFamily="34" charset="-122"/>
                <a:cs typeface="Times New Roman" pitchFamily="34" charset="-120"/>
              </a:rPr>
              <a:t>)] / V(Y)</a:t>
            </a:r>
            <a:endParaRPr lang="en-US" sz="3400" dirty="0"/>
          </a:p>
        </p:txBody>
      </p:sp>
      <p:sp>
        <p:nvSpPr>
          <p:cNvPr id="7" name="Shape 4"/>
          <p:cNvSpPr/>
          <p:nvPr/>
        </p:nvSpPr>
        <p:spPr>
          <a:xfrm>
            <a:off x="7498080" y="1463040"/>
            <a:ext cx="4144975" cy="1143000"/>
          </a:xfrm>
          <a:prstGeom prst="roundRect">
            <a:avLst>
              <a:gd name="adj" fmla="val 6400"/>
            </a:avLst>
          </a:prstGeom>
          <a:solidFill>
            <a:srgbClr val="D8F0ED"/>
          </a:solidFill>
          <a:ln/>
        </p:spPr>
      </p:sp>
      <p:sp>
        <p:nvSpPr>
          <p:cNvPr id="8" name="Text 5"/>
          <p:cNvSpPr/>
          <p:nvPr/>
        </p:nvSpPr>
        <p:spPr>
          <a:xfrm>
            <a:off x="7726680" y="1463040"/>
            <a:ext cx="3687775" cy="1143000"/>
          </a:xfrm>
          <a:prstGeom prst="rect">
            <a:avLst/>
          </a:prstGeom>
          <a:noFill/>
          <a:ln/>
        </p:spPr>
        <p:txBody>
          <a:bodyPr wrap="square" lIns="0" tIns="0" rIns="0" bIns="0" rtlCol="0" anchor="ctr"/>
          <a:lstStyle/>
          <a:p>
            <a:pPr indent="0" marL="0">
              <a:buNone/>
            </a:pPr>
            <a:r>
              <a:rPr lang="en-US" sz="1500" b="1" dirty="0">
                <a:solidFill>
                  <a:srgbClr val="22223B"/>
                </a:solidFill>
                <a:latin typeface="BIZ UDGothic" pitchFamily="34" charset="0"/>
                <a:ea typeface="BIZ UDGothic" pitchFamily="34" charset="-122"/>
                <a:cs typeface="BIZ UDGothic" pitchFamily="34" charset="-120"/>
              </a:rPr>
              <a:t>意味：</a:t>
            </a:r>
            <a:r>
              <a:rPr lang="en-US" sz="1700" b="1" i="1" dirty="0">
                <a:solidFill>
                  <a:srgbClr val="22223B"/>
                </a:solidFill>
                <a:latin typeface="Times New Roman" pitchFamily="34" charset="0"/>
                <a:ea typeface="Times New Roman" pitchFamily="34" charset="-122"/>
                <a:cs typeface="Times New Roman" pitchFamily="34" charset="-120"/>
              </a:rPr>
              <a:t>X</a:t>
            </a:r>
            <a:r>
              <a:rPr lang="en-US" sz="1700" b="1" i="1" baseline="-40000" dirty="0">
                <a:solidFill>
                  <a:srgbClr val="22223B"/>
                </a:solidFill>
                <a:latin typeface="Times New Roman" pitchFamily="34" charset="0"/>
                <a:ea typeface="Times New Roman" pitchFamily="34" charset="-122"/>
                <a:cs typeface="Times New Roman" pitchFamily="34" charset="-120"/>
              </a:rPr>
              <a:t>i</a:t>
            </a:r>
            <a:r>
              <a:rPr lang="en-US" sz="1500" b="1" dirty="0">
                <a:solidFill>
                  <a:srgbClr val="22223B"/>
                </a:solidFill>
                <a:latin typeface="BIZ UDGothic" pitchFamily="34" charset="0"/>
                <a:ea typeface="BIZ UDGothic" pitchFamily="34" charset="-122"/>
                <a:cs typeface="BIZ UDGothic" pitchFamily="34" charset="-120"/>
              </a:rPr>
              <a:t> を真の値に固定できたら、出力の分散が平均でどれだけ減るか（の割合）</a:t>
            </a:r>
            <a:endParaRPr lang="en-US" sz="1500" dirty="0"/>
          </a:p>
        </p:txBody>
      </p:sp>
      <p:sp>
        <p:nvSpPr>
          <p:cNvPr id="9" name="Shape 6"/>
          <p:cNvSpPr/>
          <p:nvPr/>
        </p:nvSpPr>
        <p:spPr>
          <a:xfrm>
            <a:off x="548640" y="2880360"/>
            <a:ext cx="3362858" cy="1828800"/>
          </a:xfrm>
          <a:prstGeom prst="roundRect">
            <a:avLst>
              <a:gd name="adj" fmla="val 4000"/>
            </a:avLst>
          </a:prstGeom>
          <a:solidFill>
            <a:srgbClr val="FFFFFF"/>
          </a:solidFill>
          <a:ln w="9525">
            <a:solidFill>
              <a:srgbClr val="DADDE6"/>
            </a:solidFill>
            <a:prstDash val="solid"/>
          </a:ln>
        </p:spPr>
      </p:sp>
      <p:sp>
        <p:nvSpPr>
          <p:cNvPr id="10" name="Shape 7"/>
          <p:cNvSpPr/>
          <p:nvPr/>
        </p:nvSpPr>
        <p:spPr>
          <a:xfrm>
            <a:off x="777240" y="3108960"/>
            <a:ext cx="457200" cy="457200"/>
          </a:xfrm>
          <a:prstGeom prst="ellipse">
            <a:avLst/>
          </a:prstGeom>
          <a:solidFill>
            <a:srgbClr val="2A9D8F"/>
          </a:solidFill>
          <a:ln/>
        </p:spPr>
      </p:sp>
      <p:sp>
        <p:nvSpPr>
          <p:cNvPr id="11" name="Text 8"/>
          <p:cNvSpPr/>
          <p:nvPr/>
        </p:nvSpPr>
        <p:spPr>
          <a:xfrm>
            <a:off x="777240" y="3108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Gothic" pitchFamily="34" charset="0"/>
                <a:ea typeface="BIZ UDGothic" pitchFamily="34" charset="-122"/>
                <a:cs typeface="BIZ UDGothic" pitchFamily="34" charset="-120"/>
              </a:rPr>
              <a:t>1</a:t>
            </a:r>
            <a:endParaRPr lang="en-US" sz="1600" dirty="0"/>
          </a:p>
        </p:txBody>
      </p:sp>
      <p:sp>
        <p:nvSpPr>
          <p:cNvPr id="12" name="Text 9"/>
          <p:cNvSpPr/>
          <p:nvPr/>
        </p:nvSpPr>
        <p:spPr>
          <a:xfrm>
            <a:off x="1371600" y="3063240"/>
            <a:ext cx="2357018" cy="548640"/>
          </a:xfrm>
          <a:prstGeom prst="rect">
            <a:avLst/>
          </a:prstGeom>
          <a:noFill/>
          <a:ln/>
        </p:spPr>
        <p:txBody>
          <a:bodyPr wrap="square" lIns="0" tIns="0" rIns="0" bIns="0" rtlCol="0" anchor="ctr"/>
          <a:lstStyle/>
          <a:p>
            <a:pPr indent="0" marL="0">
              <a:buNone/>
            </a:pPr>
            <a:r>
              <a:rPr lang="en-US" sz="1700" b="1" dirty="0">
                <a:solidFill>
                  <a:srgbClr val="22223B"/>
                </a:solidFill>
                <a:latin typeface="BIZ UDGothic" pitchFamily="34" charset="0"/>
                <a:ea typeface="BIZ UDGothic" pitchFamily="34" charset="-122"/>
                <a:cs typeface="BIZ UDGothic" pitchFamily="34" charset="-120"/>
              </a:rPr>
              <a:t>内側　</a:t>
            </a:r>
            <a:r>
              <a:rPr lang="en-US" sz="1900" b="1" i="1" dirty="0">
                <a:solidFill>
                  <a:srgbClr val="22223B"/>
                </a:solidFill>
                <a:latin typeface="Times New Roman" pitchFamily="34" charset="0"/>
                <a:ea typeface="Times New Roman" pitchFamily="34" charset="-122"/>
                <a:cs typeface="Times New Roman" pitchFamily="34" charset="-120"/>
              </a:rPr>
              <a:t>E(Y|X</a:t>
            </a:r>
            <a:r>
              <a:rPr lang="en-US" sz="1900" b="1" i="1" baseline="-40000" dirty="0">
                <a:solidFill>
                  <a:srgbClr val="22223B"/>
                </a:solidFill>
                <a:latin typeface="Times New Roman" pitchFamily="34" charset="0"/>
                <a:ea typeface="Times New Roman" pitchFamily="34" charset="-122"/>
                <a:cs typeface="Times New Roman" pitchFamily="34" charset="-120"/>
              </a:rPr>
              <a:t>i</a:t>
            </a:r>
            <a:r>
              <a:rPr lang="en-US" sz="1900" b="1" i="1" dirty="0">
                <a:solidFill>
                  <a:srgbClr val="22223B"/>
                </a:solidFill>
                <a:latin typeface="Times New Roman" pitchFamily="34" charset="0"/>
                <a:ea typeface="Times New Roman" pitchFamily="34" charset="-122"/>
                <a:cs typeface="Times New Roman" pitchFamily="34" charset="-120"/>
              </a:rPr>
              <a:t>)</a:t>
            </a:r>
            <a:endParaRPr lang="en-US" sz="1700" dirty="0"/>
          </a:p>
        </p:txBody>
      </p:sp>
      <p:sp>
        <p:nvSpPr>
          <p:cNvPr id="13" name="Text 10"/>
          <p:cNvSpPr/>
          <p:nvPr/>
        </p:nvSpPr>
        <p:spPr>
          <a:xfrm>
            <a:off x="777240" y="3749040"/>
            <a:ext cx="2905658" cy="868680"/>
          </a:xfrm>
          <a:prstGeom prst="rect">
            <a:avLst/>
          </a:prstGeom>
          <a:noFill/>
          <a:ln/>
        </p:spPr>
        <p:txBody>
          <a:bodyPr wrap="square" lIns="0" tIns="0" rIns="0" bIns="0" rtlCol="0" anchor="t"/>
          <a:lstStyle/>
          <a:p>
            <a:pPr indent="0" marL="0">
              <a:buNone/>
            </a:pPr>
            <a:r>
              <a:rPr lang="en-US" sz="1600" i="1" dirty="0">
                <a:solidFill>
                  <a:srgbClr val="4A4E69"/>
                </a:solidFill>
                <a:latin typeface="Times New Roman" pitchFamily="34" charset="0"/>
                <a:ea typeface="Times New Roman" pitchFamily="34" charset="-122"/>
                <a:cs typeface="Times New Roman" pitchFamily="34" charset="-120"/>
              </a:rPr>
              <a:t>X</a:t>
            </a:r>
            <a:r>
              <a:rPr lang="en-US" sz="1600" i="1" baseline="-40000" dirty="0">
                <a:solidFill>
                  <a:srgbClr val="4A4E69"/>
                </a:solidFill>
                <a:latin typeface="Times New Roman" pitchFamily="34" charset="0"/>
                <a:ea typeface="Times New Roman" pitchFamily="34" charset="-122"/>
                <a:cs typeface="Times New Roman" pitchFamily="34" charset="-120"/>
              </a:rPr>
              <a:t>i</a:t>
            </a:r>
            <a:r>
              <a:rPr lang="en-US" sz="1400" dirty="0">
                <a:solidFill>
                  <a:srgbClr val="4A4E69"/>
                </a:solidFill>
                <a:latin typeface="BIZ UDGothic" pitchFamily="34" charset="0"/>
                <a:ea typeface="BIZ UDGothic" pitchFamily="34" charset="-122"/>
                <a:cs typeface="BIZ UDGothic" pitchFamily="34" charset="-120"/>
              </a:rPr>
              <a:t> をある値に固定し、他の入力をすべてばらつかせて </a:t>
            </a:r>
            <a:r>
              <a:rPr lang="en-US" sz="1600" i="1" dirty="0">
                <a:solidFill>
                  <a:srgbClr val="4A4E69"/>
                </a:solidFill>
                <a:latin typeface="Times New Roman" pitchFamily="34" charset="0"/>
                <a:ea typeface="Times New Roman" pitchFamily="34" charset="-122"/>
                <a:cs typeface="Times New Roman" pitchFamily="34" charset="-120"/>
              </a:rPr>
              <a:t>Y</a:t>
            </a:r>
            <a:r>
              <a:rPr lang="en-US" sz="1400" dirty="0">
                <a:solidFill>
                  <a:srgbClr val="4A4E69"/>
                </a:solidFill>
                <a:latin typeface="BIZ UDGothic" pitchFamily="34" charset="0"/>
                <a:ea typeface="BIZ UDGothic" pitchFamily="34" charset="-122"/>
                <a:cs typeface="BIZ UDGothic" pitchFamily="34" charset="-120"/>
              </a:rPr>
              <a:t> の平均をとる</a:t>
            </a:r>
            <a:endParaRPr lang="en-US" sz="1600" dirty="0"/>
          </a:p>
        </p:txBody>
      </p:sp>
      <p:sp>
        <p:nvSpPr>
          <p:cNvPr id="14" name="Shape 11"/>
          <p:cNvSpPr/>
          <p:nvPr/>
        </p:nvSpPr>
        <p:spPr>
          <a:xfrm>
            <a:off x="3984650" y="3794760"/>
            <a:ext cx="356616" cy="0"/>
          </a:xfrm>
          <a:prstGeom prst="line">
            <a:avLst/>
          </a:prstGeom>
          <a:noFill/>
          <a:ln w="25400">
            <a:solidFill>
              <a:srgbClr val="6C6F7F"/>
            </a:solidFill>
            <a:prstDash val="solid"/>
            <a:tailEnd type="triangle"/>
          </a:ln>
        </p:spPr>
      </p:sp>
      <p:sp>
        <p:nvSpPr>
          <p:cNvPr id="15" name="Shape 12"/>
          <p:cNvSpPr/>
          <p:nvPr/>
        </p:nvSpPr>
        <p:spPr>
          <a:xfrm>
            <a:off x="4414418" y="2880360"/>
            <a:ext cx="3362858" cy="1828800"/>
          </a:xfrm>
          <a:prstGeom prst="roundRect">
            <a:avLst>
              <a:gd name="adj" fmla="val 4000"/>
            </a:avLst>
          </a:prstGeom>
          <a:solidFill>
            <a:srgbClr val="FFFFFF"/>
          </a:solidFill>
          <a:ln w="9525">
            <a:solidFill>
              <a:srgbClr val="DADDE6"/>
            </a:solidFill>
            <a:prstDash val="solid"/>
          </a:ln>
        </p:spPr>
      </p:sp>
      <p:sp>
        <p:nvSpPr>
          <p:cNvPr id="16" name="Shape 13"/>
          <p:cNvSpPr/>
          <p:nvPr/>
        </p:nvSpPr>
        <p:spPr>
          <a:xfrm>
            <a:off x="4643018" y="3108960"/>
            <a:ext cx="457200" cy="457200"/>
          </a:xfrm>
          <a:prstGeom prst="ellipse">
            <a:avLst/>
          </a:prstGeom>
          <a:solidFill>
            <a:srgbClr val="2A9D8F"/>
          </a:solidFill>
          <a:ln/>
        </p:spPr>
      </p:sp>
      <p:sp>
        <p:nvSpPr>
          <p:cNvPr id="17" name="Text 14"/>
          <p:cNvSpPr/>
          <p:nvPr/>
        </p:nvSpPr>
        <p:spPr>
          <a:xfrm>
            <a:off x="4643018" y="3108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Gothic" pitchFamily="34" charset="0"/>
                <a:ea typeface="BIZ UDGothic" pitchFamily="34" charset="-122"/>
                <a:cs typeface="BIZ UDGothic" pitchFamily="34" charset="-120"/>
              </a:rPr>
              <a:t>2</a:t>
            </a:r>
            <a:endParaRPr lang="en-US" sz="1600" dirty="0"/>
          </a:p>
        </p:txBody>
      </p:sp>
      <p:sp>
        <p:nvSpPr>
          <p:cNvPr id="18" name="Text 15"/>
          <p:cNvSpPr/>
          <p:nvPr/>
        </p:nvSpPr>
        <p:spPr>
          <a:xfrm>
            <a:off x="5237378" y="3063240"/>
            <a:ext cx="2357018" cy="548640"/>
          </a:xfrm>
          <a:prstGeom prst="rect">
            <a:avLst/>
          </a:prstGeom>
          <a:noFill/>
          <a:ln/>
        </p:spPr>
        <p:txBody>
          <a:bodyPr wrap="square" lIns="0" tIns="0" rIns="0" bIns="0" rtlCol="0" anchor="ctr"/>
          <a:lstStyle/>
          <a:p>
            <a:pPr indent="0" marL="0">
              <a:buNone/>
            </a:pPr>
            <a:r>
              <a:rPr lang="en-US" sz="1700" b="1" dirty="0">
                <a:solidFill>
                  <a:srgbClr val="22223B"/>
                </a:solidFill>
                <a:latin typeface="BIZ UDGothic" pitchFamily="34" charset="0"/>
                <a:ea typeface="BIZ UDGothic" pitchFamily="34" charset="-122"/>
                <a:cs typeface="BIZ UDGothic" pitchFamily="34" charset="-120"/>
              </a:rPr>
              <a:t>外側　</a:t>
            </a:r>
            <a:r>
              <a:rPr lang="en-US" sz="1900" b="1" i="1" dirty="0">
                <a:solidFill>
                  <a:srgbClr val="22223B"/>
                </a:solidFill>
                <a:latin typeface="Times New Roman" pitchFamily="34" charset="0"/>
                <a:ea typeface="Times New Roman" pitchFamily="34" charset="-122"/>
                <a:cs typeface="Times New Roman" pitchFamily="34" charset="-120"/>
              </a:rPr>
              <a:t>V[ · ]</a:t>
            </a:r>
            <a:endParaRPr lang="en-US" sz="1700" dirty="0"/>
          </a:p>
        </p:txBody>
      </p:sp>
      <p:sp>
        <p:nvSpPr>
          <p:cNvPr id="19" name="Text 16"/>
          <p:cNvSpPr/>
          <p:nvPr/>
        </p:nvSpPr>
        <p:spPr>
          <a:xfrm>
            <a:off x="4643018" y="3749040"/>
            <a:ext cx="2905658" cy="868680"/>
          </a:xfrm>
          <a:prstGeom prst="rect">
            <a:avLst/>
          </a:prstGeom>
          <a:noFill/>
          <a:ln/>
        </p:spPr>
        <p:txBody>
          <a:bodyPr wrap="square" lIns="0" tIns="0" rIns="0" bIns="0" rtlCol="0" anchor="t"/>
          <a:lstStyle/>
          <a:p>
            <a:pPr indent="0" marL="0">
              <a:buNone/>
            </a:pPr>
            <a:r>
              <a:rPr lang="en-US" sz="1400" dirty="0">
                <a:solidFill>
                  <a:srgbClr val="4A4E69"/>
                </a:solidFill>
                <a:latin typeface="BIZ UDGothic" pitchFamily="34" charset="0"/>
                <a:ea typeface="BIZ UDGothic" pitchFamily="34" charset="-122"/>
                <a:cs typeface="BIZ UDGothic" pitchFamily="34" charset="-120"/>
              </a:rPr>
              <a:t>その平均が、</a:t>
            </a:r>
            <a:r>
              <a:rPr lang="en-US" sz="1600" i="1" dirty="0">
                <a:solidFill>
                  <a:srgbClr val="4A4E69"/>
                </a:solidFill>
                <a:latin typeface="Times New Roman" pitchFamily="34" charset="0"/>
                <a:ea typeface="Times New Roman" pitchFamily="34" charset="-122"/>
                <a:cs typeface="Times New Roman" pitchFamily="34" charset="-120"/>
              </a:rPr>
              <a:t>X</a:t>
            </a:r>
            <a:r>
              <a:rPr lang="en-US" sz="1600" i="1" baseline="-40000" dirty="0">
                <a:solidFill>
                  <a:srgbClr val="4A4E69"/>
                </a:solidFill>
                <a:latin typeface="Times New Roman" pitchFamily="34" charset="0"/>
                <a:ea typeface="Times New Roman" pitchFamily="34" charset="-122"/>
                <a:cs typeface="Times New Roman" pitchFamily="34" charset="-120"/>
              </a:rPr>
              <a:t>i</a:t>
            </a:r>
            <a:r>
              <a:rPr lang="en-US" sz="1400" dirty="0">
                <a:solidFill>
                  <a:srgbClr val="4A4E69"/>
                </a:solidFill>
                <a:latin typeface="BIZ UDGothic" pitchFamily="34" charset="0"/>
                <a:ea typeface="BIZ UDGothic" pitchFamily="34" charset="-122"/>
                <a:cs typeface="BIZ UDGothic" pitchFamily="34" charset="-120"/>
              </a:rPr>
              <a:t> の値によってどれだけ上下するか（分散）を測る</a:t>
            </a:r>
            <a:endParaRPr lang="en-US" sz="1400" dirty="0"/>
          </a:p>
        </p:txBody>
      </p:sp>
      <p:sp>
        <p:nvSpPr>
          <p:cNvPr id="20" name="Shape 17"/>
          <p:cNvSpPr/>
          <p:nvPr/>
        </p:nvSpPr>
        <p:spPr>
          <a:xfrm>
            <a:off x="7850429" y="3794760"/>
            <a:ext cx="356616" cy="0"/>
          </a:xfrm>
          <a:prstGeom prst="line">
            <a:avLst/>
          </a:prstGeom>
          <a:noFill/>
          <a:ln w="25400">
            <a:solidFill>
              <a:srgbClr val="6C6F7F"/>
            </a:solidFill>
            <a:prstDash val="solid"/>
            <a:tailEnd type="triangle"/>
          </a:ln>
        </p:spPr>
      </p:sp>
      <p:sp>
        <p:nvSpPr>
          <p:cNvPr id="21" name="Shape 18"/>
          <p:cNvSpPr/>
          <p:nvPr/>
        </p:nvSpPr>
        <p:spPr>
          <a:xfrm>
            <a:off x="8280197" y="2880360"/>
            <a:ext cx="3362858" cy="1828800"/>
          </a:xfrm>
          <a:prstGeom prst="roundRect">
            <a:avLst>
              <a:gd name="adj" fmla="val 4000"/>
            </a:avLst>
          </a:prstGeom>
          <a:solidFill>
            <a:srgbClr val="FFFFFF"/>
          </a:solidFill>
          <a:ln w="9525">
            <a:solidFill>
              <a:srgbClr val="DADDE6"/>
            </a:solidFill>
            <a:prstDash val="solid"/>
          </a:ln>
        </p:spPr>
      </p:sp>
      <p:sp>
        <p:nvSpPr>
          <p:cNvPr id="22" name="Shape 19"/>
          <p:cNvSpPr/>
          <p:nvPr/>
        </p:nvSpPr>
        <p:spPr>
          <a:xfrm>
            <a:off x="8508797" y="3108960"/>
            <a:ext cx="457200" cy="457200"/>
          </a:xfrm>
          <a:prstGeom prst="ellipse">
            <a:avLst/>
          </a:prstGeom>
          <a:solidFill>
            <a:srgbClr val="2A9D8F"/>
          </a:solidFill>
          <a:ln/>
        </p:spPr>
      </p:sp>
      <p:sp>
        <p:nvSpPr>
          <p:cNvPr id="23" name="Text 20"/>
          <p:cNvSpPr/>
          <p:nvPr/>
        </p:nvSpPr>
        <p:spPr>
          <a:xfrm>
            <a:off x="8508797" y="3108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Gothic" pitchFamily="34" charset="0"/>
                <a:ea typeface="BIZ UDGothic" pitchFamily="34" charset="-122"/>
                <a:cs typeface="BIZ UDGothic" pitchFamily="34" charset="-120"/>
              </a:rPr>
              <a:t>3</a:t>
            </a:r>
            <a:endParaRPr lang="en-US" sz="1600" dirty="0"/>
          </a:p>
        </p:txBody>
      </p:sp>
      <p:sp>
        <p:nvSpPr>
          <p:cNvPr id="24" name="Text 21"/>
          <p:cNvSpPr/>
          <p:nvPr/>
        </p:nvSpPr>
        <p:spPr>
          <a:xfrm>
            <a:off x="9103157" y="3063240"/>
            <a:ext cx="2357018" cy="548640"/>
          </a:xfrm>
          <a:prstGeom prst="rect">
            <a:avLst/>
          </a:prstGeom>
          <a:noFill/>
          <a:ln/>
        </p:spPr>
        <p:txBody>
          <a:bodyPr wrap="square" lIns="0" tIns="0" rIns="0" bIns="0" rtlCol="0" anchor="ctr"/>
          <a:lstStyle/>
          <a:p>
            <a:pPr indent="0" marL="0">
              <a:buNone/>
            </a:pPr>
            <a:r>
              <a:rPr lang="en-US" sz="1900" b="1" i="1" dirty="0">
                <a:solidFill>
                  <a:srgbClr val="22223B"/>
                </a:solidFill>
                <a:latin typeface="Times New Roman" pitchFamily="34" charset="0"/>
                <a:ea typeface="Times New Roman" pitchFamily="34" charset="-122"/>
                <a:cs typeface="Times New Roman" pitchFamily="34" charset="-120"/>
              </a:rPr>
              <a:t>V(Y)</a:t>
            </a:r>
            <a:r>
              <a:rPr lang="en-US" sz="1700" b="1" dirty="0">
                <a:solidFill>
                  <a:srgbClr val="22223B"/>
                </a:solidFill>
                <a:latin typeface="BIZ UDGothic" pitchFamily="34" charset="0"/>
                <a:ea typeface="BIZ UDGothic" pitchFamily="34" charset="-122"/>
                <a:cs typeface="BIZ UDGothic" pitchFamily="34" charset="-120"/>
              </a:rPr>
              <a:t> で割る</a:t>
            </a:r>
            <a:endParaRPr lang="en-US" sz="1900" dirty="0"/>
          </a:p>
        </p:txBody>
      </p:sp>
      <p:sp>
        <p:nvSpPr>
          <p:cNvPr id="25" name="Text 22"/>
          <p:cNvSpPr/>
          <p:nvPr/>
        </p:nvSpPr>
        <p:spPr>
          <a:xfrm>
            <a:off x="8508797" y="3749040"/>
            <a:ext cx="2905658" cy="868680"/>
          </a:xfrm>
          <a:prstGeom prst="rect">
            <a:avLst/>
          </a:prstGeom>
          <a:noFill/>
          <a:ln/>
        </p:spPr>
        <p:txBody>
          <a:bodyPr wrap="square" lIns="0" tIns="0" rIns="0" bIns="0" rtlCol="0" anchor="t"/>
          <a:lstStyle/>
          <a:p>
            <a:pPr indent="0" marL="0">
              <a:buNone/>
            </a:pPr>
            <a:r>
              <a:rPr lang="en-US" sz="1400" dirty="0">
                <a:solidFill>
                  <a:srgbClr val="4A4E69"/>
                </a:solidFill>
                <a:latin typeface="BIZ UDGothic" pitchFamily="34" charset="0"/>
                <a:ea typeface="BIZ UDGothic" pitchFamily="34" charset="-122"/>
                <a:cs typeface="BIZ UDGothic" pitchFamily="34" charset="-120"/>
              </a:rPr>
              <a:t>全体の分散に対する割合にする。値は 0 ≤ </a:t>
            </a:r>
            <a:r>
              <a:rPr lang="en-US" sz="1600" i="1" dirty="0">
                <a:solidFill>
                  <a:srgbClr val="4A4E69"/>
                </a:solidFill>
                <a:latin typeface="Times New Roman" pitchFamily="34" charset="0"/>
                <a:ea typeface="Times New Roman" pitchFamily="34" charset="-122"/>
                <a:cs typeface="Times New Roman" pitchFamily="34" charset="-120"/>
              </a:rPr>
              <a:t>S</a:t>
            </a:r>
            <a:r>
              <a:rPr lang="en-US" sz="1600" i="1" baseline="-40000" dirty="0">
                <a:solidFill>
                  <a:srgbClr val="4A4E69"/>
                </a:solidFill>
                <a:latin typeface="Times New Roman" pitchFamily="34" charset="0"/>
                <a:ea typeface="Times New Roman" pitchFamily="34" charset="-122"/>
                <a:cs typeface="Times New Roman" pitchFamily="34" charset="-120"/>
              </a:rPr>
              <a:t>i</a:t>
            </a:r>
            <a:r>
              <a:rPr lang="en-US" sz="1400" dirty="0">
                <a:solidFill>
                  <a:srgbClr val="4A4E69"/>
                </a:solidFill>
                <a:latin typeface="BIZ UDGothic" pitchFamily="34" charset="0"/>
                <a:ea typeface="BIZ UDGothic" pitchFamily="34" charset="-122"/>
                <a:cs typeface="BIZ UDGothic" pitchFamily="34" charset="-120"/>
              </a:rPr>
              <a:t> ≤ 1</a:t>
            </a:r>
            <a:endParaRPr lang="en-US" sz="1400" dirty="0"/>
          </a:p>
        </p:txBody>
      </p:sp>
      <p:sp>
        <p:nvSpPr>
          <p:cNvPr id="26" name="Shape 23"/>
          <p:cNvSpPr/>
          <p:nvPr/>
        </p:nvSpPr>
        <p:spPr>
          <a:xfrm>
            <a:off x="548640" y="4983480"/>
            <a:ext cx="11094415" cy="1143000"/>
          </a:xfrm>
          <a:prstGeom prst="roundRect">
            <a:avLst>
              <a:gd name="adj" fmla="val 6400"/>
            </a:avLst>
          </a:prstGeom>
          <a:solidFill>
            <a:srgbClr val="F3F4F8"/>
          </a:solidFill>
          <a:ln/>
        </p:spPr>
      </p:sp>
      <p:sp>
        <p:nvSpPr>
          <p:cNvPr id="27" name="Text 24"/>
          <p:cNvSpPr/>
          <p:nvPr/>
        </p:nvSpPr>
        <p:spPr>
          <a:xfrm>
            <a:off x="548640" y="4983480"/>
            <a:ext cx="11094415" cy="1143000"/>
          </a:xfrm>
          <a:prstGeom prst="rect">
            <a:avLst/>
          </a:prstGeom>
          <a:noFill/>
          <a:ln/>
        </p:spPr>
        <p:txBody>
          <a:bodyPr wrap="square" lIns="0" tIns="0" rIns="0" bIns="0" rtlCol="0" anchor="ctr"/>
          <a:lstStyle/>
          <a:p>
            <a:pPr algn="ctr" indent="0" marL="0">
              <a:spcAft>
                <a:spcPts val="600"/>
              </a:spcAft>
              <a:buNone/>
            </a:pPr>
            <a:r>
              <a:rPr lang="en-US" sz="1800" b="1" dirty="0">
                <a:solidFill>
                  <a:srgbClr val="22223B"/>
                </a:solidFill>
                <a:latin typeface="BIZ UDGothic" pitchFamily="34" charset="0"/>
                <a:ea typeface="BIZ UDGothic" pitchFamily="34" charset="-122"/>
                <a:cs typeface="BIZ UDGothic" pitchFamily="34" charset="-120"/>
              </a:rPr>
              <a:t>全分散の公式：</a:t>
            </a:r>
            <a:r>
              <a:rPr lang="en-US" sz="2000" b="1" i="1" dirty="0">
                <a:solidFill>
                  <a:srgbClr val="22223B"/>
                </a:solidFill>
                <a:latin typeface="Times New Roman" pitchFamily="34" charset="0"/>
                <a:ea typeface="Times New Roman" pitchFamily="34" charset="-122"/>
                <a:cs typeface="Times New Roman" pitchFamily="34" charset="-120"/>
              </a:rPr>
              <a:t>V(Y) = V[E(Y|X</a:t>
            </a:r>
            <a:r>
              <a:rPr lang="en-US" sz="2000" b="1" i="1" baseline="-40000" dirty="0">
                <a:solidFill>
                  <a:srgbClr val="22223B"/>
                </a:solidFill>
                <a:latin typeface="Times New Roman" pitchFamily="34" charset="0"/>
                <a:ea typeface="Times New Roman" pitchFamily="34" charset="-122"/>
                <a:cs typeface="Times New Roman" pitchFamily="34" charset="-120"/>
              </a:rPr>
              <a:t>i</a:t>
            </a:r>
            <a:r>
              <a:rPr lang="en-US" sz="2000" b="1" i="1" dirty="0">
                <a:solidFill>
                  <a:srgbClr val="22223B"/>
                </a:solidFill>
                <a:latin typeface="Times New Roman" pitchFamily="34" charset="0"/>
                <a:ea typeface="Times New Roman" pitchFamily="34" charset="-122"/>
                <a:cs typeface="Times New Roman" pitchFamily="34" charset="-120"/>
              </a:rPr>
              <a:t>)] + E[V(Y|X</a:t>
            </a:r>
            <a:r>
              <a:rPr lang="en-US" sz="2000" b="1" i="1" baseline="-40000" dirty="0">
                <a:solidFill>
                  <a:srgbClr val="22223B"/>
                </a:solidFill>
                <a:latin typeface="Times New Roman" pitchFamily="34" charset="0"/>
                <a:ea typeface="Times New Roman" pitchFamily="34" charset="-122"/>
                <a:cs typeface="Times New Roman" pitchFamily="34" charset="-120"/>
              </a:rPr>
              <a:t>i</a:t>
            </a:r>
            <a:r>
              <a:rPr lang="en-US" sz="2000" b="1" i="1" dirty="0">
                <a:solidFill>
                  <a:srgbClr val="22223B"/>
                </a:solidFill>
                <a:latin typeface="Times New Roman" pitchFamily="34" charset="0"/>
                <a:ea typeface="Times New Roman" pitchFamily="34" charset="-122"/>
                <a:cs typeface="Times New Roman" pitchFamily="34" charset="-120"/>
              </a:rPr>
              <a:t>)]</a:t>
            </a:r>
            <a:endParaRPr lang="en-US" sz="1800" dirty="0"/>
          </a:p>
          <a:p>
            <a:pPr algn="ctr" indent="0" marL="0">
              <a:spcAft>
                <a:spcPts val="600"/>
              </a:spcAft>
              <a:buNone/>
            </a:pPr>
            <a:r>
              <a:rPr lang="en-US" sz="1400" dirty="0">
                <a:solidFill>
                  <a:srgbClr val="4A4E69"/>
                </a:solidFill>
                <a:latin typeface="BIZ UDGothic" pitchFamily="34" charset="0"/>
                <a:ea typeface="BIZ UDGothic" pitchFamily="34" charset="-122"/>
                <a:cs typeface="BIZ UDGothic" pitchFamily="34" charset="-120"/>
              </a:rPr>
              <a:t>（</a:t>
            </a:r>
            <a:r>
              <a:rPr lang="en-US" sz="1600" i="1" dirty="0">
                <a:solidFill>
                  <a:srgbClr val="4A4E69"/>
                </a:solidFill>
                <a:latin typeface="Times New Roman" pitchFamily="34" charset="0"/>
                <a:ea typeface="Times New Roman" pitchFamily="34" charset="-122"/>
                <a:cs typeface="Times New Roman" pitchFamily="34" charset="-120"/>
              </a:rPr>
              <a:t>X</a:t>
            </a:r>
            <a:r>
              <a:rPr lang="en-US" sz="1600" i="1" baseline="-40000" dirty="0">
                <a:solidFill>
                  <a:srgbClr val="4A4E69"/>
                </a:solidFill>
                <a:latin typeface="Times New Roman" pitchFamily="34" charset="0"/>
                <a:ea typeface="Times New Roman" pitchFamily="34" charset="-122"/>
                <a:cs typeface="Times New Roman" pitchFamily="34" charset="-120"/>
              </a:rPr>
              <a:t>i</a:t>
            </a:r>
            <a:r>
              <a:rPr lang="en-US" sz="1400" dirty="0">
                <a:solidFill>
                  <a:srgbClr val="4A4E69"/>
                </a:solidFill>
                <a:latin typeface="BIZ UDGothic" pitchFamily="34" charset="0"/>
                <a:ea typeface="BIZ UDGothic" pitchFamily="34" charset="-122"/>
                <a:cs typeface="BIZ UDGothic" pitchFamily="34" charset="-120"/>
              </a:rPr>
              <a:t> で説明できる分）＋（</a:t>
            </a:r>
            <a:r>
              <a:rPr lang="en-US" sz="1600" i="1" dirty="0">
                <a:solidFill>
                  <a:srgbClr val="4A4E69"/>
                </a:solidFill>
                <a:latin typeface="Times New Roman" pitchFamily="34" charset="0"/>
                <a:ea typeface="Times New Roman" pitchFamily="34" charset="-122"/>
                <a:cs typeface="Times New Roman" pitchFamily="34" charset="-120"/>
              </a:rPr>
              <a:t>X</a:t>
            </a:r>
            <a:r>
              <a:rPr lang="en-US" sz="1600" i="1" baseline="-40000" dirty="0">
                <a:solidFill>
                  <a:srgbClr val="4A4E69"/>
                </a:solidFill>
                <a:latin typeface="Times New Roman" pitchFamily="34" charset="0"/>
                <a:ea typeface="Times New Roman" pitchFamily="34" charset="-122"/>
                <a:cs typeface="Times New Roman" pitchFamily="34" charset="-120"/>
              </a:rPr>
              <a:t>i</a:t>
            </a:r>
            <a:r>
              <a:rPr lang="en-US" sz="1400" dirty="0">
                <a:solidFill>
                  <a:srgbClr val="4A4E69"/>
                </a:solidFill>
                <a:latin typeface="BIZ UDGothic" pitchFamily="34" charset="0"/>
                <a:ea typeface="BIZ UDGothic" pitchFamily="34" charset="-122"/>
                <a:cs typeface="BIZ UDGothic" pitchFamily="34" charset="-120"/>
              </a:rPr>
              <a:t> を固定しても残る分）→ 左側の割合が </a:t>
            </a:r>
            <a:r>
              <a:rPr lang="en-US" sz="1600" i="1" dirty="0">
                <a:solidFill>
                  <a:srgbClr val="4A4E69"/>
                </a:solidFill>
                <a:latin typeface="Times New Roman" pitchFamily="34" charset="0"/>
                <a:ea typeface="Times New Roman" pitchFamily="34" charset="-122"/>
                <a:cs typeface="Times New Roman" pitchFamily="34" charset="-120"/>
              </a:rPr>
              <a:t>S</a:t>
            </a:r>
            <a:r>
              <a:rPr lang="en-US" sz="1600" i="1" baseline="-40000" dirty="0">
                <a:solidFill>
                  <a:srgbClr val="4A4E69"/>
                </a:solidFill>
                <a:latin typeface="Times New Roman" pitchFamily="34" charset="0"/>
                <a:ea typeface="Times New Roman" pitchFamily="34" charset="-122"/>
                <a:cs typeface="Times New Roman" pitchFamily="34" charset="-120"/>
              </a:rPr>
              <a:t>i</a:t>
            </a:r>
            <a:endParaRPr lang="en-US" sz="1800" dirty="0"/>
          </a:p>
        </p:txBody>
      </p:sp>
      <p:sp>
        <p:nvSpPr>
          <p:cNvPr id="28" name="Text 25"/>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29" name="Text 26"/>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02　Sobol指数の定義</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図で見る </a:t>
            </a:r>
            <a:r>
              <a:rPr lang="en-US" sz="3100" b="1" i="1" dirty="0">
                <a:solidFill>
                  <a:srgbClr val="22223B"/>
                </a:solidFill>
                <a:latin typeface="Times New Roman" pitchFamily="34" charset="0"/>
                <a:ea typeface="Times New Roman" pitchFamily="34" charset="-122"/>
                <a:cs typeface="Times New Roman" pitchFamily="34" charset="-120"/>
              </a:rPr>
              <a:t>S</a:t>
            </a:r>
            <a:r>
              <a:rPr lang="en-US" sz="3100" b="1" i="1" baseline="-40000" dirty="0">
                <a:solidFill>
                  <a:srgbClr val="22223B"/>
                </a:solidFill>
                <a:latin typeface="Times New Roman" pitchFamily="34" charset="0"/>
                <a:ea typeface="Times New Roman" pitchFamily="34" charset="-122"/>
                <a:cs typeface="Times New Roman" pitchFamily="34" charset="-120"/>
              </a:rPr>
              <a:t>i</a:t>
            </a:r>
            <a:r>
              <a:rPr lang="en-US" sz="2800" b="1" dirty="0">
                <a:solidFill>
                  <a:srgbClr val="22223B"/>
                </a:solidFill>
                <a:latin typeface="BIZ UDGothic" pitchFamily="34" charset="0"/>
                <a:ea typeface="BIZ UDGothic" pitchFamily="34" charset="-122"/>
                <a:cs typeface="BIZ UDGothic" pitchFamily="34" charset="-120"/>
              </a:rPr>
              <a:t> ― 条件付き平均の「揺れ幅」が大きいほど効く</a:t>
            </a:r>
            <a:endParaRPr lang="en-US" sz="2800" dirty="0"/>
          </a:p>
        </p:txBody>
      </p:sp>
      <p:sp>
        <p:nvSpPr>
          <p:cNvPr id="5" name="Text 2"/>
          <p:cNvSpPr/>
          <p:nvPr/>
        </p:nvSpPr>
        <p:spPr>
          <a:xfrm>
            <a:off x="548640" y="1371600"/>
            <a:ext cx="3515258" cy="365760"/>
          </a:xfrm>
          <a:prstGeom prst="rect">
            <a:avLst/>
          </a:prstGeom>
          <a:noFill/>
          <a:ln/>
        </p:spPr>
        <p:txBody>
          <a:bodyPr wrap="square" lIns="0" tIns="0" rIns="0" bIns="0" rtlCol="0" anchor="ctr"/>
          <a:lstStyle/>
          <a:p>
            <a:pPr algn="ctr" indent="0" marL="0">
              <a:buNone/>
            </a:pPr>
            <a:r>
              <a:rPr lang="en-US" sz="1500" b="1" dirty="0">
                <a:solidFill>
                  <a:srgbClr val="22223B"/>
                </a:solidFill>
                <a:latin typeface="BIZ UDGothic" pitchFamily="34" charset="0"/>
                <a:ea typeface="BIZ UDGothic" pitchFamily="34" charset="-122"/>
                <a:cs typeface="BIZ UDGothic" pitchFamily="34" charset="-120"/>
              </a:rPr>
              <a:t>横軸 </a:t>
            </a:r>
            <a:r>
              <a:rPr lang="en-US" sz="1700" b="1" i="1" dirty="0">
                <a:solidFill>
                  <a:srgbClr val="22223B"/>
                </a:solidFill>
                <a:latin typeface="Times New Roman" pitchFamily="34" charset="0"/>
                <a:ea typeface="Times New Roman" pitchFamily="34" charset="-122"/>
                <a:cs typeface="Times New Roman" pitchFamily="34" charset="-120"/>
              </a:rPr>
              <a:t>X</a:t>
            </a:r>
            <a:r>
              <a:rPr lang="en-US" sz="1700" b="1" i="1" baseline="-40000" dirty="0">
                <a:solidFill>
                  <a:srgbClr val="22223B"/>
                </a:solidFill>
                <a:latin typeface="Times New Roman" pitchFamily="34" charset="0"/>
                <a:ea typeface="Times New Roman" pitchFamily="34" charset="-122"/>
                <a:cs typeface="Times New Roman" pitchFamily="34" charset="-120"/>
              </a:rPr>
              <a:t>1</a:t>
            </a:r>
            <a:r>
              <a:rPr lang="en-US" sz="1500" b="1" dirty="0">
                <a:solidFill>
                  <a:srgbClr val="22223B"/>
                </a:solidFill>
                <a:latin typeface="BIZ UDGothic" pitchFamily="34" charset="0"/>
                <a:ea typeface="BIZ UDGothic" pitchFamily="34" charset="-122"/>
                <a:cs typeface="BIZ UDGothic" pitchFamily="34" charset="-120"/>
              </a:rPr>
              <a:t>　縦軸 </a:t>
            </a:r>
            <a:r>
              <a:rPr lang="en-US" sz="1700" b="1" i="1" dirty="0">
                <a:solidFill>
                  <a:srgbClr val="22223B"/>
                </a:solidFill>
                <a:latin typeface="Times New Roman" pitchFamily="34" charset="0"/>
                <a:ea typeface="Times New Roman" pitchFamily="34" charset="-122"/>
                <a:cs typeface="Times New Roman" pitchFamily="34" charset="-120"/>
              </a:rPr>
              <a:t>Y</a:t>
            </a:r>
            <a:endParaRPr lang="en-US" sz="1500" dirty="0"/>
          </a:p>
        </p:txBody>
      </p:sp>
      <p:graphicFrame>
        <p:nvGraphicFramePr>
          <p:cNvPr id="6" name="Chart 0" descr=""/>
          <p:cNvGraphicFramePr/>
          <p:nvPr/>
        </p:nvGraphicFramePr>
        <p:xfrm>
          <a:off x="548640" y="1737360"/>
          <a:ext cx="3515258" cy="31546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548640" y="4983480"/>
            <a:ext cx="3515258" cy="1188720"/>
          </a:xfrm>
          <a:prstGeom prst="roundRect">
            <a:avLst>
              <a:gd name="adj" fmla="val 6154"/>
            </a:avLst>
          </a:prstGeom>
          <a:solidFill>
            <a:srgbClr val="F3F4F8"/>
          </a:solidFill>
          <a:ln/>
        </p:spPr>
      </p:sp>
      <p:sp>
        <p:nvSpPr>
          <p:cNvPr id="8" name="Text 4"/>
          <p:cNvSpPr/>
          <p:nvPr/>
        </p:nvSpPr>
        <p:spPr>
          <a:xfrm>
            <a:off x="777240" y="5029200"/>
            <a:ext cx="3058058" cy="457200"/>
          </a:xfrm>
          <a:prstGeom prst="rect">
            <a:avLst/>
          </a:prstGeom>
          <a:noFill/>
          <a:ln/>
        </p:spPr>
        <p:txBody>
          <a:bodyPr wrap="square" lIns="0" tIns="0" rIns="0" bIns="0" rtlCol="0" anchor="ctr"/>
          <a:lstStyle/>
          <a:p>
            <a:pPr indent="0" marL="0">
              <a:buNone/>
            </a:pPr>
            <a:r>
              <a:rPr lang="en-US" sz="2200" b="1" i="1" dirty="0">
                <a:solidFill>
                  <a:srgbClr val="E76F51"/>
                </a:solidFill>
                <a:latin typeface="Times New Roman" pitchFamily="34" charset="0"/>
                <a:ea typeface="Times New Roman" pitchFamily="34" charset="-122"/>
                <a:cs typeface="Times New Roman" pitchFamily="34" charset="-120"/>
              </a:rPr>
              <a:t>S</a:t>
            </a:r>
            <a:r>
              <a:rPr lang="en-US" sz="2200" b="1" i="1" baseline="-40000" dirty="0">
                <a:solidFill>
                  <a:srgbClr val="E76F51"/>
                </a:solidFill>
                <a:latin typeface="Times New Roman" pitchFamily="34" charset="0"/>
                <a:ea typeface="Times New Roman" pitchFamily="34" charset="-122"/>
                <a:cs typeface="Times New Roman" pitchFamily="34" charset="-120"/>
              </a:rPr>
              <a:t>1</a:t>
            </a:r>
            <a:r>
              <a:rPr lang="en-US" sz="2000" b="1" dirty="0">
                <a:solidFill>
                  <a:srgbClr val="E76F51"/>
                </a:solidFill>
                <a:latin typeface="BIZ UDGothic" pitchFamily="34" charset="0"/>
                <a:ea typeface="BIZ UDGothic" pitchFamily="34" charset="-122"/>
                <a:cs typeface="BIZ UDGothic" pitchFamily="34" charset="-120"/>
              </a:rPr>
              <a:t> = 0.314</a:t>
            </a:r>
            <a:endParaRPr lang="en-US" sz="2200" dirty="0"/>
          </a:p>
        </p:txBody>
      </p:sp>
      <p:sp>
        <p:nvSpPr>
          <p:cNvPr id="9" name="Text 5"/>
          <p:cNvSpPr/>
          <p:nvPr/>
        </p:nvSpPr>
        <p:spPr>
          <a:xfrm>
            <a:off x="777240" y="5486400"/>
            <a:ext cx="3058058" cy="640080"/>
          </a:xfrm>
          <a:prstGeom prst="rect">
            <a:avLst/>
          </a:prstGeom>
          <a:noFill/>
          <a:ln/>
        </p:spPr>
        <p:txBody>
          <a:bodyPr wrap="square" lIns="0" tIns="0" rIns="0" bIns="0" rtlCol="0" anchor="t"/>
          <a:lstStyle/>
          <a:p>
            <a:pPr indent="0" marL="0">
              <a:buNone/>
            </a:pPr>
            <a:r>
              <a:rPr lang="en-US" sz="1200" dirty="0">
                <a:solidFill>
                  <a:srgbClr val="4A4E69"/>
                </a:solidFill>
                <a:latin typeface="BIZ UDGothic" pitchFamily="34" charset="0"/>
                <a:ea typeface="BIZ UDGothic" pitchFamily="34" charset="-122"/>
                <a:cs typeface="BIZ UDGothic" pitchFamily="34" charset="-120"/>
              </a:rPr>
              <a:t>平均が sin 型に大きく揺れる → 寄与が大きい</a:t>
            </a:r>
            <a:endParaRPr lang="en-US" sz="1200" dirty="0"/>
          </a:p>
        </p:txBody>
      </p:sp>
      <p:sp>
        <p:nvSpPr>
          <p:cNvPr id="10" name="Text 6"/>
          <p:cNvSpPr/>
          <p:nvPr/>
        </p:nvSpPr>
        <p:spPr>
          <a:xfrm>
            <a:off x="4338218" y="1371600"/>
            <a:ext cx="3515258" cy="365760"/>
          </a:xfrm>
          <a:prstGeom prst="rect">
            <a:avLst/>
          </a:prstGeom>
          <a:noFill/>
          <a:ln/>
        </p:spPr>
        <p:txBody>
          <a:bodyPr wrap="square" lIns="0" tIns="0" rIns="0" bIns="0" rtlCol="0" anchor="ctr"/>
          <a:lstStyle/>
          <a:p>
            <a:pPr algn="ctr" indent="0" marL="0">
              <a:buNone/>
            </a:pPr>
            <a:r>
              <a:rPr lang="en-US" sz="1500" b="1" dirty="0">
                <a:solidFill>
                  <a:srgbClr val="22223B"/>
                </a:solidFill>
                <a:latin typeface="BIZ UDGothic" pitchFamily="34" charset="0"/>
                <a:ea typeface="BIZ UDGothic" pitchFamily="34" charset="-122"/>
                <a:cs typeface="BIZ UDGothic" pitchFamily="34" charset="-120"/>
              </a:rPr>
              <a:t>横軸 </a:t>
            </a:r>
            <a:r>
              <a:rPr lang="en-US" sz="1700" b="1" i="1" dirty="0">
                <a:solidFill>
                  <a:srgbClr val="22223B"/>
                </a:solidFill>
                <a:latin typeface="Times New Roman" pitchFamily="34" charset="0"/>
                <a:ea typeface="Times New Roman" pitchFamily="34" charset="-122"/>
                <a:cs typeface="Times New Roman" pitchFamily="34" charset="-120"/>
              </a:rPr>
              <a:t>X</a:t>
            </a:r>
            <a:r>
              <a:rPr lang="en-US" sz="1700" b="1" i="1" baseline="-40000" dirty="0">
                <a:solidFill>
                  <a:srgbClr val="22223B"/>
                </a:solidFill>
                <a:latin typeface="Times New Roman" pitchFamily="34" charset="0"/>
                <a:ea typeface="Times New Roman" pitchFamily="34" charset="-122"/>
                <a:cs typeface="Times New Roman" pitchFamily="34" charset="-120"/>
              </a:rPr>
              <a:t>2</a:t>
            </a:r>
            <a:r>
              <a:rPr lang="en-US" sz="1500" b="1" dirty="0">
                <a:solidFill>
                  <a:srgbClr val="22223B"/>
                </a:solidFill>
                <a:latin typeface="BIZ UDGothic" pitchFamily="34" charset="0"/>
                <a:ea typeface="BIZ UDGothic" pitchFamily="34" charset="-122"/>
                <a:cs typeface="BIZ UDGothic" pitchFamily="34" charset="-120"/>
              </a:rPr>
              <a:t>　縦軸 </a:t>
            </a:r>
            <a:r>
              <a:rPr lang="en-US" sz="1700" b="1" i="1" dirty="0">
                <a:solidFill>
                  <a:srgbClr val="22223B"/>
                </a:solidFill>
                <a:latin typeface="Times New Roman" pitchFamily="34" charset="0"/>
                <a:ea typeface="Times New Roman" pitchFamily="34" charset="-122"/>
                <a:cs typeface="Times New Roman" pitchFamily="34" charset="-120"/>
              </a:rPr>
              <a:t>Y</a:t>
            </a:r>
            <a:endParaRPr lang="en-US" sz="1500" dirty="0"/>
          </a:p>
        </p:txBody>
      </p:sp>
      <p:graphicFrame>
        <p:nvGraphicFramePr>
          <p:cNvPr id="11" name="Chart 1" descr=""/>
          <p:cNvGraphicFramePr/>
          <p:nvPr/>
        </p:nvGraphicFramePr>
        <p:xfrm>
          <a:off x="4338218" y="1737360"/>
          <a:ext cx="3515258" cy="3154680"/>
        </p:xfrm>
        <a:graphic xmlns:a="http://schemas.openxmlformats.org/drawingml/2006/main">
          <a:graphicData uri="http://schemas.openxmlformats.org/drawingml/2006/chart">
            <c:chart xmlns:c="http://schemas.openxmlformats.org/drawingml/2006/chart" r:id="rId2"/>
          </a:graphicData>
        </a:graphic>
      </p:graphicFrame>
      <p:sp>
        <p:nvSpPr>
          <p:cNvPr id="12" name="Shape 7"/>
          <p:cNvSpPr/>
          <p:nvPr/>
        </p:nvSpPr>
        <p:spPr>
          <a:xfrm>
            <a:off x="4338218" y="4983480"/>
            <a:ext cx="3515258" cy="1188720"/>
          </a:xfrm>
          <a:prstGeom prst="roundRect">
            <a:avLst>
              <a:gd name="adj" fmla="val 6154"/>
            </a:avLst>
          </a:prstGeom>
          <a:solidFill>
            <a:srgbClr val="F3F4F8"/>
          </a:solidFill>
          <a:ln/>
        </p:spPr>
      </p:sp>
      <p:sp>
        <p:nvSpPr>
          <p:cNvPr id="13" name="Text 8"/>
          <p:cNvSpPr/>
          <p:nvPr/>
        </p:nvSpPr>
        <p:spPr>
          <a:xfrm>
            <a:off x="4566818" y="5029200"/>
            <a:ext cx="3058058" cy="457200"/>
          </a:xfrm>
          <a:prstGeom prst="rect">
            <a:avLst/>
          </a:prstGeom>
          <a:noFill/>
          <a:ln/>
        </p:spPr>
        <p:txBody>
          <a:bodyPr wrap="square" lIns="0" tIns="0" rIns="0" bIns="0" rtlCol="0" anchor="ctr"/>
          <a:lstStyle/>
          <a:p>
            <a:pPr indent="0" marL="0">
              <a:buNone/>
            </a:pPr>
            <a:r>
              <a:rPr lang="en-US" sz="2200" b="1" i="1" dirty="0">
                <a:solidFill>
                  <a:srgbClr val="2A9D8F"/>
                </a:solidFill>
                <a:latin typeface="Times New Roman" pitchFamily="34" charset="0"/>
                <a:ea typeface="Times New Roman" pitchFamily="34" charset="-122"/>
                <a:cs typeface="Times New Roman" pitchFamily="34" charset="-120"/>
              </a:rPr>
              <a:t>S</a:t>
            </a:r>
            <a:r>
              <a:rPr lang="en-US" sz="2200" b="1" i="1" baseline="-40000" dirty="0">
                <a:solidFill>
                  <a:srgbClr val="2A9D8F"/>
                </a:solidFill>
                <a:latin typeface="Times New Roman" pitchFamily="34" charset="0"/>
                <a:ea typeface="Times New Roman" pitchFamily="34" charset="-122"/>
                <a:cs typeface="Times New Roman" pitchFamily="34" charset="-120"/>
              </a:rPr>
              <a:t>2</a:t>
            </a:r>
            <a:r>
              <a:rPr lang="en-US" sz="2000" b="1" dirty="0">
                <a:solidFill>
                  <a:srgbClr val="2A9D8F"/>
                </a:solidFill>
                <a:latin typeface="BIZ UDGothic" pitchFamily="34" charset="0"/>
                <a:ea typeface="BIZ UDGothic" pitchFamily="34" charset="-122"/>
                <a:cs typeface="BIZ UDGothic" pitchFamily="34" charset="-120"/>
              </a:rPr>
              <a:t> = 0.442</a:t>
            </a:r>
            <a:endParaRPr lang="en-US" sz="2200" dirty="0"/>
          </a:p>
        </p:txBody>
      </p:sp>
      <p:sp>
        <p:nvSpPr>
          <p:cNvPr id="14" name="Text 9"/>
          <p:cNvSpPr/>
          <p:nvPr/>
        </p:nvSpPr>
        <p:spPr>
          <a:xfrm>
            <a:off x="4566818" y="5486400"/>
            <a:ext cx="3058058" cy="640080"/>
          </a:xfrm>
          <a:prstGeom prst="rect">
            <a:avLst/>
          </a:prstGeom>
          <a:noFill/>
          <a:ln/>
        </p:spPr>
        <p:txBody>
          <a:bodyPr wrap="square" lIns="0" tIns="0" rIns="0" bIns="0" rtlCol="0" anchor="t"/>
          <a:lstStyle/>
          <a:p>
            <a:pPr indent="0" marL="0">
              <a:buNone/>
            </a:pPr>
            <a:r>
              <a:rPr lang="en-US" sz="1200" dirty="0">
                <a:solidFill>
                  <a:srgbClr val="4A4E69"/>
                </a:solidFill>
                <a:latin typeface="BIZ UDGothic" pitchFamily="34" charset="0"/>
                <a:ea typeface="BIZ UDGothic" pitchFamily="34" charset="-122"/>
                <a:cs typeface="BIZ UDGothic" pitchFamily="34" charset="-120"/>
              </a:rPr>
              <a:t>平均の揺れがもっとも大きい → 寄与が最大</a:t>
            </a:r>
            <a:endParaRPr lang="en-US" sz="1200" dirty="0"/>
          </a:p>
        </p:txBody>
      </p:sp>
      <p:sp>
        <p:nvSpPr>
          <p:cNvPr id="15" name="Text 10"/>
          <p:cNvSpPr/>
          <p:nvPr/>
        </p:nvSpPr>
        <p:spPr>
          <a:xfrm>
            <a:off x="8127797" y="1371600"/>
            <a:ext cx="3515258" cy="365760"/>
          </a:xfrm>
          <a:prstGeom prst="rect">
            <a:avLst/>
          </a:prstGeom>
          <a:noFill/>
          <a:ln/>
        </p:spPr>
        <p:txBody>
          <a:bodyPr wrap="square" lIns="0" tIns="0" rIns="0" bIns="0" rtlCol="0" anchor="ctr"/>
          <a:lstStyle/>
          <a:p>
            <a:pPr algn="ctr" indent="0" marL="0">
              <a:buNone/>
            </a:pPr>
            <a:r>
              <a:rPr lang="en-US" sz="1500" b="1" dirty="0">
                <a:solidFill>
                  <a:srgbClr val="22223B"/>
                </a:solidFill>
                <a:latin typeface="BIZ UDGothic" pitchFamily="34" charset="0"/>
                <a:ea typeface="BIZ UDGothic" pitchFamily="34" charset="-122"/>
                <a:cs typeface="BIZ UDGothic" pitchFamily="34" charset="-120"/>
              </a:rPr>
              <a:t>横軸 </a:t>
            </a:r>
            <a:r>
              <a:rPr lang="en-US" sz="1700" b="1" i="1" dirty="0">
                <a:solidFill>
                  <a:srgbClr val="22223B"/>
                </a:solidFill>
                <a:latin typeface="Times New Roman" pitchFamily="34" charset="0"/>
                <a:ea typeface="Times New Roman" pitchFamily="34" charset="-122"/>
                <a:cs typeface="Times New Roman" pitchFamily="34" charset="-120"/>
              </a:rPr>
              <a:t>X</a:t>
            </a:r>
            <a:r>
              <a:rPr lang="en-US" sz="1700" b="1" i="1" baseline="-40000" dirty="0">
                <a:solidFill>
                  <a:srgbClr val="22223B"/>
                </a:solidFill>
                <a:latin typeface="Times New Roman" pitchFamily="34" charset="0"/>
                <a:ea typeface="Times New Roman" pitchFamily="34" charset="-122"/>
                <a:cs typeface="Times New Roman" pitchFamily="34" charset="-120"/>
              </a:rPr>
              <a:t>3</a:t>
            </a:r>
            <a:r>
              <a:rPr lang="en-US" sz="1500" b="1" dirty="0">
                <a:solidFill>
                  <a:srgbClr val="22223B"/>
                </a:solidFill>
                <a:latin typeface="BIZ UDGothic" pitchFamily="34" charset="0"/>
                <a:ea typeface="BIZ UDGothic" pitchFamily="34" charset="-122"/>
                <a:cs typeface="BIZ UDGothic" pitchFamily="34" charset="-120"/>
              </a:rPr>
              <a:t>　縦軸 </a:t>
            </a:r>
            <a:r>
              <a:rPr lang="en-US" sz="1700" b="1" i="1" dirty="0">
                <a:solidFill>
                  <a:srgbClr val="22223B"/>
                </a:solidFill>
                <a:latin typeface="Times New Roman" pitchFamily="34" charset="0"/>
                <a:ea typeface="Times New Roman" pitchFamily="34" charset="-122"/>
                <a:cs typeface="Times New Roman" pitchFamily="34" charset="-120"/>
              </a:rPr>
              <a:t>Y</a:t>
            </a:r>
            <a:endParaRPr lang="en-US" sz="1500" dirty="0"/>
          </a:p>
        </p:txBody>
      </p:sp>
      <p:graphicFrame>
        <p:nvGraphicFramePr>
          <p:cNvPr id="16" name="Chart 2" descr=""/>
          <p:cNvGraphicFramePr/>
          <p:nvPr/>
        </p:nvGraphicFramePr>
        <p:xfrm>
          <a:off x="8127797" y="1737360"/>
          <a:ext cx="3515258" cy="3154680"/>
        </p:xfrm>
        <a:graphic xmlns:a="http://schemas.openxmlformats.org/drawingml/2006/main">
          <a:graphicData uri="http://schemas.openxmlformats.org/drawingml/2006/chart">
            <c:chart xmlns:c="http://schemas.openxmlformats.org/drawingml/2006/chart" r:id="rId3"/>
          </a:graphicData>
        </a:graphic>
      </p:graphicFrame>
      <p:sp>
        <p:nvSpPr>
          <p:cNvPr id="17" name="Shape 11"/>
          <p:cNvSpPr/>
          <p:nvPr/>
        </p:nvSpPr>
        <p:spPr>
          <a:xfrm>
            <a:off x="8127797" y="4983480"/>
            <a:ext cx="3515258" cy="1188720"/>
          </a:xfrm>
          <a:prstGeom prst="roundRect">
            <a:avLst>
              <a:gd name="adj" fmla="val 6154"/>
            </a:avLst>
          </a:prstGeom>
          <a:solidFill>
            <a:srgbClr val="F3F4F8"/>
          </a:solidFill>
          <a:ln/>
        </p:spPr>
      </p:sp>
      <p:sp>
        <p:nvSpPr>
          <p:cNvPr id="18" name="Text 12"/>
          <p:cNvSpPr/>
          <p:nvPr/>
        </p:nvSpPr>
        <p:spPr>
          <a:xfrm>
            <a:off x="8356397" y="5029200"/>
            <a:ext cx="3058058" cy="457200"/>
          </a:xfrm>
          <a:prstGeom prst="rect">
            <a:avLst/>
          </a:prstGeom>
          <a:noFill/>
          <a:ln/>
        </p:spPr>
        <p:txBody>
          <a:bodyPr wrap="square" lIns="0" tIns="0" rIns="0" bIns="0" rtlCol="0" anchor="ctr"/>
          <a:lstStyle/>
          <a:p>
            <a:pPr indent="0" marL="0">
              <a:buNone/>
            </a:pPr>
            <a:r>
              <a:rPr lang="en-US" sz="2200" b="1" i="1" dirty="0">
                <a:solidFill>
                  <a:srgbClr val="9C7412"/>
                </a:solidFill>
                <a:latin typeface="Times New Roman" pitchFamily="34" charset="0"/>
                <a:ea typeface="Times New Roman" pitchFamily="34" charset="-122"/>
                <a:cs typeface="Times New Roman" pitchFamily="34" charset="-120"/>
              </a:rPr>
              <a:t>S</a:t>
            </a:r>
            <a:r>
              <a:rPr lang="en-US" sz="2200" b="1" i="1" baseline="-40000" dirty="0">
                <a:solidFill>
                  <a:srgbClr val="9C7412"/>
                </a:solidFill>
                <a:latin typeface="Times New Roman" pitchFamily="34" charset="0"/>
                <a:ea typeface="Times New Roman" pitchFamily="34" charset="-122"/>
                <a:cs typeface="Times New Roman" pitchFamily="34" charset="-120"/>
              </a:rPr>
              <a:t>3</a:t>
            </a:r>
            <a:r>
              <a:rPr lang="en-US" sz="2000" b="1" dirty="0">
                <a:solidFill>
                  <a:srgbClr val="9C7412"/>
                </a:solidFill>
                <a:latin typeface="BIZ UDGothic" pitchFamily="34" charset="0"/>
                <a:ea typeface="BIZ UDGothic" pitchFamily="34" charset="-122"/>
                <a:cs typeface="BIZ UDGothic" pitchFamily="34" charset="-120"/>
              </a:rPr>
              <a:t> = 0.000</a:t>
            </a:r>
            <a:endParaRPr lang="en-US" sz="2200" dirty="0"/>
          </a:p>
        </p:txBody>
      </p:sp>
      <p:sp>
        <p:nvSpPr>
          <p:cNvPr id="19" name="Text 13"/>
          <p:cNvSpPr/>
          <p:nvPr/>
        </p:nvSpPr>
        <p:spPr>
          <a:xfrm>
            <a:off x="8356397" y="5486400"/>
            <a:ext cx="3058058" cy="640080"/>
          </a:xfrm>
          <a:prstGeom prst="rect">
            <a:avLst/>
          </a:prstGeom>
          <a:noFill/>
          <a:ln/>
        </p:spPr>
        <p:txBody>
          <a:bodyPr wrap="square" lIns="0" tIns="0" rIns="0" bIns="0" rtlCol="0" anchor="t"/>
          <a:lstStyle/>
          <a:p>
            <a:pPr indent="0" marL="0">
              <a:buNone/>
            </a:pPr>
            <a:r>
              <a:rPr lang="en-US" sz="1200" dirty="0">
                <a:solidFill>
                  <a:srgbClr val="4A4E69"/>
                </a:solidFill>
                <a:latin typeface="BIZ UDGothic" pitchFamily="34" charset="0"/>
                <a:ea typeface="BIZ UDGothic" pitchFamily="34" charset="-122"/>
                <a:cs typeface="BIZ UDGothic" pitchFamily="34" charset="-120"/>
              </a:rPr>
              <a:t>平均は一定 → </a:t>
            </a:r>
            <a:r>
              <a:rPr lang="en-US" sz="1300" i="1" dirty="0">
                <a:solidFill>
                  <a:srgbClr val="4A4E69"/>
                </a:solidFill>
                <a:latin typeface="Times New Roman" pitchFamily="34" charset="0"/>
                <a:ea typeface="Times New Roman" pitchFamily="34" charset="-122"/>
                <a:cs typeface="Times New Roman" pitchFamily="34" charset="-120"/>
              </a:rPr>
              <a:t>S</a:t>
            </a:r>
            <a:r>
              <a:rPr lang="en-US" sz="1300" i="1" baseline="-40000" dirty="0">
                <a:solidFill>
                  <a:srgbClr val="4A4E69"/>
                </a:solidFill>
                <a:latin typeface="Times New Roman" pitchFamily="34" charset="0"/>
                <a:ea typeface="Times New Roman" pitchFamily="34" charset="-122"/>
                <a:cs typeface="Times New Roman" pitchFamily="34" charset="-120"/>
              </a:rPr>
              <a:t>3</a:t>
            </a:r>
            <a:r>
              <a:rPr lang="en-US" sz="1200" dirty="0">
                <a:solidFill>
                  <a:srgbClr val="4A4E69"/>
                </a:solidFill>
                <a:latin typeface="BIZ UDGothic" pitchFamily="34" charset="0"/>
                <a:ea typeface="BIZ UDGothic" pitchFamily="34" charset="-122"/>
                <a:cs typeface="BIZ UDGothic" pitchFamily="34" charset="-120"/>
              </a:rPr>
              <a:t> = 0。ただし両端で散らばりが増える（交互作用のサイン）</a:t>
            </a:r>
            <a:endParaRPr lang="en-US" sz="1200" dirty="0"/>
          </a:p>
        </p:txBody>
      </p:sp>
      <p:sp>
        <p:nvSpPr>
          <p:cNvPr id="20" name="Text 14"/>
          <p:cNvSpPr/>
          <p:nvPr/>
        </p:nvSpPr>
        <p:spPr>
          <a:xfrm>
            <a:off x="3566160" y="6473952"/>
            <a:ext cx="749808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薄い点：ランダムな300サンプル　／　濃い点：条件付き平均 E(Y|Xi) の理論値　／　縦軸の平均 E(Y) = 3.5</a:t>
            </a:r>
            <a:endParaRPr lang="en-US" sz="1000" dirty="0"/>
          </a:p>
        </p:txBody>
      </p:sp>
      <p:sp>
        <p:nvSpPr>
          <p:cNvPr id="21" name="Text 15"/>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22" name="Text 16"/>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02　Sobol指数の定義</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総合効果指数 </a:t>
            </a:r>
            <a:r>
              <a:rPr lang="en-US" sz="3100" b="1" i="1" dirty="0">
                <a:solidFill>
                  <a:srgbClr val="22223B"/>
                </a:solidFill>
                <a:latin typeface="Times New Roman" pitchFamily="34" charset="0"/>
                <a:ea typeface="Times New Roman" pitchFamily="34" charset="-122"/>
                <a:cs typeface="Times New Roman" pitchFamily="34" charset="-120"/>
              </a:rPr>
              <a:t>S</a:t>
            </a:r>
            <a:r>
              <a:rPr lang="en-US" sz="3100" b="1" i="1" baseline="-40000" dirty="0">
                <a:solidFill>
                  <a:srgbClr val="22223B"/>
                </a:solidFill>
                <a:latin typeface="Times New Roman" pitchFamily="34" charset="0"/>
                <a:ea typeface="Times New Roman" pitchFamily="34" charset="-122"/>
                <a:cs typeface="Times New Roman" pitchFamily="34" charset="-120"/>
              </a:rPr>
              <a:t>Ti</a:t>
            </a:r>
            <a:r>
              <a:rPr lang="en-US" sz="2800" b="1" dirty="0">
                <a:solidFill>
                  <a:srgbClr val="22223B"/>
                </a:solidFill>
                <a:latin typeface="BIZ UDGothic" pitchFamily="34" charset="0"/>
                <a:ea typeface="BIZ UDGothic" pitchFamily="34" charset="-122"/>
                <a:cs typeface="BIZ UDGothic" pitchFamily="34" charset="-120"/>
              </a:rPr>
              <a:t> ― 交互作用も含めた「全部の」寄与</a:t>
            </a:r>
            <a:endParaRPr lang="en-US" sz="2800" dirty="0"/>
          </a:p>
        </p:txBody>
      </p:sp>
      <p:sp>
        <p:nvSpPr>
          <p:cNvPr id="5" name="Shape 2"/>
          <p:cNvSpPr/>
          <p:nvPr/>
        </p:nvSpPr>
        <p:spPr>
          <a:xfrm>
            <a:off x="548640" y="1463040"/>
            <a:ext cx="6309360" cy="1097280"/>
          </a:xfrm>
          <a:prstGeom prst="roundRect">
            <a:avLst>
              <a:gd name="adj" fmla="val 6667"/>
            </a:avLst>
          </a:prstGeom>
          <a:solidFill>
            <a:srgbClr val="22223B"/>
          </a:solidFill>
          <a:ln/>
        </p:spPr>
      </p:sp>
      <p:sp>
        <p:nvSpPr>
          <p:cNvPr id="6" name="Text 3"/>
          <p:cNvSpPr/>
          <p:nvPr/>
        </p:nvSpPr>
        <p:spPr>
          <a:xfrm>
            <a:off x="548640" y="1463040"/>
            <a:ext cx="6309360" cy="1097280"/>
          </a:xfrm>
          <a:prstGeom prst="rect">
            <a:avLst/>
          </a:prstGeom>
          <a:noFill/>
          <a:ln/>
        </p:spPr>
        <p:txBody>
          <a:bodyPr wrap="square" lIns="1270" tIns="1270" rIns="1270" bIns="1270" rtlCol="0" anchor="ctr"/>
          <a:lstStyle/>
          <a:p>
            <a:pPr algn="ctr" indent="0" marL="0">
              <a:buNone/>
            </a:pPr>
            <a:r>
              <a:rPr lang="en-US" sz="2200" i="1" dirty="0">
                <a:solidFill>
                  <a:srgbClr val="FFFFFF"/>
                </a:solidFill>
                <a:latin typeface="Times New Roman" pitchFamily="34" charset="0"/>
                <a:ea typeface="Times New Roman" pitchFamily="34" charset="-122"/>
                <a:cs typeface="Times New Roman" pitchFamily="34" charset="-120"/>
              </a:rPr>
              <a:t>S</a:t>
            </a:r>
            <a:r>
              <a:rPr lang="en-US" sz="2200" i="1" baseline="-40000" dirty="0">
                <a:solidFill>
                  <a:srgbClr val="FFFFFF"/>
                </a:solidFill>
                <a:latin typeface="Times New Roman" pitchFamily="34" charset="0"/>
                <a:ea typeface="Times New Roman" pitchFamily="34" charset="-122"/>
                <a:cs typeface="Times New Roman" pitchFamily="34" charset="-120"/>
              </a:rPr>
              <a:t>Ti</a:t>
            </a:r>
            <a:r>
              <a:rPr lang="en-US" sz="2200" i="1" dirty="0">
                <a:solidFill>
                  <a:srgbClr val="FFFFFF"/>
                </a:solidFill>
                <a:latin typeface="Times New Roman" pitchFamily="34" charset="0"/>
                <a:ea typeface="Times New Roman" pitchFamily="34" charset="-122"/>
                <a:cs typeface="Times New Roman" pitchFamily="34" charset="-120"/>
              </a:rPr>
              <a:t> = E[V(Y|X</a:t>
            </a:r>
            <a:r>
              <a:rPr lang="en-US" sz="2200" i="1" baseline="-40000" dirty="0">
                <a:solidFill>
                  <a:srgbClr val="FFFFFF"/>
                </a:solidFill>
                <a:latin typeface="Times New Roman" pitchFamily="34" charset="0"/>
                <a:ea typeface="Times New Roman" pitchFamily="34" charset="-122"/>
                <a:cs typeface="Times New Roman" pitchFamily="34" charset="-120"/>
              </a:rPr>
              <a:t>∼i</a:t>
            </a:r>
            <a:r>
              <a:rPr lang="en-US" sz="2200" i="1" dirty="0">
                <a:solidFill>
                  <a:srgbClr val="FFFFFF"/>
                </a:solidFill>
                <a:latin typeface="Times New Roman" pitchFamily="34" charset="0"/>
                <a:ea typeface="Times New Roman" pitchFamily="34" charset="-122"/>
                <a:cs typeface="Times New Roman" pitchFamily="34" charset="-120"/>
              </a:rPr>
              <a:t>)] / V(Y) = 1 − V[E(Y|X</a:t>
            </a:r>
            <a:r>
              <a:rPr lang="en-US" sz="2200" i="1" baseline="-40000" dirty="0">
                <a:solidFill>
                  <a:srgbClr val="FFFFFF"/>
                </a:solidFill>
                <a:latin typeface="Times New Roman" pitchFamily="34" charset="0"/>
                <a:ea typeface="Times New Roman" pitchFamily="34" charset="-122"/>
                <a:cs typeface="Times New Roman" pitchFamily="34" charset="-120"/>
              </a:rPr>
              <a:t>∼i</a:t>
            </a:r>
            <a:r>
              <a:rPr lang="en-US" sz="2200" i="1" dirty="0">
                <a:solidFill>
                  <a:srgbClr val="FFFFFF"/>
                </a:solidFill>
                <a:latin typeface="Times New Roman" pitchFamily="34" charset="0"/>
                <a:ea typeface="Times New Roman" pitchFamily="34" charset="-122"/>
                <a:cs typeface="Times New Roman" pitchFamily="34" charset="-120"/>
              </a:rPr>
              <a:t>)] / V(Y)</a:t>
            </a:r>
            <a:endParaRPr lang="en-US" sz="2200" dirty="0"/>
          </a:p>
        </p:txBody>
      </p:sp>
      <p:sp>
        <p:nvSpPr>
          <p:cNvPr id="7" name="Text 4"/>
          <p:cNvSpPr/>
          <p:nvPr/>
        </p:nvSpPr>
        <p:spPr>
          <a:xfrm>
            <a:off x="548640" y="2606040"/>
            <a:ext cx="6309360" cy="320040"/>
          </a:xfrm>
          <a:prstGeom prst="rect">
            <a:avLst/>
          </a:prstGeom>
          <a:noFill/>
          <a:ln/>
        </p:spPr>
        <p:txBody>
          <a:bodyPr wrap="square" lIns="0" tIns="0" rIns="0" bIns="0" rtlCol="0" anchor="ctr"/>
          <a:lstStyle/>
          <a:p>
            <a:pPr indent="0" marL="0">
              <a:buNone/>
            </a:pPr>
            <a:r>
              <a:rPr lang="en-US" sz="1500" i="1" dirty="0">
                <a:solidFill>
                  <a:srgbClr val="6C6F7F"/>
                </a:solidFill>
                <a:latin typeface="Times New Roman" pitchFamily="34" charset="0"/>
                <a:ea typeface="Times New Roman" pitchFamily="34" charset="-122"/>
                <a:cs typeface="Times New Roman" pitchFamily="34" charset="-120"/>
              </a:rPr>
              <a:t>X</a:t>
            </a:r>
            <a:r>
              <a:rPr lang="en-US" sz="1500" i="1" baseline="-40000" dirty="0">
                <a:solidFill>
                  <a:srgbClr val="6C6F7F"/>
                </a:solidFill>
                <a:latin typeface="Times New Roman" pitchFamily="34" charset="0"/>
                <a:ea typeface="Times New Roman" pitchFamily="34" charset="-122"/>
                <a:cs typeface="Times New Roman" pitchFamily="34" charset="-120"/>
              </a:rPr>
              <a:t>∼i</a:t>
            </a:r>
            <a:r>
              <a:rPr lang="en-US" sz="1300" dirty="0">
                <a:solidFill>
                  <a:srgbClr val="6C6F7F"/>
                </a:solidFill>
                <a:latin typeface="BIZ UDGothic" pitchFamily="34" charset="0"/>
                <a:ea typeface="BIZ UDGothic" pitchFamily="34" charset="-122"/>
                <a:cs typeface="BIZ UDGothic" pitchFamily="34" charset="-120"/>
              </a:rPr>
              <a:t>：</a:t>
            </a:r>
            <a:r>
              <a:rPr lang="en-US" sz="1500" i="1" dirty="0">
                <a:solidFill>
                  <a:srgbClr val="6C6F7F"/>
                </a:solidFill>
                <a:latin typeface="Times New Roman" pitchFamily="34" charset="0"/>
                <a:ea typeface="Times New Roman" pitchFamily="34" charset="-122"/>
                <a:cs typeface="Times New Roman" pitchFamily="34" charset="-120"/>
              </a:rPr>
              <a:t>X</a:t>
            </a:r>
            <a:r>
              <a:rPr lang="en-US" sz="1500" i="1" baseline="-40000" dirty="0">
                <a:solidFill>
                  <a:srgbClr val="6C6F7F"/>
                </a:solidFill>
                <a:latin typeface="Times New Roman" pitchFamily="34" charset="0"/>
                <a:ea typeface="Times New Roman" pitchFamily="34" charset="-122"/>
                <a:cs typeface="Times New Roman" pitchFamily="34" charset="-120"/>
              </a:rPr>
              <a:t>i</a:t>
            </a:r>
            <a:r>
              <a:rPr lang="en-US" sz="1300" dirty="0">
                <a:solidFill>
                  <a:srgbClr val="6C6F7F"/>
                </a:solidFill>
                <a:latin typeface="BIZ UDGothic" pitchFamily="34" charset="0"/>
                <a:ea typeface="BIZ UDGothic" pitchFamily="34" charset="-122"/>
                <a:cs typeface="BIZ UDGothic" pitchFamily="34" charset="-120"/>
              </a:rPr>
              <a:t> 以外のすべての入力</a:t>
            </a:r>
            <a:endParaRPr lang="en-US" sz="1500" dirty="0"/>
          </a:p>
        </p:txBody>
      </p:sp>
      <p:sp>
        <p:nvSpPr>
          <p:cNvPr id="8" name="Shape 5"/>
          <p:cNvSpPr/>
          <p:nvPr/>
        </p:nvSpPr>
        <p:spPr>
          <a:xfrm>
            <a:off x="548640" y="3017520"/>
            <a:ext cx="6309360" cy="1005840"/>
          </a:xfrm>
          <a:prstGeom prst="roundRect">
            <a:avLst>
              <a:gd name="adj" fmla="val 7273"/>
            </a:avLst>
          </a:prstGeom>
          <a:solidFill>
            <a:srgbClr val="FBE3DC"/>
          </a:solidFill>
          <a:ln/>
        </p:spPr>
      </p:sp>
      <p:sp>
        <p:nvSpPr>
          <p:cNvPr id="9" name="Text 6"/>
          <p:cNvSpPr/>
          <p:nvPr/>
        </p:nvSpPr>
        <p:spPr>
          <a:xfrm>
            <a:off x="777240" y="3017520"/>
            <a:ext cx="5852160" cy="1005840"/>
          </a:xfrm>
          <a:prstGeom prst="rect">
            <a:avLst/>
          </a:prstGeom>
          <a:noFill/>
          <a:ln/>
        </p:spPr>
        <p:txBody>
          <a:bodyPr wrap="square" lIns="0" tIns="0" rIns="0" bIns="0" rtlCol="0" anchor="ctr"/>
          <a:lstStyle/>
          <a:p>
            <a:pPr indent="0" marL="0">
              <a:buNone/>
            </a:pPr>
            <a:r>
              <a:rPr lang="en-US" sz="1500" b="1" dirty="0">
                <a:solidFill>
                  <a:srgbClr val="22223B"/>
                </a:solidFill>
                <a:latin typeface="BIZ UDGothic" pitchFamily="34" charset="0"/>
                <a:ea typeface="BIZ UDGothic" pitchFamily="34" charset="-122"/>
                <a:cs typeface="BIZ UDGothic" pitchFamily="34" charset="-120"/>
              </a:rPr>
              <a:t>意味：</a:t>
            </a:r>
            <a:r>
              <a:rPr lang="en-US" sz="1700" b="1" i="1" dirty="0">
                <a:solidFill>
                  <a:srgbClr val="22223B"/>
                </a:solidFill>
                <a:latin typeface="Times New Roman" pitchFamily="34" charset="0"/>
                <a:ea typeface="Times New Roman" pitchFamily="34" charset="-122"/>
                <a:cs typeface="Times New Roman" pitchFamily="34" charset="-120"/>
              </a:rPr>
              <a:t>X</a:t>
            </a:r>
            <a:r>
              <a:rPr lang="en-US" sz="1700" b="1" i="1" baseline="-40000" dirty="0">
                <a:solidFill>
                  <a:srgbClr val="22223B"/>
                </a:solidFill>
                <a:latin typeface="Times New Roman" pitchFamily="34" charset="0"/>
                <a:ea typeface="Times New Roman" pitchFamily="34" charset="-122"/>
                <a:cs typeface="Times New Roman" pitchFamily="34" charset="-120"/>
              </a:rPr>
              <a:t>i</a:t>
            </a:r>
            <a:r>
              <a:rPr lang="en-US" sz="1500" b="1" dirty="0">
                <a:solidFill>
                  <a:srgbClr val="22223B"/>
                </a:solidFill>
                <a:latin typeface="BIZ UDGothic" pitchFamily="34" charset="0"/>
                <a:ea typeface="BIZ UDGothic" pitchFamily="34" charset="-122"/>
                <a:cs typeface="BIZ UDGothic" pitchFamily="34" charset="-120"/>
              </a:rPr>
              <a:t> 以外をすべて固定しても、なお残る分散の割合（＝ </a:t>
            </a:r>
            <a:r>
              <a:rPr lang="en-US" sz="1700" b="1" i="1" dirty="0">
                <a:solidFill>
                  <a:srgbClr val="22223B"/>
                </a:solidFill>
                <a:latin typeface="Times New Roman" pitchFamily="34" charset="0"/>
                <a:ea typeface="Times New Roman" pitchFamily="34" charset="-122"/>
                <a:cs typeface="Times New Roman" pitchFamily="34" charset="-120"/>
              </a:rPr>
              <a:t>X</a:t>
            </a:r>
            <a:r>
              <a:rPr lang="en-US" sz="1700" b="1" i="1" baseline="-40000" dirty="0">
                <a:solidFill>
                  <a:srgbClr val="22223B"/>
                </a:solidFill>
                <a:latin typeface="Times New Roman" pitchFamily="34" charset="0"/>
                <a:ea typeface="Times New Roman" pitchFamily="34" charset="-122"/>
                <a:cs typeface="Times New Roman" pitchFamily="34" charset="-120"/>
              </a:rPr>
              <a:t>i</a:t>
            </a:r>
            <a:r>
              <a:rPr lang="en-US" sz="1500" b="1" dirty="0">
                <a:solidFill>
                  <a:srgbClr val="22223B"/>
                </a:solidFill>
                <a:latin typeface="BIZ UDGothic" pitchFamily="34" charset="0"/>
                <a:ea typeface="BIZ UDGothic" pitchFamily="34" charset="-122"/>
                <a:cs typeface="BIZ UDGothic" pitchFamily="34" charset="-120"/>
              </a:rPr>
              <a:t> が少しでも関わる分散）</a:t>
            </a:r>
            <a:endParaRPr lang="en-US" sz="1500" dirty="0"/>
          </a:p>
        </p:txBody>
      </p:sp>
      <p:sp>
        <p:nvSpPr>
          <p:cNvPr id="10" name="Text 7"/>
          <p:cNvSpPr/>
          <p:nvPr/>
        </p:nvSpPr>
        <p:spPr>
          <a:xfrm>
            <a:off x="548640" y="4206240"/>
            <a:ext cx="630936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23B"/>
                </a:solidFill>
                <a:latin typeface="BIZ UDGothic" pitchFamily="34" charset="0"/>
                <a:ea typeface="BIZ UDGothic" pitchFamily="34" charset="-122"/>
                <a:cs typeface="BIZ UDGothic" pitchFamily="34" charset="-120"/>
              </a:rPr>
              <a:t>常に </a:t>
            </a: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i</a:t>
            </a:r>
            <a:r>
              <a:rPr lang="en-US" sz="1500" dirty="0">
                <a:solidFill>
                  <a:srgbClr val="22223B"/>
                </a:solidFill>
                <a:latin typeface="BIZ UDGothic" pitchFamily="34" charset="0"/>
                <a:ea typeface="BIZ UDGothic" pitchFamily="34" charset="-122"/>
                <a:cs typeface="BIZ UDGothic" pitchFamily="34" charset="-120"/>
              </a:rPr>
              <a:t> ≤ </a:t>
            </a: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Ti</a:t>
            </a:r>
            <a:endParaRPr lang="en-US" sz="1500" dirty="0"/>
          </a:p>
          <a:p>
            <a:pPr marL="342900" indent="-342900">
              <a:spcAft>
                <a:spcPts val="800"/>
              </a:spcAft>
              <a:buSzPct val="100000"/>
              <a:buChar char="•"/>
            </a:pP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Ti</a:t>
            </a:r>
            <a:r>
              <a:rPr lang="en-US" sz="1700" i="1" dirty="0">
                <a:solidFill>
                  <a:srgbClr val="22223B"/>
                </a:solidFill>
                <a:latin typeface="Times New Roman" pitchFamily="34" charset="0"/>
                <a:ea typeface="Times New Roman" pitchFamily="34" charset="-122"/>
                <a:cs typeface="Times New Roman" pitchFamily="34" charset="-120"/>
              </a:rPr>
              <a:t> − S</a:t>
            </a:r>
            <a:r>
              <a:rPr lang="en-US" sz="1700" i="1" baseline="-40000" dirty="0">
                <a:solidFill>
                  <a:srgbClr val="22223B"/>
                </a:solidFill>
                <a:latin typeface="Times New Roman" pitchFamily="34" charset="0"/>
                <a:ea typeface="Times New Roman" pitchFamily="34" charset="-122"/>
                <a:cs typeface="Times New Roman" pitchFamily="34" charset="-120"/>
              </a:rPr>
              <a:t>i</a:t>
            </a:r>
            <a:r>
              <a:rPr lang="en-US" sz="1500" dirty="0">
                <a:solidFill>
                  <a:srgbClr val="22223B"/>
                </a:solidFill>
                <a:latin typeface="BIZ UDGothic" pitchFamily="34" charset="0"/>
                <a:ea typeface="BIZ UDGothic" pitchFamily="34" charset="-122"/>
                <a:cs typeface="BIZ UDGothic" pitchFamily="34" charset="-120"/>
              </a:rPr>
              <a:t> ＝ </a:t>
            </a:r>
            <a:r>
              <a:rPr lang="en-US" sz="1700" i="1" dirty="0">
                <a:solidFill>
                  <a:srgbClr val="22223B"/>
                </a:solidFill>
                <a:latin typeface="Times New Roman" pitchFamily="34" charset="0"/>
                <a:ea typeface="Times New Roman" pitchFamily="34" charset="-122"/>
                <a:cs typeface="Times New Roman" pitchFamily="34" charset="-120"/>
              </a:rPr>
              <a:t>X</a:t>
            </a:r>
            <a:r>
              <a:rPr lang="en-US" sz="1700" i="1" baseline="-40000" dirty="0">
                <a:solidFill>
                  <a:srgbClr val="22223B"/>
                </a:solidFill>
                <a:latin typeface="Times New Roman" pitchFamily="34" charset="0"/>
                <a:ea typeface="Times New Roman" pitchFamily="34" charset="-122"/>
                <a:cs typeface="Times New Roman" pitchFamily="34" charset="-120"/>
              </a:rPr>
              <a:t>i</a:t>
            </a:r>
            <a:r>
              <a:rPr lang="en-US" sz="1500" dirty="0">
                <a:solidFill>
                  <a:srgbClr val="22223B"/>
                </a:solidFill>
                <a:latin typeface="BIZ UDGothic" pitchFamily="34" charset="0"/>
                <a:ea typeface="BIZ UDGothic" pitchFamily="34" charset="-122"/>
                <a:cs typeface="BIZ UDGothic" pitchFamily="34" charset="-120"/>
              </a:rPr>
              <a:t> が関わる交互作用の大きさ</a:t>
            </a:r>
            <a:endParaRPr lang="en-US" sz="1500" dirty="0"/>
          </a:p>
          <a:p>
            <a:pPr marL="342900" indent="-342900">
              <a:spcAft>
                <a:spcPts val="800"/>
              </a:spcAft>
              <a:buSzPct val="100000"/>
              <a:buChar char="•"/>
            </a:pP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Ti</a:t>
            </a:r>
            <a:r>
              <a:rPr lang="en-US" sz="1500" dirty="0">
                <a:solidFill>
                  <a:srgbClr val="22223B"/>
                </a:solidFill>
                <a:latin typeface="BIZ UDGothic" pitchFamily="34" charset="0"/>
                <a:ea typeface="BIZ UDGothic" pitchFamily="34" charset="-122"/>
                <a:cs typeface="BIZ UDGothic" pitchFamily="34" charset="-120"/>
              </a:rPr>
              <a:t> ≈ 0 なら、その入力は固定してよい</a:t>
            </a:r>
            <a:endParaRPr lang="en-US" sz="1500" dirty="0"/>
          </a:p>
        </p:txBody>
      </p:sp>
      <p:sp>
        <p:nvSpPr>
          <p:cNvPr id="11" name="Shape 8"/>
          <p:cNvSpPr/>
          <p:nvPr/>
        </p:nvSpPr>
        <p:spPr>
          <a:xfrm>
            <a:off x="7223760" y="1463040"/>
            <a:ext cx="4419295" cy="4663440"/>
          </a:xfrm>
          <a:prstGeom prst="roundRect">
            <a:avLst>
              <a:gd name="adj" fmla="val 1655"/>
            </a:avLst>
          </a:prstGeom>
          <a:solidFill>
            <a:srgbClr val="F3F4F8"/>
          </a:solidFill>
          <a:ln/>
        </p:spPr>
      </p:sp>
      <p:sp>
        <p:nvSpPr>
          <p:cNvPr id="12" name="Text 9"/>
          <p:cNvSpPr/>
          <p:nvPr/>
        </p:nvSpPr>
        <p:spPr>
          <a:xfrm>
            <a:off x="7498080" y="1600200"/>
            <a:ext cx="3870655" cy="411480"/>
          </a:xfrm>
          <a:prstGeom prst="rect">
            <a:avLst/>
          </a:prstGeom>
          <a:noFill/>
          <a:ln/>
        </p:spPr>
        <p:txBody>
          <a:bodyPr wrap="square" lIns="0" tIns="0" rIns="0" bIns="0" rtlCol="0" anchor="ctr"/>
          <a:lstStyle/>
          <a:p>
            <a:pPr indent="0" marL="0">
              <a:buNone/>
            </a:pPr>
            <a:r>
              <a:rPr lang="en-US" sz="1800" b="1" i="1" dirty="0">
                <a:solidFill>
                  <a:srgbClr val="22223B"/>
                </a:solidFill>
                <a:latin typeface="Times New Roman" pitchFamily="34" charset="0"/>
                <a:ea typeface="Times New Roman" pitchFamily="34" charset="-122"/>
                <a:cs typeface="Times New Roman" pitchFamily="34" charset="-120"/>
              </a:rPr>
              <a:t>d</a:t>
            </a:r>
            <a:r>
              <a:rPr lang="en-US" sz="1600" b="1" dirty="0">
                <a:solidFill>
                  <a:srgbClr val="22223B"/>
                </a:solidFill>
                <a:latin typeface="BIZ UDGothic" pitchFamily="34" charset="0"/>
                <a:ea typeface="BIZ UDGothic" pitchFamily="34" charset="-122"/>
                <a:cs typeface="BIZ UDGothic" pitchFamily="34" charset="-120"/>
              </a:rPr>
              <a:t> = 3 のとき（</a:t>
            </a:r>
            <a:r>
              <a:rPr lang="en-US" sz="1800" b="1" i="1" dirty="0">
                <a:solidFill>
                  <a:srgbClr val="22223B"/>
                </a:solidFill>
                <a:latin typeface="Times New Roman" pitchFamily="34" charset="0"/>
                <a:ea typeface="Times New Roman" pitchFamily="34" charset="-122"/>
                <a:cs typeface="Times New Roman" pitchFamily="34" charset="-120"/>
              </a:rPr>
              <a:t>X</a:t>
            </a:r>
            <a:r>
              <a:rPr lang="en-US" sz="1800" b="1" i="1" baseline="-40000" dirty="0">
                <a:solidFill>
                  <a:srgbClr val="22223B"/>
                </a:solidFill>
                <a:latin typeface="Times New Roman" pitchFamily="34" charset="0"/>
                <a:ea typeface="Times New Roman" pitchFamily="34" charset="-122"/>
                <a:cs typeface="Times New Roman" pitchFamily="34" charset="-120"/>
              </a:rPr>
              <a:t>1</a:t>
            </a:r>
            <a:r>
              <a:rPr lang="en-US" sz="1600" b="1" dirty="0">
                <a:solidFill>
                  <a:srgbClr val="22223B"/>
                </a:solidFill>
                <a:latin typeface="BIZ UDGothic" pitchFamily="34" charset="0"/>
                <a:ea typeface="BIZ UDGothic" pitchFamily="34" charset="-122"/>
                <a:cs typeface="BIZ UDGothic" pitchFamily="34" charset="-120"/>
              </a:rPr>
              <a:t> の例）</a:t>
            </a:r>
            <a:endParaRPr lang="en-US" sz="1800" dirty="0"/>
          </a:p>
        </p:txBody>
      </p:sp>
      <p:sp>
        <p:nvSpPr>
          <p:cNvPr id="13" name="Text 10"/>
          <p:cNvSpPr/>
          <p:nvPr/>
        </p:nvSpPr>
        <p:spPr>
          <a:xfrm>
            <a:off x="7498080" y="2103120"/>
            <a:ext cx="3870655" cy="320040"/>
          </a:xfrm>
          <a:prstGeom prst="rect">
            <a:avLst/>
          </a:prstGeom>
          <a:noFill/>
          <a:ln/>
        </p:spPr>
        <p:txBody>
          <a:bodyPr wrap="square" lIns="0" tIns="0" rIns="0" bIns="0" rtlCol="0" anchor="ctr"/>
          <a:lstStyle/>
          <a:p>
            <a:pPr indent="0" marL="0">
              <a:buNone/>
            </a:pPr>
            <a:r>
              <a:rPr lang="en-US" sz="1500" i="1" dirty="0">
                <a:solidFill>
                  <a:srgbClr val="4A4E69"/>
                </a:solidFill>
                <a:latin typeface="Times New Roman" pitchFamily="34" charset="0"/>
                <a:ea typeface="Times New Roman" pitchFamily="34" charset="-122"/>
                <a:cs typeface="Times New Roman" pitchFamily="34" charset="-120"/>
              </a:rPr>
              <a:t>S</a:t>
            </a:r>
            <a:r>
              <a:rPr lang="en-US" sz="1500" i="1" baseline="-40000" dirty="0">
                <a:solidFill>
                  <a:srgbClr val="4A4E69"/>
                </a:solidFill>
                <a:latin typeface="Times New Roman" pitchFamily="34" charset="0"/>
                <a:ea typeface="Times New Roman" pitchFamily="34" charset="-122"/>
                <a:cs typeface="Times New Roman" pitchFamily="34" charset="-120"/>
              </a:rPr>
              <a:t>1</a:t>
            </a:r>
            <a:r>
              <a:rPr lang="en-US" sz="1300" dirty="0">
                <a:solidFill>
                  <a:srgbClr val="4A4E69"/>
                </a:solidFill>
                <a:latin typeface="BIZ UDGothic" pitchFamily="34" charset="0"/>
                <a:ea typeface="BIZ UDGothic" pitchFamily="34" charset="-122"/>
                <a:cs typeface="BIZ UDGothic" pitchFamily="34" charset="-120"/>
              </a:rPr>
              <a:t> に含まれる項</a:t>
            </a:r>
            <a:endParaRPr lang="en-US" sz="1500" dirty="0"/>
          </a:p>
        </p:txBody>
      </p:sp>
      <p:sp>
        <p:nvSpPr>
          <p:cNvPr id="14" name="Shape 11"/>
          <p:cNvSpPr/>
          <p:nvPr/>
        </p:nvSpPr>
        <p:spPr>
          <a:xfrm>
            <a:off x="7498080" y="2468880"/>
            <a:ext cx="498087" cy="548640"/>
          </a:xfrm>
          <a:prstGeom prst="roundRect">
            <a:avLst>
              <a:gd name="adj" fmla="val 9179"/>
            </a:avLst>
          </a:prstGeom>
          <a:solidFill>
            <a:srgbClr val="2A9D8F"/>
          </a:solidFill>
          <a:ln w="9525">
            <a:solidFill>
              <a:srgbClr val="2A9D8F"/>
            </a:solidFill>
            <a:prstDash val="solid"/>
          </a:ln>
        </p:spPr>
      </p:sp>
      <p:sp>
        <p:nvSpPr>
          <p:cNvPr id="15" name="Text 12"/>
          <p:cNvSpPr/>
          <p:nvPr/>
        </p:nvSpPr>
        <p:spPr>
          <a:xfrm>
            <a:off x="7498080" y="2468880"/>
            <a:ext cx="498087" cy="548640"/>
          </a:xfrm>
          <a:prstGeom prst="rect">
            <a:avLst/>
          </a:prstGeom>
          <a:noFill/>
          <a:ln/>
        </p:spPr>
        <p:txBody>
          <a:bodyPr wrap="square" lIns="0" tIns="0" rIns="0" bIns="0" rtlCol="0" anchor="ctr"/>
          <a:lstStyle/>
          <a:p>
            <a:pPr algn="ctr" indent="0" marL="0">
              <a:buNone/>
            </a:pPr>
            <a:r>
              <a:rPr lang="en-US" sz="1500" b="1" i="1" dirty="0">
                <a:solidFill>
                  <a:srgbClr val="FFFFFF"/>
                </a:solidFill>
                <a:latin typeface="Times New Roman" pitchFamily="34" charset="0"/>
                <a:ea typeface="Times New Roman" pitchFamily="34" charset="-122"/>
                <a:cs typeface="Times New Roman" pitchFamily="34" charset="-120"/>
              </a:rPr>
              <a:t>S</a:t>
            </a:r>
            <a:r>
              <a:rPr lang="en-US" sz="1500" b="1" i="1" baseline="-40000" dirty="0">
                <a:solidFill>
                  <a:srgbClr val="FFFFFF"/>
                </a:solidFill>
                <a:latin typeface="Times New Roman" pitchFamily="34" charset="0"/>
                <a:ea typeface="Times New Roman" pitchFamily="34" charset="-122"/>
                <a:cs typeface="Times New Roman" pitchFamily="34" charset="-120"/>
              </a:rPr>
              <a:t>1</a:t>
            </a:r>
            <a:endParaRPr lang="en-US" sz="1500" dirty="0"/>
          </a:p>
        </p:txBody>
      </p:sp>
      <p:sp>
        <p:nvSpPr>
          <p:cNvPr id="16" name="Shape 13"/>
          <p:cNvSpPr/>
          <p:nvPr/>
        </p:nvSpPr>
        <p:spPr>
          <a:xfrm>
            <a:off x="8060175" y="2468880"/>
            <a:ext cx="498087" cy="548640"/>
          </a:xfrm>
          <a:prstGeom prst="roundRect">
            <a:avLst>
              <a:gd name="adj" fmla="val 9179"/>
            </a:avLst>
          </a:prstGeom>
          <a:solidFill>
            <a:srgbClr val="FFFFFF"/>
          </a:solidFill>
          <a:ln w="9525">
            <a:solidFill>
              <a:srgbClr val="DADDE6"/>
            </a:solidFill>
            <a:prstDash val="solid"/>
          </a:ln>
        </p:spPr>
      </p:sp>
      <p:sp>
        <p:nvSpPr>
          <p:cNvPr id="17" name="Text 14"/>
          <p:cNvSpPr/>
          <p:nvPr/>
        </p:nvSpPr>
        <p:spPr>
          <a:xfrm>
            <a:off x="8060175" y="2468880"/>
            <a:ext cx="498087" cy="548640"/>
          </a:xfrm>
          <a:prstGeom prst="rect">
            <a:avLst/>
          </a:prstGeom>
          <a:noFill/>
          <a:ln/>
        </p:spPr>
        <p:txBody>
          <a:bodyPr wrap="square" lIns="0" tIns="0" rIns="0" bIns="0" rtlCol="0" anchor="ctr"/>
          <a:lstStyle/>
          <a:p>
            <a:pPr algn="ctr" indent="0" marL="0">
              <a:buNone/>
            </a:pPr>
            <a:r>
              <a:rPr lang="en-US" sz="1500" i="1" dirty="0">
                <a:solidFill>
                  <a:srgbClr val="6C6F7F"/>
                </a:solidFill>
                <a:latin typeface="Times New Roman" pitchFamily="34" charset="0"/>
                <a:ea typeface="Times New Roman" pitchFamily="34" charset="-122"/>
                <a:cs typeface="Times New Roman" pitchFamily="34" charset="-120"/>
              </a:rPr>
              <a:t>S</a:t>
            </a:r>
            <a:r>
              <a:rPr lang="en-US" sz="1500" i="1" baseline="-40000" dirty="0">
                <a:solidFill>
                  <a:srgbClr val="6C6F7F"/>
                </a:solidFill>
                <a:latin typeface="Times New Roman" pitchFamily="34" charset="0"/>
                <a:ea typeface="Times New Roman" pitchFamily="34" charset="-122"/>
                <a:cs typeface="Times New Roman" pitchFamily="34" charset="-120"/>
              </a:rPr>
              <a:t>2</a:t>
            </a:r>
            <a:endParaRPr lang="en-US" sz="1500" dirty="0"/>
          </a:p>
        </p:txBody>
      </p:sp>
      <p:sp>
        <p:nvSpPr>
          <p:cNvPr id="18" name="Shape 15"/>
          <p:cNvSpPr/>
          <p:nvPr/>
        </p:nvSpPr>
        <p:spPr>
          <a:xfrm>
            <a:off x="8622269" y="2468880"/>
            <a:ext cx="498087" cy="548640"/>
          </a:xfrm>
          <a:prstGeom prst="roundRect">
            <a:avLst>
              <a:gd name="adj" fmla="val 9179"/>
            </a:avLst>
          </a:prstGeom>
          <a:solidFill>
            <a:srgbClr val="FFFFFF"/>
          </a:solidFill>
          <a:ln w="9525">
            <a:solidFill>
              <a:srgbClr val="DADDE6"/>
            </a:solidFill>
            <a:prstDash val="solid"/>
          </a:ln>
        </p:spPr>
      </p:sp>
      <p:sp>
        <p:nvSpPr>
          <p:cNvPr id="19" name="Text 16"/>
          <p:cNvSpPr/>
          <p:nvPr/>
        </p:nvSpPr>
        <p:spPr>
          <a:xfrm>
            <a:off x="8622269" y="2468880"/>
            <a:ext cx="498087" cy="548640"/>
          </a:xfrm>
          <a:prstGeom prst="rect">
            <a:avLst/>
          </a:prstGeom>
          <a:noFill/>
          <a:ln/>
        </p:spPr>
        <p:txBody>
          <a:bodyPr wrap="square" lIns="0" tIns="0" rIns="0" bIns="0" rtlCol="0" anchor="ctr"/>
          <a:lstStyle/>
          <a:p>
            <a:pPr algn="ctr" indent="0" marL="0">
              <a:buNone/>
            </a:pPr>
            <a:r>
              <a:rPr lang="en-US" sz="1500" i="1" dirty="0">
                <a:solidFill>
                  <a:srgbClr val="6C6F7F"/>
                </a:solidFill>
                <a:latin typeface="Times New Roman" pitchFamily="34" charset="0"/>
                <a:ea typeface="Times New Roman" pitchFamily="34" charset="-122"/>
                <a:cs typeface="Times New Roman" pitchFamily="34" charset="-120"/>
              </a:rPr>
              <a:t>S</a:t>
            </a:r>
            <a:r>
              <a:rPr lang="en-US" sz="1500" i="1" baseline="-40000" dirty="0">
                <a:solidFill>
                  <a:srgbClr val="6C6F7F"/>
                </a:solidFill>
                <a:latin typeface="Times New Roman" pitchFamily="34" charset="0"/>
                <a:ea typeface="Times New Roman" pitchFamily="34" charset="-122"/>
                <a:cs typeface="Times New Roman" pitchFamily="34" charset="-120"/>
              </a:rPr>
              <a:t>3</a:t>
            </a:r>
            <a:endParaRPr lang="en-US" sz="1500" dirty="0"/>
          </a:p>
        </p:txBody>
      </p:sp>
      <p:sp>
        <p:nvSpPr>
          <p:cNvPr id="20" name="Shape 17"/>
          <p:cNvSpPr/>
          <p:nvPr/>
        </p:nvSpPr>
        <p:spPr>
          <a:xfrm>
            <a:off x="9184364" y="2468880"/>
            <a:ext cx="498087" cy="548640"/>
          </a:xfrm>
          <a:prstGeom prst="roundRect">
            <a:avLst>
              <a:gd name="adj" fmla="val 9179"/>
            </a:avLst>
          </a:prstGeom>
          <a:solidFill>
            <a:srgbClr val="FFFFFF"/>
          </a:solidFill>
          <a:ln w="9525">
            <a:solidFill>
              <a:srgbClr val="DADDE6"/>
            </a:solidFill>
            <a:prstDash val="solid"/>
          </a:ln>
        </p:spPr>
      </p:sp>
      <p:sp>
        <p:nvSpPr>
          <p:cNvPr id="21" name="Text 18"/>
          <p:cNvSpPr/>
          <p:nvPr/>
        </p:nvSpPr>
        <p:spPr>
          <a:xfrm>
            <a:off x="9184364" y="2468880"/>
            <a:ext cx="498087" cy="548640"/>
          </a:xfrm>
          <a:prstGeom prst="rect">
            <a:avLst/>
          </a:prstGeom>
          <a:noFill/>
          <a:ln/>
        </p:spPr>
        <p:txBody>
          <a:bodyPr wrap="square" lIns="0" tIns="0" rIns="0" bIns="0" rtlCol="0" anchor="ctr"/>
          <a:lstStyle/>
          <a:p>
            <a:pPr algn="ctr" indent="0" marL="0">
              <a:buNone/>
            </a:pPr>
            <a:r>
              <a:rPr lang="en-US" sz="1500" i="1" dirty="0">
                <a:solidFill>
                  <a:srgbClr val="6C6F7F"/>
                </a:solidFill>
                <a:latin typeface="Times New Roman" pitchFamily="34" charset="0"/>
                <a:ea typeface="Times New Roman" pitchFamily="34" charset="-122"/>
                <a:cs typeface="Times New Roman" pitchFamily="34" charset="-120"/>
              </a:rPr>
              <a:t>S</a:t>
            </a:r>
            <a:r>
              <a:rPr lang="en-US" sz="1500" i="1" baseline="-40000" dirty="0">
                <a:solidFill>
                  <a:srgbClr val="6C6F7F"/>
                </a:solidFill>
                <a:latin typeface="Times New Roman" pitchFamily="34" charset="0"/>
                <a:ea typeface="Times New Roman" pitchFamily="34" charset="-122"/>
                <a:cs typeface="Times New Roman" pitchFamily="34" charset="-120"/>
              </a:rPr>
              <a:t>12</a:t>
            </a:r>
            <a:endParaRPr lang="en-US" sz="1500" dirty="0"/>
          </a:p>
        </p:txBody>
      </p:sp>
      <p:sp>
        <p:nvSpPr>
          <p:cNvPr id="22" name="Shape 19"/>
          <p:cNvSpPr/>
          <p:nvPr/>
        </p:nvSpPr>
        <p:spPr>
          <a:xfrm>
            <a:off x="9746459" y="2468880"/>
            <a:ext cx="498087" cy="548640"/>
          </a:xfrm>
          <a:prstGeom prst="roundRect">
            <a:avLst>
              <a:gd name="adj" fmla="val 9179"/>
            </a:avLst>
          </a:prstGeom>
          <a:solidFill>
            <a:srgbClr val="FFFFFF"/>
          </a:solidFill>
          <a:ln w="9525">
            <a:solidFill>
              <a:srgbClr val="DADDE6"/>
            </a:solidFill>
            <a:prstDash val="solid"/>
          </a:ln>
        </p:spPr>
      </p:sp>
      <p:sp>
        <p:nvSpPr>
          <p:cNvPr id="23" name="Text 20"/>
          <p:cNvSpPr/>
          <p:nvPr/>
        </p:nvSpPr>
        <p:spPr>
          <a:xfrm>
            <a:off x="9746459" y="2468880"/>
            <a:ext cx="498087" cy="548640"/>
          </a:xfrm>
          <a:prstGeom prst="rect">
            <a:avLst/>
          </a:prstGeom>
          <a:noFill/>
          <a:ln/>
        </p:spPr>
        <p:txBody>
          <a:bodyPr wrap="square" lIns="0" tIns="0" rIns="0" bIns="0" rtlCol="0" anchor="ctr"/>
          <a:lstStyle/>
          <a:p>
            <a:pPr algn="ctr" indent="0" marL="0">
              <a:buNone/>
            </a:pPr>
            <a:r>
              <a:rPr lang="en-US" sz="1500" i="1" dirty="0">
                <a:solidFill>
                  <a:srgbClr val="6C6F7F"/>
                </a:solidFill>
                <a:latin typeface="Times New Roman" pitchFamily="34" charset="0"/>
                <a:ea typeface="Times New Roman" pitchFamily="34" charset="-122"/>
                <a:cs typeface="Times New Roman" pitchFamily="34" charset="-120"/>
              </a:rPr>
              <a:t>S</a:t>
            </a:r>
            <a:r>
              <a:rPr lang="en-US" sz="1500" i="1" baseline="-40000" dirty="0">
                <a:solidFill>
                  <a:srgbClr val="6C6F7F"/>
                </a:solidFill>
                <a:latin typeface="Times New Roman" pitchFamily="34" charset="0"/>
                <a:ea typeface="Times New Roman" pitchFamily="34" charset="-122"/>
                <a:cs typeface="Times New Roman" pitchFamily="34" charset="-120"/>
              </a:rPr>
              <a:t>13</a:t>
            </a:r>
            <a:endParaRPr lang="en-US" sz="1500" dirty="0"/>
          </a:p>
        </p:txBody>
      </p:sp>
      <p:sp>
        <p:nvSpPr>
          <p:cNvPr id="24" name="Shape 21"/>
          <p:cNvSpPr/>
          <p:nvPr/>
        </p:nvSpPr>
        <p:spPr>
          <a:xfrm>
            <a:off x="10308554" y="2468880"/>
            <a:ext cx="498087" cy="548640"/>
          </a:xfrm>
          <a:prstGeom prst="roundRect">
            <a:avLst>
              <a:gd name="adj" fmla="val 9179"/>
            </a:avLst>
          </a:prstGeom>
          <a:solidFill>
            <a:srgbClr val="FFFFFF"/>
          </a:solidFill>
          <a:ln w="9525">
            <a:solidFill>
              <a:srgbClr val="DADDE6"/>
            </a:solidFill>
            <a:prstDash val="solid"/>
          </a:ln>
        </p:spPr>
      </p:sp>
      <p:sp>
        <p:nvSpPr>
          <p:cNvPr id="25" name="Text 22"/>
          <p:cNvSpPr/>
          <p:nvPr/>
        </p:nvSpPr>
        <p:spPr>
          <a:xfrm>
            <a:off x="10308554" y="2468880"/>
            <a:ext cx="498087" cy="548640"/>
          </a:xfrm>
          <a:prstGeom prst="rect">
            <a:avLst/>
          </a:prstGeom>
          <a:noFill/>
          <a:ln/>
        </p:spPr>
        <p:txBody>
          <a:bodyPr wrap="square" lIns="0" tIns="0" rIns="0" bIns="0" rtlCol="0" anchor="ctr"/>
          <a:lstStyle/>
          <a:p>
            <a:pPr algn="ctr" indent="0" marL="0">
              <a:buNone/>
            </a:pPr>
            <a:r>
              <a:rPr lang="en-US" sz="1500" i="1" dirty="0">
                <a:solidFill>
                  <a:srgbClr val="6C6F7F"/>
                </a:solidFill>
                <a:latin typeface="Times New Roman" pitchFamily="34" charset="0"/>
                <a:ea typeface="Times New Roman" pitchFamily="34" charset="-122"/>
                <a:cs typeface="Times New Roman" pitchFamily="34" charset="-120"/>
              </a:rPr>
              <a:t>S</a:t>
            </a:r>
            <a:r>
              <a:rPr lang="en-US" sz="1500" i="1" baseline="-40000" dirty="0">
                <a:solidFill>
                  <a:srgbClr val="6C6F7F"/>
                </a:solidFill>
                <a:latin typeface="Times New Roman" pitchFamily="34" charset="0"/>
                <a:ea typeface="Times New Roman" pitchFamily="34" charset="-122"/>
                <a:cs typeface="Times New Roman" pitchFamily="34" charset="-120"/>
              </a:rPr>
              <a:t>23</a:t>
            </a:r>
            <a:endParaRPr lang="en-US" sz="1500" dirty="0"/>
          </a:p>
        </p:txBody>
      </p:sp>
      <p:sp>
        <p:nvSpPr>
          <p:cNvPr id="26" name="Shape 23"/>
          <p:cNvSpPr/>
          <p:nvPr/>
        </p:nvSpPr>
        <p:spPr>
          <a:xfrm>
            <a:off x="10870648" y="2468880"/>
            <a:ext cx="498087" cy="548640"/>
          </a:xfrm>
          <a:prstGeom prst="roundRect">
            <a:avLst>
              <a:gd name="adj" fmla="val 9179"/>
            </a:avLst>
          </a:prstGeom>
          <a:solidFill>
            <a:srgbClr val="FFFFFF"/>
          </a:solidFill>
          <a:ln w="9525">
            <a:solidFill>
              <a:srgbClr val="DADDE6"/>
            </a:solidFill>
            <a:prstDash val="solid"/>
          </a:ln>
        </p:spPr>
      </p:sp>
      <p:sp>
        <p:nvSpPr>
          <p:cNvPr id="27" name="Text 24"/>
          <p:cNvSpPr/>
          <p:nvPr/>
        </p:nvSpPr>
        <p:spPr>
          <a:xfrm>
            <a:off x="10870648" y="2468880"/>
            <a:ext cx="498087" cy="548640"/>
          </a:xfrm>
          <a:prstGeom prst="rect">
            <a:avLst/>
          </a:prstGeom>
          <a:noFill/>
          <a:ln/>
        </p:spPr>
        <p:txBody>
          <a:bodyPr wrap="square" lIns="0" tIns="0" rIns="0" bIns="0" rtlCol="0" anchor="ctr"/>
          <a:lstStyle/>
          <a:p>
            <a:pPr algn="ctr" indent="0" marL="0">
              <a:buNone/>
            </a:pPr>
            <a:r>
              <a:rPr lang="en-US" sz="1500" i="1" dirty="0">
                <a:solidFill>
                  <a:srgbClr val="6C6F7F"/>
                </a:solidFill>
                <a:latin typeface="Times New Roman" pitchFamily="34" charset="0"/>
                <a:ea typeface="Times New Roman" pitchFamily="34" charset="-122"/>
                <a:cs typeface="Times New Roman" pitchFamily="34" charset="-120"/>
              </a:rPr>
              <a:t>S</a:t>
            </a:r>
            <a:r>
              <a:rPr lang="en-US" sz="1500" i="1" baseline="-40000" dirty="0">
                <a:solidFill>
                  <a:srgbClr val="6C6F7F"/>
                </a:solidFill>
                <a:latin typeface="Times New Roman" pitchFamily="34" charset="0"/>
                <a:ea typeface="Times New Roman" pitchFamily="34" charset="-122"/>
                <a:cs typeface="Times New Roman" pitchFamily="34" charset="-120"/>
              </a:rPr>
              <a:t>123</a:t>
            </a:r>
            <a:endParaRPr lang="en-US" sz="1500" dirty="0"/>
          </a:p>
        </p:txBody>
      </p:sp>
      <p:sp>
        <p:nvSpPr>
          <p:cNvPr id="28" name="Text 25"/>
          <p:cNvSpPr/>
          <p:nvPr/>
        </p:nvSpPr>
        <p:spPr>
          <a:xfrm>
            <a:off x="7498080" y="3200400"/>
            <a:ext cx="3870655" cy="320040"/>
          </a:xfrm>
          <a:prstGeom prst="rect">
            <a:avLst/>
          </a:prstGeom>
          <a:noFill/>
          <a:ln/>
        </p:spPr>
        <p:txBody>
          <a:bodyPr wrap="square" lIns="0" tIns="0" rIns="0" bIns="0" rtlCol="0" anchor="ctr"/>
          <a:lstStyle/>
          <a:p>
            <a:pPr indent="0" marL="0">
              <a:buNone/>
            </a:pPr>
            <a:r>
              <a:rPr lang="en-US" sz="1500" i="1" dirty="0">
                <a:solidFill>
                  <a:srgbClr val="4A4E69"/>
                </a:solidFill>
                <a:latin typeface="Times New Roman" pitchFamily="34" charset="0"/>
                <a:ea typeface="Times New Roman" pitchFamily="34" charset="-122"/>
                <a:cs typeface="Times New Roman" pitchFamily="34" charset="-120"/>
              </a:rPr>
              <a:t>S</a:t>
            </a:r>
            <a:r>
              <a:rPr lang="en-US" sz="1500" i="1" baseline="-40000" dirty="0">
                <a:solidFill>
                  <a:srgbClr val="4A4E69"/>
                </a:solidFill>
                <a:latin typeface="Times New Roman" pitchFamily="34" charset="0"/>
                <a:ea typeface="Times New Roman" pitchFamily="34" charset="-122"/>
                <a:cs typeface="Times New Roman" pitchFamily="34" charset="-120"/>
              </a:rPr>
              <a:t>T1</a:t>
            </a:r>
            <a:r>
              <a:rPr lang="en-US" sz="1300" dirty="0">
                <a:solidFill>
                  <a:srgbClr val="4A4E69"/>
                </a:solidFill>
                <a:latin typeface="BIZ UDGothic" pitchFamily="34" charset="0"/>
                <a:ea typeface="BIZ UDGothic" pitchFamily="34" charset="-122"/>
                <a:cs typeface="BIZ UDGothic" pitchFamily="34" charset="-120"/>
              </a:rPr>
              <a:t> に含まれる項</a:t>
            </a:r>
            <a:endParaRPr lang="en-US" sz="1500" dirty="0"/>
          </a:p>
        </p:txBody>
      </p:sp>
      <p:sp>
        <p:nvSpPr>
          <p:cNvPr id="29" name="Shape 26"/>
          <p:cNvSpPr/>
          <p:nvPr/>
        </p:nvSpPr>
        <p:spPr>
          <a:xfrm>
            <a:off x="7498080" y="3566160"/>
            <a:ext cx="498087" cy="548640"/>
          </a:xfrm>
          <a:prstGeom prst="roundRect">
            <a:avLst>
              <a:gd name="adj" fmla="val 9179"/>
            </a:avLst>
          </a:prstGeom>
          <a:solidFill>
            <a:srgbClr val="E76F51"/>
          </a:solidFill>
          <a:ln w="9525">
            <a:solidFill>
              <a:srgbClr val="E76F51"/>
            </a:solidFill>
            <a:prstDash val="solid"/>
          </a:ln>
        </p:spPr>
      </p:sp>
      <p:sp>
        <p:nvSpPr>
          <p:cNvPr id="30" name="Text 27"/>
          <p:cNvSpPr/>
          <p:nvPr/>
        </p:nvSpPr>
        <p:spPr>
          <a:xfrm>
            <a:off x="7498080" y="3566160"/>
            <a:ext cx="498087" cy="548640"/>
          </a:xfrm>
          <a:prstGeom prst="rect">
            <a:avLst/>
          </a:prstGeom>
          <a:noFill/>
          <a:ln/>
        </p:spPr>
        <p:txBody>
          <a:bodyPr wrap="square" lIns="0" tIns="0" rIns="0" bIns="0" rtlCol="0" anchor="ctr"/>
          <a:lstStyle/>
          <a:p>
            <a:pPr algn="ctr" indent="0" marL="0">
              <a:buNone/>
            </a:pPr>
            <a:r>
              <a:rPr lang="en-US" sz="1500" b="1" i="1" dirty="0">
                <a:solidFill>
                  <a:srgbClr val="FFFFFF"/>
                </a:solidFill>
                <a:latin typeface="Times New Roman" pitchFamily="34" charset="0"/>
                <a:ea typeface="Times New Roman" pitchFamily="34" charset="-122"/>
                <a:cs typeface="Times New Roman" pitchFamily="34" charset="-120"/>
              </a:rPr>
              <a:t>S</a:t>
            </a:r>
            <a:r>
              <a:rPr lang="en-US" sz="1500" b="1" i="1" baseline="-40000" dirty="0">
                <a:solidFill>
                  <a:srgbClr val="FFFFFF"/>
                </a:solidFill>
                <a:latin typeface="Times New Roman" pitchFamily="34" charset="0"/>
                <a:ea typeface="Times New Roman" pitchFamily="34" charset="-122"/>
                <a:cs typeface="Times New Roman" pitchFamily="34" charset="-120"/>
              </a:rPr>
              <a:t>1</a:t>
            </a:r>
            <a:endParaRPr lang="en-US" sz="1500" dirty="0"/>
          </a:p>
        </p:txBody>
      </p:sp>
      <p:sp>
        <p:nvSpPr>
          <p:cNvPr id="31" name="Shape 28"/>
          <p:cNvSpPr/>
          <p:nvPr/>
        </p:nvSpPr>
        <p:spPr>
          <a:xfrm>
            <a:off x="8060175" y="3566160"/>
            <a:ext cx="498087" cy="548640"/>
          </a:xfrm>
          <a:prstGeom prst="roundRect">
            <a:avLst>
              <a:gd name="adj" fmla="val 9179"/>
            </a:avLst>
          </a:prstGeom>
          <a:solidFill>
            <a:srgbClr val="FFFFFF"/>
          </a:solidFill>
          <a:ln w="9525">
            <a:solidFill>
              <a:srgbClr val="DADDE6"/>
            </a:solidFill>
            <a:prstDash val="solid"/>
          </a:ln>
        </p:spPr>
      </p:sp>
      <p:sp>
        <p:nvSpPr>
          <p:cNvPr id="32" name="Text 29"/>
          <p:cNvSpPr/>
          <p:nvPr/>
        </p:nvSpPr>
        <p:spPr>
          <a:xfrm>
            <a:off x="8060175" y="3566160"/>
            <a:ext cx="498087" cy="548640"/>
          </a:xfrm>
          <a:prstGeom prst="rect">
            <a:avLst/>
          </a:prstGeom>
          <a:noFill/>
          <a:ln/>
        </p:spPr>
        <p:txBody>
          <a:bodyPr wrap="square" lIns="0" tIns="0" rIns="0" bIns="0" rtlCol="0" anchor="ctr"/>
          <a:lstStyle/>
          <a:p>
            <a:pPr algn="ctr" indent="0" marL="0">
              <a:buNone/>
            </a:pPr>
            <a:r>
              <a:rPr lang="en-US" sz="1500" i="1" dirty="0">
                <a:solidFill>
                  <a:srgbClr val="6C6F7F"/>
                </a:solidFill>
                <a:latin typeface="Times New Roman" pitchFamily="34" charset="0"/>
                <a:ea typeface="Times New Roman" pitchFamily="34" charset="-122"/>
                <a:cs typeface="Times New Roman" pitchFamily="34" charset="-120"/>
              </a:rPr>
              <a:t>S</a:t>
            </a:r>
            <a:r>
              <a:rPr lang="en-US" sz="1500" i="1" baseline="-40000" dirty="0">
                <a:solidFill>
                  <a:srgbClr val="6C6F7F"/>
                </a:solidFill>
                <a:latin typeface="Times New Roman" pitchFamily="34" charset="0"/>
                <a:ea typeface="Times New Roman" pitchFamily="34" charset="-122"/>
                <a:cs typeface="Times New Roman" pitchFamily="34" charset="-120"/>
              </a:rPr>
              <a:t>2</a:t>
            </a:r>
            <a:endParaRPr lang="en-US" sz="1500" dirty="0"/>
          </a:p>
        </p:txBody>
      </p:sp>
      <p:sp>
        <p:nvSpPr>
          <p:cNvPr id="33" name="Shape 30"/>
          <p:cNvSpPr/>
          <p:nvPr/>
        </p:nvSpPr>
        <p:spPr>
          <a:xfrm>
            <a:off x="8622269" y="3566160"/>
            <a:ext cx="498087" cy="548640"/>
          </a:xfrm>
          <a:prstGeom prst="roundRect">
            <a:avLst>
              <a:gd name="adj" fmla="val 9179"/>
            </a:avLst>
          </a:prstGeom>
          <a:solidFill>
            <a:srgbClr val="FFFFFF"/>
          </a:solidFill>
          <a:ln w="9525">
            <a:solidFill>
              <a:srgbClr val="DADDE6"/>
            </a:solidFill>
            <a:prstDash val="solid"/>
          </a:ln>
        </p:spPr>
      </p:sp>
      <p:sp>
        <p:nvSpPr>
          <p:cNvPr id="34" name="Text 31"/>
          <p:cNvSpPr/>
          <p:nvPr/>
        </p:nvSpPr>
        <p:spPr>
          <a:xfrm>
            <a:off x="8622269" y="3566160"/>
            <a:ext cx="498087" cy="548640"/>
          </a:xfrm>
          <a:prstGeom prst="rect">
            <a:avLst/>
          </a:prstGeom>
          <a:noFill/>
          <a:ln/>
        </p:spPr>
        <p:txBody>
          <a:bodyPr wrap="square" lIns="0" tIns="0" rIns="0" bIns="0" rtlCol="0" anchor="ctr"/>
          <a:lstStyle/>
          <a:p>
            <a:pPr algn="ctr" indent="0" marL="0">
              <a:buNone/>
            </a:pPr>
            <a:r>
              <a:rPr lang="en-US" sz="1500" i="1" dirty="0">
                <a:solidFill>
                  <a:srgbClr val="6C6F7F"/>
                </a:solidFill>
                <a:latin typeface="Times New Roman" pitchFamily="34" charset="0"/>
                <a:ea typeface="Times New Roman" pitchFamily="34" charset="-122"/>
                <a:cs typeface="Times New Roman" pitchFamily="34" charset="-120"/>
              </a:rPr>
              <a:t>S</a:t>
            </a:r>
            <a:r>
              <a:rPr lang="en-US" sz="1500" i="1" baseline="-40000" dirty="0">
                <a:solidFill>
                  <a:srgbClr val="6C6F7F"/>
                </a:solidFill>
                <a:latin typeface="Times New Roman" pitchFamily="34" charset="0"/>
                <a:ea typeface="Times New Roman" pitchFamily="34" charset="-122"/>
                <a:cs typeface="Times New Roman" pitchFamily="34" charset="-120"/>
              </a:rPr>
              <a:t>3</a:t>
            </a:r>
            <a:endParaRPr lang="en-US" sz="1500" dirty="0"/>
          </a:p>
        </p:txBody>
      </p:sp>
      <p:sp>
        <p:nvSpPr>
          <p:cNvPr id="35" name="Shape 32"/>
          <p:cNvSpPr/>
          <p:nvPr/>
        </p:nvSpPr>
        <p:spPr>
          <a:xfrm>
            <a:off x="9184364" y="3566160"/>
            <a:ext cx="498087" cy="548640"/>
          </a:xfrm>
          <a:prstGeom prst="roundRect">
            <a:avLst>
              <a:gd name="adj" fmla="val 9179"/>
            </a:avLst>
          </a:prstGeom>
          <a:solidFill>
            <a:srgbClr val="E76F51"/>
          </a:solidFill>
          <a:ln w="9525">
            <a:solidFill>
              <a:srgbClr val="E76F51"/>
            </a:solidFill>
            <a:prstDash val="solid"/>
          </a:ln>
        </p:spPr>
      </p:sp>
      <p:sp>
        <p:nvSpPr>
          <p:cNvPr id="36" name="Text 33"/>
          <p:cNvSpPr/>
          <p:nvPr/>
        </p:nvSpPr>
        <p:spPr>
          <a:xfrm>
            <a:off x="9184364" y="3566160"/>
            <a:ext cx="498087" cy="548640"/>
          </a:xfrm>
          <a:prstGeom prst="rect">
            <a:avLst/>
          </a:prstGeom>
          <a:noFill/>
          <a:ln/>
        </p:spPr>
        <p:txBody>
          <a:bodyPr wrap="square" lIns="0" tIns="0" rIns="0" bIns="0" rtlCol="0" anchor="ctr"/>
          <a:lstStyle/>
          <a:p>
            <a:pPr algn="ctr" indent="0" marL="0">
              <a:buNone/>
            </a:pPr>
            <a:r>
              <a:rPr lang="en-US" sz="1500" b="1" i="1" dirty="0">
                <a:solidFill>
                  <a:srgbClr val="FFFFFF"/>
                </a:solidFill>
                <a:latin typeface="Times New Roman" pitchFamily="34" charset="0"/>
                <a:ea typeface="Times New Roman" pitchFamily="34" charset="-122"/>
                <a:cs typeface="Times New Roman" pitchFamily="34" charset="-120"/>
              </a:rPr>
              <a:t>S</a:t>
            </a:r>
            <a:r>
              <a:rPr lang="en-US" sz="1500" b="1" i="1" baseline="-40000" dirty="0">
                <a:solidFill>
                  <a:srgbClr val="FFFFFF"/>
                </a:solidFill>
                <a:latin typeface="Times New Roman" pitchFamily="34" charset="0"/>
                <a:ea typeface="Times New Roman" pitchFamily="34" charset="-122"/>
                <a:cs typeface="Times New Roman" pitchFamily="34" charset="-120"/>
              </a:rPr>
              <a:t>12</a:t>
            </a:r>
            <a:endParaRPr lang="en-US" sz="1500" dirty="0"/>
          </a:p>
        </p:txBody>
      </p:sp>
      <p:sp>
        <p:nvSpPr>
          <p:cNvPr id="37" name="Shape 34"/>
          <p:cNvSpPr/>
          <p:nvPr/>
        </p:nvSpPr>
        <p:spPr>
          <a:xfrm>
            <a:off x="9746459" y="3566160"/>
            <a:ext cx="498087" cy="548640"/>
          </a:xfrm>
          <a:prstGeom prst="roundRect">
            <a:avLst>
              <a:gd name="adj" fmla="val 9179"/>
            </a:avLst>
          </a:prstGeom>
          <a:solidFill>
            <a:srgbClr val="E76F51"/>
          </a:solidFill>
          <a:ln w="9525">
            <a:solidFill>
              <a:srgbClr val="E76F51"/>
            </a:solidFill>
            <a:prstDash val="solid"/>
          </a:ln>
        </p:spPr>
      </p:sp>
      <p:sp>
        <p:nvSpPr>
          <p:cNvPr id="38" name="Text 35"/>
          <p:cNvSpPr/>
          <p:nvPr/>
        </p:nvSpPr>
        <p:spPr>
          <a:xfrm>
            <a:off x="9746459" y="3566160"/>
            <a:ext cx="498087" cy="548640"/>
          </a:xfrm>
          <a:prstGeom prst="rect">
            <a:avLst/>
          </a:prstGeom>
          <a:noFill/>
          <a:ln/>
        </p:spPr>
        <p:txBody>
          <a:bodyPr wrap="square" lIns="0" tIns="0" rIns="0" bIns="0" rtlCol="0" anchor="ctr"/>
          <a:lstStyle/>
          <a:p>
            <a:pPr algn="ctr" indent="0" marL="0">
              <a:buNone/>
            </a:pPr>
            <a:r>
              <a:rPr lang="en-US" sz="1500" b="1" i="1" dirty="0">
                <a:solidFill>
                  <a:srgbClr val="FFFFFF"/>
                </a:solidFill>
                <a:latin typeface="Times New Roman" pitchFamily="34" charset="0"/>
                <a:ea typeface="Times New Roman" pitchFamily="34" charset="-122"/>
                <a:cs typeface="Times New Roman" pitchFamily="34" charset="-120"/>
              </a:rPr>
              <a:t>S</a:t>
            </a:r>
            <a:r>
              <a:rPr lang="en-US" sz="1500" b="1" i="1" baseline="-40000" dirty="0">
                <a:solidFill>
                  <a:srgbClr val="FFFFFF"/>
                </a:solidFill>
                <a:latin typeface="Times New Roman" pitchFamily="34" charset="0"/>
                <a:ea typeface="Times New Roman" pitchFamily="34" charset="-122"/>
                <a:cs typeface="Times New Roman" pitchFamily="34" charset="-120"/>
              </a:rPr>
              <a:t>13</a:t>
            </a:r>
            <a:endParaRPr lang="en-US" sz="1500" dirty="0"/>
          </a:p>
        </p:txBody>
      </p:sp>
      <p:sp>
        <p:nvSpPr>
          <p:cNvPr id="39" name="Shape 36"/>
          <p:cNvSpPr/>
          <p:nvPr/>
        </p:nvSpPr>
        <p:spPr>
          <a:xfrm>
            <a:off x="10308554" y="3566160"/>
            <a:ext cx="498087" cy="548640"/>
          </a:xfrm>
          <a:prstGeom prst="roundRect">
            <a:avLst>
              <a:gd name="adj" fmla="val 9179"/>
            </a:avLst>
          </a:prstGeom>
          <a:solidFill>
            <a:srgbClr val="FFFFFF"/>
          </a:solidFill>
          <a:ln w="9525">
            <a:solidFill>
              <a:srgbClr val="DADDE6"/>
            </a:solidFill>
            <a:prstDash val="solid"/>
          </a:ln>
        </p:spPr>
      </p:sp>
      <p:sp>
        <p:nvSpPr>
          <p:cNvPr id="40" name="Text 37"/>
          <p:cNvSpPr/>
          <p:nvPr/>
        </p:nvSpPr>
        <p:spPr>
          <a:xfrm>
            <a:off x="10308554" y="3566160"/>
            <a:ext cx="498087" cy="548640"/>
          </a:xfrm>
          <a:prstGeom prst="rect">
            <a:avLst/>
          </a:prstGeom>
          <a:noFill/>
          <a:ln/>
        </p:spPr>
        <p:txBody>
          <a:bodyPr wrap="square" lIns="0" tIns="0" rIns="0" bIns="0" rtlCol="0" anchor="ctr"/>
          <a:lstStyle/>
          <a:p>
            <a:pPr algn="ctr" indent="0" marL="0">
              <a:buNone/>
            </a:pPr>
            <a:r>
              <a:rPr lang="en-US" sz="1500" i="1" dirty="0">
                <a:solidFill>
                  <a:srgbClr val="6C6F7F"/>
                </a:solidFill>
                <a:latin typeface="Times New Roman" pitchFamily="34" charset="0"/>
                <a:ea typeface="Times New Roman" pitchFamily="34" charset="-122"/>
                <a:cs typeface="Times New Roman" pitchFamily="34" charset="-120"/>
              </a:rPr>
              <a:t>S</a:t>
            </a:r>
            <a:r>
              <a:rPr lang="en-US" sz="1500" i="1" baseline="-40000" dirty="0">
                <a:solidFill>
                  <a:srgbClr val="6C6F7F"/>
                </a:solidFill>
                <a:latin typeface="Times New Roman" pitchFamily="34" charset="0"/>
                <a:ea typeface="Times New Roman" pitchFamily="34" charset="-122"/>
                <a:cs typeface="Times New Roman" pitchFamily="34" charset="-120"/>
              </a:rPr>
              <a:t>23</a:t>
            </a:r>
            <a:endParaRPr lang="en-US" sz="1500" dirty="0"/>
          </a:p>
        </p:txBody>
      </p:sp>
      <p:sp>
        <p:nvSpPr>
          <p:cNvPr id="41" name="Shape 38"/>
          <p:cNvSpPr/>
          <p:nvPr/>
        </p:nvSpPr>
        <p:spPr>
          <a:xfrm>
            <a:off x="10870648" y="3566160"/>
            <a:ext cx="498087" cy="548640"/>
          </a:xfrm>
          <a:prstGeom prst="roundRect">
            <a:avLst>
              <a:gd name="adj" fmla="val 9179"/>
            </a:avLst>
          </a:prstGeom>
          <a:solidFill>
            <a:srgbClr val="E76F51"/>
          </a:solidFill>
          <a:ln w="9525">
            <a:solidFill>
              <a:srgbClr val="E76F51"/>
            </a:solidFill>
            <a:prstDash val="solid"/>
          </a:ln>
        </p:spPr>
      </p:sp>
      <p:sp>
        <p:nvSpPr>
          <p:cNvPr id="42" name="Text 39"/>
          <p:cNvSpPr/>
          <p:nvPr/>
        </p:nvSpPr>
        <p:spPr>
          <a:xfrm>
            <a:off x="10870648" y="3566160"/>
            <a:ext cx="498087" cy="548640"/>
          </a:xfrm>
          <a:prstGeom prst="rect">
            <a:avLst/>
          </a:prstGeom>
          <a:noFill/>
          <a:ln/>
        </p:spPr>
        <p:txBody>
          <a:bodyPr wrap="square" lIns="0" tIns="0" rIns="0" bIns="0" rtlCol="0" anchor="ctr"/>
          <a:lstStyle/>
          <a:p>
            <a:pPr algn="ctr" indent="0" marL="0">
              <a:buNone/>
            </a:pPr>
            <a:r>
              <a:rPr lang="en-US" sz="1500" b="1" i="1" dirty="0">
                <a:solidFill>
                  <a:srgbClr val="FFFFFF"/>
                </a:solidFill>
                <a:latin typeface="Times New Roman" pitchFamily="34" charset="0"/>
                <a:ea typeface="Times New Roman" pitchFamily="34" charset="-122"/>
                <a:cs typeface="Times New Roman" pitchFamily="34" charset="-120"/>
              </a:rPr>
              <a:t>S</a:t>
            </a:r>
            <a:r>
              <a:rPr lang="en-US" sz="1500" b="1" i="1" baseline="-40000" dirty="0">
                <a:solidFill>
                  <a:srgbClr val="FFFFFF"/>
                </a:solidFill>
                <a:latin typeface="Times New Roman" pitchFamily="34" charset="0"/>
                <a:ea typeface="Times New Roman" pitchFamily="34" charset="-122"/>
                <a:cs typeface="Times New Roman" pitchFamily="34" charset="-120"/>
              </a:rPr>
              <a:t>123</a:t>
            </a:r>
            <a:endParaRPr lang="en-US" sz="1500" dirty="0"/>
          </a:p>
        </p:txBody>
      </p:sp>
      <p:sp>
        <p:nvSpPr>
          <p:cNvPr id="43" name="Text 40"/>
          <p:cNvSpPr/>
          <p:nvPr/>
        </p:nvSpPr>
        <p:spPr>
          <a:xfrm>
            <a:off x="7498080" y="4389120"/>
            <a:ext cx="3870655" cy="457200"/>
          </a:xfrm>
          <a:prstGeom prst="rect">
            <a:avLst/>
          </a:prstGeom>
          <a:noFill/>
          <a:ln/>
        </p:spPr>
        <p:txBody>
          <a:bodyPr wrap="square" lIns="0" tIns="0" rIns="0" bIns="0" rtlCol="0" anchor="ctr"/>
          <a:lstStyle/>
          <a:p>
            <a:pPr algn="ctr" indent="0" marL="0">
              <a:buNone/>
            </a:pPr>
            <a:r>
              <a:rPr lang="en-US" sz="2100" i="1" dirty="0">
                <a:solidFill>
                  <a:srgbClr val="22223B"/>
                </a:solidFill>
                <a:latin typeface="Times New Roman" pitchFamily="34" charset="0"/>
                <a:ea typeface="Times New Roman" pitchFamily="34" charset="-122"/>
                <a:cs typeface="Times New Roman" pitchFamily="34" charset="-120"/>
              </a:rPr>
              <a:t>S</a:t>
            </a:r>
            <a:r>
              <a:rPr lang="en-US" sz="2100" i="1" baseline="-40000" dirty="0">
                <a:solidFill>
                  <a:srgbClr val="22223B"/>
                </a:solidFill>
                <a:latin typeface="Times New Roman" pitchFamily="34" charset="0"/>
                <a:ea typeface="Times New Roman" pitchFamily="34" charset="-122"/>
                <a:cs typeface="Times New Roman" pitchFamily="34" charset="-120"/>
              </a:rPr>
              <a:t>T1</a:t>
            </a:r>
            <a:r>
              <a:rPr lang="en-US" sz="2100" i="1" dirty="0">
                <a:solidFill>
                  <a:srgbClr val="22223B"/>
                </a:solidFill>
                <a:latin typeface="Times New Roman" pitchFamily="34" charset="0"/>
                <a:ea typeface="Times New Roman" pitchFamily="34" charset="-122"/>
                <a:cs typeface="Times New Roman" pitchFamily="34" charset="-120"/>
              </a:rPr>
              <a:t> = S</a:t>
            </a:r>
            <a:r>
              <a:rPr lang="en-US" sz="2100" i="1" baseline="-40000" dirty="0">
                <a:solidFill>
                  <a:srgbClr val="22223B"/>
                </a:solidFill>
                <a:latin typeface="Times New Roman" pitchFamily="34" charset="0"/>
                <a:ea typeface="Times New Roman" pitchFamily="34" charset="-122"/>
                <a:cs typeface="Times New Roman" pitchFamily="34" charset="-120"/>
              </a:rPr>
              <a:t>1</a:t>
            </a:r>
            <a:r>
              <a:rPr lang="en-US" sz="2100" i="1" dirty="0">
                <a:solidFill>
                  <a:srgbClr val="22223B"/>
                </a:solidFill>
                <a:latin typeface="Times New Roman" pitchFamily="34" charset="0"/>
                <a:ea typeface="Times New Roman" pitchFamily="34" charset="-122"/>
                <a:cs typeface="Times New Roman" pitchFamily="34" charset="-120"/>
              </a:rPr>
              <a:t> + S</a:t>
            </a:r>
            <a:r>
              <a:rPr lang="en-US" sz="2100" i="1" baseline="-40000" dirty="0">
                <a:solidFill>
                  <a:srgbClr val="22223B"/>
                </a:solidFill>
                <a:latin typeface="Times New Roman" pitchFamily="34" charset="0"/>
                <a:ea typeface="Times New Roman" pitchFamily="34" charset="-122"/>
                <a:cs typeface="Times New Roman" pitchFamily="34" charset="-120"/>
              </a:rPr>
              <a:t>12</a:t>
            </a:r>
            <a:r>
              <a:rPr lang="en-US" sz="2100" i="1" dirty="0">
                <a:solidFill>
                  <a:srgbClr val="22223B"/>
                </a:solidFill>
                <a:latin typeface="Times New Roman" pitchFamily="34" charset="0"/>
                <a:ea typeface="Times New Roman" pitchFamily="34" charset="-122"/>
                <a:cs typeface="Times New Roman" pitchFamily="34" charset="-120"/>
              </a:rPr>
              <a:t> + S</a:t>
            </a:r>
            <a:r>
              <a:rPr lang="en-US" sz="2100" i="1" baseline="-40000" dirty="0">
                <a:solidFill>
                  <a:srgbClr val="22223B"/>
                </a:solidFill>
                <a:latin typeface="Times New Roman" pitchFamily="34" charset="0"/>
                <a:ea typeface="Times New Roman" pitchFamily="34" charset="-122"/>
                <a:cs typeface="Times New Roman" pitchFamily="34" charset="-120"/>
              </a:rPr>
              <a:t>13</a:t>
            </a:r>
            <a:r>
              <a:rPr lang="en-US" sz="2100" i="1" dirty="0">
                <a:solidFill>
                  <a:srgbClr val="22223B"/>
                </a:solidFill>
                <a:latin typeface="Times New Roman" pitchFamily="34" charset="0"/>
                <a:ea typeface="Times New Roman" pitchFamily="34" charset="-122"/>
                <a:cs typeface="Times New Roman" pitchFamily="34" charset="-120"/>
              </a:rPr>
              <a:t> + S</a:t>
            </a:r>
            <a:r>
              <a:rPr lang="en-US" sz="2100" i="1" baseline="-40000" dirty="0">
                <a:solidFill>
                  <a:srgbClr val="22223B"/>
                </a:solidFill>
                <a:latin typeface="Times New Roman" pitchFamily="34" charset="0"/>
                <a:ea typeface="Times New Roman" pitchFamily="34" charset="-122"/>
                <a:cs typeface="Times New Roman" pitchFamily="34" charset="-120"/>
              </a:rPr>
              <a:t>123</a:t>
            </a:r>
            <a:endParaRPr lang="en-US" sz="2100" dirty="0"/>
          </a:p>
        </p:txBody>
      </p:sp>
      <p:sp>
        <p:nvSpPr>
          <p:cNvPr id="44" name="Shape 41"/>
          <p:cNvSpPr/>
          <p:nvPr/>
        </p:nvSpPr>
        <p:spPr>
          <a:xfrm>
            <a:off x="7498080" y="4983480"/>
            <a:ext cx="3870655" cy="914400"/>
          </a:xfrm>
          <a:prstGeom prst="roundRect">
            <a:avLst>
              <a:gd name="adj" fmla="val 8000"/>
            </a:avLst>
          </a:prstGeom>
          <a:solidFill>
            <a:srgbClr val="FFFFFF"/>
          </a:solidFill>
          <a:ln/>
        </p:spPr>
      </p:sp>
      <p:sp>
        <p:nvSpPr>
          <p:cNvPr id="45" name="Text 42"/>
          <p:cNvSpPr/>
          <p:nvPr/>
        </p:nvSpPr>
        <p:spPr>
          <a:xfrm>
            <a:off x="7498080" y="4983480"/>
            <a:ext cx="3870655" cy="914400"/>
          </a:xfrm>
          <a:prstGeom prst="rect">
            <a:avLst/>
          </a:prstGeom>
          <a:noFill/>
          <a:ln/>
        </p:spPr>
        <p:txBody>
          <a:bodyPr wrap="square" lIns="0" tIns="0" rIns="0" bIns="0" rtlCol="0" anchor="ctr"/>
          <a:lstStyle/>
          <a:p>
            <a:pPr algn="ctr" indent="0" marL="0">
              <a:buNone/>
            </a:pPr>
            <a:r>
              <a:rPr lang="en-US" sz="1400" b="1" dirty="0">
                <a:solidFill>
                  <a:srgbClr val="22223B"/>
                </a:solidFill>
                <a:latin typeface="BIZ UDGothic" pitchFamily="34" charset="0"/>
                <a:ea typeface="BIZ UDGothic" pitchFamily="34" charset="-122"/>
                <a:cs typeface="BIZ UDGothic" pitchFamily="34" charset="-120"/>
              </a:rPr>
              <a:t>Ishigamiでは　</a:t>
            </a:r>
            <a:r>
              <a:rPr lang="en-US" sz="1600" b="1" i="1" dirty="0">
                <a:solidFill>
                  <a:srgbClr val="22223B"/>
                </a:solidFill>
                <a:latin typeface="Times New Roman" pitchFamily="34" charset="0"/>
                <a:ea typeface="Times New Roman" pitchFamily="34" charset="-122"/>
                <a:cs typeface="Times New Roman" pitchFamily="34" charset="-120"/>
              </a:rPr>
              <a:t>S</a:t>
            </a:r>
            <a:r>
              <a:rPr lang="en-US" sz="1600" b="1" i="1" baseline="-40000" dirty="0">
                <a:solidFill>
                  <a:srgbClr val="22223B"/>
                </a:solidFill>
                <a:latin typeface="Times New Roman" pitchFamily="34" charset="0"/>
                <a:ea typeface="Times New Roman" pitchFamily="34" charset="-122"/>
                <a:cs typeface="Times New Roman" pitchFamily="34" charset="-120"/>
              </a:rPr>
              <a:t>T1</a:t>
            </a:r>
            <a:r>
              <a:rPr lang="en-US" sz="1400" b="1" dirty="0">
                <a:solidFill>
                  <a:srgbClr val="22223B"/>
                </a:solidFill>
                <a:latin typeface="BIZ UDGothic" pitchFamily="34" charset="0"/>
                <a:ea typeface="BIZ UDGothic" pitchFamily="34" charset="-122"/>
                <a:cs typeface="BIZ UDGothic" pitchFamily="34" charset="-120"/>
              </a:rPr>
              <a:t> = 0.314 + 0.244 = 0.558</a:t>
            </a:r>
            <a:endParaRPr lang="en-US" sz="1400" dirty="0"/>
          </a:p>
        </p:txBody>
      </p:sp>
      <p:sp>
        <p:nvSpPr>
          <p:cNvPr id="46" name="Text 43"/>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47" name="Text 44"/>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02　Sobol指数の定義</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3100" b="1" i="1" dirty="0">
                <a:solidFill>
                  <a:srgbClr val="22223B"/>
                </a:solidFill>
                <a:latin typeface="Times New Roman" pitchFamily="34" charset="0"/>
                <a:ea typeface="Times New Roman" pitchFamily="34" charset="-122"/>
                <a:cs typeface="Times New Roman" pitchFamily="34" charset="-120"/>
              </a:rPr>
              <a:t>S</a:t>
            </a:r>
            <a:r>
              <a:rPr lang="en-US" sz="3100" b="1" i="1" baseline="-40000" dirty="0">
                <a:solidFill>
                  <a:srgbClr val="22223B"/>
                </a:solidFill>
                <a:latin typeface="Times New Roman" pitchFamily="34" charset="0"/>
                <a:ea typeface="Times New Roman" pitchFamily="34" charset="-122"/>
                <a:cs typeface="Times New Roman" pitchFamily="34" charset="-120"/>
              </a:rPr>
              <a:t>i</a:t>
            </a:r>
            <a:r>
              <a:rPr lang="en-US" sz="2800" b="1" dirty="0">
                <a:solidFill>
                  <a:srgbClr val="22223B"/>
                </a:solidFill>
                <a:latin typeface="BIZ UDGothic" pitchFamily="34" charset="0"/>
                <a:ea typeface="BIZ UDGothic" pitchFamily="34" charset="-122"/>
                <a:cs typeface="BIZ UDGothic" pitchFamily="34" charset="-120"/>
              </a:rPr>
              <a:t> と </a:t>
            </a:r>
            <a:r>
              <a:rPr lang="en-US" sz="3100" b="1" i="1" dirty="0">
                <a:solidFill>
                  <a:srgbClr val="22223B"/>
                </a:solidFill>
                <a:latin typeface="Times New Roman" pitchFamily="34" charset="0"/>
                <a:ea typeface="Times New Roman" pitchFamily="34" charset="-122"/>
                <a:cs typeface="Times New Roman" pitchFamily="34" charset="-120"/>
              </a:rPr>
              <a:t>S</a:t>
            </a:r>
            <a:r>
              <a:rPr lang="en-US" sz="3100" b="1" i="1" baseline="-40000" dirty="0">
                <a:solidFill>
                  <a:srgbClr val="22223B"/>
                </a:solidFill>
                <a:latin typeface="Times New Roman" pitchFamily="34" charset="0"/>
                <a:ea typeface="Times New Roman" pitchFamily="34" charset="-122"/>
                <a:cs typeface="Times New Roman" pitchFamily="34" charset="-120"/>
              </a:rPr>
              <a:t>Ti</a:t>
            </a:r>
            <a:r>
              <a:rPr lang="en-US" sz="2800" b="1" dirty="0">
                <a:solidFill>
                  <a:srgbClr val="22223B"/>
                </a:solidFill>
                <a:latin typeface="BIZ UDGothic" pitchFamily="34" charset="0"/>
                <a:ea typeface="BIZ UDGothic" pitchFamily="34" charset="-122"/>
                <a:cs typeface="BIZ UDGothic" pitchFamily="34" charset="-120"/>
              </a:rPr>
              <a:t> の読み方</a:t>
            </a:r>
            <a:endParaRPr lang="en-US" sz="3100" dirty="0"/>
          </a:p>
        </p:txBody>
      </p:sp>
      <p:sp>
        <p:nvSpPr>
          <p:cNvPr id="5" name="Shape 2"/>
          <p:cNvSpPr/>
          <p:nvPr/>
        </p:nvSpPr>
        <p:spPr>
          <a:xfrm>
            <a:off x="548640" y="1463040"/>
            <a:ext cx="5410048" cy="2194560"/>
          </a:xfrm>
          <a:prstGeom prst="roundRect">
            <a:avLst>
              <a:gd name="adj" fmla="val 3333"/>
            </a:avLst>
          </a:prstGeom>
          <a:solidFill>
            <a:srgbClr val="FFFFFF"/>
          </a:solidFill>
          <a:ln w="9525">
            <a:solidFill>
              <a:srgbClr val="DADDE6"/>
            </a:solidFill>
            <a:prstDash val="solid"/>
          </a:ln>
        </p:spPr>
      </p:sp>
      <p:sp>
        <p:nvSpPr>
          <p:cNvPr id="6" name="Shape 3"/>
          <p:cNvSpPr/>
          <p:nvPr/>
        </p:nvSpPr>
        <p:spPr>
          <a:xfrm>
            <a:off x="822960" y="1737360"/>
            <a:ext cx="640080" cy="640080"/>
          </a:xfrm>
          <a:prstGeom prst="ellipse">
            <a:avLst/>
          </a:prstGeom>
          <a:solidFill>
            <a:srgbClr val="4A4E69"/>
          </a:solidFill>
          <a:ln/>
        </p:spPr>
      </p:sp>
      <p:pic>
        <p:nvPicPr>
          <p:cNvPr id="7" name="Image 0" descr="preencoded.png">    </p:cNvPr>
          <p:cNvPicPr>
            <a:picLocks noChangeAspect="1"/>
          </p:cNvPicPr>
          <p:nvPr/>
        </p:nvPicPr>
        <p:blipFill>
          <a:blip r:embed="rId1"/>
          <a:stretch>
            <a:fillRect/>
          </a:stretch>
        </p:blipFill>
        <p:spPr>
          <a:xfrm>
            <a:off x="963778" y="1878178"/>
            <a:ext cx="358445" cy="358445"/>
          </a:xfrm>
          <a:prstGeom prst="rect">
            <a:avLst/>
          </a:prstGeom>
        </p:spPr>
      </p:pic>
      <p:sp>
        <p:nvSpPr>
          <p:cNvPr id="8" name="Text 4"/>
          <p:cNvSpPr/>
          <p:nvPr/>
        </p:nvSpPr>
        <p:spPr>
          <a:xfrm>
            <a:off x="1691640" y="1737360"/>
            <a:ext cx="4038448" cy="640080"/>
          </a:xfrm>
          <a:prstGeom prst="rect">
            <a:avLst/>
          </a:prstGeom>
          <a:noFill/>
          <a:ln/>
        </p:spPr>
        <p:txBody>
          <a:bodyPr wrap="square" lIns="0" tIns="0" rIns="0" bIns="0" rtlCol="0" anchor="ctr"/>
          <a:lstStyle/>
          <a:p>
            <a:pPr indent="0" marL="0">
              <a:buNone/>
            </a:pPr>
            <a:r>
              <a:rPr lang="en-US" sz="2200" b="1" i="1" dirty="0">
                <a:solidFill>
                  <a:srgbClr val="22223B"/>
                </a:solidFill>
                <a:latin typeface="Times New Roman" pitchFamily="34" charset="0"/>
                <a:ea typeface="Times New Roman" pitchFamily="34" charset="-122"/>
                <a:cs typeface="Times New Roman" pitchFamily="34" charset="-120"/>
              </a:rPr>
              <a:t>S</a:t>
            </a:r>
            <a:r>
              <a:rPr lang="en-US" sz="2200" b="1" i="1" baseline="-40000" dirty="0">
                <a:solidFill>
                  <a:srgbClr val="22223B"/>
                </a:solidFill>
                <a:latin typeface="Times New Roman" pitchFamily="34" charset="0"/>
                <a:ea typeface="Times New Roman" pitchFamily="34" charset="-122"/>
                <a:cs typeface="Times New Roman" pitchFamily="34" charset="-120"/>
              </a:rPr>
              <a:t>Ti</a:t>
            </a:r>
            <a:r>
              <a:rPr lang="en-US" sz="2000" b="1" dirty="0">
                <a:solidFill>
                  <a:srgbClr val="22223B"/>
                </a:solidFill>
                <a:latin typeface="BIZ UDGothic" pitchFamily="34" charset="0"/>
                <a:ea typeface="BIZ UDGothic" pitchFamily="34" charset="-122"/>
                <a:cs typeface="BIZ UDGothic" pitchFamily="34" charset="-120"/>
              </a:rPr>
              <a:t> ≈ 0</a:t>
            </a:r>
            <a:endParaRPr lang="en-US" sz="2200" dirty="0"/>
          </a:p>
        </p:txBody>
      </p:sp>
      <p:sp>
        <p:nvSpPr>
          <p:cNvPr id="9" name="Text 5"/>
          <p:cNvSpPr/>
          <p:nvPr/>
        </p:nvSpPr>
        <p:spPr>
          <a:xfrm>
            <a:off x="1691640" y="2423160"/>
            <a:ext cx="4038448" cy="685800"/>
          </a:xfrm>
          <a:prstGeom prst="rect">
            <a:avLst/>
          </a:prstGeom>
          <a:noFill/>
          <a:ln/>
        </p:spPr>
        <p:txBody>
          <a:bodyPr wrap="square" lIns="0" tIns="0" rIns="0" bIns="0" rtlCol="0" anchor="t"/>
          <a:lstStyle/>
          <a:p>
            <a:pPr indent="0" marL="0">
              <a:buNone/>
            </a:pPr>
            <a:r>
              <a:rPr lang="en-US" sz="1500" dirty="0">
                <a:solidFill>
                  <a:srgbClr val="22223B"/>
                </a:solidFill>
                <a:latin typeface="BIZ UDGothic" pitchFamily="34" charset="0"/>
                <a:ea typeface="BIZ UDGothic" pitchFamily="34" charset="-122"/>
                <a:cs typeface="BIZ UDGothic" pitchFamily="34" charset="-120"/>
              </a:rPr>
              <a:t>ほぼ影響なし。固定値にしてよい（因子の固定）</a:t>
            </a:r>
            <a:endParaRPr lang="en-US" sz="1500" dirty="0"/>
          </a:p>
        </p:txBody>
      </p:sp>
      <p:sp>
        <p:nvSpPr>
          <p:cNvPr id="10" name="Text 6"/>
          <p:cNvSpPr/>
          <p:nvPr/>
        </p:nvSpPr>
        <p:spPr>
          <a:xfrm>
            <a:off x="1691640" y="3108960"/>
            <a:ext cx="4038448" cy="411480"/>
          </a:xfrm>
          <a:prstGeom prst="rect">
            <a:avLst/>
          </a:prstGeom>
          <a:noFill/>
          <a:ln/>
        </p:spPr>
        <p:txBody>
          <a:bodyPr wrap="square" lIns="0" tIns="0" rIns="0" bIns="0" rtlCol="0" anchor="t"/>
          <a:lstStyle/>
          <a:p>
            <a:pPr indent="0" marL="0">
              <a:buNone/>
            </a:pPr>
            <a:r>
              <a:rPr lang="en-US" sz="1200" dirty="0">
                <a:solidFill>
                  <a:srgbClr val="6C6F7F"/>
                </a:solidFill>
                <a:latin typeface="BIZ UDGothic" pitchFamily="34" charset="0"/>
                <a:ea typeface="BIZ UDGothic" pitchFamily="34" charset="-122"/>
                <a:cs typeface="BIZ UDGothic" pitchFamily="34" charset="-120"/>
              </a:rPr>
              <a:t>「≈ 0」の基準は目的に応じて決め、信頼区間の上限で判断する</a:t>
            </a:r>
            <a:endParaRPr lang="en-US" sz="1200" dirty="0"/>
          </a:p>
        </p:txBody>
      </p:sp>
      <p:sp>
        <p:nvSpPr>
          <p:cNvPr id="11" name="Shape 7"/>
          <p:cNvSpPr/>
          <p:nvPr/>
        </p:nvSpPr>
        <p:spPr>
          <a:xfrm>
            <a:off x="6233008" y="1463040"/>
            <a:ext cx="5410048" cy="2194560"/>
          </a:xfrm>
          <a:prstGeom prst="roundRect">
            <a:avLst>
              <a:gd name="adj" fmla="val 3333"/>
            </a:avLst>
          </a:prstGeom>
          <a:solidFill>
            <a:srgbClr val="FFFFFF"/>
          </a:solidFill>
          <a:ln w="9525">
            <a:solidFill>
              <a:srgbClr val="DADDE6"/>
            </a:solidFill>
            <a:prstDash val="solid"/>
          </a:ln>
        </p:spPr>
      </p:sp>
      <p:sp>
        <p:nvSpPr>
          <p:cNvPr id="12" name="Shape 8"/>
          <p:cNvSpPr/>
          <p:nvPr/>
        </p:nvSpPr>
        <p:spPr>
          <a:xfrm>
            <a:off x="6507328" y="1737360"/>
            <a:ext cx="640080" cy="640080"/>
          </a:xfrm>
          <a:prstGeom prst="ellipse">
            <a:avLst/>
          </a:prstGeom>
          <a:solidFill>
            <a:srgbClr val="2A9D8F"/>
          </a:solidFill>
          <a:ln/>
        </p:spPr>
      </p:sp>
      <p:pic>
        <p:nvPicPr>
          <p:cNvPr id="13" name="Image 1" descr="preencoded.png">    </p:cNvPr>
          <p:cNvPicPr>
            <a:picLocks noChangeAspect="1"/>
          </p:cNvPicPr>
          <p:nvPr/>
        </p:nvPicPr>
        <p:blipFill>
          <a:blip r:embed="rId2"/>
          <a:stretch>
            <a:fillRect/>
          </a:stretch>
        </p:blipFill>
        <p:spPr>
          <a:xfrm>
            <a:off x="6648145" y="1878178"/>
            <a:ext cx="358445" cy="358445"/>
          </a:xfrm>
          <a:prstGeom prst="rect">
            <a:avLst/>
          </a:prstGeom>
        </p:spPr>
      </p:pic>
      <p:sp>
        <p:nvSpPr>
          <p:cNvPr id="14" name="Text 9"/>
          <p:cNvSpPr/>
          <p:nvPr/>
        </p:nvSpPr>
        <p:spPr>
          <a:xfrm>
            <a:off x="7376008" y="1737360"/>
            <a:ext cx="4038448" cy="640080"/>
          </a:xfrm>
          <a:prstGeom prst="rect">
            <a:avLst/>
          </a:prstGeom>
          <a:noFill/>
          <a:ln/>
        </p:spPr>
        <p:txBody>
          <a:bodyPr wrap="square" lIns="0" tIns="0" rIns="0" bIns="0" rtlCol="0" anchor="ctr"/>
          <a:lstStyle/>
          <a:p>
            <a:pPr indent="0" marL="0">
              <a:buNone/>
            </a:pPr>
            <a:r>
              <a:rPr lang="en-US" sz="2200" b="1" i="1" dirty="0">
                <a:solidFill>
                  <a:srgbClr val="22223B"/>
                </a:solidFill>
                <a:latin typeface="Times New Roman" pitchFamily="34" charset="0"/>
                <a:ea typeface="Times New Roman" pitchFamily="34" charset="-122"/>
                <a:cs typeface="Times New Roman" pitchFamily="34" charset="-120"/>
              </a:rPr>
              <a:t>S</a:t>
            </a:r>
            <a:r>
              <a:rPr lang="en-US" sz="2200" b="1" i="1" baseline="-40000" dirty="0">
                <a:solidFill>
                  <a:srgbClr val="22223B"/>
                </a:solidFill>
                <a:latin typeface="Times New Roman" pitchFamily="34" charset="0"/>
                <a:ea typeface="Times New Roman" pitchFamily="34" charset="-122"/>
                <a:cs typeface="Times New Roman" pitchFamily="34" charset="-120"/>
              </a:rPr>
              <a:t>i</a:t>
            </a:r>
            <a:r>
              <a:rPr lang="en-US" sz="2000" b="1" dirty="0">
                <a:solidFill>
                  <a:srgbClr val="22223B"/>
                </a:solidFill>
                <a:latin typeface="BIZ UDGothic" pitchFamily="34" charset="0"/>
                <a:ea typeface="BIZ UDGothic" pitchFamily="34" charset="-122"/>
                <a:cs typeface="BIZ UDGothic" pitchFamily="34" charset="-120"/>
              </a:rPr>
              <a:t> ≈ </a:t>
            </a:r>
            <a:r>
              <a:rPr lang="en-US" sz="2200" b="1" i="1" dirty="0">
                <a:solidFill>
                  <a:srgbClr val="22223B"/>
                </a:solidFill>
                <a:latin typeface="Times New Roman" pitchFamily="34" charset="0"/>
                <a:ea typeface="Times New Roman" pitchFamily="34" charset="-122"/>
                <a:cs typeface="Times New Roman" pitchFamily="34" charset="-120"/>
              </a:rPr>
              <a:t>S</a:t>
            </a:r>
            <a:r>
              <a:rPr lang="en-US" sz="2200" b="1" i="1" baseline="-40000" dirty="0">
                <a:solidFill>
                  <a:srgbClr val="22223B"/>
                </a:solidFill>
                <a:latin typeface="Times New Roman" pitchFamily="34" charset="0"/>
                <a:ea typeface="Times New Roman" pitchFamily="34" charset="-122"/>
                <a:cs typeface="Times New Roman" pitchFamily="34" charset="-120"/>
              </a:rPr>
              <a:t>Ti</a:t>
            </a:r>
            <a:r>
              <a:rPr lang="en-US" sz="2000" b="1" dirty="0">
                <a:solidFill>
                  <a:srgbClr val="22223B"/>
                </a:solidFill>
                <a:latin typeface="BIZ UDGothic" pitchFamily="34" charset="0"/>
                <a:ea typeface="BIZ UDGothic" pitchFamily="34" charset="-122"/>
                <a:cs typeface="BIZ UDGothic" pitchFamily="34" charset="-120"/>
              </a:rPr>
              <a:t>、ともに大きい</a:t>
            </a:r>
            <a:endParaRPr lang="en-US" sz="2200" dirty="0"/>
          </a:p>
        </p:txBody>
      </p:sp>
      <p:sp>
        <p:nvSpPr>
          <p:cNvPr id="15" name="Text 10"/>
          <p:cNvSpPr/>
          <p:nvPr/>
        </p:nvSpPr>
        <p:spPr>
          <a:xfrm>
            <a:off x="7376008" y="2423160"/>
            <a:ext cx="4038448" cy="685800"/>
          </a:xfrm>
          <a:prstGeom prst="rect">
            <a:avLst/>
          </a:prstGeom>
          <a:noFill/>
          <a:ln/>
        </p:spPr>
        <p:txBody>
          <a:bodyPr wrap="square" lIns="0" tIns="0" rIns="0" bIns="0" rtlCol="0" anchor="t"/>
          <a:lstStyle/>
          <a:p>
            <a:pPr indent="0" marL="0">
              <a:buNone/>
            </a:pPr>
            <a:r>
              <a:rPr lang="en-US" sz="1500" dirty="0">
                <a:solidFill>
                  <a:srgbClr val="22223B"/>
                </a:solidFill>
                <a:latin typeface="BIZ UDGothic" pitchFamily="34" charset="0"/>
                <a:ea typeface="BIZ UDGothic" pitchFamily="34" charset="-122"/>
                <a:cs typeface="BIZ UDGothic" pitchFamily="34" charset="-120"/>
              </a:rPr>
              <a:t>単独で効く重要因子（足し算的な効き方）</a:t>
            </a:r>
            <a:endParaRPr lang="en-US" sz="1500" dirty="0"/>
          </a:p>
        </p:txBody>
      </p:sp>
      <p:sp>
        <p:nvSpPr>
          <p:cNvPr id="16" name="Text 11"/>
          <p:cNvSpPr/>
          <p:nvPr/>
        </p:nvSpPr>
        <p:spPr>
          <a:xfrm>
            <a:off x="7376008" y="3108960"/>
            <a:ext cx="4038448" cy="411480"/>
          </a:xfrm>
          <a:prstGeom prst="rect">
            <a:avLst/>
          </a:prstGeom>
          <a:noFill/>
          <a:ln/>
        </p:spPr>
        <p:txBody>
          <a:bodyPr wrap="square" lIns="0" tIns="0" rIns="0" bIns="0" rtlCol="0" anchor="t"/>
          <a:lstStyle/>
          <a:p>
            <a:pPr indent="0" marL="0">
              <a:buNone/>
            </a:pPr>
            <a:r>
              <a:rPr lang="en-US" sz="1200" dirty="0">
                <a:solidFill>
                  <a:srgbClr val="6C6F7F"/>
                </a:solidFill>
                <a:latin typeface="BIZ UDGothic" pitchFamily="34" charset="0"/>
                <a:ea typeface="BIZ UDGothic" pitchFamily="34" charset="-122"/>
                <a:cs typeface="BIZ UDGothic" pitchFamily="34" charset="-120"/>
              </a:rPr>
              <a:t>例：Ishigami の </a:t>
            </a:r>
            <a:r>
              <a:rPr lang="en-US" sz="1300" i="1" dirty="0">
                <a:solidFill>
                  <a:srgbClr val="6C6F7F"/>
                </a:solidFill>
                <a:latin typeface="Times New Roman" pitchFamily="34" charset="0"/>
                <a:ea typeface="Times New Roman" pitchFamily="34" charset="-122"/>
                <a:cs typeface="Times New Roman" pitchFamily="34" charset="-120"/>
              </a:rPr>
              <a:t>X</a:t>
            </a:r>
            <a:r>
              <a:rPr lang="en-US" sz="1300" i="1" baseline="-40000" dirty="0">
                <a:solidFill>
                  <a:srgbClr val="6C6F7F"/>
                </a:solidFill>
                <a:latin typeface="Times New Roman" pitchFamily="34" charset="0"/>
                <a:ea typeface="Times New Roman" pitchFamily="34" charset="-122"/>
                <a:cs typeface="Times New Roman" pitchFamily="34" charset="-120"/>
              </a:rPr>
              <a:t>2</a:t>
            </a:r>
            <a:r>
              <a:rPr lang="en-US" sz="1200" dirty="0">
                <a:solidFill>
                  <a:srgbClr val="6C6F7F"/>
                </a:solidFill>
                <a:latin typeface="BIZ UDGothic" pitchFamily="34" charset="0"/>
                <a:ea typeface="BIZ UDGothic" pitchFamily="34" charset="-122"/>
                <a:cs typeface="BIZ UDGothic" pitchFamily="34" charset="-120"/>
              </a:rPr>
              <a:t>（</a:t>
            </a:r>
            <a:r>
              <a:rPr lang="en-US" sz="1300" i="1" dirty="0">
                <a:solidFill>
                  <a:srgbClr val="6C6F7F"/>
                </a:solidFill>
                <a:latin typeface="Times New Roman" pitchFamily="34" charset="0"/>
                <a:ea typeface="Times New Roman" pitchFamily="34" charset="-122"/>
                <a:cs typeface="Times New Roman" pitchFamily="34" charset="-120"/>
              </a:rPr>
              <a:t>S</a:t>
            </a:r>
            <a:r>
              <a:rPr lang="en-US" sz="1200" dirty="0">
                <a:solidFill>
                  <a:srgbClr val="6C6F7F"/>
                </a:solidFill>
                <a:latin typeface="BIZ UDGothic" pitchFamily="34" charset="0"/>
                <a:ea typeface="BIZ UDGothic" pitchFamily="34" charset="-122"/>
                <a:cs typeface="BIZ UDGothic" pitchFamily="34" charset="-120"/>
              </a:rPr>
              <a:t> = 0.442、</a:t>
            </a:r>
            <a:r>
              <a:rPr lang="en-US" sz="1300" i="1" dirty="0">
                <a:solidFill>
                  <a:srgbClr val="6C6F7F"/>
                </a:solidFill>
                <a:latin typeface="Times New Roman" pitchFamily="34" charset="0"/>
                <a:ea typeface="Times New Roman" pitchFamily="34" charset="-122"/>
                <a:cs typeface="Times New Roman" pitchFamily="34" charset="-120"/>
              </a:rPr>
              <a:t>S</a:t>
            </a:r>
            <a:r>
              <a:rPr lang="en-US" sz="1300" i="1" baseline="-40000" dirty="0">
                <a:solidFill>
                  <a:srgbClr val="6C6F7F"/>
                </a:solidFill>
                <a:latin typeface="Times New Roman" pitchFamily="34" charset="0"/>
                <a:ea typeface="Times New Roman" pitchFamily="34" charset="-122"/>
                <a:cs typeface="Times New Roman" pitchFamily="34" charset="-120"/>
              </a:rPr>
              <a:t>T</a:t>
            </a:r>
            <a:r>
              <a:rPr lang="en-US" sz="1200" dirty="0">
                <a:solidFill>
                  <a:srgbClr val="6C6F7F"/>
                </a:solidFill>
                <a:latin typeface="BIZ UDGothic" pitchFamily="34" charset="0"/>
                <a:ea typeface="BIZ UDGothic" pitchFamily="34" charset="-122"/>
                <a:cs typeface="BIZ UDGothic" pitchFamily="34" charset="-120"/>
              </a:rPr>
              <a:t> = 0.442）</a:t>
            </a:r>
            <a:endParaRPr lang="en-US" sz="1200" dirty="0"/>
          </a:p>
        </p:txBody>
      </p:sp>
      <p:sp>
        <p:nvSpPr>
          <p:cNvPr id="17" name="Shape 12"/>
          <p:cNvSpPr/>
          <p:nvPr/>
        </p:nvSpPr>
        <p:spPr>
          <a:xfrm>
            <a:off x="548640" y="3931920"/>
            <a:ext cx="5410048" cy="2194560"/>
          </a:xfrm>
          <a:prstGeom prst="roundRect">
            <a:avLst>
              <a:gd name="adj" fmla="val 3333"/>
            </a:avLst>
          </a:prstGeom>
          <a:solidFill>
            <a:srgbClr val="FFFFFF"/>
          </a:solidFill>
          <a:ln w="9525">
            <a:solidFill>
              <a:srgbClr val="DADDE6"/>
            </a:solidFill>
            <a:prstDash val="solid"/>
          </a:ln>
        </p:spPr>
      </p:sp>
      <p:sp>
        <p:nvSpPr>
          <p:cNvPr id="18" name="Shape 13"/>
          <p:cNvSpPr/>
          <p:nvPr/>
        </p:nvSpPr>
        <p:spPr>
          <a:xfrm>
            <a:off x="822960" y="4206240"/>
            <a:ext cx="640080" cy="640080"/>
          </a:xfrm>
          <a:prstGeom prst="ellipse">
            <a:avLst/>
          </a:prstGeom>
          <a:solidFill>
            <a:srgbClr val="8D6A9F"/>
          </a:solidFill>
          <a:ln/>
        </p:spPr>
      </p:sp>
      <p:pic>
        <p:nvPicPr>
          <p:cNvPr id="19" name="Image 2" descr="preencoded.png">    </p:cNvPr>
          <p:cNvPicPr>
            <a:picLocks noChangeAspect="1"/>
          </p:cNvPicPr>
          <p:nvPr/>
        </p:nvPicPr>
        <p:blipFill>
          <a:blip r:embed="rId3"/>
          <a:stretch>
            <a:fillRect/>
          </a:stretch>
        </p:blipFill>
        <p:spPr>
          <a:xfrm>
            <a:off x="963778" y="4347058"/>
            <a:ext cx="358445" cy="358445"/>
          </a:xfrm>
          <a:prstGeom prst="rect">
            <a:avLst/>
          </a:prstGeom>
        </p:spPr>
      </p:pic>
      <p:sp>
        <p:nvSpPr>
          <p:cNvPr id="20" name="Text 14"/>
          <p:cNvSpPr/>
          <p:nvPr/>
        </p:nvSpPr>
        <p:spPr>
          <a:xfrm>
            <a:off x="1691640" y="4206240"/>
            <a:ext cx="4038448" cy="640080"/>
          </a:xfrm>
          <a:prstGeom prst="rect">
            <a:avLst/>
          </a:prstGeom>
          <a:noFill/>
          <a:ln/>
        </p:spPr>
        <p:txBody>
          <a:bodyPr wrap="square" lIns="0" tIns="0" rIns="0" bIns="0" rtlCol="0" anchor="ctr"/>
          <a:lstStyle/>
          <a:p>
            <a:pPr indent="0" marL="0">
              <a:buNone/>
            </a:pPr>
            <a:r>
              <a:rPr lang="en-US" sz="2200" b="1" i="1" dirty="0">
                <a:solidFill>
                  <a:srgbClr val="22223B"/>
                </a:solidFill>
                <a:latin typeface="Times New Roman" pitchFamily="34" charset="0"/>
                <a:ea typeface="Times New Roman" pitchFamily="34" charset="-122"/>
                <a:cs typeface="Times New Roman" pitchFamily="34" charset="-120"/>
              </a:rPr>
              <a:t>S</a:t>
            </a:r>
            <a:r>
              <a:rPr lang="en-US" sz="2200" b="1" i="1" baseline="-40000" dirty="0">
                <a:solidFill>
                  <a:srgbClr val="22223B"/>
                </a:solidFill>
                <a:latin typeface="Times New Roman" pitchFamily="34" charset="0"/>
                <a:ea typeface="Times New Roman" pitchFamily="34" charset="-122"/>
                <a:cs typeface="Times New Roman" pitchFamily="34" charset="-120"/>
              </a:rPr>
              <a:t>Ti</a:t>
            </a:r>
            <a:r>
              <a:rPr lang="en-US" sz="2000" b="1" dirty="0">
                <a:solidFill>
                  <a:srgbClr val="22223B"/>
                </a:solidFill>
                <a:latin typeface="BIZ UDGothic" pitchFamily="34" charset="0"/>
                <a:ea typeface="BIZ UDGothic" pitchFamily="34" charset="-122"/>
                <a:cs typeface="BIZ UDGothic" pitchFamily="34" charset="-120"/>
              </a:rPr>
              <a:t> ≫ </a:t>
            </a:r>
            <a:r>
              <a:rPr lang="en-US" sz="2200" b="1" i="1" dirty="0">
                <a:solidFill>
                  <a:srgbClr val="22223B"/>
                </a:solidFill>
                <a:latin typeface="Times New Roman" pitchFamily="34" charset="0"/>
                <a:ea typeface="Times New Roman" pitchFamily="34" charset="-122"/>
                <a:cs typeface="Times New Roman" pitchFamily="34" charset="-120"/>
              </a:rPr>
              <a:t>S</a:t>
            </a:r>
            <a:r>
              <a:rPr lang="en-US" sz="2200" b="1" i="1" baseline="-40000" dirty="0">
                <a:solidFill>
                  <a:srgbClr val="22223B"/>
                </a:solidFill>
                <a:latin typeface="Times New Roman" pitchFamily="34" charset="0"/>
                <a:ea typeface="Times New Roman" pitchFamily="34" charset="-122"/>
                <a:cs typeface="Times New Roman" pitchFamily="34" charset="-120"/>
              </a:rPr>
              <a:t>i</a:t>
            </a:r>
            <a:endParaRPr lang="en-US" sz="2200" dirty="0"/>
          </a:p>
        </p:txBody>
      </p:sp>
      <p:sp>
        <p:nvSpPr>
          <p:cNvPr id="21" name="Text 15"/>
          <p:cNvSpPr/>
          <p:nvPr/>
        </p:nvSpPr>
        <p:spPr>
          <a:xfrm>
            <a:off x="1691640" y="4892040"/>
            <a:ext cx="4038448" cy="685800"/>
          </a:xfrm>
          <a:prstGeom prst="rect">
            <a:avLst/>
          </a:prstGeom>
          <a:noFill/>
          <a:ln/>
        </p:spPr>
        <p:txBody>
          <a:bodyPr wrap="square" lIns="0" tIns="0" rIns="0" bIns="0" rtlCol="0" anchor="t"/>
          <a:lstStyle/>
          <a:p>
            <a:pPr indent="0" marL="0">
              <a:buNone/>
            </a:pPr>
            <a:r>
              <a:rPr lang="en-US" sz="1500" dirty="0">
                <a:solidFill>
                  <a:srgbClr val="22223B"/>
                </a:solidFill>
                <a:latin typeface="BIZ UDGothic" pitchFamily="34" charset="0"/>
                <a:ea typeface="BIZ UDGothic" pitchFamily="34" charset="-122"/>
                <a:cs typeface="BIZ UDGothic" pitchFamily="34" charset="-120"/>
              </a:rPr>
              <a:t>交互作用を通じて効く。他の入力との組み合わせで検討する</a:t>
            </a:r>
            <a:endParaRPr lang="en-US" sz="1500" dirty="0"/>
          </a:p>
        </p:txBody>
      </p:sp>
      <p:sp>
        <p:nvSpPr>
          <p:cNvPr id="22" name="Text 16"/>
          <p:cNvSpPr/>
          <p:nvPr/>
        </p:nvSpPr>
        <p:spPr>
          <a:xfrm>
            <a:off x="1691640" y="5577840"/>
            <a:ext cx="4038448" cy="411480"/>
          </a:xfrm>
          <a:prstGeom prst="rect">
            <a:avLst/>
          </a:prstGeom>
          <a:noFill/>
          <a:ln/>
        </p:spPr>
        <p:txBody>
          <a:bodyPr wrap="square" lIns="0" tIns="0" rIns="0" bIns="0" rtlCol="0" anchor="t"/>
          <a:lstStyle/>
          <a:p>
            <a:pPr indent="0" marL="0">
              <a:buNone/>
            </a:pPr>
            <a:r>
              <a:rPr lang="en-US" sz="1200" dirty="0">
                <a:solidFill>
                  <a:srgbClr val="6C6F7F"/>
                </a:solidFill>
                <a:latin typeface="BIZ UDGothic" pitchFamily="34" charset="0"/>
                <a:ea typeface="BIZ UDGothic" pitchFamily="34" charset="-122"/>
                <a:cs typeface="BIZ UDGothic" pitchFamily="34" charset="-120"/>
              </a:rPr>
              <a:t>例：Ishigami の </a:t>
            </a:r>
            <a:r>
              <a:rPr lang="en-US" sz="1300" i="1" dirty="0">
                <a:solidFill>
                  <a:srgbClr val="6C6F7F"/>
                </a:solidFill>
                <a:latin typeface="Times New Roman" pitchFamily="34" charset="0"/>
                <a:ea typeface="Times New Roman" pitchFamily="34" charset="-122"/>
                <a:cs typeface="Times New Roman" pitchFamily="34" charset="-120"/>
              </a:rPr>
              <a:t>X</a:t>
            </a:r>
            <a:r>
              <a:rPr lang="en-US" sz="1300" i="1" baseline="-40000" dirty="0">
                <a:solidFill>
                  <a:srgbClr val="6C6F7F"/>
                </a:solidFill>
                <a:latin typeface="Times New Roman" pitchFamily="34" charset="0"/>
                <a:ea typeface="Times New Roman" pitchFamily="34" charset="-122"/>
                <a:cs typeface="Times New Roman" pitchFamily="34" charset="-120"/>
              </a:rPr>
              <a:t>3</a:t>
            </a:r>
            <a:r>
              <a:rPr lang="en-US" sz="1200" dirty="0">
                <a:solidFill>
                  <a:srgbClr val="6C6F7F"/>
                </a:solidFill>
                <a:latin typeface="BIZ UDGothic" pitchFamily="34" charset="0"/>
                <a:ea typeface="BIZ UDGothic" pitchFamily="34" charset="-122"/>
                <a:cs typeface="BIZ UDGothic" pitchFamily="34" charset="-120"/>
              </a:rPr>
              <a:t>（</a:t>
            </a:r>
            <a:r>
              <a:rPr lang="en-US" sz="1300" i="1" dirty="0">
                <a:solidFill>
                  <a:srgbClr val="6C6F7F"/>
                </a:solidFill>
                <a:latin typeface="Times New Roman" pitchFamily="34" charset="0"/>
                <a:ea typeface="Times New Roman" pitchFamily="34" charset="-122"/>
                <a:cs typeface="Times New Roman" pitchFamily="34" charset="-120"/>
              </a:rPr>
              <a:t>S</a:t>
            </a:r>
            <a:r>
              <a:rPr lang="en-US" sz="1200" dirty="0">
                <a:solidFill>
                  <a:srgbClr val="6C6F7F"/>
                </a:solidFill>
                <a:latin typeface="BIZ UDGothic" pitchFamily="34" charset="0"/>
                <a:ea typeface="BIZ UDGothic" pitchFamily="34" charset="-122"/>
                <a:cs typeface="BIZ UDGothic" pitchFamily="34" charset="-120"/>
              </a:rPr>
              <a:t> = 0.000、</a:t>
            </a:r>
            <a:r>
              <a:rPr lang="en-US" sz="1300" i="1" dirty="0">
                <a:solidFill>
                  <a:srgbClr val="6C6F7F"/>
                </a:solidFill>
                <a:latin typeface="Times New Roman" pitchFamily="34" charset="0"/>
                <a:ea typeface="Times New Roman" pitchFamily="34" charset="-122"/>
                <a:cs typeface="Times New Roman" pitchFamily="34" charset="-120"/>
              </a:rPr>
              <a:t>S</a:t>
            </a:r>
            <a:r>
              <a:rPr lang="en-US" sz="1300" i="1" baseline="-40000" dirty="0">
                <a:solidFill>
                  <a:srgbClr val="6C6F7F"/>
                </a:solidFill>
                <a:latin typeface="Times New Roman" pitchFamily="34" charset="0"/>
                <a:ea typeface="Times New Roman" pitchFamily="34" charset="-122"/>
                <a:cs typeface="Times New Roman" pitchFamily="34" charset="-120"/>
              </a:rPr>
              <a:t>T</a:t>
            </a:r>
            <a:r>
              <a:rPr lang="en-US" sz="1200" dirty="0">
                <a:solidFill>
                  <a:srgbClr val="6C6F7F"/>
                </a:solidFill>
                <a:latin typeface="BIZ UDGothic" pitchFamily="34" charset="0"/>
                <a:ea typeface="BIZ UDGothic" pitchFamily="34" charset="-122"/>
                <a:cs typeface="BIZ UDGothic" pitchFamily="34" charset="-120"/>
              </a:rPr>
              <a:t> = 0.244）</a:t>
            </a:r>
            <a:endParaRPr lang="en-US" sz="1200" dirty="0"/>
          </a:p>
        </p:txBody>
      </p:sp>
      <p:sp>
        <p:nvSpPr>
          <p:cNvPr id="23" name="Shape 17"/>
          <p:cNvSpPr/>
          <p:nvPr/>
        </p:nvSpPr>
        <p:spPr>
          <a:xfrm>
            <a:off x="6233008" y="3931920"/>
            <a:ext cx="5410048" cy="2194560"/>
          </a:xfrm>
          <a:prstGeom prst="roundRect">
            <a:avLst>
              <a:gd name="adj" fmla="val 3333"/>
            </a:avLst>
          </a:prstGeom>
          <a:solidFill>
            <a:srgbClr val="FFFFFF"/>
          </a:solidFill>
          <a:ln w="9525">
            <a:solidFill>
              <a:srgbClr val="DADDE6"/>
            </a:solidFill>
            <a:prstDash val="solid"/>
          </a:ln>
        </p:spPr>
      </p:sp>
      <p:sp>
        <p:nvSpPr>
          <p:cNvPr id="24" name="Shape 18"/>
          <p:cNvSpPr/>
          <p:nvPr/>
        </p:nvSpPr>
        <p:spPr>
          <a:xfrm>
            <a:off x="6507328" y="4206240"/>
            <a:ext cx="640080" cy="640080"/>
          </a:xfrm>
          <a:prstGeom prst="ellipse">
            <a:avLst/>
          </a:prstGeom>
          <a:solidFill>
            <a:srgbClr val="E76F51"/>
          </a:solidFill>
          <a:ln/>
        </p:spPr>
      </p:sp>
      <p:pic>
        <p:nvPicPr>
          <p:cNvPr id="25" name="Image 3" descr="preencoded.png">    </p:cNvPr>
          <p:cNvPicPr>
            <a:picLocks noChangeAspect="1"/>
          </p:cNvPicPr>
          <p:nvPr/>
        </p:nvPicPr>
        <p:blipFill>
          <a:blip r:embed="rId4"/>
          <a:stretch>
            <a:fillRect/>
          </a:stretch>
        </p:blipFill>
        <p:spPr>
          <a:xfrm>
            <a:off x="6648145" y="4347058"/>
            <a:ext cx="358445" cy="358445"/>
          </a:xfrm>
          <a:prstGeom prst="rect">
            <a:avLst/>
          </a:prstGeom>
        </p:spPr>
      </p:pic>
      <p:sp>
        <p:nvSpPr>
          <p:cNvPr id="26" name="Text 19"/>
          <p:cNvSpPr/>
          <p:nvPr/>
        </p:nvSpPr>
        <p:spPr>
          <a:xfrm>
            <a:off x="7376008" y="4206240"/>
            <a:ext cx="4038448" cy="640080"/>
          </a:xfrm>
          <a:prstGeom prst="rect">
            <a:avLst/>
          </a:prstGeom>
          <a:noFill/>
          <a:ln/>
        </p:spPr>
        <p:txBody>
          <a:bodyPr wrap="square" lIns="0" tIns="0" rIns="0" bIns="0" rtlCol="0" anchor="ctr"/>
          <a:lstStyle/>
          <a:p>
            <a:pPr indent="0" marL="0">
              <a:buNone/>
            </a:pPr>
            <a:r>
              <a:rPr lang="en-US" sz="2000" b="1" dirty="0">
                <a:solidFill>
                  <a:srgbClr val="22223B"/>
                </a:solidFill>
                <a:latin typeface="BIZ UDGothic" pitchFamily="34" charset="0"/>
                <a:ea typeface="BIZ UDGothic" pitchFamily="34" charset="-122"/>
                <a:cs typeface="BIZ UDGothic" pitchFamily="34" charset="-120"/>
              </a:rPr>
              <a:t>合計でモデル全体をチェック</a:t>
            </a:r>
            <a:endParaRPr lang="en-US" sz="2000" dirty="0"/>
          </a:p>
        </p:txBody>
      </p:sp>
      <p:sp>
        <p:nvSpPr>
          <p:cNvPr id="27" name="Text 20"/>
          <p:cNvSpPr/>
          <p:nvPr/>
        </p:nvSpPr>
        <p:spPr>
          <a:xfrm>
            <a:off x="7376008" y="4892040"/>
            <a:ext cx="4038448" cy="685800"/>
          </a:xfrm>
          <a:prstGeom prst="rect">
            <a:avLst/>
          </a:prstGeom>
          <a:noFill/>
          <a:ln/>
        </p:spPr>
        <p:txBody>
          <a:bodyPr wrap="square" lIns="0" tIns="0" rIns="0" bIns="0" rtlCol="0" anchor="t"/>
          <a:lstStyle/>
          <a:p>
            <a:pPr indent="0" marL="0">
              <a:buNone/>
            </a:pPr>
            <a:r>
              <a:rPr lang="en-US" sz="1700" i="1" dirty="0">
                <a:solidFill>
                  <a:srgbClr val="22223B"/>
                </a:solidFill>
                <a:latin typeface="Times New Roman" pitchFamily="34" charset="0"/>
                <a:ea typeface="Times New Roman" pitchFamily="34" charset="-122"/>
                <a:cs typeface="Times New Roman" pitchFamily="34" charset="-120"/>
              </a:rPr>
              <a:t>Σ S</a:t>
            </a:r>
            <a:r>
              <a:rPr lang="en-US" sz="1700" i="1" baseline="-40000" dirty="0">
                <a:solidFill>
                  <a:srgbClr val="22223B"/>
                </a:solidFill>
                <a:latin typeface="Times New Roman" pitchFamily="34" charset="0"/>
                <a:ea typeface="Times New Roman" pitchFamily="34" charset="-122"/>
                <a:cs typeface="Times New Roman" pitchFamily="34" charset="-120"/>
              </a:rPr>
              <a:t>i</a:t>
            </a:r>
            <a:r>
              <a:rPr lang="en-US" sz="1500" dirty="0">
                <a:solidFill>
                  <a:srgbClr val="22223B"/>
                </a:solidFill>
                <a:latin typeface="BIZ UDGothic" pitchFamily="34" charset="0"/>
                <a:ea typeface="BIZ UDGothic" pitchFamily="34" charset="-122"/>
                <a:cs typeface="BIZ UDGothic" pitchFamily="34" charset="-120"/>
              </a:rPr>
              <a:t> ≈ 1 ならほぼ足し算モデル、</a:t>
            </a:r>
            <a:r>
              <a:rPr lang="en-US" sz="1700" i="1" dirty="0">
                <a:solidFill>
                  <a:srgbClr val="22223B"/>
                </a:solidFill>
                <a:latin typeface="Times New Roman" pitchFamily="34" charset="0"/>
                <a:ea typeface="Times New Roman" pitchFamily="34" charset="-122"/>
                <a:cs typeface="Times New Roman" pitchFamily="34" charset="-120"/>
              </a:rPr>
              <a:t>Σ S</a:t>
            </a:r>
            <a:r>
              <a:rPr lang="en-US" sz="1700" i="1" baseline="-40000" dirty="0">
                <a:solidFill>
                  <a:srgbClr val="22223B"/>
                </a:solidFill>
                <a:latin typeface="Times New Roman" pitchFamily="34" charset="0"/>
                <a:ea typeface="Times New Roman" pitchFamily="34" charset="-122"/>
                <a:cs typeface="Times New Roman" pitchFamily="34" charset="-120"/>
              </a:rPr>
              <a:t>i</a:t>
            </a:r>
            <a:r>
              <a:rPr lang="en-US" sz="1500" dirty="0">
                <a:solidFill>
                  <a:srgbClr val="22223B"/>
                </a:solidFill>
                <a:latin typeface="BIZ UDGothic" pitchFamily="34" charset="0"/>
                <a:ea typeface="BIZ UDGothic" pitchFamily="34" charset="-122"/>
                <a:cs typeface="BIZ UDGothic" pitchFamily="34" charset="-120"/>
              </a:rPr>
              <a:t> &lt; 1 なら交互作用あり（</a:t>
            </a:r>
            <a:r>
              <a:rPr lang="en-US" sz="1700" i="1" dirty="0">
                <a:solidFill>
                  <a:srgbClr val="22223B"/>
                </a:solidFill>
                <a:latin typeface="Times New Roman" pitchFamily="34" charset="0"/>
                <a:ea typeface="Times New Roman" pitchFamily="34" charset="-122"/>
                <a:cs typeface="Times New Roman" pitchFamily="34" charset="-120"/>
              </a:rPr>
              <a:t>Σ S</a:t>
            </a:r>
            <a:r>
              <a:rPr lang="en-US" sz="1700" i="1" baseline="-40000" dirty="0">
                <a:solidFill>
                  <a:srgbClr val="22223B"/>
                </a:solidFill>
                <a:latin typeface="Times New Roman" pitchFamily="34" charset="0"/>
                <a:ea typeface="Times New Roman" pitchFamily="34" charset="-122"/>
                <a:cs typeface="Times New Roman" pitchFamily="34" charset="-120"/>
              </a:rPr>
              <a:t>Ti</a:t>
            </a:r>
            <a:r>
              <a:rPr lang="en-US" sz="1500" dirty="0">
                <a:solidFill>
                  <a:srgbClr val="22223B"/>
                </a:solidFill>
                <a:latin typeface="BIZ UDGothic" pitchFamily="34" charset="0"/>
                <a:ea typeface="BIZ UDGothic" pitchFamily="34" charset="-122"/>
                <a:cs typeface="BIZ UDGothic" pitchFamily="34" charset="-120"/>
              </a:rPr>
              <a:t> ≥ 1）</a:t>
            </a:r>
            <a:endParaRPr lang="en-US" sz="1700" dirty="0"/>
          </a:p>
        </p:txBody>
      </p:sp>
      <p:sp>
        <p:nvSpPr>
          <p:cNvPr id="28" name="Text 21"/>
          <p:cNvSpPr/>
          <p:nvPr/>
        </p:nvSpPr>
        <p:spPr>
          <a:xfrm>
            <a:off x="7376008" y="5577840"/>
            <a:ext cx="4038448" cy="411480"/>
          </a:xfrm>
          <a:prstGeom prst="rect">
            <a:avLst/>
          </a:prstGeom>
          <a:noFill/>
          <a:ln/>
        </p:spPr>
        <p:txBody>
          <a:bodyPr wrap="square" lIns="0" tIns="0" rIns="0" bIns="0" rtlCol="0" anchor="t"/>
          <a:lstStyle/>
          <a:p>
            <a:pPr indent="0" marL="0">
              <a:buNone/>
            </a:pPr>
            <a:r>
              <a:rPr lang="en-US" sz="1200" dirty="0">
                <a:solidFill>
                  <a:srgbClr val="6C6F7F"/>
                </a:solidFill>
                <a:latin typeface="BIZ UDGothic" pitchFamily="34" charset="0"/>
                <a:ea typeface="BIZ UDGothic" pitchFamily="34" charset="-122"/>
                <a:cs typeface="BIZ UDGothic" pitchFamily="34" charset="-120"/>
              </a:rPr>
              <a:t>例：Ishigami は </a:t>
            </a:r>
            <a:r>
              <a:rPr lang="en-US" sz="1300" i="1" dirty="0">
                <a:solidFill>
                  <a:srgbClr val="6C6F7F"/>
                </a:solidFill>
                <a:latin typeface="Times New Roman" pitchFamily="34" charset="0"/>
                <a:ea typeface="Times New Roman" pitchFamily="34" charset="-122"/>
                <a:cs typeface="Times New Roman" pitchFamily="34" charset="-120"/>
              </a:rPr>
              <a:t>Σ S</a:t>
            </a:r>
            <a:r>
              <a:rPr lang="en-US" sz="1300" i="1" baseline="-40000" dirty="0">
                <a:solidFill>
                  <a:srgbClr val="6C6F7F"/>
                </a:solidFill>
                <a:latin typeface="Times New Roman" pitchFamily="34" charset="0"/>
                <a:ea typeface="Times New Roman" pitchFamily="34" charset="-122"/>
                <a:cs typeface="Times New Roman" pitchFamily="34" charset="-120"/>
              </a:rPr>
              <a:t>i</a:t>
            </a:r>
            <a:r>
              <a:rPr lang="en-US" sz="1200" dirty="0">
                <a:solidFill>
                  <a:srgbClr val="6C6F7F"/>
                </a:solidFill>
                <a:latin typeface="BIZ UDGothic" pitchFamily="34" charset="0"/>
                <a:ea typeface="BIZ UDGothic" pitchFamily="34" charset="-122"/>
                <a:cs typeface="BIZ UDGothic" pitchFamily="34" charset="-120"/>
              </a:rPr>
              <a:t> = 0.756 → 約24% が交互作用</a:t>
            </a:r>
            <a:endParaRPr lang="en-US" sz="1200" dirty="0"/>
          </a:p>
        </p:txBody>
      </p:sp>
      <p:sp>
        <p:nvSpPr>
          <p:cNvPr id="29" name="Text 22"/>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30" name="Text 23"/>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02　Sobol指数の定義</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手計算で確かめる ― 2つの例題</a:t>
            </a:r>
            <a:endParaRPr lang="en-US" sz="2800" dirty="0"/>
          </a:p>
        </p:txBody>
      </p:sp>
      <p:sp>
        <p:nvSpPr>
          <p:cNvPr id="5" name="Shape 2"/>
          <p:cNvSpPr/>
          <p:nvPr/>
        </p:nvSpPr>
        <p:spPr>
          <a:xfrm>
            <a:off x="548640" y="1417320"/>
            <a:ext cx="5410048" cy="4754880"/>
          </a:xfrm>
          <a:prstGeom prst="roundRect">
            <a:avLst>
              <a:gd name="adj" fmla="val 1538"/>
            </a:avLst>
          </a:prstGeom>
          <a:solidFill>
            <a:srgbClr val="FFFFFF"/>
          </a:solidFill>
          <a:ln w="9525">
            <a:solidFill>
              <a:srgbClr val="DADDE6"/>
            </a:solidFill>
            <a:prstDash val="solid"/>
          </a:ln>
        </p:spPr>
      </p:sp>
      <p:sp>
        <p:nvSpPr>
          <p:cNvPr id="6" name="Text 3"/>
          <p:cNvSpPr/>
          <p:nvPr/>
        </p:nvSpPr>
        <p:spPr>
          <a:xfrm>
            <a:off x="822960" y="1600200"/>
            <a:ext cx="4861408" cy="457200"/>
          </a:xfrm>
          <a:prstGeom prst="rect">
            <a:avLst/>
          </a:prstGeom>
          <a:noFill/>
          <a:ln/>
        </p:spPr>
        <p:txBody>
          <a:bodyPr wrap="square" lIns="0" tIns="0" rIns="0" bIns="0" rtlCol="0" anchor="ctr"/>
          <a:lstStyle/>
          <a:p>
            <a:pPr indent="0" marL="0">
              <a:buNone/>
            </a:pPr>
            <a:r>
              <a:rPr lang="en-US" sz="1800" b="1" dirty="0">
                <a:solidFill>
                  <a:srgbClr val="2A9D8F"/>
                </a:solidFill>
                <a:latin typeface="BIZ UDGothic" pitchFamily="34" charset="0"/>
                <a:ea typeface="BIZ UDGothic" pitchFamily="34" charset="-122"/>
                <a:cs typeface="BIZ UDGothic" pitchFamily="34" charset="-120"/>
              </a:rPr>
              <a:t>例題1　足し算のモデル</a:t>
            </a:r>
            <a:endParaRPr lang="en-US" sz="1800" dirty="0"/>
          </a:p>
        </p:txBody>
      </p:sp>
      <p:sp>
        <p:nvSpPr>
          <p:cNvPr id="7" name="Shape 4"/>
          <p:cNvSpPr/>
          <p:nvPr/>
        </p:nvSpPr>
        <p:spPr>
          <a:xfrm>
            <a:off x="822960" y="2148840"/>
            <a:ext cx="4861408" cy="685800"/>
          </a:xfrm>
          <a:prstGeom prst="roundRect">
            <a:avLst>
              <a:gd name="adj" fmla="val 10667"/>
            </a:avLst>
          </a:prstGeom>
          <a:solidFill>
            <a:srgbClr val="D8F0ED"/>
          </a:solidFill>
          <a:ln/>
        </p:spPr>
      </p:sp>
      <p:sp>
        <p:nvSpPr>
          <p:cNvPr id="8" name="Text 5"/>
          <p:cNvSpPr/>
          <p:nvPr/>
        </p:nvSpPr>
        <p:spPr>
          <a:xfrm>
            <a:off x="822960" y="2148840"/>
            <a:ext cx="4861408" cy="685800"/>
          </a:xfrm>
          <a:prstGeom prst="rect">
            <a:avLst/>
          </a:prstGeom>
          <a:noFill/>
          <a:ln/>
        </p:spPr>
        <p:txBody>
          <a:bodyPr wrap="square" lIns="1270" tIns="1270" rIns="1270" bIns="1270" rtlCol="0" anchor="ctr"/>
          <a:lstStyle/>
          <a:p>
            <a:pPr algn="ctr" indent="0" marL="0">
              <a:buNone/>
            </a:pPr>
            <a:r>
              <a:rPr lang="en-US" sz="2100" i="1" dirty="0">
                <a:solidFill>
                  <a:srgbClr val="22223B"/>
                </a:solidFill>
                <a:latin typeface="Times New Roman" pitchFamily="34" charset="0"/>
                <a:ea typeface="Times New Roman" pitchFamily="34" charset="-122"/>
                <a:cs typeface="Times New Roman" pitchFamily="34" charset="-120"/>
              </a:rPr>
              <a:t>Y = X</a:t>
            </a:r>
            <a:r>
              <a:rPr lang="en-US" sz="2100" i="1" baseline="-40000" dirty="0">
                <a:solidFill>
                  <a:srgbClr val="22223B"/>
                </a:solidFill>
                <a:latin typeface="Times New Roman" pitchFamily="34" charset="0"/>
                <a:ea typeface="Times New Roman" pitchFamily="34" charset="-122"/>
                <a:cs typeface="Times New Roman" pitchFamily="34" charset="-120"/>
              </a:rPr>
              <a:t>1</a:t>
            </a:r>
            <a:r>
              <a:rPr lang="en-US" sz="2100" i="1" dirty="0">
                <a:solidFill>
                  <a:srgbClr val="22223B"/>
                </a:solidFill>
                <a:latin typeface="Times New Roman" pitchFamily="34" charset="0"/>
                <a:ea typeface="Times New Roman" pitchFamily="34" charset="-122"/>
                <a:cs typeface="Times New Roman" pitchFamily="34" charset="-120"/>
              </a:rPr>
              <a:t> + 2X</a:t>
            </a:r>
            <a:r>
              <a:rPr lang="en-US" sz="2100" i="1" baseline="-40000" dirty="0">
                <a:solidFill>
                  <a:srgbClr val="22223B"/>
                </a:solidFill>
                <a:latin typeface="Times New Roman" pitchFamily="34" charset="0"/>
                <a:ea typeface="Times New Roman" pitchFamily="34" charset="-122"/>
                <a:cs typeface="Times New Roman" pitchFamily="34" charset="-120"/>
              </a:rPr>
              <a:t>2</a:t>
            </a:r>
            <a:r>
              <a:rPr lang="en-US" sz="1900" dirty="0">
                <a:solidFill>
                  <a:srgbClr val="22223B"/>
                </a:solidFill>
                <a:latin typeface="BIZ UDGothic" pitchFamily="34" charset="0"/>
                <a:ea typeface="BIZ UDGothic" pitchFamily="34" charset="-122"/>
                <a:cs typeface="BIZ UDGothic" pitchFamily="34" charset="-120"/>
              </a:rPr>
              <a:t>,　</a:t>
            </a:r>
            <a:r>
              <a:rPr lang="en-US" sz="2100" i="1" dirty="0">
                <a:solidFill>
                  <a:srgbClr val="22223B"/>
                </a:solidFill>
                <a:latin typeface="Times New Roman" pitchFamily="34" charset="0"/>
                <a:ea typeface="Times New Roman" pitchFamily="34" charset="-122"/>
                <a:cs typeface="Times New Roman" pitchFamily="34" charset="-120"/>
              </a:rPr>
              <a:t>X</a:t>
            </a:r>
            <a:r>
              <a:rPr lang="en-US" sz="2100" i="1" baseline="-40000" dirty="0">
                <a:solidFill>
                  <a:srgbClr val="22223B"/>
                </a:solidFill>
                <a:latin typeface="Times New Roman" pitchFamily="34" charset="0"/>
                <a:ea typeface="Times New Roman" pitchFamily="34" charset="-122"/>
                <a:cs typeface="Times New Roman" pitchFamily="34" charset="-120"/>
              </a:rPr>
              <a:t>i</a:t>
            </a:r>
            <a:r>
              <a:rPr lang="en-US" sz="1900" dirty="0">
                <a:solidFill>
                  <a:srgbClr val="22223B"/>
                </a:solidFill>
                <a:latin typeface="BIZ UDGothic" pitchFamily="34" charset="0"/>
                <a:ea typeface="BIZ UDGothic" pitchFamily="34" charset="-122"/>
                <a:cs typeface="BIZ UDGothic" pitchFamily="34" charset="-120"/>
              </a:rPr>
              <a:t> ～ </a:t>
            </a:r>
            <a:r>
              <a:rPr lang="en-US" sz="2100" i="1" dirty="0">
                <a:solidFill>
                  <a:srgbClr val="22223B"/>
                </a:solidFill>
                <a:latin typeface="Times New Roman" pitchFamily="34" charset="0"/>
                <a:ea typeface="Times New Roman" pitchFamily="34" charset="-122"/>
                <a:cs typeface="Times New Roman" pitchFamily="34" charset="-120"/>
              </a:rPr>
              <a:t>U(0, 1)</a:t>
            </a:r>
            <a:endParaRPr lang="en-US" sz="2100" dirty="0"/>
          </a:p>
        </p:txBody>
      </p:sp>
      <p:sp>
        <p:nvSpPr>
          <p:cNvPr id="9" name="Text 6"/>
          <p:cNvSpPr/>
          <p:nvPr/>
        </p:nvSpPr>
        <p:spPr>
          <a:xfrm>
            <a:off x="914400" y="3017520"/>
            <a:ext cx="4678528" cy="2148840"/>
          </a:xfrm>
          <a:prstGeom prst="rect">
            <a:avLst/>
          </a:prstGeom>
          <a:noFill/>
          <a:ln/>
        </p:spPr>
        <p:txBody>
          <a:bodyPr wrap="square" lIns="0" tIns="0" rIns="0" bIns="0" rtlCol="0" anchor="t"/>
          <a:lstStyle/>
          <a:p>
            <a:pPr indent="0" marL="0">
              <a:spcAft>
                <a:spcPts val="800"/>
              </a:spcAft>
              <a:buNone/>
            </a:pPr>
            <a:r>
              <a:rPr lang="en-US" sz="1700" i="1" dirty="0">
                <a:solidFill>
                  <a:srgbClr val="22223B"/>
                </a:solidFill>
                <a:latin typeface="Times New Roman" pitchFamily="34" charset="0"/>
                <a:ea typeface="Times New Roman" pitchFamily="34" charset="-122"/>
                <a:cs typeface="Times New Roman" pitchFamily="34" charset="-120"/>
              </a:rPr>
              <a:t>V(X</a:t>
            </a:r>
            <a:r>
              <a:rPr lang="en-US" sz="1700" i="1" baseline="-40000" dirty="0">
                <a:solidFill>
                  <a:srgbClr val="22223B"/>
                </a:solidFill>
                <a:latin typeface="Times New Roman" pitchFamily="34" charset="0"/>
                <a:ea typeface="Times New Roman" pitchFamily="34" charset="-122"/>
                <a:cs typeface="Times New Roman" pitchFamily="34" charset="-120"/>
              </a:rPr>
              <a:t>i</a:t>
            </a:r>
            <a:r>
              <a:rPr lang="en-US" sz="1700" i="1" dirty="0">
                <a:solidFill>
                  <a:srgbClr val="22223B"/>
                </a:solidFill>
                <a:latin typeface="Times New Roman" pitchFamily="34" charset="0"/>
                <a:ea typeface="Times New Roman" pitchFamily="34" charset="-122"/>
                <a:cs typeface="Times New Roman" pitchFamily="34" charset="-120"/>
              </a:rPr>
              <a:t>)</a:t>
            </a:r>
            <a:r>
              <a:rPr lang="en-US" sz="1500" dirty="0">
                <a:solidFill>
                  <a:srgbClr val="22223B"/>
                </a:solidFill>
                <a:latin typeface="BIZ UDGothic" pitchFamily="34" charset="0"/>
                <a:ea typeface="BIZ UDGothic" pitchFamily="34" charset="-122"/>
                <a:cs typeface="BIZ UDGothic" pitchFamily="34" charset="-120"/>
              </a:rPr>
              <a:t> = 1/12</a:t>
            </a:r>
            <a:endParaRPr lang="en-US" sz="1700" dirty="0"/>
          </a:p>
          <a:p>
            <a:pPr indent="0" marL="0">
              <a:spcAft>
                <a:spcPts val="800"/>
              </a:spcAft>
              <a:buNone/>
            </a:pPr>
            <a:r>
              <a:rPr lang="en-US" sz="1700" i="1" dirty="0">
                <a:solidFill>
                  <a:srgbClr val="22223B"/>
                </a:solidFill>
                <a:latin typeface="Times New Roman" pitchFamily="34" charset="0"/>
                <a:ea typeface="Times New Roman" pitchFamily="34" charset="-122"/>
                <a:cs typeface="Times New Roman" pitchFamily="34" charset="-120"/>
              </a:rPr>
              <a:t>V(Y)</a:t>
            </a:r>
            <a:r>
              <a:rPr lang="en-US" sz="1500" dirty="0">
                <a:solidFill>
                  <a:srgbClr val="22223B"/>
                </a:solidFill>
                <a:latin typeface="BIZ UDGothic" pitchFamily="34" charset="0"/>
                <a:ea typeface="BIZ UDGothic" pitchFamily="34" charset="-122"/>
                <a:cs typeface="BIZ UDGothic" pitchFamily="34" charset="-120"/>
              </a:rPr>
              <a:t> = 1/12 + </a:t>
            </a:r>
            <a:r>
              <a:rPr lang="en-US" sz="1700" i="1" dirty="0">
                <a:solidFill>
                  <a:srgbClr val="22223B"/>
                </a:solidFill>
                <a:latin typeface="Times New Roman" pitchFamily="34" charset="0"/>
                <a:ea typeface="Times New Roman" pitchFamily="34" charset="-122"/>
                <a:cs typeface="Times New Roman" pitchFamily="34" charset="-120"/>
              </a:rPr>
              <a:t>2</a:t>
            </a:r>
            <a:r>
              <a:rPr lang="en-US" sz="1700" i="1" baseline="30000" dirty="0">
                <a:solidFill>
                  <a:srgbClr val="22223B"/>
                </a:solidFill>
                <a:latin typeface="Times New Roman" pitchFamily="34" charset="0"/>
                <a:ea typeface="Times New Roman" pitchFamily="34" charset="-122"/>
                <a:cs typeface="Times New Roman" pitchFamily="34" charset="-120"/>
              </a:rPr>
              <a:t>2</a:t>
            </a:r>
            <a:r>
              <a:rPr lang="en-US" sz="1500" dirty="0">
                <a:solidFill>
                  <a:srgbClr val="22223B"/>
                </a:solidFill>
                <a:latin typeface="BIZ UDGothic" pitchFamily="34" charset="0"/>
                <a:ea typeface="BIZ UDGothic" pitchFamily="34" charset="-122"/>
                <a:cs typeface="BIZ UDGothic" pitchFamily="34" charset="-120"/>
              </a:rPr>
              <a:t> × 1/12 = 5/12</a:t>
            </a:r>
            <a:endParaRPr lang="en-US" sz="1700" dirty="0"/>
          </a:p>
          <a:p>
            <a:pPr indent="0" marL="0">
              <a:spcAft>
                <a:spcPts val="800"/>
              </a:spcAft>
              <a:buNone/>
            </a:pP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1</a:t>
            </a:r>
            <a:r>
              <a:rPr lang="en-US" sz="1500" dirty="0">
                <a:solidFill>
                  <a:srgbClr val="22223B"/>
                </a:solidFill>
                <a:latin typeface="BIZ UDGothic" pitchFamily="34" charset="0"/>
                <a:ea typeface="BIZ UDGothic" pitchFamily="34" charset="-122"/>
                <a:cs typeface="BIZ UDGothic" pitchFamily="34" charset="-120"/>
              </a:rPr>
              <a:t> = (1/12) / (5/12) = 0.2</a:t>
            </a:r>
            <a:endParaRPr lang="en-US" sz="1700" dirty="0"/>
          </a:p>
          <a:p>
            <a:pPr indent="0" marL="0">
              <a:spcAft>
                <a:spcPts val="800"/>
              </a:spcAft>
              <a:buNone/>
            </a:pP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2</a:t>
            </a:r>
            <a:r>
              <a:rPr lang="en-US" sz="1500" dirty="0">
                <a:solidFill>
                  <a:srgbClr val="22223B"/>
                </a:solidFill>
                <a:latin typeface="BIZ UDGothic" pitchFamily="34" charset="0"/>
                <a:ea typeface="BIZ UDGothic" pitchFamily="34" charset="-122"/>
                <a:cs typeface="BIZ UDGothic" pitchFamily="34" charset="-120"/>
              </a:rPr>
              <a:t> = (4/12) / (5/12) = 0.8</a:t>
            </a:r>
            <a:endParaRPr lang="en-US" sz="1700" dirty="0"/>
          </a:p>
          <a:p>
            <a:pPr indent="0" marL="0">
              <a:spcAft>
                <a:spcPts val="800"/>
              </a:spcAft>
              <a:buNone/>
            </a:pPr>
            <a:r>
              <a:rPr lang="en-US" sz="1500" b="1" dirty="0">
                <a:solidFill>
                  <a:srgbClr val="22223B"/>
                </a:solidFill>
                <a:latin typeface="BIZ UDGothic" pitchFamily="34" charset="0"/>
                <a:ea typeface="BIZ UDGothic" pitchFamily="34" charset="-122"/>
                <a:cs typeface="BIZ UDGothic" pitchFamily="34" charset="-120"/>
              </a:rPr>
              <a:t>交互作用なし → </a:t>
            </a:r>
            <a:r>
              <a:rPr lang="en-US" sz="1700" b="1" i="1" dirty="0">
                <a:solidFill>
                  <a:srgbClr val="22223B"/>
                </a:solidFill>
                <a:latin typeface="Times New Roman" pitchFamily="34" charset="0"/>
                <a:ea typeface="Times New Roman" pitchFamily="34" charset="-122"/>
                <a:cs typeface="Times New Roman" pitchFamily="34" charset="-120"/>
              </a:rPr>
              <a:t>S</a:t>
            </a:r>
            <a:r>
              <a:rPr lang="en-US" sz="1700" b="1" i="1" baseline="-40000" dirty="0">
                <a:solidFill>
                  <a:srgbClr val="22223B"/>
                </a:solidFill>
                <a:latin typeface="Times New Roman" pitchFamily="34" charset="0"/>
                <a:ea typeface="Times New Roman" pitchFamily="34" charset="-122"/>
                <a:cs typeface="Times New Roman" pitchFamily="34" charset="-120"/>
              </a:rPr>
              <a:t>Ti</a:t>
            </a:r>
            <a:r>
              <a:rPr lang="en-US" sz="1700" b="1" i="1" dirty="0">
                <a:solidFill>
                  <a:srgbClr val="22223B"/>
                </a:solidFill>
                <a:latin typeface="Times New Roman" pitchFamily="34" charset="0"/>
                <a:ea typeface="Times New Roman" pitchFamily="34" charset="-122"/>
                <a:cs typeface="Times New Roman" pitchFamily="34" charset="-120"/>
              </a:rPr>
              <a:t> = S</a:t>
            </a:r>
            <a:r>
              <a:rPr lang="en-US" sz="1700" b="1" i="1" baseline="-40000" dirty="0">
                <a:solidFill>
                  <a:srgbClr val="22223B"/>
                </a:solidFill>
                <a:latin typeface="Times New Roman" pitchFamily="34" charset="0"/>
                <a:ea typeface="Times New Roman" pitchFamily="34" charset="-122"/>
                <a:cs typeface="Times New Roman" pitchFamily="34" charset="-120"/>
              </a:rPr>
              <a:t>i</a:t>
            </a:r>
            <a:r>
              <a:rPr lang="en-US" sz="1500" b="1" dirty="0">
                <a:solidFill>
                  <a:srgbClr val="22223B"/>
                </a:solidFill>
                <a:latin typeface="BIZ UDGothic" pitchFamily="34" charset="0"/>
                <a:ea typeface="BIZ UDGothic" pitchFamily="34" charset="-122"/>
                <a:cs typeface="BIZ UDGothic" pitchFamily="34" charset="-120"/>
              </a:rPr>
              <a:t>、</a:t>
            </a:r>
            <a:r>
              <a:rPr lang="en-US" sz="1700" b="1" i="1" dirty="0">
                <a:solidFill>
                  <a:srgbClr val="22223B"/>
                </a:solidFill>
                <a:latin typeface="Times New Roman" pitchFamily="34" charset="0"/>
                <a:ea typeface="Times New Roman" pitchFamily="34" charset="-122"/>
                <a:cs typeface="Times New Roman" pitchFamily="34" charset="-120"/>
              </a:rPr>
              <a:t>Σ S</a:t>
            </a:r>
            <a:r>
              <a:rPr lang="en-US" sz="1700" b="1" i="1" baseline="-40000" dirty="0">
                <a:solidFill>
                  <a:srgbClr val="22223B"/>
                </a:solidFill>
                <a:latin typeface="Times New Roman" pitchFamily="34" charset="0"/>
                <a:ea typeface="Times New Roman" pitchFamily="34" charset="-122"/>
                <a:cs typeface="Times New Roman" pitchFamily="34" charset="-120"/>
              </a:rPr>
              <a:t>i</a:t>
            </a:r>
            <a:r>
              <a:rPr lang="en-US" sz="1500" b="1" dirty="0">
                <a:solidFill>
                  <a:srgbClr val="22223B"/>
                </a:solidFill>
                <a:latin typeface="BIZ UDGothic" pitchFamily="34" charset="0"/>
                <a:ea typeface="BIZ UDGothic" pitchFamily="34" charset="-122"/>
                <a:cs typeface="BIZ UDGothic" pitchFamily="34" charset="-120"/>
              </a:rPr>
              <a:t> = 1</a:t>
            </a:r>
            <a:endParaRPr lang="en-US" sz="1700" dirty="0"/>
          </a:p>
        </p:txBody>
      </p:sp>
      <p:sp>
        <p:nvSpPr>
          <p:cNvPr id="10" name="Text 7"/>
          <p:cNvSpPr/>
          <p:nvPr/>
        </p:nvSpPr>
        <p:spPr>
          <a:xfrm>
            <a:off x="914400" y="5120640"/>
            <a:ext cx="4678528" cy="320040"/>
          </a:xfrm>
          <a:prstGeom prst="rect">
            <a:avLst/>
          </a:prstGeom>
          <a:noFill/>
          <a:ln/>
        </p:spPr>
        <p:txBody>
          <a:bodyPr wrap="square" lIns="0" tIns="0" rIns="0" bIns="0" rtlCol="0" anchor="ctr"/>
          <a:lstStyle/>
          <a:p>
            <a:pPr indent="0" marL="0">
              <a:buNone/>
            </a:pPr>
            <a:r>
              <a:rPr lang="en-US" sz="1200" dirty="0">
                <a:solidFill>
                  <a:srgbClr val="6C6F7F"/>
                </a:solidFill>
                <a:latin typeface="BIZ UDGothic" pitchFamily="34" charset="0"/>
                <a:ea typeface="BIZ UDGothic" pitchFamily="34" charset="-122"/>
                <a:cs typeface="BIZ UDGothic" pitchFamily="34" charset="-120"/>
              </a:rPr>
              <a:t>数値計算（N = 16,384）：</a:t>
            </a:r>
            <a:r>
              <a:rPr lang="en-US" sz="1300" i="1" dirty="0">
                <a:solidFill>
                  <a:srgbClr val="6C6F7F"/>
                </a:solidFill>
                <a:latin typeface="Times New Roman" pitchFamily="34" charset="0"/>
                <a:ea typeface="Times New Roman" pitchFamily="34" charset="-122"/>
                <a:cs typeface="Times New Roman" pitchFamily="34" charset="-120"/>
              </a:rPr>
              <a:t>S</a:t>
            </a:r>
            <a:r>
              <a:rPr lang="en-US" sz="1300" i="1" baseline="-40000" dirty="0">
                <a:solidFill>
                  <a:srgbClr val="6C6F7F"/>
                </a:solidFill>
                <a:latin typeface="Times New Roman" pitchFamily="34" charset="0"/>
                <a:ea typeface="Times New Roman" pitchFamily="34" charset="-122"/>
                <a:cs typeface="Times New Roman" pitchFamily="34" charset="-120"/>
              </a:rPr>
              <a:t>i</a:t>
            </a:r>
            <a:r>
              <a:rPr lang="en-US" sz="1200" dirty="0">
                <a:solidFill>
                  <a:srgbClr val="6C6F7F"/>
                </a:solidFill>
                <a:latin typeface="BIZ UDGothic" pitchFamily="34" charset="0"/>
                <a:ea typeface="BIZ UDGothic" pitchFamily="34" charset="-122"/>
                <a:cs typeface="BIZ UDGothic" pitchFamily="34" charset="-120"/>
              </a:rPr>
              <a:t> = 0.200 / 0.800</a:t>
            </a:r>
            <a:endParaRPr lang="en-US" sz="1200" dirty="0"/>
          </a:p>
        </p:txBody>
      </p:sp>
      <p:sp>
        <p:nvSpPr>
          <p:cNvPr id="11" name="Shape 8"/>
          <p:cNvSpPr/>
          <p:nvPr/>
        </p:nvSpPr>
        <p:spPr>
          <a:xfrm>
            <a:off x="822960" y="5486400"/>
            <a:ext cx="4861408" cy="502920"/>
          </a:xfrm>
          <a:prstGeom prst="roundRect">
            <a:avLst>
              <a:gd name="adj" fmla="val 14545"/>
            </a:avLst>
          </a:prstGeom>
          <a:solidFill>
            <a:srgbClr val="F3F4F8"/>
          </a:solidFill>
          <a:ln/>
        </p:spPr>
      </p:sp>
      <p:sp>
        <p:nvSpPr>
          <p:cNvPr id="12" name="Text 9"/>
          <p:cNvSpPr/>
          <p:nvPr/>
        </p:nvSpPr>
        <p:spPr>
          <a:xfrm>
            <a:off x="960120" y="5486400"/>
            <a:ext cx="4587088" cy="502920"/>
          </a:xfrm>
          <a:prstGeom prst="rect">
            <a:avLst/>
          </a:prstGeom>
          <a:noFill/>
          <a:ln/>
        </p:spPr>
        <p:txBody>
          <a:bodyPr wrap="square" lIns="0" tIns="0" rIns="0" bIns="0" rtlCol="0" anchor="ctr"/>
          <a:lstStyle/>
          <a:p>
            <a:pPr indent="0" marL="0">
              <a:buNone/>
            </a:pPr>
            <a:r>
              <a:rPr lang="en-US" sz="1400" b="1" dirty="0">
                <a:solidFill>
                  <a:srgbClr val="22223B"/>
                </a:solidFill>
                <a:latin typeface="BIZ UDGothic" pitchFamily="34" charset="0"/>
                <a:ea typeface="BIZ UDGothic" pitchFamily="34" charset="-122"/>
                <a:cs typeface="BIZ UDGothic" pitchFamily="34" charset="-120"/>
              </a:rPr>
              <a:t>→ 係数が2倍 → 分散では 4倍（2乗）効く</a:t>
            </a:r>
            <a:endParaRPr lang="en-US" sz="1400" dirty="0"/>
          </a:p>
        </p:txBody>
      </p:sp>
      <p:sp>
        <p:nvSpPr>
          <p:cNvPr id="13" name="Shape 10"/>
          <p:cNvSpPr/>
          <p:nvPr/>
        </p:nvSpPr>
        <p:spPr>
          <a:xfrm>
            <a:off x="6233008" y="1417320"/>
            <a:ext cx="5410048" cy="4754880"/>
          </a:xfrm>
          <a:prstGeom prst="roundRect">
            <a:avLst>
              <a:gd name="adj" fmla="val 1538"/>
            </a:avLst>
          </a:prstGeom>
          <a:solidFill>
            <a:srgbClr val="FFFFFF"/>
          </a:solidFill>
          <a:ln w="9525">
            <a:solidFill>
              <a:srgbClr val="DADDE6"/>
            </a:solidFill>
            <a:prstDash val="solid"/>
          </a:ln>
        </p:spPr>
      </p:sp>
      <p:sp>
        <p:nvSpPr>
          <p:cNvPr id="14" name="Text 11"/>
          <p:cNvSpPr/>
          <p:nvPr/>
        </p:nvSpPr>
        <p:spPr>
          <a:xfrm>
            <a:off x="6507328" y="1600200"/>
            <a:ext cx="4861408" cy="457200"/>
          </a:xfrm>
          <a:prstGeom prst="rect">
            <a:avLst/>
          </a:prstGeom>
          <a:noFill/>
          <a:ln/>
        </p:spPr>
        <p:txBody>
          <a:bodyPr wrap="square" lIns="0" tIns="0" rIns="0" bIns="0" rtlCol="0" anchor="ctr"/>
          <a:lstStyle/>
          <a:p>
            <a:pPr indent="0" marL="0">
              <a:buNone/>
            </a:pPr>
            <a:r>
              <a:rPr lang="en-US" sz="1800" b="1" dirty="0">
                <a:solidFill>
                  <a:srgbClr val="8D6A9F"/>
                </a:solidFill>
                <a:latin typeface="BIZ UDGothic" pitchFamily="34" charset="0"/>
                <a:ea typeface="BIZ UDGothic" pitchFamily="34" charset="-122"/>
                <a:cs typeface="BIZ UDGothic" pitchFamily="34" charset="-120"/>
              </a:rPr>
              <a:t>例題2　掛け算だけのモデル</a:t>
            </a:r>
            <a:endParaRPr lang="en-US" sz="1800" dirty="0"/>
          </a:p>
        </p:txBody>
      </p:sp>
      <p:sp>
        <p:nvSpPr>
          <p:cNvPr id="15" name="Shape 12"/>
          <p:cNvSpPr/>
          <p:nvPr/>
        </p:nvSpPr>
        <p:spPr>
          <a:xfrm>
            <a:off x="6507328" y="2148840"/>
            <a:ext cx="4861408" cy="685800"/>
          </a:xfrm>
          <a:prstGeom prst="roundRect">
            <a:avLst>
              <a:gd name="adj" fmla="val 10667"/>
            </a:avLst>
          </a:prstGeom>
          <a:solidFill>
            <a:srgbClr val="ECE3F1"/>
          </a:solidFill>
          <a:ln/>
        </p:spPr>
      </p:sp>
      <p:sp>
        <p:nvSpPr>
          <p:cNvPr id="16" name="Text 13"/>
          <p:cNvSpPr/>
          <p:nvPr/>
        </p:nvSpPr>
        <p:spPr>
          <a:xfrm>
            <a:off x="6507328" y="2148840"/>
            <a:ext cx="4861408" cy="685800"/>
          </a:xfrm>
          <a:prstGeom prst="rect">
            <a:avLst/>
          </a:prstGeom>
          <a:noFill/>
          <a:ln/>
        </p:spPr>
        <p:txBody>
          <a:bodyPr wrap="square" lIns="1270" tIns="1270" rIns="1270" bIns="1270" rtlCol="0" anchor="ctr"/>
          <a:lstStyle/>
          <a:p>
            <a:pPr algn="ctr" indent="0" marL="0">
              <a:buNone/>
            </a:pPr>
            <a:r>
              <a:rPr lang="en-US" sz="2100" i="1" dirty="0">
                <a:solidFill>
                  <a:srgbClr val="22223B"/>
                </a:solidFill>
                <a:latin typeface="Times New Roman" pitchFamily="34" charset="0"/>
                <a:ea typeface="Times New Roman" pitchFamily="34" charset="-122"/>
                <a:cs typeface="Times New Roman" pitchFamily="34" charset="-120"/>
              </a:rPr>
              <a:t>Y = X</a:t>
            </a:r>
            <a:r>
              <a:rPr lang="en-US" sz="2100" i="1" baseline="-40000" dirty="0">
                <a:solidFill>
                  <a:srgbClr val="22223B"/>
                </a:solidFill>
                <a:latin typeface="Times New Roman" pitchFamily="34" charset="0"/>
                <a:ea typeface="Times New Roman" pitchFamily="34" charset="-122"/>
                <a:cs typeface="Times New Roman" pitchFamily="34" charset="-120"/>
              </a:rPr>
              <a:t>1</a:t>
            </a:r>
            <a:r>
              <a:rPr lang="en-US" sz="2100" i="1" dirty="0">
                <a:solidFill>
                  <a:srgbClr val="22223B"/>
                </a:solidFill>
                <a:latin typeface="Times New Roman" pitchFamily="34" charset="0"/>
                <a:ea typeface="Times New Roman" pitchFamily="34" charset="-122"/>
                <a:cs typeface="Times New Roman" pitchFamily="34" charset="-120"/>
              </a:rPr>
              <a:t> X</a:t>
            </a:r>
            <a:r>
              <a:rPr lang="en-US" sz="2100" i="1" baseline="-40000" dirty="0">
                <a:solidFill>
                  <a:srgbClr val="22223B"/>
                </a:solidFill>
                <a:latin typeface="Times New Roman" pitchFamily="34" charset="0"/>
                <a:ea typeface="Times New Roman" pitchFamily="34" charset="-122"/>
                <a:cs typeface="Times New Roman" pitchFamily="34" charset="-120"/>
              </a:rPr>
              <a:t>2</a:t>
            </a:r>
            <a:r>
              <a:rPr lang="en-US" sz="1900" dirty="0">
                <a:solidFill>
                  <a:srgbClr val="22223B"/>
                </a:solidFill>
                <a:latin typeface="BIZ UDGothic" pitchFamily="34" charset="0"/>
                <a:ea typeface="BIZ UDGothic" pitchFamily="34" charset="-122"/>
                <a:cs typeface="BIZ UDGothic" pitchFamily="34" charset="-120"/>
              </a:rPr>
              <a:t>,　</a:t>
            </a:r>
            <a:r>
              <a:rPr lang="en-US" sz="2100" i="1" dirty="0">
                <a:solidFill>
                  <a:srgbClr val="22223B"/>
                </a:solidFill>
                <a:latin typeface="Times New Roman" pitchFamily="34" charset="0"/>
                <a:ea typeface="Times New Roman" pitchFamily="34" charset="-122"/>
                <a:cs typeface="Times New Roman" pitchFamily="34" charset="-120"/>
              </a:rPr>
              <a:t>X</a:t>
            </a:r>
            <a:r>
              <a:rPr lang="en-US" sz="2100" i="1" baseline="-40000" dirty="0">
                <a:solidFill>
                  <a:srgbClr val="22223B"/>
                </a:solidFill>
                <a:latin typeface="Times New Roman" pitchFamily="34" charset="0"/>
                <a:ea typeface="Times New Roman" pitchFamily="34" charset="-122"/>
                <a:cs typeface="Times New Roman" pitchFamily="34" charset="-120"/>
              </a:rPr>
              <a:t>i</a:t>
            </a:r>
            <a:r>
              <a:rPr lang="en-US" sz="1900" dirty="0">
                <a:solidFill>
                  <a:srgbClr val="22223B"/>
                </a:solidFill>
                <a:latin typeface="BIZ UDGothic" pitchFamily="34" charset="0"/>
                <a:ea typeface="BIZ UDGothic" pitchFamily="34" charset="-122"/>
                <a:cs typeface="BIZ UDGothic" pitchFamily="34" charset="-120"/>
              </a:rPr>
              <a:t> ～ </a:t>
            </a:r>
            <a:r>
              <a:rPr lang="en-US" sz="2100" i="1" dirty="0">
                <a:solidFill>
                  <a:srgbClr val="22223B"/>
                </a:solidFill>
                <a:latin typeface="Times New Roman" pitchFamily="34" charset="0"/>
                <a:ea typeface="Times New Roman" pitchFamily="34" charset="-122"/>
                <a:cs typeface="Times New Roman" pitchFamily="34" charset="-120"/>
              </a:rPr>
              <a:t>U(−1, 1)</a:t>
            </a:r>
            <a:endParaRPr lang="en-US" sz="2100" dirty="0"/>
          </a:p>
        </p:txBody>
      </p:sp>
      <p:sp>
        <p:nvSpPr>
          <p:cNvPr id="17" name="Text 14"/>
          <p:cNvSpPr/>
          <p:nvPr/>
        </p:nvSpPr>
        <p:spPr>
          <a:xfrm>
            <a:off x="6598768" y="3017520"/>
            <a:ext cx="4678528" cy="2148840"/>
          </a:xfrm>
          <a:prstGeom prst="rect">
            <a:avLst/>
          </a:prstGeom>
          <a:noFill/>
          <a:ln/>
        </p:spPr>
        <p:txBody>
          <a:bodyPr wrap="square" lIns="0" tIns="0" rIns="0" bIns="0" rtlCol="0" anchor="t"/>
          <a:lstStyle/>
          <a:p>
            <a:pPr indent="0" marL="0">
              <a:spcAft>
                <a:spcPts val="800"/>
              </a:spcAft>
              <a:buNone/>
            </a:pPr>
            <a:r>
              <a:rPr lang="en-US" sz="1700" i="1" dirty="0">
                <a:solidFill>
                  <a:srgbClr val="22223B"/>
                </a:solidFill>
                <a:latin typeface="Times New Roman" pitchFamily="34" charset="0"/>
                <a:ea typeface="Times New Roman" pitchFamily="34" charset="-122"/>
                <a:cs typeface="Times New Roman" pitchFamily="34" charset="-120"/>
              </a:rPr>
              <a:t>E(Y|X</a:t>
            </a:r>
            <a:r>
              <a:rPr lang="en-US" sz="1700" i="1" baseline="-40000" dirty="0">
                <a:solidFill>
                  <a:srgbClr val="22223B"/>
                </a:solidFill>
                <a:latin typeface="Times New Roman" pitchFamily="34" charset="0"/>
                <a:ea typeface="Times New Roman" pitchFamily="34" charset="-122"/>
                <a:cs typeface="Times New Roman" pitchFamily="34" charset="-120"/>
              </a:rPr>
              <a:t>1</a:t>
            </a:r>
            <a:r>
              <a:rPr lang="en-US" sz="1700" i="1" dirty="0">
                <a:solidFill>
                  <a:srgbClr val="22223B"/>
                </a:solidFill>
                <a:latin typeface="Times New Roman" pitchFamily="34" charset="0"/>
                <a:ea typeface="Times New Roman" pitchFamily="34" charset="-122"/>
                <a:cs typeface="Times New Roman" pitchFamily="34" charset="-120"/>
              </a:rPr>
              <a:t>) = X</a:t>
            </a:r>
            <a:r>
              <a:rPr lang="en-US" sz="1700" i="1" baseline="-40000" dirty="0">
                <a:solidFill>
                  <a:srgbClr val="22223B"/>
                </a:solidFill>
                <a:latin typeface="Times New Roman" pitchFamily="34" charset="0"/>
                <a:ea typeface="Times New Roman" pitchFamily="34" charset="-122"/>
                <a:cs typeface="Times New Roman" pitchFamily="34" charset="-120"/>
              </a:rPr>
              <a:t>1</a:t>
            </a:r>
            <a:r>
              <a:rPr lang="en-US" sz="1700" i="1" dirty="0">
                <a:solidFill>
                  <a:srgbClr val="22223B"/>
                </a:solidFill>
                <a:latin typeface="Times New Roman" pitchFamily="34" charset="0"/>
                <a:ea typeface="Times New Roman" pitchFamily="34" charset="-122"/>
                <a:cs typeface="Times New Roman" pitchFamily="34" charset="-120"/>
              </a:rPr>
              <a:t> E(X</a:t>
            </a:r>
            <a:r>
              <a:rPr lang="en-US" sz="1700" i="1" baseline="-40000" dirty="0">
                <a:solidFill>
                  <a:srgbClr val="22223B"/>
                </a:solidFill>
                <a:latin typeface="Times New Roman" pitchFamily="34" charset="0"/>
                <a:ea typeface="Times New Roman" pitchFamily="34" charset="-122"/>
                <a:cs typeface="Times New Roman" pitchFamily="34" charset="-120"/>
              </a:rPr>
              <a:t>2</a:t>
            </a:r>
            <a:r>
              <a:rPr lang="en-US" sz="1700" i="1" dirty="0">
                <a:solidFill>
                  <a:srgbClr val="22223B"/>
                </a:solidFill>
                <a:latin typeface="Times New Roman" pitchFamily="34" charset="0"/>
                <a:ea typeface="Times New Roman" pitchFamily="34" charset="-122"/>
                <a:cs typeface="Times New Roman" pitchFamily="34" charset="-120"/>
              </a:rPr>
              <a:t>)</a:t>
            </a:r>
            <a:r>
              <a:rPr lang="en-US" sz="1500" dirty="0">
                <a:solidFill>
                  <a:srgbClr val="22223B"/>
                </a:solidFill>
                <a:latin typeface="BIZ UDGothic" pitchFamily="34" charset="0"/>
                <a:ea typeface="BIZ UDGothic" pitchFamily="34" charset="-122"/>
                <a:cs typeface="BIZ UDGothic" pitchFamily="34" charset="-120"/>
              </a:rPr>
              <a:t> = 0 → </a:t>
            </a: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1</a:t>
            </a:r>
            <a:r>
              <a:rPr lang="en-US" sz="1500" dirty="0">
                <a:solidFill>
                  <a:srgbClr val="22223B"/>
                </a:solidFill>
                <a:latin typeface="BIZ UDGothic" pitchFamily="34" charset="0"/>
                <a:ea typeface="BIZ UDGothic" pitchFamily="34" charset="-122"/>
                <a:cs typeface="BIZ UDGothic" pitchFamily="34" charset="-120"/>
              </a:rPr>
              <a:t> = 0（</a:t>
            </a: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2</a:t>
            </a:r>
            <a:r>
              <a:rPr lang="en-US" sz="1500" dirty="0">
                <a:solidFill>
                  <a:srgbClr val="22223B"/>
                </a:solidFill>
                <a:latin typeface="BIZ UDGothic" pitchFamily="34" charset="0"/>
                <a:ea typeface="BIZ UDGothic" pitchFamily="34" charset="-122"/>
                <a:cs typeface="BIZ UDGothic" pitchFamily="34" charset="-120"/>
              </a:rPr>
              <a:t> も同様）</a:t>
            </a:r>
            <a:endParaRPr lang="en-US" sz="1700" dirty="0"/>
          </a:p>
          <a:p>
            <a:pPr indent="0" marL="0">
              <a:spcAft>
                <a:spcPts val="800"/>
              </a:spcAft>
              <a:buNone/>
            </a:pPr>
            <a:r>
              <a:rPr lang="en-US" sz="1700" i="1" dirty="0">
                <a:solidFill>
                  <a:srgbClr val="22223B"/>
                </a:solidFill>
                <a:latin typeface="Times New Roman" pitchFamily="34" charset="0"/>
                <a:ea typeface="Times New Roman" pitchFamily="34" charset="-122"/>
                <a:cs typeface="Times New Roman" pitchFamily="34" charset="-120"/>
              </a:rPr>
              <a:t>V(Y) = E(X</a:t>
            </a:r>
            <a:r>
              <a:rPr lang="en-US" sz="1700" i="1" baseline="-40000" dirty="0">
                <a:solidFill>
                  <a:srgbClr val="22223B"/>
                </a:solidFill>
                <a:latin typeface="Times New Roman" pitchFamily="34" charset="0"/>
                <a:ea typeface="Times New Roman" pitchFamily="34" charset="-122"/>
                <a:cs typeface="Times New Roman" pitchFamily="34" charset="-120"/>
              </a:rPr>
              <a:t>1</a:t>
            </a:r>
            <a:r>
              <a:rPr lang="en-US" sz="1700" i="1" baseline="30000" dirty="0">
                <a:solidFill>
                  <a:srgbClr val="22223B"/>
                </a:solidFill>
                <a:latin typeface="Times New Roman" pitchFamily="34" charset="0"/>
                <a:ea typeface="Times New Roman" pitchFamily="34" charset="-122"/>
                <a:cs typeface="Times New Roman" pitchFamily="34" charset="-120"/>
              </a:rPr>
              <a:t>2</a:t>
            </a:r>
            <a:r>
              <a:rPr lang="en-US" sz="1700" i="1" dirty="0">
                <a:solidFill>
                  <a:srgbClr val="22223B"/>
                </a:solidFill>
                <a:latin typeface="Times New Roman" pitchFamily="34" charset="0"/>
                <a:ea typeface="Times New Roman" pitchFamily="34" charset="-122"/>
                <a:cs typeface="Times New Roman" pitchFamily="34" charset="-120"/>
              </a:rPr>
              <a:t>) E(X</a:t>
            </a:r>
            <a:r>
              <a:rPr lang="en-US" sz="1700" i="1" baseline="-40000" dirty="0">
                <a:solidFill>
                  <a:srgbClr val="22223B"/>
                </a:solidFill>
                <a:latin typeface="Times New Roman" pitchFamily="34" charset="0"/>
                <a:ea typeface="Times New Roman" pitchFamily="34" charset="-122"/>
                <a:cs typeface="Times New Roman" pitchFamily="34" charset="-120"/>
              </a:rPr>
              <a:t>2</a:t>
            </a:r>
            <a:r>
              <a:rPr lang="en-US" sz="1700" i="1" baseline="30000" dirty="0">
                <a:solidFill>
                  <a:srgbClr val="22223B"/>
                </a:solidFill>
                <a:latin typeface="Times New Roman" pitchFamily="34" charset="0"/>
                <a:ea typeface="Times New Roman" pitchFamily="34" charset="-122"/>
                <a:cs typeface="Times New Roman" pitchFamily="34" charset="-120"/>
              </a:rPr>
              <a:t>2</a:t>
            </a:r>
            <a:r>
              <a:rPr lang="en-US" sz="1700" i="1" dirty="0">
                <a:solidFill>
                  <a:srgbClr val="22223B"/>
                </a:solidFill>
                <a:latin typeface="Times New Roman" pitchFamily="34" charset="0"/>
                <a:ea typeface="Times New Roman" pitchFamily="34" charset="-122"/>
                <a:cs typeface="Times New Roman" pitchFamily="34" charset="-120"/>
              </a:rPr>
              <a:t>)</a:t>
            </a:r>
            <a:r>
              <a:rPr lang="en-US" sz="1500" dirty="0">
                <a:solidFill>
                  <a:srgbClr val="22223B"/>
                </a:solidFill>
                <a:latin typeface="BIZ UDGothic" pitchFamily="34" charset="0"/>
                <a:ea typeface="BIZ UDGothic" pitchFamily="34" charset="-122"/>
                <a:cs typeface="BIZ UDGothic" pitchFamily="34" charset="-120"/>
              </a:rPr>
              <a:t> = 1/3 × 1/3 = 1/9</a:t>
            </a:r>
            <a:endParaRPr lang="en-US" sz="1700" dirty="0"/>
          </a:p>
          <a:p>
            <a:pPr indent="0" marL="0">
              <a:spcAft>
                <a:spcPts val="800"/>
              </a:spcAft>
              <a:buNone/>
            </a:pPr>
            <a:r>
              <a:rPr lang="en-US" sz="1700" i="1" dirty="0">
                <a:solidFill>
                  <a:srgbClr val="22223B"/>
                </a:solidFill>
                <a:latin typeface="Times New Roman" pitchFamily="34" charset="0"/>
                <a:ea typeface="Times New Roman" pitchFamily="34" charset="-122"/>
                <a:cs typeface="Times New Roman" pitchFamily="34" charset="-120"/>
              </a:rPr>
              <a:t>V(Y|X</a:t>
            </a:r>
            <a:r>
              <a:rPr lang="en-US" sz="1700" i="1" baseline="-40000" dirty="0">
                <a:solidFill>
                  <a:srgbClr val="22223B"/>
                </a:solidFill>
                <a:latin typeface="Times New Roman" pitchFamily="34" charset="0"/>
                <a:ea typeface="Times New Roman" pitchFamily="34" charset="-122"/>
                <a:cs typeface="Times New Roman" pitchFamily="34" charset="-120"/>
              </a:rPr>
              <a:t>2</a:t>
            </a:r>
            <a:r>
              <a:rPr lang="en-US" sz="1700" i="1" dirty="0">
                <a:solidFill>
                  <a:srgbClr val="22223B"/>
                </a:solidFill>
                <a:latin typeface="Times New Roman" pitchFamily="34" charset="0"/>
                <a:ea typeface="Times New Roman" pitchFamily="34" charset="-122"/>
                <a:cs typeface="Times New Roman" pitchFamily="34" charset="-120"/>
              </a:rPr>
              <a:t>) = X</a:t>
            </a:r>
            <a:r>
              <a:rPr lang="en-US" sz="1700" i="1" baseline="-40000" dirty="0">
                <a:solidFill>
                  <a:srgbClr val="22223B"/>
                </a:solidFill>
                <a:latin typeface="Times New Roman" pitchFamily="34" charset="0"/>
                <a:ea typeface="Times New Roman" pitchFamily="34" charset="-122"/>
                <a:cs typeface="Times New Roman" pitchFamily="34" charset="-120"/>
              </a:rPr>
              <a:t>2</a:t>
            </a:r>
            <a:r>
              <a:rPr lang="en-US" sz="1700" i="1" baseline="30000" dirty="0">
                <a:solidFill>
                  <a:srgbClr val="22223B"/>
                </a:solidFill>
                <a:latin typeface="Times New Roman" pitchFamily="34" charset="0"/>
                <a:ea typeface="Times New Roman" pitchFamily="34" charset="-122"/>
                <a:cs typeface="Times New Roman" pitchFamily="34" charset="-120"/>
              </a:rPr>
              <a:t>2</a:t>
            </a:r>
            <a:r>
              <a:rPr lang="en-US" sz="1700" i="1" dirty="0">
                <a:solidFill>
                  <a:srgbClr val="22223B"/>
                </a:solidFill>
                <a:latin typeface="Times New Roman" pitchFamily="34" charset="0"/>
                <a:ea typeface="Times New Roman" pitchFamily="34" charset="-122"/>
                <a:cs typeface="Times New Roman" pitchFamily="34" charset="-120"/>
              </a:rPr>
              <a:t> V(X</a:t>
            </a:r>
            <a:r>
              <a:rPr lang="en-US" sz="1700" i="1" baseline="-40000" dirty="0">
                <a:solidFill>
                  <a:srgbClr val="22223B"/>
                </a:solidFill>
                <a:latin typeface="Times New Roman" pitchFamily="34" charset="0"/>
                <a:ea typeface="Times New Roman" pitchFamily="34" charset="-122"/>
                <a:cs typeface="Times New Roman" pitchFamily="34" charset="-120"/>
              </a:rPr>
              <a:t>1</a:t>
            </a:r>
            <a:r>
              <a:rPr lang="en-US" sz="1700" i="1" dirty="0">
                <a:solidFill>
                  <a:srgbClr val="22223B"/>
                </a:solidFill>
                <a:latin typeface="Times New Roman" pitchFamily="34" charset="0"/>
                <a:ea typeface="Times New Roman" pitchFamily="34" charset="-122"/>
                <a:cs typeface="Times New Roman" pitchFamily="34" charset="-120"/>
              </a:rPr>
              <a:t>)</a:t>
            </a:r>
            <a:r>
              <a:rPr lang="en-US" sz="1500" dirty="0">
                <a:solidFill>
                  <a:srgbClr val="22223B"/>
                </a:solidFill>
                <a:latin typeface="BIZ UDGothic" pitchFamily="34" charset="0"/>
                <a:ea typeface="BIZ UDGothic" pitchFamily="34" charset="-122"/>
                <a:cs typeface="BIZ UDGothic" pitchFamily="34" charset="-120"/>
              </a:rPr>
              <a:t> → 平均すると 1/9</a:t>
            </a:r>
            <a:endParaRPr lang="en-US" sz="1700" dirty="0"/>
          </a:p>
          <a:p>
            <a:pPr indent="0" marL="0">
              <a:spcAft>
                <a:spcPts val="800"/>
              </a:spcAft>
              <a:buNone/>
            </a:pP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T1</a:t>
            </a:r>
            <a:r>
              <a:rPr lang="en-US" sz="1500" dirty="0">
                <a:solidFill>
                  <a:srgbClr val="22223B"/>
                </a:solidFill>
                <a:latin typeface="BIZ UDGothic" pitchFamily="34" charset="0"/>
                <a:ea typeface="BIZ UDGothic" pitchFamily="34" charset="-122"/>
                <a:cs typeface="BIZ UDGothic" pitchFamily="34" charset="-120"/>
              </a:rPr>
              <a:t> = (1/9) / (1/9) = 1（</a:t>
            </a: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T2</a:t>
            </a:r>
            <a:r>
              <a:rPr lang="en-US" sz="1500" dirty="0">
                <a:solidFill>
                  <a:srgbClr val="22223B"/>
                </a:solidFill>
                <a:latin typeface="BIZ UDGothic" pitchFamily="34" charset="0"/>
                <a:ea typeface="BIZ UDGothic" pitchFamily="34" charset="-122"/>
                <a:cs typeface="BIZ UDGothic" pitchFamily="34" charset="-120"/>
              </a:rPr>
              <a:t> も同様）</a:t>
            </a:r>
            <a:endParaRPr lang="en-US" sz="1700" dirty="0"/>
          </a:p>
          <a:p>
            <a:pPr indent="0" marL="0">
              <a:spcAft>
                <a:spcPts val="800"/>
              </a:spcAft>
              <a:buNone/>
            </a:pPr>
            <a:r>
              <a:rPr lang="en-US" sz="1500" b="1" dirty="0">
                <a:solidFill>
                  <a:srgbClr val="22223B"/>
                </a:solidFill>
                <a:latin typeface="BIZ UDGothic" pitchFamily="34" charset="0"/>
                <a:ea typeface="BIZ UDGothic" pitchFamily="34" charset="-122"/>
                <a:cs typeface="BIZ UDGothic" pitchFamily="34" charset="-120"/>
              </a:rPr>
              <a:t>分散はすべて交互作用：</a:t>
            </a:r>
            <a:r>
              <a:rPr lang="en-US" sz="1700" b="1" i="1" dirty="0">
                <a:solidFill>
                  <a:srgbClr val="22223B"/>
                </a:solidFill>
                <a:latin typeface="Times New Roman" pitchFamily="34" charset="0"/>
                <a:ea typeface="Times New Roman" pitchFamily="34" charset="-122"/>
                <a:cs typeface="Times New Roman" pitchFamily="34" charset="-120"/>
              </a:rPr>
              <a:t>S</a:t>
            </a:r>
            <a:r>
              <a:rPr lang="en-US" sz="1700" b="1" i="1" baseline="-40000" dirty="0">
                <a:solidFill>
                  <a:srgbClr val="22223B"/>
                </a:solidFill>
                <a:latin typeface="Times New Roman" pitchFamily="34" charset="0"/>
                <a:ea typeface="Times New Roman" pitchFamily="34" charset="-122"/>
                <a:cs typeface="Times New Roman" pitchFamily="34" charset="-120"/>
              </a:rPr>
              <a:t>12</a:t>
            </a:r>
            <a:r>
              <a:rPr lang="en-US" sz="1500" b="1" dirty="0">
                <a:solidFill>
                  <a:srgbClr val="22223B"/>
                </a:solidFill>
                <a:latin typeface="BIZ UDGothic" pitchFamily="34" charset="0"/>
                <a:ea typeface="BIZ UDGothic" pitchFamily="34" charset="-122"/>
                <a:cs typeface="BIZ UDGothic" pitchFamily="34" charset="-120"/>
              </a:rPr>
              <a:t> = 1</a:t>
            </a:r>
            <a:endParaRPr lang="en-US" sz="1700" dirty="0"/>
          </a:p>
        </p:txBody>
      </p:sp>
      <p:sp>
        <p:nvSpPr>
          <p:cNvPr id="18" name="Text 15"/>
          <p:cNvSpPr/>
          <p:nvPr/>
        </p:nvSpPr>
        <p:spPr>
          <a:xfrm>
            <a:off x="6598768" y="5120640"/>
            <a:ext cx="4678528" cy="320040"/>
          </a:xfrm>
          <a:prstGeom prst="rect">
            <a:avLst/>
          </a:prstGeom>
          <a:noFill/>
          <a:ln/>
        </p:spPr>
        <p:txBody>
          <a:bodyPr wrap="square" lIns="0" tIns="0" rIns="0" bIns="0" rtlCol="0" anchor="ctr"/>
          <a:lstStyle/>
          <a:p>
            <a:pPr indent="0" marL="0">
              <a:buNone/>
            </a:pPr>
            <a:r>
              <a:rPr lang="en-US" sz="1200" dirty="0">
                <a:solidFill>
                  <a:srgbClr val="6C6F7F"/>
                </a:solidFill>
                <a:latin typeface="BIZ UDGothic" pitchFamily="34" charset="0"/>
                <a:ea typeface="BIZ UDGothic" pitchFamily="34" charset="-122"/>
                <a:cs typeface="BIZ UDGothic" pitchFamily="34" charset="-120"/>
              </a:rPr>
              <a:t>数値計算（N = 16,384）：</a:t>
            </a:r>
            <a:r>
              <a:rPr lang="en-US" sz="1300" i="1" dirty="0">
                <a:solidFill>
                  <a:srgbClr val="6C6F7F"/>
                </a:solidFill>
                <a:latin typeface="Times New Roman" pitchFamily="34" charset="0"/>
                <a:ea typeface="Times New Roman" pitchFamily="34" charset="-122"/>
                <a:cs typeface="Times New Roman" pitchFamily="34" charset="-120"/>
              </a:rPr>
              <a:t>S</a:t>
            </a:r>
            <a:r>
              <a:rPr lang="en-US" sz="1300" i="1" baseline="-40000" dirty="0">
                <a:solidFill>
                  <a:srgbClr val="6C6F7F"/>
                </a:solidFill>
                <a:latin typeface="Times New Roman" pitchFamily="34" charset="0"/>
                <a:ea typeface="Times New Roman" pitchFamily="34" charset="-122"/>
                <a:cs typeface="Times New Roman" pitchFamily="34" charset="-120"/>
              </a:rPr>
              <a:t>i</a:t>
            </a:r>
            <a:r>
              <a:rPr lang="en-US" sz="1200" dirty="0">
                <a:solidFill>
                  <a:srgbClr val="6C6F7F"/>
                </a:solidFill>
                <a:latin typeface="BIZ UDGothic" pitchFamily="34" charset="0"/>
                <a:ea typeface="BIZ UDGothic" pitchFamily="34" charset="-122"/>
                <a:cs typeface="BIZ UDGothic" pitchFamily="34" charset="-120"/>
              </a:rPr>
              <a:t> = 0.000、</a:t>
            </a:r>
            <a:r>
              <a:rPr lang="en-US" sz="1300" i="1" dirty="0">
                <a:solidFill>
                  <a:srgbClr val="6C6F7F"/>
                </a:solidFill>
                <a:latin typeface="Times New Roman" pitchFamily="34" charset="0"/>
                <a:ea typeface="Times New Roman" pitchFamily="34" charset="-122"/>
                <a:cs typeface="Times New Roman" pitchFamily="34" charset="-120"/>
              </a:rPr>
              <a:t>S</a:t>
            </a:r>
            <a:r>
              <a:rPr lang="en-US" sz="1300" i="1" baseline="-40000" dirty="0">
                <a:solidFill>
                  <a:srgbClr val="6C6F7F"/>
                </a:solidFill>
                <a:latin typeface="Times New Roman" pitchFamily="34" charset="0"/>
                <a:ea typeface="Times New Roman" pitchFamily="34" charset="-122"/>
                <a:cs typeface="Times New Roman" pitchFamily="34" charset="-120"/>
              </a:rPr>
              <a:t>Ti</a:t>
            </a:r>
            <a:r>
              <a:rPr lang="en-US" sz="1200" dirty="0">
                <a:solidFill>
                  <a:srgbClr val="6C6F7F"/>
                </a:solidFill>
                <a:latin typeface="BIZ UDGothic" pitchFamily="34" charset="0"/>
                <a:ea typeface="BIZ UDGothic" pitchFamily="34" charset="-122"/>
                <a:cs typeface="BIZ UDGothic" pitchFamily="34" charset="-120"/>
              </a:rPr>
              <a:t> = 1.000</a:t>
            </a:r>
            <a:endParaRPr lang="en-US" sz="1200" dirty="0"/>
          </a:p>
        </p:txBody>
      </p:sp>
      <p:sp>
        <p:nvSpPr>
          <p:cNvPr id="19" name="Shape 16"/>
          <p:cNvSpPr/>
          <p:nvPr/>
        </p:nvSpPr>
        <p:spPr>
          <a:xfrm>
            <a:off x="6507328" y="5486400"/>
            <a:ext cx="4861408" cy="502920"/>
          </a:xfrm>
          <a:prstGeom prst="roundRect">
            <a:avLst>
              <a:gd name="adj" fmla="val 14545"/>
            </a:avLst>
          </a:prstGeom>
          <a:solidFill>
            <a:srgbClr val="F3F4F8"/>
          </a:solidFill>
          <a:ln/>
        </p:spPr>
      </p:sp>
      <p:sp>
        <p:nvSpPr>
          <p:cNvPr id="20" name="Text 17"/>
          <p:cNvSpPr/>
          <p:nvPr/>
        </p:nvSpPr>
        <p:spPr>
          <a:xfrm>
            <a:off x="6644488" y="5486400"/>
            <a:ext cx="4587088" cy="502920"/>
          </a:xfrm>
          <a:prstGeom prst="rect">
            <a:avLst/>
          </a:prstGeom>
          <a:noFill/>
          <a:ln/>
        </p:spPr>
        <p:txBody>
          <a:bodyPr wrap="square" lIns="0" tIns="0" rIns="0" bIns="0" rtlCol="0" anchor="ctr"/>
          <a:lstStyle/>
          <a:p>
            <a:pPr indent="0" marL="0">
              <a:buNone/>
            </a:pPr>
            <a:r>
              <a:rPr lang="en-US" sz="1400" b="1" dirty="0">
                <a:solidFill>
                  <a:srgbClr val="22223B"/>
                </a:solidFill>
                <a:latin typeface="BIZ UDGothic" pitchFamily="34" charset="0"/>
                <a:ea typeface="BIZ UDGothic" pitchFamily="34" charset="-122"/>
                <a:cs typeface="BIZ UDGothic" pitchFamily="34" charset="-120"/>
              </a:rPr>
              <a:t>→ </a:t>
            </a:r>
            <a:r>
              <a:rPr lang="en-US" sz="1600" b="1" i="1" dirty="0">
                <a:solidFill>
                  <a:srgbClr val="22223B"/>
                </a:solidFill>
                <a:latin typeface="Times New Roman" pitchFamily="34" charset="0"/>
                <a:ea typeface="Times New Roman" pitchFamily="34" charset="-122"/>
                <a:cs typeface="Times New Roman" pitchFamily="34" charset="-120"/>
              </a:rPr>
              <a:t>S</a:t>
            </a:r>
            <a:r>
              <a:rPr lang="en-US" sz="1600" b="1" i="1" baseline="-40000" dirty="0">
                <a:solidFill>
                  <a:srgbClr val="22223B"/>
                </a:solidFill>
                <a:latin typeface="Times New Roman" pitchFamily="34" charset="0"/>
                <a:ea typeface="Times New Roman" pitchFamily="34" charset="-122"/>
                <a:cs typeface="Times New Roman" pitchFamily="34" charset="-120"/>
              </a:rPr>
              <a:t>i</a:t>
            </a:r>
            <a:r>
              <a:rPr lang="en-US" sz="1400" b="1" dirty="0">
                <a:solidFill>
                  <a:srgbClr val="22223B"/>
                </a:solidFill>
                <a:latin typeface="BIZ UDGothic" pitchFamily="34" charset="0"/>
                <a:ea typeface="BIZ UDGothic" pitchFamily="34" charset="-122"/>
                <a:cs typeface="BIZ UDGothic" pitchFamily="34" charset="-120"/>
              </a:rPr>
              <a:t> だけ見ると「どちらも効かない」と誤解する</a:t>
            </a:r>
            <a:endParaRPr lang="en-US" sz="1400" dirty="0"/>
          </a:p>
        </p:txBody>
      </p:sp>
      <p:sp>
        <p:nvSpPr>
          <p:cNvPr id="21" name="Text 18"/>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22" name="Text 19"/>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02　Sobol指数の定義</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ベンチマーク：Ishigami関数の理論値</a:t>
            </a:r>
            <a:endParaRPr lang="en-US" sz="2800" dirty="0"/>
          </a:p>
        </p:txBody>
      </p:sp>
      <p:sp>
        <p:nvSpPr>
          <p:cNvPr id="5" name="Shape 2"/>
          <p:cNvSpPr/>
          <p:nvPr/>
        </p:nvSpPr>
        <p:spPr>
          <a:xfrm>
            <a:off x="548640" y="1417320"/>
            <a:ext cx="5394960" cy="777240"/>
          </a:xfrm>
          <a:prstGeom prst="roundRect">
            <a:avLst>
              <a:gd name="adj" fmla="val 9412"/>
            </a:avLst>
          </a:prstGeom>
          <a:solidFill>
            <a:srgbClr val="F3F4F8"/>
          </a:solidFill>
          <a:ln/>
        </p:spPr>
      </p:sp>
      <p:sp>
        <p:nvSpPr>
          <p:cNvPr id="6" name="Text 3"/>
          <p:cNvSpPr/>
          <p:nvPr/>
        </p:nvSpPr>
        <p:spPr>
          <a:xfrm>
            <a:off x="548640" y="1417320"/>
            <a:ext cx="5394960" cy="777240"/>
          </a:xfrm>
          <a:prstGeom prst="rect">
            <a:avLst/>
          </a:prstGeom>
          <a:noFill/>
          <a:ln/>
        </p:spPr>
        <p:txBody>
          <a:bodyPr wrap="square" lIns="1270" tIns="1270" rIns="1270" bIns="1270" rtlCol="0" anchor="ctr"/>
          <a:lstStyle/>
          <a:p>
            <a:pPr algn="ctr" indent="0" marL="0">
              <a:buNone/>
            </a:pPr>
            <a:r>
              <a:rPr lang="en-US" sz="2200" i="1" dirty="0">
                <a:solidFill>
                  <a:srgbClr val="22223B"/>
                </a:solidFill>
                <a:latin typeface="Times New Roman" pitchFamily="34" charset="0"/>
                <a:ea typeface="Times New Roman" pitchFamily="34" charset="-122"/>
                <a:cs typeface="Times New Roman" pitchFamily="34" charset="-120"/>
              </a:rPr>
              <a:t>Y = </a:t>
            </a:r>
            <a:r>
              <a:rPr lang="en-US" sz="2200" dirty="0">
                <a:solidFill>
                  <a:srgbClr val="22223B"/>
                </a:solidFill>
                <a:latin typeface="Times New Roman" pitchFamily="34" charset="0"/>
                <a:ea typeface="Times New Roman" pitchFamily="34" charset="-122"/>
                <a:cs typeface="Times New Roman" pitchFamily="34" charset="-120"/>
              </a:rPr>
              <a:t>sin</a:t>
            </a:r>
            <a:r>
              <a:rPr lang="en-US" sz="2200" i="1" dirty="0">
                <a:solidFill>
                  <a:srgbClr val="22223B"/>
                </a:solidFill>
                <a:latin typeface="Times New Roman" pitchFamily="34" charset="0"/>
                <a:ea typeface="Times New Roman" pitchFamily="34" charset="-122"/>
                <a:cs typeface="Times New Roman" pitchFamily="34" charset="-120"/>
              </a:rPr>
              <a:t> X</a:t>
            </a:r>
            <a:r>
              <a:rPr lang="en-US" sz="2200" i="1" baseline="-40000" dirty="0">
                <a:solidFill>
                  <a:srgbClr val="22223B"/>
                </a:solidFill>
                <a:latin typeface="Times New Roman" pitchFamily="34" charset="0"/>
                <a:ea typeface="Times New Roman" pitchFamily="34" charset="-122"/>
                <a:cs typeface="Times New Roman" pitchFamily="34" charset="-120"/>
              </a:rPr>
              <a:t>1</a:t>
            </a:r>
            <a:r>
              <a:rPr lang="en-US" sz="2200" i="1" dirty="0">
                <a:solidFill>
                  <a:srgbClr val="22223B"/>
                </a:solidFill>
                <a:latin typeface="Times New Roman" pitchFamily="34" charset="0"/>
                <a:ea typeface="Times New Roman" pitchFamily="34" charset="-122"/>
                <a:cs typeface="Times New Roman" pitchFamily="34" charset="-120"/>
              </a:rPr>
              <a:t> + a </a:t>
            </a:r>
            <a:r>
              <a:rPr lang="en-US" sz="2200" dirty="0">
                <a:solidFill>
                  <a:srgbClr val="22223B"/>
                </a:solidFill>
                <a:latin typeface="Times New Roman" pitchFamily="34" charset="0"/>
                <a:ea typeface="Times New Roman" pitchFamily="34" charset="-122"/>
                <a:cs typeface="Times New Roman" pitchFamily="34" charset="-120"/>
              </a:rPr>
              <a:t>sin</a:t>
            </a:r>
            <a:r>
              <a:rPr lang="en-US" sz="2200" i="1" baseline="30000" dirty="0">
                <a:solidFill>
                  <a:srgbClr val="22223B"/>
                </a:solidFill>
                <a:latin typeface="Times New Roman" pitchFamily="34" charset="0"/>
                <a:ea typeface="Times New Roman" pitchFamily="34" charset="-122"/>
                <a:cs typeface="Times New Roman" pitchFamily="34" charset="-120"/>
              </a:rPr>
              <a:t>2</a:t>
            </a:r>
            <a:r>
              <a:rPr lang="en-US" sz="2200" i="1" dirty="0">
                <a:solidFill>
                  <a:srgbClr val="22223B"/>
                </a:solidFill>
                <a:latin typeface="Times New Roman" pitchFamily="34" charset="0"/>
                <a:ea typeface="Times New Roman" pitchFamily="34" charset="-122"/>
                <a:cs typeface="Times New Roman" pitchFamily="34" charset="-120"/>
              </a:rPr>
              <a:t>X</a:t>
            </a:r>
            <a:r>
              <a:rPr lang="en-US" sz="2200" i="1" baseline="-40000" dirty="0">
                <a:solidFill>
                  <a:srgbClr val="22223B"/>
                </a:solidFill>
                <a:latin typeface="Times New Roman" pitchFamily="34" charset="0"/>
                <a:ea typeface="Times New Roman" pitchFamily="34" charset="-122"/>
                <a:cs typeface="Times New Roman" pitchFamily="34" charset="-120"/>
              </a:rPr>
              <a:t>2</a:t>
            </a:r>
            <a:r>
              <a:rPr lang="en-US" sz="2200" i="1" dirty="0">
                <a:solidFill>
                  <a:srgbClr val="22223B"/>
                </a:solidFill>
                <a:latin typeface="Times New Roman" pitchFamily="34" charset="0"/>
                <a:ea typeface="Times New Roman" pitchFamily="34" charset="-122"/>
                <a:cs typeface="Times New Roman" pitchFamily="34" charset="-120"/>
              </a:rPr>
              <a:t> + b X</a:t>
            </a:r>
            <a:r>
              <a:rPr lang="en-US" sz="2200" i="1" baseline="-40000" dirty="0">
                <a:solidFill>
                  <a:srgbClr val="22223B"/>
                </a:solidFill>
                <a:latin typeface="Times New Roman" pitchFamily="34" charset="0"/>
                <a:ea typeface="Times New Roman" pitchFamily="34" charset="-122"/>
                <a:cs typeface="Times New Roman" pitchFamily="34" charset="-120"/>
              </a:rPr>
              <a:t>3</a:t>
            </a:r>
            <a:r>
              <a:rPr lang="en-US" sz="2200" i="1" baseline="30000" dirty="0">
                <a:solidFill>
                  <a:srgbClr val="22223B"/>
                </a:solidFill>
                <a:latin typeface="Times New Roman" pitchFamily="34" charset="0"/>
                <a:ea typeface="Times New Roman" pitchFamily="34" charset="-122"/>
                <a:cs typeface="Times New Roman" pitchFamily="34" charset="-120"/>
              </a:rPr>
              <a:t>4</a:t>
            </a:r>
            <a:r>
              <a:rPr lang="en-US" sz="2200" i="1" dirty="0">
                <a:solidFill>
                  <a:srgbClr val="22223B"/>
                </a:solidFill>
                <a:latin typeface="Times New Roman" pitchFamily="34" charset="0"/>
                <a:ea typeface="Times New Roman" pitchFamily="34" charset="-122"/>
                <a:cs typeface="Times New Roman" pitchFamily="34" charset="-120"/>
              </a:rPr>
              <a:t> </a:t>
            </a:r>
            <a:r>
              <a:rPr lang="en-US" sz="2200" dirty="0">
                <a:solidFill>
                  <a:srgbClr val="22223B"/>
                </a:solidFill>
                <a:latin typeface="Times New Roman" pitchFamily="34" charset="0"/>
                <a:ea typeface="Times New Roman" pitchFamily="34" charset="-122"/>
                <a:cs typeface="Times New Roman" pitchFamily="34" charset="-120"/>
              </a:rPr>
              <a:t>sin</a:t>
            </a:r>
            <a:r>
              <a:rPr lang="en-US" sz="2200" i="1" dirty="0">
                <a:solidFill>
                  <a:srgbClr val="22223B"/>
                </a:solidFill>
                <a:latin typeface="Times New Roman" pitchFamily="34" charset="0"/>
                <a:ea typeface="Times New Roman" pitchFamily="34" charset="-122"/>
                <a:cs typeface="Times New Roman" pitchFamily="34" charset="-120"/>
              </a:rPr>
              <a:t> X</a:t>
            </a:r>
            <a:r>
              <a:rPr lang="en-US" sz="2200" i="1" baseline="-40000" dirty="0">
                <a:solidFill>
                  <a:srgbClr val="22223B"/>
                </a:solidFill>
                <a:latin typeface="Times New Roman" pitchFamily="34" charset="0"/>
                <a:ea typeface="Times New Roman" pitchFamily="34" charset="-122"/>
                <a:cs typeface="Times New Roman" pitchFamily="34" charset="-120"/>
              </a:rPr>
              <a:t>1</a:t>
            </a:r>
            <a:endParaRPr lang="en-US" sz="2200" dirty="0"/>
          </a:p>
        </p:txBody>
      </p:sp>
      <p:sp>
        <p:nvSpPr>
          <p:cNvPr id="7" name="Text 4"/>
          <p:cNvSpPr/>
          <p:nvPr/>
        </p:nvSpPr>
        <p:spPr>
          <a:xfrm>
            <a:off x="548640" y="2240280"/>
            <a:ext cx="5394960" cy="365760"/>
          </a:xfrm>
          <a:prstGeom prst="rect">
            <a:avLst/>
          </a:prstGeom>
          <a:noFill/>
          <a:ln/>
        </p:spPr>
        <p:txBody>
          <a:bodyPr wrap="square" lIns="0" tIns="0" rIns="0" bIns="0" rtlCol="0" anchor="ctr"/>
          <a:lstStyle/>
          <a:p>
            <a:pPr algn="ctr" indent="0" marL="0">
              <a:buNone/>
            </a:pPr>
            <a:r>
              <a:rPr lang="en-US" sz="1600" i="1" dirty="0">
                <a:solidFill>
                  <a:srgbClr val="4A4E69"/>
                </a:solidFill>
                <a:latin typeface="Times New Roman" pitchFamily="34" charset="0"/>
                <a:ea typeface="Times New Roman" pitchFamily="34" charset="-122"/>
                <a:cs typeface="Times New Roman" pitchFamily="34" charset="-120"/>
              </a:rPr>
              <a:t>a</a:t>
            </a:r>
            <a:r>
              <a:rPr lang="en-US" sz="1400" dirty="0">
                <a:solidFill>
                  <a:srgbClr val="4A4E69"/>
                </a:solidFill>
                <a:latin typeface="BIZ UDGothic" pitchFamily="34" charset="0"/>
                <a:ea typeface="BIZ UDGothic" pitchFamily="34" charset="-122"/>
                <a:cs typeface="BIZ UDGothic" pitchFamily="34" charset="-120"/>
              </a:rPr>
              <a:t> = 7,　</a:t>
            </a:r>
            <a:r>
              <a:rPr lang="en-US" sz="1600" i="1" dirty="0">
                <a:solidFill>
                  <a:srgbClr val="4A4E69"/>
                </a:solidFill>
                <a:latin typeface="Times New Roman" pitchFamily="34" charset="0"/>
                <a:ea typeface="Times New Roman" pitchFamily="34" charset="-122"/>
                <a:cs typeface="Times New Roman" pitchFamily="34" charset="-120"/>
              </a:rPr>
              <a:t>b</a:t>
            </a:r>
            <a:r>
              <a:rPr lang="en-US" sz="1400" dirty="0">
                <a:solidFill>
                  <a:srgbClr val="4A4E69"/>
                </a:solidFill>
                <a:latin typeface="BIZ UDGothic" pitchFamily="34" charset="0"/>
                <a:ea typeface="BIZ UDGothic" pitchFamily="34" charset="-122"/>
                <a:cs typeface="BIZ UDGothic" pitchFamily="34" charset="-120"/>
              </a:rPr>
              <a:t> = 0.1,　</a:t>
            </a:r>
            <a:r>
              <a:rPr lang="en-US" sz="1600" i="1" dirty="0">
                <a:solidFill>
                  <a:srgbClr val="4A4E69"/>
                </a:solidFill>
                <a:latin typeface="Times New Roman" pitchFamily="34" charset="0"/>
                <a:ea typeface="Times New Roman" pitchFamily="34" charset="-122"/>
                <a:cs typeface="Times New Roman" pitchFamily="34" charset="-120"/>
              </a:rPr>
              <a:t>X</a:t>
            </a:r>
            <a:r>
              <a:rPr lang="en-US" sz="1600" i="1" baseline="-40000" dirty="0">
                <a:solidFill>
                  <a:srgbClr val="4A4E69"/>
                </a:solidFill>
                <a:latin typeface="Times New Roman" pitchFamily="34" charset="0"/>
                <a:ea typeface="Times New Roman" pitchFamily="34" charset="-122"/>
                <a:cs typeface="Times New Roman" pitchFamily="34" charset="-120"/>
              </a:rPr>
              <a:t>i</a:t>
            </a:r>
            <a:r>
              <a:rPr lang="en-US" sz="1400" dirty="0">
                <a:solidFill>
                  <a:srgbClr val="4A4E69"/>
                </a:solidFill>
                <a:latin typeface="BIZ UDGothic" pitchFamily="34" charset="0"/>
                <a:ea typeface="BIZ UDGothic" pitchFamily="34" charset="-122"/>
                <a:cs typeface="BIZ UDGothic" pitchFamily="34" charset="-120"/>
              </a:rPr>
              <a:t> ～ </a:t>
            </a:r>
            <a:r>
              <a:rPr lang="en-US" sz="1600" i="1" dirty="0">
                <a:solidFill>
                  <a:srgbClr val="4A4E69"/>
                </a:solidFill>
                <a:latin typeface="Times New Roman" pitchFamily="34" charset="0"/>
                <a:ea typeface="Times New Roman" pitchFamily="34" charset="-122"/>
                <a:cs typeface="Times New Roman" pitchFamily="34" charset="-120"/>
              </a:rPr>
              <a:t>U(−π, π)</a:t>
            </a:r>
            <a:r>
              <a:rPr lang="en-US" sz="1400" dirty="0">
                <a:solidFill>
                  <a:srgbClr val="4A4E69"/>
                </a:solidFill>
                <a:latin typeface="BIZ UDGothic" pitchFamily="34" charset="0"/>
                <a:ea typeface="BIZ UDGothic" pitchFamily="34" charset="-122"/>
                <a:cs typeface="BIZ UDGothic" pitchFamily="34" charset="-120"/>
              </a:rPr>
              <a:t>（独立）</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5394960" cy="914400"/>
        </p:xfrm>
        <a:graphic>
          <a:graphicData uri="http://schemas.openxmlformats.org/drawingml/2006/table">
            <a:tbl>
              <a:tblPr/>
              <a:tblGrid>
                <a:gridCol w="1005840"/>
                <a:gridCol w="1463040"/>
                <a:gridCol w="1463040"/>
                <a:gridCol w="1463040"/>
              </a:tblGrid>
              <a:tr h="457200">
                <a:tc>
                  <a:txBody>
                    <a:bodyPr/>
                    <a:lstStyle/>
                    <a:p>
                      <a:pPr algn="ctr" indent="0" marL="0">
                        <a:buNone/>
                      </a:pPr>
                      <a:r>
                        <a:rPr lang="en-US" sz="1400" b="1" dirty="0">
                          <a:solidFill>
                            <a:srgbClr val="FFFFFF"/>
                          </a:solidFill>
                          <a:latin typeface="BIZ UDGothic" pitchFamily="34" charset="0"/>
                          <a:ea typeface="BIZ UDGothic" pitchFamily="34" charset="-122"/>
                          <a:cs typeface="BIZ UDGothic" pitchFamily="34" charset="-120"/>
                        </a:rPr>
                        <a:t>入力</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c>
                  <a:txBody>
                    <a:bodyPr/>
                    <a:lstStyle/>
                    <a:p>
                      <a:pPr algn="ctr" indent="0" marL="0">
                        <a:buNone/>
                      </a:pPr>
                      <a:r>
                        <a:rPr lang="en-US" sz="1400" b="1" dirty="0">
                          <a:solidFill>
                            <a:srgbClr val="FFFFFF"/>
                          </a:solidFill>
                          <a:latin typeface="BIZ UDGothic" pitchFamily="34" charset="0"/>
                          <a:ea typeface="BIZ UDGothic" pitchFamily="34" charset="-122"/>
                          <a:cs typeface="BIZ UDGothic" pitchFamily="34" charset="-120"/>
                        </a:rPr>
                        <a:t>一次効果 </a:t>
                      </a:r>
                      <a:r>
                        <a:rPr lang="en-US" sz="1600" b="1" i="1" dirty="0">
                          <a:solidFill>
                            <a:srgbClr val="FFFFFF"/>
                          </a:solidFill>
                          <a:latin typeface="Times New Roman" pitchFamily="34" charset="0"/>
                          <a:ea typeface="Times New Roman" pitchFamily="34" charset="-122"/>
                          <a:cs typeface="Times New Roman" pitchFamily="34" charset="-120"/>
                        </a:rPr>
                        <a:t>S</a:t>
                      </a:r>
                      <a:r>
                        <a:rPr lang="en-US" sz="1600" b="1" i="1" baseline="-40000" dirty="0">
                          <a:solidFill>
                            <a:srgbClr val="FFFFFF"/>
                          </a:solidFill>
                          <a:latin typeface="Times New Roman" pitchFamily="34" charset="0"/>
                          <a:ea typeface="Times New Roman" pitchFamily="34" charset="-122"/>
                          <a:cs typeface="Times New Roman" pitchFamily="34" charset="-120"/>
                        </a:rPr>
                        <a:t>i</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c>
                  <a:txBody>
                    <a:bodyPr/>
                    <a:lstStyle/>
                    <a:p>
                      <a:pPr algn="ctr" indent="0" marL="0">
                        <a:buNone/>
                      </a:pPr>
                      <a:r>
                        <a:rPr lang="en-US" sz="1400" b="1" dirty="0">
                          <a:solidFill>
                            <a:srgbClr val="FFFFFF"/>
                          </a:solidFill>
                          <a:latin typeface="BIZ UDGothic" pitchFamily="34" charset="0"/>
                          <a:ea typeface="BIZ UDGothic" pitchFamily="34" charset="-122"/>
                          <a:cs typeface="BIZ UDGothic" pitchFamily="34" charset="-120"/>
                        </a:rPr>
                        <a:t>総合効果 </a:t>
                      </a:r>
                      <a:r>
                        <a:rPr lang="en-US" sz="1600" b="1" i="1" dirty="0">
                          <a:solidFill>
                            <a:srgbClr val="FFFFFF"/>
                          </a:solidFill>
                          <a:latin typeface="Times New Roman" pitchFamily="34" charset="0"/>
                          <a:ea typeface="Times New Roman" pitchFamily="34" charset="-122"/>
                          <a:cs typeface="Times New Roman" pitchFamily="34" charset="-120"/>
                        </a:rPr>
                        <a:t>S</a:t>
                      </a:r>
                      <a:r>
                        <a:rPr lang="en-US" sz="1600" b="1" i="1" baseline="-40000" dirty="0">
                          <a:solidFill>
                            <a:srgbClr val="FFFFFF"/>
                          </a:solidFill>
                          <a:latin typeface="Times New Roman" pitchFamily="34" charset="0"/>
                          <a:ea typeface="Times New Roman" pitchFamily="34" charset="-122"/>
                          <a:cs typeface="Times New Roman" pitchFamily="34" charset="-120"/>
                        </a:rPr>
                        <a:t>Ti</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c>
                  <a:txBody>
                    <a:bodyPr/>
                    <a:lstStyle/>
                    <a:p>
                      <a:pPr algn="ctr" indent="0" marL="0">
                        <a:buNone/>
                      </a:pPr>
                      <a:r>
                        <a:rPr lang="en-US" sz="1400" b="1" dirty="0">
                          <a:solidFill>
                            <a:srgbClr val="FFFFFF"/>
                          </a:solidFill>
                          <a:latin typeface="BIZ UDGothic" pitchFamily="34" charset="0"/>
                          <a:ea typeface="BIZ UDGothic" pitchFamily="34" charset="-122"/>
                          <a:cs typeface="BIZ UDGothic" pitchFamily="34" charset="-120"/>
                        </a:rPr>
                        <a:t>差 </a:t>
                      </a:r>
                      <a:r>
                        <a:rPr lang="en-US" sz="1600" b="1" i="1" dirty="0">
                          <a:solidFill>
                            <a:srgbClr val="FFFFFF"/>
                          </a:solidFill>
                          <a:latin typeface="Times New Roman" pitchFamily="34" charset="0"/>
                          <a:ea typeface="Times New Roman" pitchFamily="34" charset="-122"/>
                          <a:cs typeface="Times New Roman" pitchFamily="34" charset="-120"/>
                        </a:rPr>
                        <a:t>S</a:t>
                      </a:r>
                      <a:r>
                        <a:rPr lang="en-US" sz="1600" b="1" i="1" baseline="-40000" dirty="0">
                          <a:solidFill>
                            <a:srgbClr val="FFFFFF"/>
                          </a:solidFill>
                          <a:latin typeface="Times New Roman" pitchFamily="34" charset="0"/>
                          <a:ea typeface="Times New Roman" pitchFamily="34" charset="-122"/>
                          <a:cs typeface="Times New Roman" pitchFamily="34" charset="-120"/>
                        </a:rPr>
                        <a:t>Ti</a:t>
                      </a:r>
                      <a:r>
                        <a:rPr lang="en-US" sz="1600" b="1" i="1" dirty="0">
                          <a:solidFill>
                            <a:srgbClr val="FFFFFF"/>
                          </a:solidFill>
                          <a:latin typeface="Times New Roman" pitchFamily="34" charset="0"/>
                          <a:ea typeface="Times New Roman" pitchFamily="34" charset="-122"/>
                          <a:cs typeface="Times New Roman" pitchFamily="34" charset="-120"/>
                        </a:rPr>
                        <a:t> − S</a:t>
                      </a:r>
                      <a:r>
                        <a:rPr lang="en-US" sz="1600" b="1" i="1" baseline="-40000" dirty="0">
                          <a:solidFill>
                            <a:srgbClr val="FFFFFF"/>
                          </a:solidFill>
                          <a:latin typeface="Times New Roman" pitchFamily="34" charset="0"/>
                          <a:ea typeface="Times New Roman" pitchFamily="34" charset="-122"/>
                          <a:cs typeface="Times New Roman" pitchFamily="34" charset="-120"/>
                        </a:rPr>
                        <a:t>i</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r>
              <a:tr h="457200">
                <a:tc>
                  <a:txBody>
                    <a:bodyPr/>
                    <a:lstStyle/>
                    <a:p>
                      <a:pPr algn="ctr" indent="0" marL="0">
                        <a:buNone/>
                      </a:pPr>
                      <a:r>
                        <a:rPr lang="en-US" sz="1700" b="1" i="1" dirty="0">
                          <a:solidFill>
                            <a:srgbClr val="E76F51"/>
                          </a:solidFill>
                          <a:latin typeface="Times New Roman" pitchFamily="34" charset="0"/>
                          <a:ea typeface="Times New Roman" pitchFamily="34" charset="-122"/>
                          <a:cs typeface="Times New Roman" pitchFamily="34" charset="-120"/>
                        </a:rPr>
                        <a:t>X</a:t>
                      </a:r>
                      <a:r>
                        <a:rPr lang="en-US" sz="1700" b="1" i="1" baseline="-40000" dirty="0">
                          <a:solidFill>
                            <a:srgbClr val="E76F51"/>
                          </a:solidFill>
                          <a:latin typeface="Times New Roman" pitchFamily="34" charset="0"/>
                          <a:ea typeface="Times New Roman" pitchFamily="34" charset="-122"/>
                          <a:cs typeface="Times New Roman" pitchFamily="34" charset="-120"/>
                        </a:rPr>
                        <a:t>1</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3B"/>
                          </a:solidFill>
                          <a:latin typeface="BIZ UDGothic" pitchFamily="34" charset="0"/>
                          <a:ea typeface="BIZ UDGothic" pitchFamily="34" charset="-122"/>
                          <a:cs typeface="BIZ UDGothic" pitchFamily="34" charset="-120"/>
                        </a:rPr>
                        <a:t>0.314</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3B"/>
                          </a:solidFill>
                          <a:latin typeface="BIZ UDGothic" pitchFamily="34" charset="0"/>
                          <a:ea typeface="BIZ UDGothic" pitchFamily="34" charset="-122"/>
                          <a:cs typeface="BIZ UDGothic" pitchFamily="34" charset="-120"/>
                        </a:rPr>
                        <a:t>0.558</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3B"/>
                          </a:solidFill>
                          <a:latin typeface="BIZ UDGothic" pitchFamily="34" charset="0"/>
                          <a:ea typeface="BIZ UDGothic" pitchFamily="34" charset="-122"/>
                          <a:cs typeface="BIZ UDGothic" pitchFamily="34" charset="-120"/>
                        </a:rPr>
                        <a:t>0.244</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r>
              <a:tr h="457200">
                <a:tc>
                  <a:txBody>
                    <a:bodyPr/>
                    <a:lstStyle/>
                    <a:p>
                      <a:pPr algn="ctr" indent="0" marL="0">
                        <a:buNone/>
                      </a:pPr>
                      <a:r>
                        <a:rPr lang="en-US" sz="1700" b="1" i="1" dirty="0">
                          <a:solidFill>
                            <a:srgbClr val="2A9D8F"/>
                          </a:solidFill>
                          <a:latin typeface="Times New Roman" pitchFamily="34" charset="0"/>
                          <a:ea typeface="Times New Roman" pitchFamily="34" charset="-122"/>
                          <a:cs typeface="Times New Roman" pitchFamily="34" charset="-120"/>
                        </a:rPr>
                        <a:t>X</a:t>
                      </a:r>
                      <a:r>
                        <a:rPr lang="en-US" sz="1700" b="1" i="1" baseline="-40000" dirty="0">
                          <a:solidFill>
                            <a:srgbClr val="2A9D8F"/>
                          </a:solidFill>
                          <a:latin typeface="Times New Roman" pitchFamily="34" charset="0"/>
                          <a:ea typeface="Times New Roman" pitchFamily="34" charset="-122"/>
                          <a:cs typeface="Times New Roman" pitchFamily="34" charset="-120"/>
                        </a:rPr>
                        <a:t>2</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3B"/>
                          </a:solidFill>
                          <a:latin typeface="BIZ UDGothic" pitchFamily="34" charset="0"/>
                          <a:ea typeface="BIZ UDGothic" pitchFamily="34" charset="-122"/>
                          <a:cs typeface="BIZ UDGothic" pitchFamily="34" charset="-120"/>
                        </a:rPr>
                        <a:t>0.442</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3B"/>
                          </a:solidFill>
                          <a:latin typeface="BIZ UDGothic" pitchFamily="34" charset="0"/>
                          <a:ea typeface="BIZ UDGothic" pitchFamily="34" charset="-122"/>
                          <a:cs typeface="BIZ UDGothic" pitchFamily="34" charset="-120"/>
                        </a:rPr>
                        <a:t>0.442</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3B"/>
                          </a:solidFill>
                          <a:latin typeface="BIZ UDGothic" pitchFamily="34" charset="0"/>
                          <a:ea typeface="BIZ UDGothic" pitchFamily="34" charset="-122"/>
                          <a:cs typeface="BIZ UDGothic" pitchFamily="34" charset="-120"/>
                        </a:rPr>
                        <a:t>0.000</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r>
              <a:tr h="457200">
                <a:tc>
                  <a:txBody>
                    <a:bodyPr/>
                    <a:lstStyle/>
                    <a:p>
                      <a:pPr algn="ctr" indent="0" marL="0">
                        <a:buNone/>
                      </a:pPr>
                      <a:r>
                        <a:rPr lang="en-US" sz="1700" b="1" i="1" dirty="0">
                          <a:solidFill>
                            <a:srgbClr val="9C7412"/>
                          </a:solidFill>
                          <a:latin typeface="Times New Roman" pitchFamily="34" charset="0"/>
                          <a:ea typeface="Times New Roman" pitchFamily="34" charset="-122"/>
                          <a:cs typeface="Times New Roman" pitchFamily="34" charset="-120"/>
                        </a:rPr>
                        <a:t>X</a:t>
                      </a:r>
                      <a:r>
                        <a:rPr lang="en-US" sz="1700" b="1" i="1" baseline="-40000" dirty="0">
                          <a:solidFill>
                            <a:srgbClr val="9C7412"/>
                          </a:solidFill>
                          <a:latin typeface="Times New Roman" pitchFamily="34" charset="0"/>
                          <a:ea typeface="Times New Roman" pitchFamily="34" charset="-122"/>
                          <a:cs typeface="Times New Roman" pitchFamily="34" charset="-120"/>
                        </a:rPr>
                        <a:t>3</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3B"/>
                          </a:solidFill>
                          <a:latin typeface="BIZ UDGothic" pitchFamily="34" charset="0"/>
                          <a:ea typeface="BIZ UDGothic" pitchFamily="34" charset="-122"/>
                          <a:cs typeface="BIZ UDGothic" pitchFamily="34" charset="-120"/>
                        </a:rPr>
                        <a:t>0.000</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3B"/>
                          </a:solidFill>
                          <a:latin typeface="BIZ UDGothic" pitchFamily="34" charset="0"/>
                          <a:ea typeface="BIZ UDGothic" pitchFamily="34" charset="-122"/>
                          <a:cs typeface="BIZ UDGothic" pitchFamily="34" charset="-120"/>
                        </a:rPr>
                        <a:t>0.244</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3B"/>
                          </a:solidFill>
                          <a:latin typeface="BIZ UDGothic" pitchFamily="34" charset="0"/>
                          <a:ea typeface="BIZ UDGothic" pitchFamily="34" charset="-122"/>
                          <a:cs typeface="BIZ UDGothic" pitchFamily="34" charset="-120"/>
                        </a:rPr>
                        <a:t>0.244</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r>
            </a:tbl>
          </a:graphicData>
        </a:graphic>
      </p:graphicFrame>
      <p:sp>
        <p:nvSpPr>
          <p:cNvPr id="9" name="Text 5"/>
          <p:cNvSpPr/>
          <p:nvPr/>
        </p:nvSpPr>
        <p:spPr>
          <a:xfrm>
            <a:off x="548640" y="4709160"/>
            <a:ext cx="5394960" cy="1417320"/>
          </a:xfrm>
          <a:prstGeom prst="rect">
            <a:avLst/>
          </a:prstGeom>
          <a:noFill/>
          <a:ln/>
        </p:spPr>
        <p:txBody>
          <a:bodyPr wrap="square" lIns="0" tIns="0" rIns="0" bIns="0" rtlCol="0" anchor="t"/>
          <a:lstStyle/>
          <a:p>
            <a:pPr marL="342900" indent="-342900">
              <a:spcAft>
                <a:spcPts val="800"/>
              </a:spcAft>
              <a:buSzPct val="100000"/>
              <a:buChar char="•"/>
            </a:pPr>
            <a:r>
              <a:rPr lang="en-US" sz="1700" i="1" dirty="0">
                <a:solidFill>
                  <a:srgbClr val="22223B"/>
                </a:solidFill>
                <a:latin typeface="Times New Roman" pitchFamily="34" charset="0"/>
                <a:ea typeface="Times New Roman" pitchFamily="34" charset="-122"/>
                <a:cs typeface="Times New Roman" pitchFamily="34" charset="-120"/>
              </a:rPr>
              <a:t>X</a:t>
            </a:r>
            <a:r>
              <a:rPr lang="en-US" sz="1700" i="1" baseline="-40000" dirty="0">
                <a:solidFill>
                  <a:srgbClr val="22223B"/>
                </a:solidFill>
                <a:latin typeface="Times New Roman" pitchFamily="34" charset="0"/>
                <a:ea typeface="Times New Roman" pitchFamily="34" charset="-122"/>
                <a:cs typeface="Times New Roman" pitchFamily="34" charset="-120"/>
              </a:rPr>
              <a:t>2</a:t>
            </a:r>
            <a:r>
              <a:rPr lang="en-US" sz="1500" dirty="0">
                <a:solidFill>
                  <a:srgbClr val="22223B"/>
                </a:solidFill>
                <a:latin typeface="BIZ UDGothic" pitchFamily="34" charset="0"/>
                <a:ea typeface="BIZ UDGothic" pitchFamily="34" charset="-122"/>
                <a:cs typeface="BIZ UDGothic" pitchFamily="34" charset="-120"/>
              </a:rPr>
              <a:t>：</a:t>
            </a:r>
            <a:r>
              <a:rPr lang="en-US" sz="1700" i="1" dirty="0">
                <a:solidFill>
                  <a:srgbClr val="22223B"/>
                </a:solidFill>
                <a:latin typeface="Times New Roman" pitchFamily="34" charset="0"/>
                <a:ea typeface="Times New Roman" pitchFamily="34" charset="-122"/>
                <a:cs typeface="Times New Roman" pitchFamily="34" charset="-120"/>
              </a:rPr>
              <a:t>S</a:t>
            </a:r>
            <a:r>
              <a:rPr lang="en-US" sz="1500" dirty="0">
                <a:solidFill>
                  <a:srgbClr val="22223B"/>
                </a:solidFill>
                <a:latin typeface="BIZ UDGothic" pitchFamily="34" charset="0"/>
                <a:ea typeface="BIZ UDGothic" pitchFamily="34" charset="-122"/>
                <a:cs typeface="BIZ UDGothic" pitchFamily="34" charset="-120"/>
              </a:rPr>
              <a:t> ＝ </a:t>
            </a: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T</a:t>
            </a:r>
            <a:r>
              <a:rPr lang="en-US" sz="1500" dirty="0">
                <a:solidFill>
                  <a:srgbClr val="22223B"/>
                </a:solidFill>
                <a:latin typeface="BIZ UDGothic" pitchFamily="34" charset="0"/>
                <a:ea typeface="BIZ UDGothic" pitchFamily="34" charset="-122"/>
                <a:cs typeface="BIZ UDGothic" pitchFamily="34" charset="-120"/>
              </a:rPr>
              <a:t> → 単独で効く</a:t>
            </a:r>
            <a:endParaRPr lang="en-US" sz="1700" dirty="0"/>
          </a:p>
          <a:p>
            <a:pPr marL="342900" indent="-342900">
              <a:spcAft>
                <a:spcPts val="800"/>
              </a:spcAft>
              <a:buSzPct val="100000"/>
              <a:buChar char="•"/>
            </a:pPr>
            <a:r>
              <a:rPr lang="en-US" sz="1700" i="1" dirty="0">
                <a:solidFill>
                  <a:srgbClr val="22223B"/>
                </a:solidFill>
                <a:latin typeface="Times New Roman" pitchFamily="34" charset="0"/>
                <a:ea typeface="Times New Roman" pitchFamily="34" charset="-122"/>
                <a:cs typeface="Times New Roman" pitchFamily="34" charset="-120"/>
              </a:rPr>
              <a:t>X</a:t>
            </a:r>
            <a:r>
              <a:rPr lang="en-US" sz="1700" i="1" baseline="-40000" dirty="0">
                <a:solidFill>
                  <a:srgbClr val="22223B"/>
                </a:solidFill>
                <a:latin typeface="Times New Roman" pitchFamily="34" charset="0"/>
                <a:ea typeface="Times New Roman" pitchFamily="34" charset="-122"/>
                <a:cs typeface="Times New Roman" pitchFamily="34" charset="-120"/>
              </a:rPr>
              <a:t>1</a:t>
            </a:r>
            <a:r>
              <a:rPr lang="en-US" sz="1500" dirty="0">
                <a:solidFill>
                  <a:srgbClr val="22223B"/>
                </a:solidFill>
                <a:latin typeface="BIZ UDGothic" pitchFamily="34" charset="0"/>
                <a:ea typeface="BIZ UDGothic" pitchFamily="34" charset="-122"/>
                <a:cs typeface="BIZ UDGothic" pitchFamily="34" charset="-120"/>
              </a:rPr>
              <a:t>：</a:t>
            </a: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T</a:t>
            </a:r>
            <a:r>
              <a:rPr lang="en-US" sz="1700" i="1" dirty="0">
                <a:solidFill>
                  <a:srgbClr val="22223B"/>
                </a:solidFill>
                <a:latin typeface="Times New Roman" pitchFamily="34" charset="0"/>
                <a:ea typeface="Times New Roman" pitchFamily="34" charset="-122"/>
                <a:cs typeface="Times New Roman" pitchFamily="34" charset="-120"/>
              </a:rPr>
              <a:t> − S</a:t>
            </a:r>
            <a:r>
              <a:rPr lang="en-US" sz="1500" dirty="0">
                <a:solidFill>
                  <a:srgbClr val="22223B"/>
                </a:solidFill>
                <a:latin typeface="BIZ UDGothic" pitchFamily="34" charset="0"/>
                <a:ea typeface="BIZ UDGothic" pitchFamily="34" charset="-122"/>
                <a:cs typeface="BIZ UDGothic" pitchFamily="34" charset="-120"/>
              </a:rPr>
              <a:t> = 0.244 → </a:t>
            </a:r>
            <a:r>
              <a:rPr lang="en-US" sz="1700" i="1" dirty="0">
                <a:solidFill>
                  <a:srgbClr val="22223B"/>
                </a:solidFill>
                <a:latin typeface="Times New Roman" pitchFamily="34" charset="0"/>
                <a:ea typeface="Times New Roman" pitchFamily="34" charset="-122"/>
                <a:cs typeface="Times New Roman" pitchFamily="34" charset="-120"/>
              </a:rPr>
              <a:t>X</a:t>
            </a:r>
            <a:r>
              <a:rPr lang="en-US" sz="1700" i="1" baseline="-40000" dirty="0">
                <a:solidFill>
                  <a:srgbClr val="22223B"/>
                </a:solidFill>
                <a:latin typeface="Times New Roman" pitchFamily="34" charset="0"/>
                <a:ea typeface="Times New Roman" pitchFamily="34" charset="-122"/>
                <a:cs typeface="Times New Roman" pitchFamily="34" charset="-120"/>
              </a:rPr>
              <a:t>3</a:t>
            </a:r>
            <a:r>
              <a:rPr lang="en-US" sz="1500" dirty="0">
                <a:solidFill>
                  <a:srgbClr val="22223B"/>
                </a:solidFill>
                <a:latin typeface="BIZ UDGothic" pitchFamily="34" charset="0"/>
                <a:ea typeface="BIZ UDGothic" pitchFamily="34" charset="-122"/>
                <a:cs typeface="BIZ UDGothic" pitchFamily="34" charset="-120"/>
              </a:rPr>
              <a:t> との交互作用あり</a:t>
            </a:r>
            <a:endParaRPr lang="en-US" sz="1700" dirty="0"/>
          </a:p>
          <a:p>
            <a:pPr marL="342900" indent="-342900">
              <a:spcAft>
                <a:spcPts val="800"/>
              </a:spcAft>
              <a:buSzPct val="100000"/>
              <a:buChar char="•"/>
            </a:pPr>
            <a:r>
              <a:rPr lang="en-US" sz="1700" i="1" dirty="0">
                <a:solidFill>
                  <a:srgbClr val="22223B"/>
                </a:solidFill>
                <a:latin typeface="Times New Roman" pitchFamily="34" charset="0"/>
                <a:ea typeface="Times New Roman" pitchFamily="34" charset="-122"/>
                <a:cs typeface="Times New Roman" pitchFamily="34" charset="-120"/>
              </a:rPr>
              <a:t>X</a:t>
            </a:r>
            <a:r>
              <a:rPr lang="en-US" sz="1700" i="1" baseline="-40000" dirty="0">
                <a:solidFill>
                  <a:srgbClr val="22223B"/>
                </a:solidFill>
                <a:latin typeface="Times New Roman" pitchFamily="34" charset="0"/>
                <a:ea typeface="Times New Roman" pitchFamily="34" charset="-122"/>
                <a:cs typeface="Times New Roman" pitchFamily="34" charset="-120"/>
              </a:rPr>
              <a:t>3</a:t>
            </a:r>
            <a:r>
              <a:rPr lang="en-US" sz="1500" dirty="0">
                <a:solidFill>
                  <a:srgbClr val="22223B"/>
                </a:solidFill>
                <a:latin typeface="BIZ UDGothic" pitchFamily="34" charset="0"/>
                <a:ea typeface="BIZ UDGothic" pitchFamily="34" charset="-122"/>
                <a:cs typeface="BIZ UDGothic" pitchFamily="34" charset="-120"/>
              </a:rPr>
              <a:t>：</a:t>
            </a:r>
            <a:r>
              <a:rPr lang="en-US" sz="1700" i="1" dirty="0">
                <a:solidFill>
                  <a:srgbClr val="22223B"/>
                </a:solidFill>
                <a:latin typeface="Times New Roman" pitchFamily="34" charset="0"/>
                <a:ea typeface="Times New Roman" pitchFamily="34" charset="-122"/>
                <a:cs typeface="Times New Roman" pitchFamily="34" charset="-120"/>
              </a:rPr>
              <a:t>S</a:t>
            </a:r>
            <a:r>
              <a:rPr lang="en-US" sz="1500" dirty="0">
                <a:solidFill>
                  <a:srgbClr val="22223B"/>
                </a:solidFill>
                <a:latin typeface="BIZ UDGothic" pitchFamily="34" charset="0"/>
                <a:ea typeface="BIZ UDGothic" pitchFamily="34" charset="-122"/>
                <a:cs typeface="BIZ UDGothic" pitchFamily="34" charset="-120"/>
              </a:rPr>
              <a:t> = 0 でも </a:t>
            </a:r>
            <a:r>
              <a:rPr lang="en-US" sz="1700" i="1" dirty="0">
                <a:solidFill>
                  <a:srgbClr val="22223B"/>
                </a:solidFill>
                <a:latin typeface="Times New Roman" pitchFamily="34" charset="0"/>
                <a:ea typeface="Times New Roman" pitchFamily="34" charset="-122"/>
                <a:cs typeface="Times New Roman" pitchFamily="34" charset="-120"/>
              </a:rPr>
              <a:t>S</a:t>
            </a:r>
            <a:r>
              <a:rPr lang="en-US" sz="1700" i="1" baseline="-40000" dirty="0">
                <a:solidFill>
                  <a:srgbClr val="22223B"/>
                </a:solidFill>
                <a:latin typeface="Times New Roman" pitchFamily="34" charset="0"/>
                <a:ea typeface="Times New Roman" pitchFamily="34" charset="-122"/>
                <a:cs typeface="Times New Roman" pitchFamily="34" charset="-120"/>
              </a:rPr>
              <a:t>T</a:t>
            </a:r>
            <a:r>
              <a:rPr lang="en-US" sz="1500" dirty="0">
                <a:solidFill>
                  <a:srgbClr val="22223B"/>
                </a:solidFill>
                <a:latin typeface="BIZ UDGothic" pitchFamily="34" charset="0"/>
                <a:ea typeface="BIZ UDGothic" pitchFamily="34" charset="-122"/>
                <a:cs typeface="BIZ UDGothic" pitchFamily="34" charset="-120"/>
              </a:rPr>
              <a:t> = 0.244 → 交互作用だけで効く</a:t>
            </a:r>
            <a:endParaRPr lang="en-US" sz="1700" dirty="0"/>
          </a:p>
        </p:txBody>
      </p:sp>
      <p:graphicFrame>
        <p:nvGraphicFramePr>
          <p:cNvPr id="10" name="Chart 0" descr=""/>
          <p:cNvGraphicFramePr/>
          <p:nvPr/>
        </p:nvGraphicFramePr>
        <p:xfrm>
          <a:off x="6309360" y="1371600"/>
          <a:ext cx="5333695" cy="3657600"/>
        </p:xfrm>
        <a:graphic xmlns:a="http://schemas.openxmlformats.org/drawingml/2006/main">
          <a:graphicData uri="http://schemas.openxmlformats.org/drawingml/2006/chart">
            <c:chart xmlns:c="http://schemas.openxmlformats.org/drawingml/2006/chart" r:id="rId1"/>
          </a:graphicData>
        </a:graphic>
      </p:graphicFrame>
      <p:sp>
        <p:nvSpPr>
          <p:cNvPr id="11" name="Shape 6"/>
          <p:cNvSpPr/>
          <p:nvPr/>
        </p:nvSpPr>
        <p:spPr>
          <a:xfrm>
            <a:off x="6309360" y="5212080"/>
            <a:ext cx="5333695" cy="914400"/>
          </a:xfrm>
          <a:prstGeom prst="roundRect">
            <a:avLst>
              <a:gd name="adj" fmla="val 8000"/>
            </a:avLst>
          </a:prstGeom>
          <a:solidFill>
            <a:srgbClr val="F3F4F8"/>
          </a:solidFill>
          <a:ln/>
        </p:spPr>
      </p:sp>
      <p:sp>
        <p:nvSpPr>
          <p:cNvPr id="12" name="Shape 7"/>
          <p:cNvSpPr/>
          <p:nvPr/>
        </p:nvSpPr>
        <p:spPr>
          <a:xfrm>
            <a:off x="6510528" y="5404104"/>
            <a:ext cx="521208" cy="521208"/>
          </a:xfrm>
          <a:prstGeom prst="ellipse">
            <a:avLst/>
          </a:prstGeom>
          <a:solidFill>
            <a:srgbClr val="2A9D8F"/>
          </a:solidFill>
          <a:ln/>
        </p:spPr>
      </p:sp>
      <p:pic>
        <p:nvPicPr>
          <p:cNvPr id="13" name="Image 0" descr="preencoded.png">    </p:cNvPr>
          <p:cNvPicPr>
            <a:picLocks noChangeAspect="1"/>
          </p:cNvPicPr>
          <p:nvPr/>
        </p:nvPicPr>
        <p:blipFill>
          <a:blip r:embed="rId2"/>
          <a:stretch>
            <a:fillRect/>
          </a:stretch>
        </p:blipFill>
        <p:spPr>
          <a:xfrm>
            <a:off x="6625194" y="5518770"/>
            <a:ext cx="291876" cy="291876"/>
          </a:xfrm>
          <a:prstGeom prst="rect">
            <a:avLst/>
          </a:prstGeom>
        </p:spPr>
      </p:pic>
      <p:sp>
        <p:nvSpPr>
          <p:cNvPr id="14" name="Text 8"/>
          <p:cNvSpPr/>
          <p:nvPr/>
        </p:nvSpPr>
        <p:spPr>
          <a:xfrm>
            <a:off x="7223760" y="5212080"/>
            <a:ext cx="4236415" cy="914400"/>
          </a:xfrm>
          <a:prstGeom prst="rect">
            <a:avLst/>
          </a:prstGeom>
          <a:noFill/>
          <a:ln/>
        </p:spPr>
        <p:txBody>
          <a:bodyPr wrap="square" lIns="0" tIns="0" rIns="0" bIns="0" rtlCol="0" anchor="ctr"/>
          <a:lstStyle/>
          <a:p>
            <a:pPr indent="0" marL="0">
              <a:buNone/>
            </a:pPr>
            <a:r>
              <a:rPr lang="en-US" sz="1400" dirty="0">
                <a:solidFill>
                  <a:srgbClr val="22223B"/>
                </a:solidFill>
                <a:latin typeface="BIZ UDGothic" pitchFamily="34" charset="0"/>
                <a:ea typeface="BIZ UDGothic" pitchFamily="34" charset="-122"/>
                <a:cs typeface="BIZ UDGothic" pitchFamily="34" charset="-120"/>
              </a:rPr>
              <a:t>理論値が式で求まるので、自作スクリプトの検算に使える（次の実装でも使う）</a:t>
            </a:r>
            <a:endParaRPr lang="en-US" sz="1400" dirty="0"/>
          </a:p>
        </p:txBody>
      </p:sp>
      <p:sp>
        <p:nvSpPr>
          <p:cNvPr id="15" name="Text 9"/>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16" name="Text 10"/>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03　推定のしくみ</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なぜ推定に工夫が必要か ― 二重ループは高すぎる</a:t>
            </a:r>
            <a:endParaRPr lang="en-US" sz="2800" dirty="0"/>
          </a:p>
        </p:txBody>
      </p:sp>
      <p:sp>
        <p:nvSpPr>
          <p:cNvPr id="5" name="Shape 2"/>
          <p:cNvSpPr/>
          <p:nvPr/>
        </p:nvSpPr>
        <p:spPr>
          <a:xfrm>
            <a:off x="548640" y="1463040"/>
            <a:ext cx="5120640" cy="4069080"/>
          </a:xfrm>
          <a:prstGeom prst="roundRect">
            <a:avLst>
              <a:gd name="adj" fmla="val 1798"/>
            </a:avLst>
          </a:prstGeom>
          <a:solidFill>
            <a:srgbClr val="F3F4F8"/>
          </a:solidFill>
          <a:ln/>
        </p:spPr>
      </p:sp>
      <p:sp>
        <p:nvSpPr>
          <p:cNvPr id="6" name="Shape 3"/>
          <p:cNvSpPr/>
          <p:nvPr/>
        </p:nvSpPr>
        <p:spPr>
          <a:xfrm>
            <a:off x="822960" y="1737360"/>
            <a:ext cx="594360" cy="594360"/>
          </a:xfrm>
          <a:prstGeom prst="ellipse">
            <a:avLst/>
          </a:prstGeom>
          <a:solidFill>
            <a:srgbClr val="4A4E69"/>
          </a:solidFill>
          <a:ln/>
        </p:spPr>
      </p:sp>
      <p:pic>
        <p:nvPicPr>
          <p:cNvPr id="7" name="Image 0" descr="preencoded.png">    </p:cNvPr>
          <p:cNvPicPr>
            <a:picLocks noChangeAspect="1"/>
          </p:cNvPicPr>
          <p:nvPr/>
        </p:nvPicPr>
        <p:blipFill>
          <a:blip r:embed="rId1"/>
          <a:stretch>
            <a:fillRect/>
          </a:stretch>
        </p:blipFill>
        <p:spPr>
          <a:xfrm>
            <a:off x="953719" y="1868119"/>
            <a:ext cx="332842" cy="332842"/>
          </a:xfrm>
          <a:prstGeom prst="rect">
            <a:avLst/>
          </a:prstGeom>
        </p:spPr>
      </p:pic>
      <p:sp>
        <p:nvSpPr>
          <p:cNvPr id="8" name="Text 4"/>
          <p:cNvSpPr/>
          <p:nvPr/>
        </p:nvSpPr>
        <p:spPr>
          <a:xfrm>
            <a:off x="1600200" y="1737360"/>
            <a:ext cx="3840480" cy="594360"/>
          </a:xfrm>
          <a:prstGeom prst="rect">
            <a:avLst/>
          </a:prstGeom>
          <a:noFill/>
          <a:ln/>
        </p:spPr>
        <p:txBody>
          <a:bodyPr wrap="square" lIns="0" tIns="0" rIns="0" bIns="0" rtlCol="0" anchor="ctr"/>
          <a:lstStyle/>
          <a:p>
            <a:pPr indent="0" marL="0">
              <a:buNone/>
            </a:pPr>
            <a:r>
              <a:rPr lang="en-US" sz="1800" b="1" dirty="0">
                <a:solidFill>
                  <a:srgbClr val="22223B"/>
                </a:solidFill>
                <a:latin typeface="BIZ UDGothic" pitchFamily="34" charset="0"/>
                <a:ea typeface="BIZ UDGothic" pitchFamily="34" charset="-122"/>
                <a:cs typeface="BIZ UDGothic" pitchFamily="34" charset="-120"/>
              </a:rPr>
              <a:t>素朴な方法（二重ループ）</a:t>
            </a:r>
            <a:endParaRPr lang="en-US" sz="1800" dirty="0"/>
          </a:p>
        </p:txBody>
      </p:sp>
      <p:sp>
        <p:nvSpPr>
          <p:cNvPr id="9" name="Text 5"/>
          <p:cNvSpPr/>
          <p:nvPr/>
        </p:nvSpPr>
        <p:spPr>
          <a:xfrm>
            <a:off x="868680" y="2514600"/>
            <a:ext cx="4480560" cy="1325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A4E69"/>
                </a:solidFill>
                <a:latin typeface="BIZ UDGothic" pitchFamily="34" charset="0"/>
                <a:ea typeface="BIZ UDGothic" pitchFamily="34" charset="-122"/>
                <a:cs typeface="BIZ UDGothic" pitchFamily="34" charset="-120"/>
              </a:rPr>
              <a:t>外側：</a:t>
            </a:r>
            <a:r>
              <a:rPr lang="en-US" sz="1600" i="1" dirty="0">
                <a:solidFill>
                  <a:srgbClr val="4A4E69"/>
                </a:solidFill>
                <a:latin typeface="Times New Roman" pitchFamily="34" charset="0"/>
                <a:ea typeface="Times New Roman" pitchFamily="34" charset="-122"/>
                <a:cs typeface="Times New Roman" pitchFamily="34" charset="-120"/>
              </a:rPr>
              <a:t>X</a:t>
            </a:r>
            <a:r>
              <a:rPr lang="en-US" sz="1600" i="1" baseline="-40000" dirty="0">
                <a:solidFill>
                  <a:srgbClr val="4A4E69"/>
                </a:solidFill>
                <a:latin typeface="Times New Roman" pitchFamily="34" charset="0"/>
                <a:ea typeface="Times New Roman" pitchFamily="34" charset="-122"/>
                <a:cs typeface="Times New Roman" pitchFamily="34" charset="-120"/>
              </a:rPr>
              <a:t>i</a:t>
            </a:r>
            <a:r>
              <a:rPr lang="en-US" sz="1400" dirty="0">
                <a:solidFill>
                  <a:srgbClr val="4A4E69"/>
                </a:solidFill>
                <a:latin typeface="BIZ UDGothic" pitchFamily="34" charset="0"/>
                <a:ea typeface="BIZ UDGothic" pitchFamily="34" charset="-122"/>
                <a:cs typeface="BIZ UDGothic" pitchFamily="34" charset="-120"/>
              </a:rPr>
              <a:t> の値を </a:t>
            </a:r>
            <a:r>
              <a:rPr lang="en-US" sz="1600" i="1" dirty="0">
                <a:solidFill>
                  <a:srgbClr val="4A4E69"/>
                </a:solidFill>
                <a:latin typeface="Times New Roman" pitchFamily="34" charset="0"/>
                <a:ea typeface="Times New Roman" pitchFamily="34" charset="-122"/>
                <a:cs typeface="Times New Roman" pitchFamily="34" charset="-120"/>
              </a:rPr>
              <a:t>M</a:t>
            </a:r>
            <a:r>
              <a:rPr lang="en-US" sz="1400" dirty="0">
                <a:solidFill>
                  <a:srgbClr val="4A4E69"/>
                </a:solidFill>
                <a:latin typeface="BIZ UDGothic" pitchFamily="34" charset="0"/>
                <a:ea typeface="BIZ UDGothic" pitchFamily="34" charset="-122"/>
                <a:cs typeface="BIZ UDGothic" pitchFamily="34" charset="-120"/>
              </a:rPr>
              <a:t> 通り選ぶ</a:t>
            </a:r>
            <a:endParaRPr lang="en-US" sz="1400" dirty="0"/>
          </a:p>
          <a:p>
            <a:pPr marL="342900" indent="-342900">
              <a:spcAft>
                <a:spcPts val="600"/>
              </a:spcAft>
              <a:buSzPct val="100000"/>
              <a:buChar char="•"/>
            </a:pPr>
            <a:r>
              <a:rPr lang="en-US" sz="1400" dirty="0">
                <a:solidFill>
                  <a:srgbClr val="4A4E69"/>
                </a:solidFill>
                <a:latin typeface="BIZ UDGothic" pitchFamily="34" charset="0"/>
                <a:ea typeface="BIZ UDGothic" pitchFamily="34" charset="-122"/>
                <a:cs typeface="BIZ UDGothic" pitchFamily="34" charset="-120"/>
              </a:rPr>
              <a:t>内側：各値で他の入力を </a:t>
            </a:r>
            <a:r>
              <a:rPr lang="en-US" sz="1600" i="1" dirty="0">
                <a:solidFill>
                  <a:srgbClr val="4A4E69"/>
                </a:solidFill>
                <a:latin typeface="Times New Roman" pitchFamily="34" charset="0"/>
                <a:ea typeface="Times New Roman" pitchFamily="34" charset="-122"/>
                <a:cs typeface="Times New Roman" pitchFamily="34" charset="-120"/>
              </a:rPr>
              <a:t>K</a:t>
            </a:r>
            <a:r>
              <a:rPr lang="en-US" sz="1400" dirty="0">
                <a:solidFill>
                  <a:srgbClr val="4A4E69"/>
                </a:solidFill>
                <a:latin typeface="BIZ UDGothic" pitchFamily="34" charset="0"/>
                <a:ea typeface="BIZ UDGothic" pitchFamily="34" charset="-122"/>
                <a:cs typeface="BIZ UDGothic" pitchFamily="34" charset="-120"/>
              </a:rPr>
              <a:t> 通り動かし、平均 </a:t>
            </a:r>
            <a:r>
              <a:rPr lang="en-US" sz="1600" i="1" dirty="0">
                <a:solidFill>
                  <a:srgbClr val="4A4E69"/>
                </a:solidFill>
                <a:latin typeface="Times New Roman" pitchFamily="34" charset="0"/>
                <a:ea typeface="Times New Roman" pitchFamily="34" charset="-122"/>
                <a:cs typeface="Times New Roman" pitchFamily="34" charset="-120"/>
              </a:rPr>
              <a:t>E(Y|X</a:t>
            </a:r>
            <a:r>
              <a:rPr lang="en-US" sz="1600" i="1" baseline="-40000" dirty="0">
                <a:solidFill>
                  <a:srgbClr val="4A4E69"/>
                </a:solidFill>
                <a:latin typeface="Times New Roman" pitchFamily="34" charset="0"/>
                <a:ea typeface="Times New Roman" pitchFamily="34" charset="-122"/>
                <a:cs typeface="Times New Roman" pitchFamily="34" charset="-120"/>
              </a:rPr>
              <a:t>i</a:t>
            </a:r>
            <a:r>
              <a:rPr lang="en-US" sz="1600" i="1" dirty="0">
                <a:solidFill>
                  <a:srgbClr val="4A4E69"/>
                </a:solidFill>
                <a:latin typeface="Times New Roman" pitchFamily="34" charset="0"/>
                <a:ea typeface="Times New Roman" pitchFamily="34" charset="-122"/>
                <a:cs typeface="Times New Roman" pitchFamily="34" charset="-120"/>
              </a:rPr>
              <a:t>)</a:t>
            </a:r>
            <a:r>
              <a:rPr lang="en-US" sz="1400" dirty="0">
                <a:solidFill>
                  <a:srgbClr val="4A4E69"/>
                </a:solidFill>
                <a:latin typeface="BIZ UDGothic" pitchFamily="34" charset="0"/>
                <a:ea typeface="BIZ UDGothic" pitchFamily="34" charset="-122"/>
                <a:cs typeface="BIZ UDGothic" pitchFamily="34" charset="-120"/>
              </a:rPr>
              <a:t> を求める</a:t>
            </a:r>
            <a:endParaRPr lang="en-US" sz="1400" dirty="0"/>
          </a:p>
          <a:p>
            <a:pPr marL="342900" indent="-342900">
              <a:spcAft>
                <a:spcPts val="600"/>
              </a:spcAft>
              <a:buSzPct val="100000"/>
              <a:buChar char="•"/>
            </a:pPr>
            <a:r>
              <a:rPr lang="en-US" sz="1600" i="1" dirty="0">
                <a:solidFill>
                  <a:srgbClr val="4A4E69"/>
                </a:solidFill>
                <a:latin typeface="Times New Roman" pitchFamily="34" charset="0"/>
                <a:ea typeface="Times New Roman" pitchFamily="34" charset="-122"/>
                <a:cs typeface="Times New Roman" pitchFamily="34" charset="-120"/>
              </a:rPr>
              <a:t>M</a:t>
            </a:r>
            <a:r>
              <a:rPr lang="en-US" sz="1400" dirty="0">
                <a:solidFill>
                  <a:srgbClr val="4A4E69"/>
                </a:solidFill>
                <a:latin typeface="BIZ UDGothic" pitchFamily="34" charset="0"/>
                <a:ea typeface="BIZ UDGothic" pitchFamily="34" charset="-122"/>
                <a:cs typeface="BIZ UDGothic" pitchFamily="34" charset="-120"/>
              </a:rPr>
              <a:t> 個の平均の分散 → </a:t>
            </a:r>
            <a:r>
              <a:rPr lang="en-US" sz="1600" i="1" dirty="0">
                <a:solidFill>
                  <a:srgbClr val="4A4E69"/>
                </a:solidFill>
                <a:latin typeface="Times New Roman" pitchFamily="34" charset="0"/>
                <a:ea typeface="Times New Roman" pitchFamily="34" charset="-122"/>
                <a:cs typeface="Times New Roman" pitchFamily="34" charset="-120"/>
              </a:rPr>
              <a:t>V</a:t>
            </a:r>
            <a:r>
              <a:rPr lang="en-US" sz="1600" i="1" baseline="-40000" dirty="0">
                <a:solidFill>
                  <a:srgbClr val="4A4E69"/>
                </a:solidFill>
                <a:latin typeface="Times New Roman" pitchFamily="34" charset="0"/>
                <a:ea typeface="Times New Roman" pitchFamily="34" charset="-122"/>
                <a:cs typeface="Times New Roman" pitchFamily="34" charset="-120"/>
              </a:rPr>
              <a:t>i</a:t>
            </a:r>
            <a:endParaRPr lang="en-US" sz="1400" dirty="0"/>
          </a:p>
        </p:txBody>
      </p:sp>
      <p:sp>
        <p:nvSpPr>
          <p:cNvPr id="10" name="Text 6"/>
          <p:cNvSpPr/>
          <p:nvPr/>
        </p:nvSpPr>
        <p:spPr>
          <a:xfrm>
            <a:off x="868680" y="3886200"/>
            <a:ext cx="4480560" cy="548640"/>
          </a:xfrm>
          <a:prstGeom prst="rect">
            <a:avLst/>
          </a:prstGeom>
          <a:noFill/>
          <a:ln/>
        </p:spPr>
        <p:txBody>
          <a:bodyPr wrap="square" lIns="0" tIns="0" rIns="0" bIns="0" rtlCol="0" anchor="ctr"/>
          <a:lstStyle/>
          <a:p>
            <a:pPr algn="ctr" indent="0" marL="0">
              <a:buNone/>
            </a:pPr>
            <a:r>
              <a:rPr lang="en-US" sz="2700" i="1" dirty="0">
                <a:solidFill>
                  <a:srgbClr val="22223B"/>
                </a:solidFill>
                <a:latin typeface="Times New Roman" pitchFamily="34" charset="0"/>
                <a:ea typeface="Times New Roman" pitchFamily="34" charset="-122"/>
                <a:cs typeface="Times New Roman" pitchFamily="34" charset="-120"/>
              </a:rPr>
              <a:t>d × M × K</a:t>
            </a:r>
            <a:r>
              <a:rPr lang="en-US" sz="2400" dirty="0">
                <a:solidFill>
                  <a:srgbClr val="22223B"/>
                </a:solidFill>
                <a:latin typeface="BIZ UDGothic" pitchFamily="34" charset="0"/>
                <a:ea typeface="BIZ UDGothic" pitchFamily="34" charset="-122"/>
                <a:cs typeface="BIZ UDGothic" pitchFamily="34" charset="-120"/>
              </a:rPr>
              <a:t> 回</a:t>
            </a:r>
            <a:endParaRPr lang="en-US" sz="2700" dirty="0"/>
          </a:p>
        </p:txBody>
      </p:sp>
      <p:sp>
        <p:nvSpPr>
          <p:cNvPr id="11" name="Text 7"/>
          <p:cNvSpPr/>
          <p:nvPr/>
        </p:nvSpPr>
        <p:spPr>
          <a:xfrm>
            <a:off x="868680" y="4480560"/>
            <a:ext cx="4480560" cy="320040"/>
          </a:xfrm>
          <a:prstGeom prst="rect">
            <a:avLst/>
          </a:prstGeom>
          <a:noFill/>
          <a:ln/>
        </p:spPr>
        <p:txBody>
          <a:bodyPr wrap="square" lIns="0" tIns="0" rIns="0" bIns="0" rtlCol="0" anchor="ctr"/>
          <a:lstStyle/>
          <a:p>
            <a:pPr algn="ctr" indent="0" marL="0">
              <a:buNone/>
            </a:pPr>
            <a:r>
              <a:rPr lang="en-US" sz="1500" i="1" dirty="0">
                <a:solidFill>
                  <a:srgbClr val="6C6F7F"/>
                </a:solidFill>
                <a:latin typeface="Times New Roman" pitchFamily="34" charset="0"/>
                <a:ea typeface="Times New Roman" pitchFamily="34" charset="-122"/>
                <a:cs typeface="Times New Roman" pitchFamily="34" charset="-120"/>
              </a:rPr>
              <a:t>d</a:t>
            </a:r>
            <a:r>
              <a:rPr lang="en-US" sz="1300" dirty="0">
                <a:solidFill>
                  <a:srgbClr val="6C6F7F"/>
                </a:solidFill>
                <a:latin typeface="BIZ UDGothic" pitchFamily="34" charset="0"/>
                <a:ea typeface="BIZ UDGothic" pitchFamily="34" charset="-122"/>
                <a:cs typeface="BIZ UDGothic" pitchFamily="34" charset="-120"/>
              </a:rPr>
              <a:t> = 3、</a:t>
            </a:r>
            <a:r>
              <a:rPr lang="en-US" sz="1500" i="1" dirty="0">
                <a:solidFill>
                  <a:srgbClr val="6C6F7F"/>
                </a:solidFill>
                <a:latin typeface="Times New Roman" pitchFamily="34" charset="0"/>
                <a:ea typeface="Times New Roman" pitchFamily="34" charset="-122"/>
                <a:cs typeface="Times New Roman" pitchFamily="34" charset="-120"/>
              </a:rPr>
              <a:t>M</a:t>
            </a:r>
            <a:r>
              <a:rPr lang="en-US" sz="1300" dirty="0">
                <a:solidFill>
                  <a:srgbClr val="6C6F7F"/>
                </a:solidFill>
                <a:latin typeface="BIZ UDGothic" pitchFamily="34" charset="0"/>
                <a:ea typeface="BIZ UDGothic" pitchFamily="34" charset="-122"/>
                <a:cs typeface="BIZ UDGothic" pitchFamily="34" charset="-120"/>
              </a:rPr>
              <a:t> = </a:t>
            </a:r>
            <a:r>
              <a:rPr lang="en-US" sz="1500" i="1" dirty="0">
                <a:solidFill>
                  <a:srgbClr val="6C6F7F"/>
                </a:solidFill>
                <a:latin typeface="Times New Roman" pitchFamily="34" charset="0"/>
                <a:ea typeface="Times New Roman" pitchFamily="34" charset="-122"/>
                <a:cs typeface="Times New Roman" pitchFamily="34" charset="-120"/>
              </a:rPr>
              <a:t>K</a:t>
            </a:r>
            <a:r>
              <a:rPr lang="en-US" sz="1300" dirty="0">
                <a:solidFill>
                  <a:srgbClr val="6C6F7F"/>
                </a:solidFill>
                <a:latin typeface="BIZ UDGothic" pitchFamily="34" charset="0"/>
                <a:ea typeface="BIZ UDGothic" pitchFamily="34" charset="-122"/>
                <a:cs typeface="BIZ UDGothic" pitchFamily="34" charset="-120"/>
              </a:rPr>
              <a:t> = 1,000 なら</a:t>
            </a:r>
            <a:endParaRPr lang="en-US" sz="1500" dirty="0"/>
          </a:p>
        </p:txBody>
      </p:sp>
      <p:sp>
        <p:nvSpPr>
          <p:cNvPr id="12" name="Text 8"/>
          <p:cNvSpPr/>
          <p:nvPr/>
        </p:nvSpPr>
        <p:spPr>
          <a:xfrm>
            <a:off x="868680" y="4800600"/>
            <a:ext cx="4480560" cy="594360"/>
          </a:xfrm>
          <a:prstGeom prst="rect">
            <a:avLst/>
          </a:prstGeom>
          <a:noFill/>
          <a:ln/>
        </p:spPr>
        <p:txBody>
          <a:bodyPr wrap="square" lIns="0" tIns="0" rIns="0" bIns="0" rtlCol="0" anchor="ctr"/>
          <a:lstStyle/>
          <a:p>
            <a:pPr algn="ctr" indent="0" marL="0">
              <a:buNone/>
            </a:pPr>
            <a:r>
              <a:rPr lang="en-US" sz="3400" b="1" dirty="0">
                <a:solidFill>
                  <a:srgbClr val="E76F51"/>
                </a:solidFill>
                <a:latin typeface="BIZ UDGothic" pitchFamily="34" charset="0"/>
                <a:ea typeface="BIZ UDGothic" pitchFamily="34" charset="-122"/>
                <a:cs typeface="BIZ UDGothic" pitchFamily="34" charset="-120"/>
              </a:rPr>
              <a:t>3,000,000 回</a:t>
            </a:r>
            <a:endParaRPr lang="en-US" sz="3400" dirty="0"/>
          </a:p>
        </p:txBody>
      </p:sp>
      <p:sp>
        <p:nvSpPr>
          <p:cNvPr id="13" name="Shape 9"/>
          <p:cNvSpPr/>
          <p:nvPr/>
        </p:nvSpPr>
        <p:spPr>
          <a:xfrm>
            <a:off x="6522415" y="1463040"/>
            <a:ext cx="5120640" cy="4069080"/>
          </a:xfrm>
          <a:prstGeom prst="roundRect">
            <a:avLst>
              <a:gd name="adj" fmla="val 1798"/>
            </a:avLst>
          </a:prstGeom>
          <a:solidFill>
            <a:srgbClr val="D8F0ED"/>
          </a:solidFill>
          <a:ln/>
        </p:spPr>
      </p:sp>
      <p:sp>
        <p:nvSpPr>
          <p:cNvPr id="14" name="Shape 10"/>
          <p:cNvSpPr/>
          <p:nvPr/>
        </p:nvSpPr>
        <p:spPr>
          <a:xfrm>
            <a:off x="6796735" y="1737360"/>
            <a:ext cx="594360" cy="594360"/>
          </a:xfrm>
          <a:prstGeom prst="ellipse">
            <a:avLst/>
          </a:prstGeom>
          <a:solidFill>
            <a:srgbClr val="2A9D8F"/>
          </a:solidFill>
          <a:ln/>
        </p:spPr>
      </p:sp>
      <p:pic>
        <p:nvPicPr>
          <p:cNvPr id="15" name="Image 1" descr="preencoded.png">    </p:cNvPr>
          <p:cNvPicPr>
            <a:picLocks noChangeAspect="1"/>
          </p:cNvPicPr>
          <p:nvPr/>
        </p:nvPicPr>
        <p:blipFill>
          <a:blip r:embed="rId2"/>
          <a:stretch>
            <a:fillRect/>
          </a:stretch>
        </p:blipFill>
        <p:spPr>
          <a:xfrm>
            <a:off x="6927494" y="1868119"/>
            <a:ext cx="332842" cy="332842"/>
          </a:xfrm>
          <a:prstGeom prst="rect">
            <a:avLst/>
          </a:prstGeom>
        </p:spPr>
      </p:pic>
      <p:sp>
        <p:nvSpPr>
          <p:cNvPr id="16" name="Text 11"/>
          <p:cNvSpPr/>
          <p:nvPr/>
        </p:nvSpPr>
        <p:spPr>
          <a:xfrm>
            <a:off x="7573975" y="1737360"/>
            <a:ext cx="3840480" cy="594360"/>
          </a:xfrm>
          <a:prstGeom prst="rect">
            <a:avLst/>
          </a:prstGeom>
          <a:noFill/>
          <a:ln/>
        </p:spPr>
        <p:txBody>
          <a:bodyPr wrap="square" lIns="0" tIns="0" rIns="0" bIns="0" rtlCol="0" anchor="ctr"/>
          <a:lstStyle/>
          <a:p>
            <a:pPr indent="0" marL="0">
              <a:buNone/>
            </a:pPr>
            <a:r>
              <a:rPr lang="en-US" sz="1800" b="1" dirty="0">
                <a:solidFill>
                  <a:srgbClr val="22223B"/>
                </a:solidFill>
                <a:latin typeface="BIZ UDGothic" pitchFamily="34" charset="0"/>
                <a:ea typeface="BIZ UDGothic" pitchFamily="34" charset="-122"/>
                <a:cs typeface="BIZ UDGothic" pitchFamily="34" charset="-120"/>
              </a:rPr>
              <a:t>Saltelliの方法（列の入れ替え）</a:t>
            </a:r>
            <a:endParaRPr lang="en-US" sz="1800" dirty="0"/>
          </a:p>
        </p:txBody>
      </p:sp>
      <p:sp>
        <p:nvSpPr>
          <p:cNvPr id="17" name="Text 12"/>
          <p:cNvSpPr/>
          <p:nvPr/>
        </p:nvSpPr>
        <p:spPr>
          <a:xfrm>
            <a:off x="6842455" y="2514600"/>
            <a:ext cx="4480560" cy="1325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A4E69"/>
                </a:solidFill>
                <a:latin typeface="BIZ UDGothic" pitchFamily="34" charset="0"/>
                <a:ea typeface="BIZ UDGothic" pitchFamily="34" charset="-122"/>
                <a:cs typeface="BIZ UDGothic" pitchFamily="34" charset="-120"/>
              </a:rPr>
              <a:t>2つのランダム行列 </a:t>
            </a:r>
            <a:r>
              <a:rPr lang="en-US" sz="1600" i="1" dirty="0">
                <a:solidFill>
                  <a:srgbClr val="4A4E69"/>
                </a:solidFill>
                <a:latin typeface="Times New Roman" pitchFamily="34" charset="0"/>
                <a:ea typeface="Times New Roman" pitchFamily="34" charset="-122"/>
                <a:cs typeface="Times New Roman" pitchFamily="34" charset="-120"/>
              </a:rPr>
              <a:t>A</a:t>
            </a:r>
            <a:r>
              <a:rPr lang="en-US" sz="1400" dirty="0">
                <a:solidFill>
                  <a:srgbClr val="4A4E69"/>
                </a:solidFill>
                <a:latin typeface="BIZ UDGothic" pitchFamily="34" charset="0"/>
                <a:ea typeface="BIZ UDGothic" pitchFamily="34" charset="-122"/>
                <a:cs typeface="BIZ UDGothic" pitchFamily="34" charset="-120"/>
              </a:rPr>
              <a:t>, </a:t>
            </a:r>
            <a:r>
              <a:rPr lang="en-US" sz="1600" i="1" dirty="0">
                <a:solidFill>
                  <a:srgbClr val="4A4E69"/>
                </a:solidFill>
                <a:latin typeface="Times New Roman" pitchFamily="34" charset="0"/>
                <a:ea typeface="Times New Roman" pitchFamily="34" charset="-122"/>
                <a:cs typeface="Times New Roman" pitchFamily="34" charset="-120"/>
              </a:rPr>
              <a:t>B</a:t>
            </a:r>
            <a:r>
              <a:rPr lang="en-US" sz="1400" dirty="0">
                <a:solidFill>
                  <a:srgbClr val="4A4E69"/>
                </a:solidFill>
                <a:latin typeface="BIZ UDGothic" pitchFamily="34" charset="0"/>
                <a:ea typeface="BIZ UDGothic" pitchFamily="34" charset="-122"/>
                <a:cs typeface="BIZ UDGothic" pitchFamily="34" charset="-120"/>
              </a:rPr>
              <a:t> を作る</a:t>
            </a:r>
            <a:endParaRPr lang="en-US" sz="1400" dirty="0"/>
          </a:p>
          <a:p>
            <a:pPr marL="342900" indent="-342900">
              <a:spcAft>
                <a:spcPts val="600"/>
              </a:spcAft>
              <a:buSzPct val="100000"/>
              <a:buChar char="•"/>
            </a:pPr>
            <a:r>
              <a:rPr lang="en-US" sz="1400" dirty="0">
                <a:solidFill>
                  <a:srgbClr val="4A4E69"/>
                </a:solidFill>
                <a:latin typeface="BIZ UDGothic" pitchFamily="34" charset="0"/>
                <a:ea typeface="BIZ UDGothic" pitchFamily="34" charset="-122"/>
                <a:cs typeface="BIZ UDGothic" pitchFamily="34" charset="-120"/>
              </a:rPr>
              <a:t>列を1本だけ入れ替えた </a:t>
            </a:r>
            <a:r>
              <a:rPr lang="en-US" sz="1600" i="1" dirty="0">
                <a:solidFill>
                  <a:srgbClr val="4A4E69"/>
                </a:solidFill>
                <a:latin typeface="Times New Roman" pitchFamily="34" charset="0"/>
                <a:ea typeface="Times New Roman" pitchFamily="34" charset="-122"/>
                <a:cs typeface="Times New Roman" pitchFamily="34" charset="-120"/>
              </a:rPr>
              <a:t>A</a:t>
            </a:r>
            <a:r>
              <a:rPr lang="en-US" sz="1600" i="1" baseline="-40000" dirty="0">
                <a:solidFill>
                  <a:srgbClr val="4A4E69"/>
                </a:solidFill>
                <a:latin typeface="Times New Roman" pitchFamily="34" charset="0"/>
                <a:ea typeface="Times New Roman" pitchFamily="34" charset="-122"/>
                <a:cs typeface="Times New Roman" pitchFamily="34" charset="-120"/>
              </a:rPr>
              <a:t>B</a:t>
            </a:r>
            <a:r>
              <a:rPr lang="en-US" sz="1600" i="1" baseline="30000" dirty="0">
                <a:solidFill>
                  <a:srgbClr val="4A4E69"/>
                </a:solidFill>
                <a:latin typeface="Times New Roman" pitchFamily="34" charset="0"/>
                <a:ea typeface="Times New Roman" pitchFamily="34" charset="-122"/>
                <a:cs typeface="Times New Roman" pitchFamily="34" charset="-120"/>
              </a:rPr>
              <a:t>(i)</a:t>
            </a:r>
            <a:r>
              <a:rPr lang="en-US" sz="1400" dirty="0">
                <a:solidFill>
                  <a:srgbClr val="4A4E69"/>
                </a:solidFill>
                <a:latin typeface="BIZ UDGothic" pitchFamily="34" charset="0"/>
                <a:ea typeface="BIZ UDGothic" pitchFamily="34" charset="-122"/>
                <a:cs typeface="BIZ UDGothic" pitchFamily="34" charset="-120"/>
              </a:rPr>
              <a:t> を使う</a:t>
            </a:r>
            <a:endParaRPr lang="en-US" sz="1400" dirty="0"/>
          </a:p>
          <a:p>
            <a:pPr marL="342900" indent="-342900">
              <a:spcAft>
                <a:spcPts val="600"/>
              </a:spcAft>
              <a:buSzPct val="100000"/>
              <a:buChar char="•"/>
            </a:pPr>
            <a:r>
              <a:rPr lang="en-US" sz="1400" dirty="0">
                <a:solidFill>
                  <a:srgbClr val="4A4E69"/>
                </a:solidFill>
                <a:latin typeface="BIZ UDGothic" pitchFamily="34" charset="0"/>
                <a:ea typeface="BIZ UDGothic" pitchFamily="34" charset="-122"/>
                <a:cs typeface="BIZ UDGothic" pitchFamily="34" charset="-120"/>
              </a:rPr>
              <a:t>すべての </a:t>
            </a:r>
            <a:r>
              <a:rPr lang="en-US" sz="1600" i="1" dirty="0">
                <a:solidFill>
                  <a:srgbClr val="4A4E69"/>
                </a:solidFill>
                <a:latin typeface="Times New Roman" pitchFamily="34" charset="0"/>
                <a:ea typeface="Times New Roman" pitchFamily="34" charset="-122"/>
                <a:cs typeface="Times New Roman" pitchFamily="34" charset="-120"/>
              </a:rPr>
              <a:t>S</a:t>
            </a:r>
            <a:r>
              <a:rPr lang="en-US" sz="1600" i="1" baseline="-40000" dirty="0">
                <a:solidFill>
                  <a:srgbClr val="4A4E69"/>
                </a:solidFill>
                <a:latin typeface="Times New Roman" pitchFamily="34" charset="0"/>
                <a:ea typeface="Times New Roman" pitchFamily="34" charset="-122"/>
                <a:cs typeface="Times New Roman" pitchFamily="34" charset="-120"/>
              </a:rPr>
              <a:t>i</a:t>
            </a:r>
            <a:r>
              <a:rPr lang="en-US" sz="1400" dirty="0">
                <a:solidFill>
                  <a:srgbClr val="4A4E69"/>
                </a:solidFill>
                <a:latin typeface="BIZ UDGothic" pitchFamily="34" charset="0"/>
                <a:ea typeface="BIZ UDGothic" pitchFamily="34" charset="-122"/>
                <a:cs typeface="BIZ UDGothic" pitchFamily="34" charset="-120"/>
              </a:rPr>
              <a:t> と </a:t>
            </a:r>
            <a:r>
              <a:rPr lang="en-US" sz="1600" i="1" dirty="0">
                <a:solidFill>
                  <a:srgbClr val="4A4E69"/>
                </a:solidFill>
                <a:latin typeface="Times New Roman" pitchFamily="34" charset="0"/>
                <a:ea typeface="Times New Roman" pitchFamily="34" charset="-122"/>
                <a:cs typeface="Times New Roman" pitchFamily="34" charset="-120"/>
              </a:rPr>
              <a:t>S</a:t>
            </a:r>
            <a:r>
              <a:rPr lang="en-US" sz="1600" i="1" baseline="-40000" dirty="0">
                <a:solidFill>
                  <a:srgbClr val="4A4E69"/>
                </a:solidFill>
                <a:latin typeface="Times New Roman" pitchFamily="34" charset="0"/>
                <a:ea typeface="Times New Roman" pitchFamily="34" charset="-122"/>
                <a:cs typeface="Times New Roman" pitchFamily="34" charset="-120"/>
              </a:rPr>
              <a:t>Ti</a:t>
            </a:r>
            <a:r>
              <a:rPr lang="en-US" sz="1400" dirty="0">
                <a:solidFill>
                  <a:srgbClr val="4A4E69"/>
                </a:solidFill>
                <a:latin typeface="BIZ UDGothic" pitchFamily="34" charset="0"/>
                <a:ea typeface="BIZ UDGothic" pitchFamily="34" charset="-122"/>
                <a:cs typeface="BIZ UDGothic" pitchFamily="34" charset="-120"/>
              </a:rPr>
              <a:t> を同時に推定</a:t>
            </a:r>
            <a:endParaRPr lang="en-US" sz="1400" dirty="0"/>
          </a:p>
        </p:txBody>
      </p:sp>
      <p:sp>
        <p:nvSpPr>
          <p:cNvPr id="18" name="Text 13"/>
          <p:cNvSpPr/>
          <p:nvPr/>
        </p:nvSpPr>
        <p:spPr>
          <a:xfrm>
            <a:off x="6842455" y="3886200"/>
            <a:ext cx="4480560" cy="548640"/>
          </a:xfrm>
          <a:prstGeom prst="rect">
            <a:avLst/>
          </a:prstGeom>
          <a:noFill/>
          <a:ln/>
        </p:spPr>
        <p:txBody>
          <a:bodyPr wrap="square" lIns="0" tIns="0" rIns="0" bIns="0" rtlCol="0" anchor="ctr"/>
          <a:lstStyle/>
          <a:p>
            <a:pPr algn="ctr" indent="0" marL="0">
              <a:buNone/>
            </a:pPr>
            <a:r>
              <a:rPr lang="en-US" sz="2700" i="1" dirty="0">
                <a:solidFill>
                  <a:srgbClr val="22223B"/>
                </a:solidFill>
                <a:latin typeface="Times New Roman" pitchFamily="34" charset="0"/>
                <a:ea typeface="Times New Roman" pitchFamily="34" charset="-122"/>
                <a:cs typeface="Times New Roman" pitchFamily="34" charset="-120"/>
              </a:rPr>
              <a:t>N × (d + 2)</a:t>
            </a:r>
            <a:r>
              <a:rPr lang="en-US" sz="2400" dirty="0">
                <a:solidFill>
                  <a:srgbClr val="22223B"/>
                </a:solidFill>
                <a:latin typeface="BIZ UDGothic" pitchFamily="34" charset="0"/>
                <a:ea typeface="BIZ UDGothic" pitchFamily="34" charset="-122"/>
                <a:cs typeface="BIZ UDGothic" pitchFamily="34" charset="-120"/>
              </a:rPr>
              <a:t> 回</a:t>
            </a:r>
            <a:endParaRPr lang="en-US" sz="2700" dirty="0"/>
          </a:p>
        </p:txBody>
      </p:sp>
      <p:sp>
        <p:nvSpPr>
          <p:cNvPr id="19" name="Text 14"/>
          <p:cNvSpPr/>
          <p:nvPr/>
        </p:nvSpPr>
        <p:spPr>
          <a:xfrm>
            <a:off x="6842455" y="4480560"/>
            <a:ext cx="4480560" cy="320040"/>
          </a:xfrm>
          <a:prstGeom prst="rect">
            <a:avLst/>
          </a:prstGeom>
          <a:noFill/>
          <a:ln/>
        </p:spPr>
        <p:txBody>
          <a:bodyPr wrap="square" lIns="0" tIns="0" rIns="0" bIns="0" rtlCol="0" anchor="ctr"/>
          <a:lstStyle/>
          <a:p>
            <a:pPr algn="ctr" indent="0" marL="0">
              <a:buNone/>
            </a:pPr>
            <a:r>
              <a:rPr lang="en-US" sz="1500" i="1" dirty="0">
                <a:solidFill>
                  <a:srgbClr val="6C6F7F"/>
                </a:solidFill>
                <a:latin typeface="Times New Roman" pitchFamily="34" charset="0"/>
                <a:ea typeface="Times New Roman" pitchFamily="34" charset="-122"/>
                <a:cs typeface="Times New Roman" pitchFamily="34" charset="-120"/>
              </a:rPr>
              <a:t>d</a:t>
            </a:r>
            <a:r>
              <a:rPr lang="en-US" sz="1300" dirty="0">
                <a:solidFill>
                  <a:srgbClr val="6C6F7F"/>
                </a:solidFill>
                <a:latin typeface="BIZ UDGothic" pitchFamily="34" charset="0"/>
                <a:ea typeface="BIZ UDGothic" pitchFamily="34" charset="-122"/>
                <a:cs typeface="BIZ UDGothic" pitchFamily="34" charset="-120"/>
              </a:rPr>
              <a:t> = 3、</a:t>
            </a:r>
            <a:r>
              <a:rPr lang="en-US" sz="1500" i="1" dirty="0">
                <a:solidFill>
                  <a:srgbClr val="6C6F7F"/>
                </a:solidFill>
                <a:latin typeface="Times New Roman" pitchFamily="34" charset="0"/>
                <a:ea typeface="Times New Roman" pitchFamily="34" charset="-122"/>
                <a:cs typeface="Times New Roman" pitchFamily="34" charset="-120"/>
              </a:rPr>
              <a:t>N</a:t>
            </a:r>
            <a:r>
              <a:rPr lang="en-US" sz="1300" dirty="0">
                <a:solidFill>
                  <a:srgbClr val="6C6F7F"/>
                </a:solidFill>
                <a:latin typeface="BIZ UDGothic" pitchFamily="34" charset="0"/>
                <a:ea typeface="BIZ UDGothic" pitchFamily="34" charset="-122"/>
                <a:cs typeface="BIZ UDGothic" pitchFamily="34" charset="-120"/>
              </a:rPr>
              <a:t> = 1,024 なら</a:t>
            </a:r>
            <a:endParaRPr lang="en-US" sz="1500" dirty="0"/>
          </a:p>
        </p:txBody>
      </p:sp>
      <p:sp>
        <p:nvSpPr>
          <p:cNvPr id="20" name="Text 15"/>
          <p:cNvSpPr/>
          <p:nvPr/>
        </p:nvSpPr>
        <p:spPr>
          <a:xfrm>
            <a:off x="6842455" y="4800600"/>
            <a:ext cx="4480560" cy="594360"/>
          </a:xfrm>
          <a:prstGeom prst="rect">
            <a:avLst/>
          </a:prstGeom>
          <a:noFill/>
          <a:ln/>
        </p:spPr>
        <p:txBody>
          <a:bodyPr wrap="square" lIns="0" tIns="0" rIns="0" bIns="0" rtlCol="0" anchor="ctr"/>
          <a:lstStyle/>
          <a:p>
            <a:pPr algn="ctr" indent="0" marL="0">
              <a:buNone/>
            </a:pPr>
            <a:r>
              <a:rPr lang="en-US" sz="3400" b="1" dirty="0">
                <a:solidFill>
                  <a:srgbClr val="2A9D8F"/>
                </a:solidFill>
                <a:latin typeface="BIZ UDGothic" pitchFamily="34" charset="0"/>
                <a:ea typeface="BIZ UDGothic" pitchFamily="34" charset="-122"/>
                <a:cs typeface="BIZ UDGothic" pitchFamily="34" charset="-120"/>
              </a:rPr>
              <a:t>5,120 回</a:t>
            </a:r>
            <a:endParaRPr lang="en-US" sz="3400" dirty="0"/>
          </a:p>
        </p:txBody>
      </p:sp>
      <p:sp>
        <p:nvSpPr>
          <p:cNvPr id="21" name="Shape 16"/>
          <p:cNvSpPr/>
          <p:nvPr/>
        </p:nvSpPr>
        <p:spPr>
          <a:xfrm>
            <a:off x="5806440" y="3497580"/>
            <a:ext cx="578815" cy="0"/>
          </a:xfrm>
          <a:prstGeom prst="line">
            <a:avLst/>
          </a:prstGeom>
          <a:noFill/>
          <a:ln w="25400">
            <a:solidFill>
              <a:srgbClr val="4A4E69"/>
            </a:solidFill>
            <a:prstDash val="solid"/>
            <a:tailEnd type="triangle"/>
          </a:ln>
        </p:spPr>
      </p:sp>
      <p:sp>
        <p:nvSpPr>
          <p:cNvPr id="22" name="Text 17"/>
          <p:cNvSpPr/>
          <p:nvPr/>
        </p:nvSpPr>
        <p:spPr>
          <a:xfrm>
            <a:off x="548640" y="5715000"/>
            <a:ext cx="11094415" cy="365760"/>
          </a:xfrm>
          <a:prstGeom prst="rect">
            <a:avLst/>
          </a:prstGeom>
          <a:noFill/>
          <a:ln/>
        </p:spPr>
        <p:txBody>
          <a:bodyPr wrap="square" lIns="0" tIns="0" rIns="0" bIns="0" rtlCol="0" anchor="ctr"/>
          <a:lstStyle/>
          <a:p>
            <a:pPr indent="0" marL="0">
              <a:buNone/>
            </a:pPr>
            <a:r>
              <a:rPr lang="en-US" sz="1300" dirty="0">
                <a:solidFill>
                  <a:srgbClr val="6C6F7F"/>
                </a:solidFill>
                <a:latin typeface="BIZ UDGothic" pitchFamily="34" charset="0"/>
                <a:ea typeface="BIZ UDGothic" pitchFamily="34" charset="-122"/>
                <a:cs typeface="BIZ UDGothic" pitchFamily="34" charset="-120"/>
              </a:rPr>
              <a:t>※ 回数は目安。必要な </a:t>
            </a:r>
            <a:r>
              <a:rPr lang="en-US" sz="1500" i="1" dirty="0">
                <a:solidFill>
                  <a:srgbClr val="6C6F7F"/>
                </a:solidFill>
                <a:latin typeface="Times New Roman" pitchFamily="34" charset="0"/>
                <a:ea typeface="Times New Roman" pitchFamily="34" charset="-122"/>
                <a:cs typeface="Times New Roman" pitchFamily="34" charset="-120"/>
              </a:rPr>
              <a:t>N</a:t>
            </a:r>
            <a:r>
              <a:rPr lang="en-US" sz="1300" dirty="0">
                <a:solidFill>
                  <a:srgbClr val="6C6F7F"/>
                </a:solidFill>
                <a:latin typeface="BIZ UDGothic" pitchFamily="34" charset="0"/>
                <a:ea typeface="BIZ UDGothic" pitchFamily="34" charset="-122"/>
                <a:cs typeface="BIZ UDGothic" pitchFamily="34" charset="-120"/>
              </a:rPr>
              <a:t> はモデルの複雑さで変わるため、</a:t>
            </a:r>
            <a:r>
              <a:rPr lang="en-US" sz="1500" i="1" dirty="0">
                <a:solidFill>
                  <a:srgbClr val="6C6F7F"/>
                </a:solidFill>
                <a:latin typeface="Times New Roman" pitchFamily="34" charset="0"/>
                <a:ea typeface="Times New Roman" pitchFamily="34" charset="-122"/>
                <a:cs typeface="Times New Roman" pitchFamily="34" charset="-120"/>
              </a:rPr>
              <a:t>N</a:t>
            </a:r>
            <a:r>
              <a:rPr lang="en-US" sz="1300" dirty="0">
                <a:solidFill>
                  <a:srgbClr val="6C6F7F"/>
                </a:solidFill>
                <a:latin typeface="BIZ UDGothic" pitchFamily="34" charset="0"/>
                <a:ea typeface="BIZ UDGothic" pitchFamily="34" charset="-122"/>
                <a:cs typeface="BIZ UDGothic" pitchFamily="34" charset="-120"/>
              </a:rPr>
              <a:t> を増やしながら収束を確認する（p.20）</a:t>
            </a:r>
            <a:endParaRPr lang="en-US" sz="1300" dirty="0"/>
          </a:p>
        </p:txBody>
      </p:sp>
      <p:sp>
        <p:nvSpPr>
          <p:cNvPr id="23" name="Text 18"/>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24" name="Text 19"/>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03　推定のしくみ</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Saltelliサンプリング ― 行列 </a:t>
            </a:r>
            <a:r>
              <a:rPr lang="en-US" sz="3100" b="1" i="1" dirty="0">
                <a:solidFill>
                  <a:srgbClr val="22223B"/>
                </a:solidFill>
                <a:latin typeface="Times New Roman" pitchFamily="34" charset="0"/>
                <a:ea typeface="Times New Roman" pitchFamily="34" charset="-122"/>
                <a:cs typeface="Times New Roman" pitchFamily="34" charset="-120"/>
              </a:rPr>
              <a:t>A</a:t>
            </a:r>
            <a:r>
              <a:rPr lang="en-US" sz="2800" b="1" dirty="0">
                <a:solidFill>
                  <a:srgbClr val="22223B"/>
                </a:solidFill>
                <a:latin typeface="BIZ UDGothic" pitchFamily="34" charset="0"/>
                <a:ea typeface="BIZ UDGothic" pitchFamily="34" charset="-122"/>
                <a:cs typeface="BIZ UDGothic" pitchFamily="34" charset="-120"/>
              </a:rPr>
              <a:t>・</a:t>
            </a:r>
            <a:r>
              <a:rPr lang="en-US" sz="3100" b="1" i="1" dirty="0">
                <a:solidFill>
                  <a:srgbClr val="22223B"/>
                </a:solidFill>
                <a:latin typeface="Times New Roman" pitchFamily="34" charset="0"/>
                <a:ea typeface="Times New Roman" pitchFamily="34" charset="-122"/>
                <a:cs typeface="Times New Roman" pitchFamily="34" charset="-120"/>
              </a:rPr>
              <a:t>B</a:t>
            </a:r>
            <a:r>
              <a:rPr lang="en-US" sz="2800" b="1" dirty="0">
                <a:solidFill>
                  <a:srgbClr val="22223B"/>
                </a:solidFill>
                <a:latin typeface="BIZ UDGothic" pitchFamily="34" charset="0"/>
                <a:ea typeface="BIZ UDGothic" pitchFamily="34" charset="-122"/>
                <a:cs typeface="BIZ UDGothic" pitchFamily="34" charset="-120"/>
              </a:rPr>
              <a:t>・</a:t>
            </a:r>
            <a:r>
              <a:rPr lang="en-US" sz="3100" b="1" i="1" dirty="0">
                <a:solidFill>
                  <a:srgbClr val="22223B"/>
                </a:solidFill>
                <a:latin typeface="Times New Roman" pitchFamily="34" charset="0"/>
                <a:ea typeface="Times New Roman" pitchFamily="34" charset="-122"/>
                <a:cs typeface="Times New Roman" pitchFamily="34" charset="-120"/>
              </a:rPr>
              <a:t>A</a:t>
            </a:r>
            <a:r>
              <a:rPr lang="en-US" sz="3100" b="1" i="1" baseline="-40000" dirty="0">
                <a:solidFill>
                  <a:srgbClr val="22223B"/>
                </a:solidFill>
                <a:latin typeface="Times New Roman" pitchFamily="34" charset="0"/>
                <a:ea typeface="Times New Roman" pitchFamily="34" charset="-122"/>
                <a:cs typeface="Times New Roman" pitchFamily="34" charset="-120"/>
              </a:rPr>
              <a:t>B</a:t>
            </a:r>
            <a:r>
              <a:rPr lang="en-US" sz="3100" b="1" i="1" baseline="30000" dirty="0">
                <a:solidFill>
                  <a:srgbClr val="22223B"/>
                </a:solidFill>
                <a:latin typeface="Times New Roman" pitchFamily="34" charset="0"/>
                <a:ea typeface="Times New Roman" pitchFamily="34" charset="-122"/>
                <a:cs typeface="Times New Roman" pitchFamily="34" charset="-120"/>
              </a:rPr>
              <a:t>(i)</a:t>
            </a:r>
            <a:endParaRPr lang="en-US" sz="2800" dirty="0"/>
          </a:p>
        </p:txBody>
      </p:sp>
      <p:sp>
        <p:nvSpPr>
          <p:cNvPr id="5" name="Text 2"/>
          <p:cNvSpPr/>
          <p:nvPr/>
        </p:nvSpPr>
        <p:spPr>
          <a:xfrm>
            <a:off x="548640" y="1325880"/>
            <a:ext cx="11094415" cy="320040"/>
          </a:xfrm>
          <a:prstGeom prst="rect">
            <a:avLst/>
          </a:prstGeom>
          <a:noFill/>
          <a:ln/>
        </p:spPr>
        <p:txBody>
          <a:bodyPr wrap="square" lIns="0" tIns="0" rIns="0" bIns="0" rtlCol="0" anchor="ctr"/>
          <a:lstStyle/>
          <a:p>
            <a:pPr indent="0" marL="0">
              <a:buNone/>
            </a:pPr>
            <a:r>
              <a:rPr lang="en-US" sz="1300" dirty="0">
                <a:solidFill>
                  <a:srgbClr val="6C6F7F"/>
                </a:solidFill>
                <a:latin typeface="BIZ UDGothic" pitchFamily="34" charset="0"/>
                <a:ea typeface="BIZ UDGothic" pitchFamily="34" charset="-122"/>
                <a:cs typeface="BIZ UDGothic" pitchFamily="34" charset="-120"/>
              </a:rPr>
              <a:t>例：入力 d = 3、各行が1回分のモデル入力（灰色＝Aの値、緑＝Bの値）</a:t>
            </a:r>
            <a:endParaRPr lang="en-US" sz="1300" dirty="0"/>
          </a:p>
        </p:txBody>
      </p:sp>
      <p:sp>
        <p:nvSpPr>
          <p:cNvPr id="6" name="Text 3"/>
          <p:cNvSpPr/>
          <p:nvPr/>
        </p:nvSpPr>
        <p:spPr>
          <a:xfrm>
            <a:off x="914400"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1</a:t>
            </a:r>
            <a:endParaRPr lang="en-US" sz="1200" dirty="0"/>
          </a:p>
        </p:txBody>
      </p:sp>
      <p:sp>
        <p:nvSpPr>
          <p:cNvPr id="7" name="Text 4"/>
          <p:cNvSpPr/>
          <p:nvPr/>
        </p:nvSpPr>
        <p:spPr>
          <a:xfrm>
            <a:off x="1298448"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2</a:t>
            </a:r>
            <a:endParaRPr lang="en-US" sz="1200" dirty="0"/>
          </a:p>
        </p:txBody>
      </p:sp>
      <p:sp>
        <p:nvSpPr>
          <p:cNvPr id="8" name="Text 5"/>
          <p:cNvSpPr/>
          <p:nvPr/>
        </p:nvSpPr>
        <p:spPr>
          <a:xfrm>
            <a:off x="1682496"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3</a:t>
            </a:r>
            <a:endParaRPr lang="en-US" sz="1200" dirty="0"/>
          </a:p>
        </p:txBody>
      </p:sp>
      <p:sp>
        <p:nvSpPr>
          <p:cNvPr id="9" name="Shape 6"/>
          <p:cNvSpPr/>
          <p:nvPr/>
        </p:nvSpPr>
        <p:spPr>
          <a:xfrm>
            <a:off x="914400" y="2011680"/>
            <a:ext cx="384048" cy="274320"/>
          </a:xfrm>
          <a:prstGeom prst="rect">
            <a:avLst/>
          </a:prstGeom>
          <a:solidFill>
            <a:srgbClr val="BFC3D1"/>
          </a:solidFill>
          <a:ln w="12700">
            <a:solidFill>
              <a:srgbClr val="FFFFFF"/>
            </a:solidFill>
            <a:prstDash val="solid"/>
          </a:ln>
        </p:spPr>
      </p:sp>
      <p:sp>
        <p:nvSpPr>
          <p:cNvPr id="10" name="Shape 7"/>
          <p:cNvSpPr/>
          <p:nvPr/>
        </p:nvSpPr>
        <p:spPr>
          <a:xfrm>
            <a:off x="1298448" y="2011680"/>
            <a:ext cx="384048" cy="274320"/>
          </a:xfrm>
          <a:prstGeom prst="rect">
            <a:avLst/>
          </a:prstGeom>
          <a:solidFill>
            <a:srgbClr val="BFC3D1"/>
          </a:solidFill>
          <a:ln w="12700">
            <a:solidFill>
              <a:srgbClr val="FFFFFF"/>
            </a:solidFill>
            <a:prstDash val="solid"/>
          </a:ln>
        </p:spPr>
      </p:sp>
      <p:sp>
        <p:nvSpPr>
          <p:cNvPr id="11" name="Shape 8"/>
          <p:cNvSpPr/>
          <p:nvPr/>
        </p:nvSpPr>
        <p:spPr>
          <a:xfrm>
            <a:off x="1682496" y="2011680"/>
            <a:ext cx="384048" cy="274320"/>
          </a:xfrm>
          <a:prstGeom prst="rect">
            <a:avLst/>
          </a:prstGeom>
          <a:solidFill>
            <a:srgbClr val="BFC3D1"/>
          </a:solidFill>
          <a:ln w="12700">
            <a:solidFill>
              <a:srgbClr val="FFFFFF"/>
            </a:solidFill>
            <a:prstDash val="solid"/>
          </a:ln>
        </p:spPr>
      </p:sp>
      <p:sp>
        <p:nvSpPr>
          <p:cNvPr id="12" name="Shape 9"/>
          <p:cNvSpPr/>
          <p:nvPr/>
        </p:nvSpPr>
        <p:spPr>
          <a:xfrm>
            <a:off x="914400" y="2286000"/>
            <a:ext cx="384048" cy="274320"/>
          </a:xfrm>
          <a:prstGeom prst="rect">
            <a:avLst/>
          </a:prstGeom>
          <a:solidFill>
            <a:srgbClr val="BFC3D1"/>
          </a:solidFill>
          <a:ln w="12700">
            <a:solidFill>
              <a:srgbClr val="FFFFFF"/>
            </a:solidFill>
            <a:prstDash val="solid"/>
          </a:ln>
        </p:spPr>
      </p:sp>
      <p:sp>
        <p:nvSpPr>
          <p:cNvPr id="13" name="Shape 10"/>
          <p:cNvSpPr/>
          <p:nvPr/>
        </p:nvSpPr>
        <p:spPr>
          <a:xfrm>
            <a:off x="1298448" y="2286000"/>
            <a:ext cx="384048" cy="274320"/>
          </a:xfrm>
          <a:prstGeom prst="rect">
            <a:avLst/>
          </a:prstGeom>
          <a:solidFill>
            <a:srgbClr val="BFC3D1"/>
          </a:solidFill>
          <a:ln w="12700">
            <a:solidFill>
              <a:srgbClr val="FFFFFF"/>
            </a:solidFill>
            <a:prstDash val="solid"/>
          </a:ln>
        </p:spPr>
      </p:sp>
      <p:sp>
        <p:nvSpPr>
          <p:cNvPr id="14" name="Shape 11"/>
          <p:cNvSpPr/>
          <p:nvPr/>
        </p:nvSpPr>
        <p:spPr>
          <a:xfrm>
            <a:off x="1682496" y="2286000"/>
            <a:ext cx="384048" cy="274320"/>
          </a:xfrm>
          <a:prstGeom prst="rect">
            <a:avLst/>
          </a:prstGeom>
          <a:solidFill>
            <a:srgbClr val="BFC3D1"/>
          </a:solidFill>
          <a:ln w="12700">
            <a:solidFill>
              <a:srgbClr val="FFFFFF"/>
            </a:solidFill>
            <a:prstDash val="solid"/>
          </a:ln>
        </p:spPr>
      </p:sp>
      <p:sp>
        <p:nvSpPr>
          <p:cNvPr id="15" name="Shape 12"/>
          <p:cNvSpPr/>
          <p:nvPr/>
        </p:nvSpPr>
        <p:spPr>
          <a:xfrm>
            <a:off x="914400" y="2560320"/>
            <a:ext cx="384048" cy="274320"/>
          </a:xfrm>
          <a:prstGeom prst="rect">
            <a:avLst/>
          </a:prstGeom>
          <a:solidFill>
            <a:srgbClr val="BFC3D1"/>
          </a:solidFill>
          <a:ln w="12700">
            <a:solidFill>
              <a:srgbClr val="FFFFFF"/>
            </a:solidFill>
            <a:prstDash val="solid"/>
          </a:ln>
        </p:spPr>
      </p:sp>
      <p:sp>
        <p:nvSpPr>
          <p:cNvPr id="16" name="Shape 13"/>
          <p:cNvSpPr/>
          <p:nvPr/>
        </p:nvSpPr>
        <p:spPr>
          <a:xfrm>
            <a:off x="1298448" y="2560320"/>
            <a:ext cx="384048" cy="274320"/>
          </a:xfrm>
          <a:prstGeom prst="rect">
            <a:avLst/>
          </a:prstGeom>
          <a:solidFill>
            <a:srgbClr val="BFC3D1"/>
          </a:solidFill>
          <a:ln w="12700">
            <a:solidFill>
              <a:srgbClr val="FFFFFF"/>
            </a:solidFill>
            <a:prstDash val="solid"/>
          </a:ln>
        </p:spPr>
      </p:sp>
      <p:sp>
        <p:nvSpPr>
          <p:cNvPr id="17" name="Shape 14"/>
          <p:cNvSpPr/>
          <p:nvPr/>
        </p:nvSpPr>
        <p:spPr>
          <a:xfrm>
            <a:off x="1682496" y="2560320"/>
            <a:ext cx="384048" cy="274320"/>
          </a:xfrm>
          <a:prstGeom prst="rect">
            <a:avLst/>
          </a:prstGeom>
          <a:solidFill>
            <a:srgbClr val="BFC3D1"/>
          </a:solidFill>
          <a:ln w="12700">
            <a:solidFill>
              <a:srgbClr val="FFFFFF"/>
            </a:solidFill>
            <a:prstDash val="solid"/>
          </a:ln>
        </p:spPr>
      </p:sp>
      <p:sp>
        <p:nvSpPr>
          <p:cNvPr id="18" name="Shape 15"/>
          <p:cNvSpPr/>
          <p:nvPr/>
        </p:nvSpPr>
        <p:spPr>
          <a:xfrm>
            <a:off x="914400" y="2834640"/>
            <a:ext cx="384048" cy="274320"/>
          </a:xfrm>
          <a:prstGeom prst="rect">
            <a:avLst/>
          </a:prstGeom>
          <a:solidFill>
            <a:srgbClr val="BFC3D1"/>
          </a:solidFill>
          <a:ln w="12700">
            <a:solidFill>
              <a:srgbClr val="FFFFFF"/>
            </a:solidFill>
            <a:prstDash val="solid"/>
          </a:ln>
        </p:spPr>
      </p:sp>
      <p:sp>
        <p:nvSpPr>
          <p:cNvPr id="19" name="Shape 16"/>
          <p:cNvSpPr/>
          <p:nvPr/>
        </p:nvSpPr>
        <p:spPr>
          <a:xfrm>
            <a:off x="1298448" y="2834640"/>
            <a:ext cx="384048" cy="274320"/>
          </a:xfrm>
          <a:prstGeom prst="rect">
            <a:avLst/>
          </a:prstGeom>
          <a:solidFill>
            <a:srgbClr val="BFC3D1"/>
          </a:solidFill>
          <a:ln w="12700">
            <a:solidFill>
              <a:srgbClr val="FFFFFF"/>
            </a:solidFill>
            <a:prstDash val="solid"/>
          </a:ln>
        </p:spPr>
      </p:sp>
      <p:sp>
        <p:nvSpPr>
          <p:cNvPr id="20" name="Shape 17"/>
          <p:cNvSpPr/>
          <p:nvPr/>
        </p:nvSpPr>
        <p:spPr>
          <a:xfrm>
            <a:off x="1682496" y="2834640"/>
            <a:ext cx="384048" cy="274320"/>
          </a:xfrm>
          <a:prstGeom prst="rect">
            <a:avLst/>
          </a:prstGeom>
          <a:solidFill>
            <a:srgbClr val="BFC3D1"/>
          </a:solidFill>
          <a:ln w="12700">
            <a:solidFill>
              <a:srgbClr val="FFFFFF"/>
            </a:solidFill>
            <a:prstDash val="solid"/>
          </a:ln>
        </p:spPr>
      </p:sp>
      <p:sp>
        <p:nvSpPr>
          <p:cNvPr id="21" name="Shape 18"/>
          <p:cNvSpPr/>
          <p:nvPr/>
        </p:nvSpPr>
        <p:spPr>
          <a:xfrm>
            <a:off x="914400" y="3108960"/>
            <a:ext cx="384048" cy="274320"/>
          </a:xfrm>
          <a:prstGeom prst="rect">
            <a:avLst/>
          </a:prstGeom>
          <a:solidFill>
            <a:srgbClr val="BFC3D1"/>
          </a:solidFill>
          <a:ln w="12700">
            <a:solidFill>
              <a:srgbClr val="FFFFFF"/>
            </a:solidFill>
            <a:prstDash val="solid"/>
          </a:ln>
        </p:spPr>
      </p:sp>
      <p:sp>
        <p:nvSpPr>
          <p:cNvPr id="22" name="Shape 19"/>
          <p:cNvSpPr/>
          <p:nvPr/>
        </p:nvSpPr>
        <p:spPr>
          <a:xfrm>
            <a:off x="1298448" y="3108960"/>
            <a:ext cx="384048" cy="274320"/>
          </a:xfrm>
          <a:prstGeom prst="rect">
            <a:avLst/>
          </a:prstGeom>
          <a:solidFill>
            <a:srgbClr val="BFC3D1"/>
          </a:solidFill>
          <a:ln w="12700">
            <a:solidFill>
              <a:srgbClr val="FFFFFF"/>
            </a:solidFill>
            <a:prstDash val="solid"/>
          </a:ln>
        </p:spPr>
      </p:sp>
      <p:sp>
        <p:nvSpPr>
          <p:cNvPr id="23" name="Shape 20"/>
          <p:cNvSpPr/>
          <p:nvPr/>
        </p:nvSpPr>
        <p:spPr>
          <a:xfrm>
            <a:off x="1682496" y="3108960"/>
            <a:ext cx="384048" cy="274320"/>
          </a:xfrm>
          <a:prstGeom prst="rect">
            <a:avLst/>
          </a:prstGeom>
          <a:solidFill>
            <a:srgbClr val="BFC3D1"/>
          </a:solidFill>
          <a:ln w="12700">
            <a:solidFill>
              <a:srgbClr val="FFFFFF"/>
            </a:solidFill>
            <a:prstDash val="solid"/>
          </a:ln>
        </p:spPr>
      </p:sp>
      <p:sp>
        <p:nvSpPr>
          <p:cNvPr id="24" name="Text 21"/>
          <p:cNvSpPr/>
          <p:nvPr/>
        </p:nvSpPr>
        <p:spPr>
          <a:xfrm>
            <a:off x="548640" y="3456432"/>
            <a:ext cx="1883664" cy="365760"/>
          </a:xfrm>
          <a:prstGeom prst="rect">
            <a:avLst/>
          </a:prstGeom>
          <a:noFill/>
          <a:ln/>
        </p:spPr>
        <p:txBody>
          <a:bodyPr wrap="square" lIns="0" tIns="0" rIns="0" bIns="0" rtlCol="0" anchor="ctr"/>
          <a:lstStyle/>
          <a:p>
            <a:pPr algn="ctr" indent="0" marL="0">
              <a:buNone/>
            </a:pPr>
            <a:r>
              <a:rPr lang="en-US" sz="1700" b="1" i="1" dirty="0">
                <a:solidFill>
                  <a:srgbClr val="22223B"/>
                </a:solidFill>
                <a:latin typeface="Times New Roman" pitchFamily="34" charset="0"/>
                <a:ea typeface="Times New Roman" pitchFamily="34" charset="-122"/>
                <a:cs typeface="Times New Roman" pitchFamily="34" charset="-120"/>
              </a:rPr>
              <a:t>A</a:t>
            </a:r>
            <a:r>
              <a:rPr lang="en-US" sz="1500" b="1" dirty="0">
                <a:solidFill>
                  <a:srgbClr val="22223B"/>
                </a:solidFill>
                <a:latin typeface="BIZ UDGothic" pitchFamily="34" charset="0"/>
                <a:ea typeface="BIZ UDGothic" pitchFamily="34" charset="-122"/>
                <a:cs typeface="BIZ UDGothic" pitchFamily="34" charset="-120"/>
              </a:rPr>
              <a:t>（</a:t>
            </a:r>
            <a:r>
              <a:rPr lang="en-US" sz="1700" b="1" i="1" dirty="0">
                <a:solidFill>
                  <a:srgbClr val="22223B"/>
                </a:solidFill>
                <a:latin typeface="Times New Roman" pitchFamily="34" charset="0"/>
                <a:ea typeface="Times New Roman" pitchFamily="34" charset="-122"/>
                <a:cs typeface="Times New Roman" pitchFamily="34" charset="-120"/>
              </a:rPr>
              <a:t>N</a:t>
            </a:r>
            <a:r>
              <a:rPr lang="en-US" sz="1500" b="1" dirty="0">
                <a:solidFill>
                  <a:srgbClr val="22223B"/>
                </a:solidFill>
                <a:latin typeface="BIZ UDGothic" pitchFamily="34" charset="0"/>
                <a:ea typeface="BIZ UDGothic" pitchFamily="34" charset="-122"/>
                <a:cs typeface="BIZ UDGothic" pitchFamily="34" charset="-120"/>
              </a:rPr>
              <a:t> 行）</a:t>
            </a:r>
            <a:endParaRPr lang="en-US" sz="1700" dirty="0"/>
          </a:p>
        </p:txBody>
      </p:sp>
      <p:sp>
        <p:nvSpPr>
          <p:cNvPr id="25" name="Text 22"/>
          <p:cNvSpPr/>
          <p:nvPr/>
        </p:nvSpPr>
        <p:spPr>
          <a:xfrm>
            <a:off x="3063240"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1</a:t>
            </a:r>
            <a:endParaRPr lang="en-US" sz="1200" dirty="0"/>
          </a:p>
        </p:txBody>
      </p:sp>
      <p:sp>
        <p:nvSpPr>
          <p:cNvPr id="26" name="Text 23"/>
          <p:cNvSpPr/>
          <p:nvPr/>
        </p:nvSpPr>
        <p:spPr>
          <a:xfrm>
            <a:off x="3447288"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2</a:t>
            </a:r>
            <a:endParaRPr lang="en-US" sz="1200" dirty="0"/>
          </a:p>
        </p:txBody>
      </p:sp>
      <p:sp>
        <p:nvSpPr>
          <p:cNvPr id="27" name="Text 24"/>
          <p:cNvSpPr/>
          <p:nvPr/>
        </p:nvSpPr>
        <p:spPr>
          <a:xfrm>
            <a:off x="3831336"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3</a:t>
            </a:r>
            <a:endParaRPr lang="en-US" sz="1200" dirty="0"/>
          </a:p>
        </p:txBody>
      </p:sp>
      <p:sp>
        <p:nvSpPr>
          <p:cNvPr id="28" name="Shape 25"/>
          <p:cNvSpPr/>
          <p:nvPr/>
        </p:nvSpPr>
        <p:spPr>
          <a:xfrm>
            <a:off x="3063240" y="2011680"/>
            <a:ext cx="384048" cy="274320"/>
          </a:xfrm>
          <a:prstGeom prst="rect">
            <a:avLst/>
          </a:prstGeom>
          <a:solidFill>
            <a:srgbClr val="2A9D8F"/>
          </a:solidFill>
          <a:ln w="12700">
            <a:solidFill>
              <a:srgbClr val="FFFFFF"/>
            </a:solidFill>
            <a:prstDash val="solid"/>
          </a:ln>
        </p:spPr>
      </p:sp>
      <p:sp>
        <p:nvSpPr>
          <p:cNvPr id="29" name="Shape 26"/>
          <p:cNvSpPr/>
          <p:nvPr/>
        </p:nvSpPr>
        <p:spPr>
          <a:xfrm>
            <a:off x="3447288" y="2011680"/>
            <a:ext cx="384048" cy="274320"/>
          </a:xfrm>
          <a:prstGeom prst="rect">
            <a:avLst/>
          </a:prstGeom>
          <a:solidFill>
            <a:srgbClr val="2A9D8F"/>
          </a:solidFill>
          <a:ln w="12700">
            <a:solidFill>
              <a:srgbClr val="FFFFFF"/>
            </a:solidFill>
            <a:prstDash val="solid"/>
          </a:ln>
        </p:spPr>
      </p:sp>
      <p:sp>
        <p:nvSpPr>
          <p:cNvPr id="30" name="Shape 27"/>
          <p:cNvSpPr/>
          <p:nvPr/>
        </p:nvSpPr>
        <p:spPr>
          <a:xfrm>
            <a:off x="3831336" y="2011680"/>
            <a:ext cx="384048" cy="274320"/>
          </a:xfrm>
          <a:prstGeom prst="rect">
            <a:avLst/>
          </a:prstGeom>
          <a:solidFill>
            <a:srgbClr val="2A9D8F"/>
          </a:solidFill>
          <a:ln w="12700">
            <a:solidFill>
              <a:srgbClr val="FFFFFF"/>
            </a:solidFill>
            <a:prstDash val="solid"/>
          </a:ln>
        </p:spPr>
      </p:sp>
      <p:sp>
        <p:nvSpPr>
          <p:cNvPr id="31" name="Shape 28"/>
          <p:cNvSpPr/>
          <p:nvPr/>
        </p:nvSpPr>
        <p:spPr>
          <a:xfrm>
            <a:off x="3063240" y="2286000"/>
            <a:ext cx="384048" cy="274320"/>
          </a:xfrm>
          <a:prstGeom prst="rect">
            <a:avLst/>
          </a:prstGeom>
          <a:solidFill>
            <a:srgbClr val="2A9D8F"/>
          </a:solidFill>
          <a:ln w="12700">
            <a:solidFill>
              <a:srgbClr val="FFFFFF"/>
            </a:solidFill>
            <a:prstDash val="solid"/>
          </a:ln>
        </p:spPr>
      </p:sp>
      <p:sp>
        <p:nvSpPr>
          <p:cNvPr id="32" name="Shape 29"/>
          <p:cNvSpPr/>
          <p:nvPr/>
        </p:nvSpPr>
        <p:spPr>
          <a:xfrm>
            <a:off x="3447288" y="2286000"/>
            <a:ext cx="384048" cy="274320"/>
          </a:xfrm>
          <a:prstGeom prst="rect">
            <a:avLst/>
          </a:prstGeom>
          <a:solidFill>
            <a:srgbClr val="2A9D8F"/>
          </a:solidFill>
          <a:ln w="12700">
            <a:solidFill>
              <a:srgbClr val="FFFFFF"/>
            </a:solidFill>
            <a:prstDash val="solid"/>
          </a:ln>
        </p:spPr>
      </p:sp>
      <p:sp>
        <p:nvSpPr>
          <p:cNvPr id="33" name="Shape 30"/>
          <p:cNvSpPr/>
          <p:nvPr/>
        </p:nvSpPr>
        <p:spPr>
          <a:xfrm>
            <a:off x="3831336" y="2286000"/>
            <a:ext cx="384048" cy="274320"/>
          </a:xfrm>
          <a:prstGeom prst="rect">
            <a:avLst/>
          </a:prstGeom>
          <a:solidFill>
            <a:srgbClr val="2A9D8F"/>
          </a:solidFill>
          <a:ln w="12700">
            <a:solidFill>
              <a:srgbClr val="FFFFFF"/>
            </a:solidFill>
            <a:prstDash val="solid"/>
          </a:ln>
        </p:spPr>
      </p:sp>
      <p:sp>
        <p:nvSpPr>
          <p:cNvPr id="34" name="Shape 31"/>
          <p:cNvSpPr/>
          <p:nvPr/>
        </p:nvSpPr>
        <p:spPr>
          <a:xfrm>
            <a:off x="3063240" y="2560320"/>
            <a:ext cx="384048" cy="274320"/>
          </a:xfrm>
          <a:prstGeom prst="rect">
            <a:avLst/>
          </a:prstGeom>
          <a:solidFill>
            <a:srgbClr val="2A9D8F"/>
          </a:solidFill>
          <a:ln w="12700">
            <a:solidFill>
              <a:srgbClr val="FFFFFF"/>
            </a:solidFill>
            <a:prstDash val="solid"/>
          </a:ln>
        </p:spPr>
      </p:sp>
      <p:sp>
        <p:nvSpPr>
          <p:cNvPr id="35" name="Shape 32"/>
          <p:cNvSpPr/>
          <p:nvPr/>
        </p:nvSpPr>
        <p:spPr>
          <a:xfrm>
            <a:off x="3447288" y="2560320"/>
            <a:ext cx="384048" cy="274320"/>
          </a:xfrm>
          <a:prstGeom prst="rect">
            <a:avLst/>
          </a:prstGeom>
          <a:solidFill>
            <a:srgbClr val="2A9D8F"/>
          </a:solidFill>
          <a:ln w="12700">
            <a:solidFill>
              <a:srgbClr val="FFFFFF"/>
            </a:solidFill>
            <a:prstDash val="solid"/>
          </a:ln>
        </p:spPr>
      </p:sp>
      <p:sp>
        <p:nvSpPr>
          <p:cNvPr id="36" name="Shape 33"/>
          <p:cNvSpPr/>
          <p:nvPr/>
        </p:nvSpPr>
        <p:spPr>
          <a:xfrm>
            <a:off x="3831336" y="2560320"/>
            <a:ext cx="384048" cy="274320"/>
          </a:xfrm>
          <a:prstGeom prst="rect">
            <a:avLst/>
          </a:prstGeom>
          <a:solidFill>
            <a:srgbClr val="2A9D8F"/>
          </a:solidFill>
          <a:ln w="12700">
            <a:solidFill>
              <a:srgbClr val="FFFFFF"/>
            </a:solidFill>
            <a:prstDash val="solid"/>
          </a:ln>
        </p:spPr>
      </p:sp>
      <p:sp>
        <p:nvSpPr>
          <p:cNvPr id="37" name="Shape 34"/>
          <p:cNvSpPr/>
          <p:nvPr/>
        </p:nvSpPr>
        <p:spPr>
          <a:xfrm>
            <a:off x="3063240" y="2834640"/>
            <a:ext cx="384048" cy="274320"/>
          </a:xfrm>
          <a:prstGeom prst="rect">
            <a:avLst/>
          </a:prstGeom>
          <a:solidFill>
            <a:srgbClr val="2A9D8F"/>
          </a:solidFill>
          <a:ln w="12700">
            <a:solidFill>
              <a:srgbClr val="FFFFFF"/>
            </a:solidFill>
            <a:prstDash val="solid"/>
          </a:ln>
        </p:spPr>
      </p:sp>
      <p:sp>
        <p:nvSpPr>
          <p:cNvPr id="38" name="Shape 35"/>
          <p:cNvSpPr/>
          <p:nvPr/>
        </p:nvSpPr>
        <p:spPr>
          <a:xfrm>
            <a:off x="3447288" y="2834640"/>
            <a:ext cx="384048" cy="274320"/>
          </a:xfrm>
          <a:prstGeom prst="rect">
            <a:avLst/>
          </a:prstGeom>
          <a:solidFill>
            <a:srgbClr val="2A9D8F"/>
          </a:solidFill>
          <a:ln w="12700">
            <a:solidFill>
              <a:srgbClr val="FFFFFF"/>
            </a:solidFill>
            <a:prstDash val="solid"/>
          </a:ln>
        </p:spPr>
      </p:sp>
      <p:sp>
        <p:nvSpPr>
          <p:cNvPr id="39" name="Shape 36"/>
          <p:cNvSpPr/>
          <p:nvPr/>
        </p:nvSpPr>
        <p:spPr>
          <a:xfrm>
            <a:off x="3831336" y="2834640"/>
            <a:ext cx="384048" cy="274320"/>
          </a:xfrm>
          <a:prstGeom prst="rect">
            <a:avLst/>
          </a:prstGeom>
          <a:solidFill>
            <a:srgbClr val="2A9D8F"/>
          </a:solidFill>
          <a:ln w="12700">
            <a:solidFill>
              <a:srgbClr val="FFFFFF"/>
            </a:solidFill>
            <a:prstDash val="solid"/>
          </a:ln>
        </p:spPr>
      </p:sp>
      <p:sp>
        <p:nvSpPr>
          <p:cNvPr id="40" name="Shape 37"/>
          <p:cNvSpPr/>
          <p:nvPr/>
        </p:nvSpPr>
        <p:spPr>
          <a:xfrm>
            <a:off x="3063240" y="3108960"/>
            <a:ext cx="384048" cy="274320"/>
          </a:xfrm>
          <a:prstGeom prst="rect">
            <a:avLst/>
          </a:prstGeom>
          <a:solidFill>
            <a:srgbClr val="2A9D8F"/>
          </a:solidFill>
          <a:ln w="12700">
            <a:solidFill>
              <a:srgbClr val="FFFFFF"/>
            </a:solidFill>
            <a:prstDash val="solid"/>
          </a:ln>
        </p:spPr>
      </p:sp>
      <p:sp>
        <p:nvSpPr>
          <p:cNvPr id="41" name="Shape 38"/>
          <p:cNvSpPr/>
          <p:nvPr/>
        </p:nvSpPr>
        <p:spPr>
          <a:xfrm>
            <a:off x="3447288" y="3108960"/>
            <a:ext cx="384048" cy="274320"/>
          </a:xfrm>
          <a:prstGeom prst="rect">
            <a:avLst/>
          </a:prstGeom>
          <a:solidFill>
            <a:srgbClr val="2A9D8F"/>
          </a:solidFill>
          <a:ln w="12700">
            <a:solidFill>
              <a:srgbClr val="FFFFFF"/>
            </a:solidFill>
            <a:prstDash val="solid"/>
          </a:ln>
        </p:spPr>
      </p:sp>
      <p:sp>
        <p:nvSpPr>
          <p:cNvPr id="42" name="Shape 39"/>
          <p:cNvSpPr/>
          <p:nvPr/>
        </p:nvSpPr>
        <p:spPr>
          <a:xfrm>
            <a:off x="3831336" y="3108960"/>
            <a:ext cx="384048" cy="274320"/>
          </a:xfrm>
          <a:prstGeom prst="rect">
            <a:avLst/>
          </a:prstGeom>
          <a:solidFill>
            <a:srgbClr val="2A9D8F"/>
          </a:solidFill>
          <a:ln w="12700">
            <a:solidFill>
              <a:srgbClr val="FFFFFF"/>
            </a:solidFill>
            <a:prstDash val="solid"/>
          </a:ln>
        </p:spPr>
      </p:sp>
      <p:sp>
        <p:nvSpPr>
          <p:cNvPr id="43" name="Text 40"/>
          <p:cNvSpPr/>
          <p:nvPr/>
        </p:nvSpPr>
        <p:spPr>
          <a:xfrm>
            <a:off x="2697480" y="3456432"/>
            <a:ext cx="1883664" cy="365760"/>
          </a:xfrm>
          <a:prstGeom prst="rect">
            <a:avLst/>
          </a:prstGeom>
          <a:noFill/>
          <a:ln/>
        </p:spPr>
        <p:txBody>
          <a:bodyPr wrap="square" lIns="0" tIns="0" rIns="0" bIns="0" rtlCol="0" anchor="ctr"/>
          <a:lstStyle/>
          <a:p>
            <a:pPr algn="ctr" indent="0" marL="0">
              <a:buNone/>
            </a:pPr>
            <a:r>
              <a:rPr lang="en-US" sz="1700" b="1" i="1" dirty="0">
                <a:solidFill>
                  <a:srgbClr val="22223B"/>
                </a:solidFill>
                <a:latin typeface="Times New Roman" pitchFamily="34" charset="0"/>
                <a:ea typeface="Times New Roman" pitchFamily="34" charset="-122"/>
                <a:cs typeface="Times New Roman" pitchFamily="34" charset="-120"/>
              </a:rPr>
              <a:t>B</a:t>
            </a:r>
            <a:r>
              <a:rPr lang="en-US" sz="1500" b="1" dirty="0">
                <a:solidFill>
                  <a:srgbClr val="22223B"/>
                </a:solidFill>
                <a:latin typeface="BIZ UDGothic" pitchFamily="34" charset="0"/>
                <a:ea typeface="BIZ UDGothic" pitchFamily="34" charset="-122"/>
                <a:cs typeface="BIZ UDGothic" pitchFamily="34" charset="-120"/>
              </a:rPr>
              <a:t>（</a:t>
            </a:r>
            <a:r>
              <a:rPr lang="en-US" sz="1700" b="1" i="1" dirty="0">
                <a:solidFill>
                  <a:srgbClr val="22223B"/>
                </a:solidFill>
                <a:latin typeface="Times New Roman" pitchFamily="34" charset="0"/>
                <a:ea typeface="Times New Roman" pitchFamily="34" charset="-122"/>
                <a:cs typeface="Times New Roman" pitchFamily="34" charset="-120"/>
              </a:rPr>
              <a:t>N</a:t>
            </a:r>
            <a:r>
              <a:rPr lang="en-US" sz="1500" b="1" dirty="0">
                <a:solidFill>
                  <a:srgbClr val="22223B"/>
                </a:solidFill>
                <a:latin typeface="BIZ UDGothic" pitchFamily="34" charset="0"/>
                <a:ea typeface="BIZ UDGothic" pitchFamily="34" charset="-122"/>
                <a:cs typeface="BIZ UDGothic" pitchFamily="34" charset="-120"/>
              </a:rPr>
              <a:t> 行）</a:t>
            </a:r>
            <a:endParaRPr lang="en-US" sz="1700" dirty="0"/>
          </a:p>
        </p:txBody>
      </p:sp>
      <p:sp>
        <p:nvSpPr>
          <p:cNvPr id="44" name="Text 41"/>
          <p:cNvSpPr/>
          <p:nvPr/>
        </p:nvSpPr>
        <p:spPr>
          <a:xfrm>
            <a:off x="5760720"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1</a:t>
            </a:r>
            <a:endParaRPr lang="en-US" sz="1200" dirty="0"/>
          </a:p>
        </p:txBody>
      </p:sp>
      <p:sp>
        <p:nvSpPr>
          <p:cNvPr id="45" name="Text 42"/>
          <p:cNvSpPr/>
          <p:nvPr/>
        </p:nvSpPr>
        <p:spPr>
          <a:xfrm>
            <a:off x="6144768"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2</a:t>
            </a:r>
            <a:endParaRPr lang="en-US" sz="1200" dirty="0"/>
          </a:p>
        </p:txBody>
      </p:sp>
      <p:sp>
        <p:nvSpPr>
          <p:cNvPr id="46" name="Text 43"/>
          <p:cNvSpPr/>
          <p:nvPr/>
        </p:nvSpPr>
        <p:spPr>
          <a:xfrm>
            <a:off x="6528816"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3</a:t>
            </a:r>
            <a:endParaRPr lang="en-US" sz="1200" dirty="0"/>
          </a:p>
        </p:txBody>
      </p:sp>
      <p:sp>
        <p:nvSpPr>
          <p:cNvPr id="47" name="Shape 44"/>
          <p:cNvSpPr/>
          <p:nvPr/>
        </p:nvSpPr>
        <p:spPr>
          <a:xfrm>
            <a:off x="5760720" y="2011680"/>
            <a:ext cx="384048" cy="274320"/>
          </a:xfrm>
          <a:prstGeom prst="rect">
            <a:avLst/>
          </a:prstGeom>
          <a:solidFill>
            <a:srgbClr val="2A9D8F"/>
          </a:solidFill>
          <a:ln w="12700">
            <a:solidFill>
              <a:srgbClr val="FFFFFF"/>
            </a:solidFill>
            <a:prstDash val="solid"/>
          </a:ln>
        </p:spPr>
      </p:sp>
      <p:sp>
        <p:nvSpPr>
          <p:cNvPr id="48" name="Shape 45"/>
          <p:cNvSpPr/>
          <p:nvPr/>
        </p:nvSpPr>
        <p:spPr>
          <a:xfrm>
            <a:off x="6144768" y="2011680"/>
            <a:ext cx="384048" cy="274320"/>
          </a:xfrm>
          <a:prstGeom prst="rect">
            <a:avLst/>
          </a:prstGeom>
          <a:solidFill>
            <a:srgbClr val="BFC3D1"/>
          </a:solidFill>
          <a:ln w="12700">
            <a:solidFill>
              <a:srgbClr val="FFFFFF"/>
            </a:solidFill>
            <a:prstDash val="solid"/>
          </a:ln>
        </p:spPr>
      </p:sp>
      <p:sp>
        <p:nvSpPr>
          <p:cNvPr id="49" name="Shape 46"/>
          <p:cNvSpPr/>
          <p:nvPr/>
        </p:nvSpPr>
        <p:spPr>
          <a:xfrm>
            <a:off x="6528816" y="2011680"/>
            <a:ext cx="384048" cy="274320"/>
          </a:xfrm>
          <a:prstGeom prst="rect">
            <a:avLst/>
          </a:prstGeom>
          <a:solidFill>
            <a:srgbClr val="BFC3D1"/>
          </a:solidFill>
          <a:ln w="12700">
            <a:solidFill>
              <a:srgbClr val="FFFFFF"/>
            </a:solidFill>
            <a:prstDash val="solid"/>
          </a:ln>
        </p:spPr>
      </p:sp>
      <p:sp>
        <p:nvSpPr>
          <p:cNvPr id="50" name="Shape 47"/>
          <p:cNvSpPr/>
          <p:nvPr/>
        </p:nvSpPr>
        <p:spPr>
          <a:xfrm>
            <a:off x="5760720" y="2286000"/>
            <a:ext cx="384048" cy="274320"/>
          </a:xfrm>
          <a:prstGeom prst="rect">
            <a:avLst/>
          </a:prstGeom>
          <a:solidFill>
            <a:srgbClr val="2A9D8F"/>
          </a:solidFill>
          <a:ln w="12700">
            <a:solidFill>
              <a:srgbClr val="FFFFFF"/>
            </a:solidFill>
            <a:prstDash val="solid"/>
          </a:ln>
        </p:spPr>
      </p:sp>
      <p:sp>
        <p:nvSpPr>
          <p:cNvPr id="51" name="Shape 48"/>
          <p:cNvSpPr/>
          <p:nvPr/>
        </p:nvSpPr>
        <p:spPr>
          <a:xfrm>
            <a:off x="6144768" y="2286000"/>
            <a:ext cx="384048" cy="274320"/>
          </a:xfrm>
          <a:prstGeom prst="rect">
            <a:avLst/>
          </a:prstGeom>
          <a:solidFill>
            <a:srgbClr val="BFC3D1"/>
          </a:solidFill>
          <a:ln w="12700">
            <a:solidFill>
              <a:srgbClr val="FFFFFF"/>
            </a:solidFill>
            <a:prstDash val="solid"/>
          </a:ln>
        </p:spPr>
      </p:sp>
      <p:sp>
        <p:nvSpPr>
          <p:cNvPr id="52" name="Shape 49"/>
          <p:cNvSpPr/>
          <p:nvPr/>
        </p:nvSpPr>
        <p:spPr>
          <a:xfrm>
            <a:off x="6528816" y="2286000"/>
            <a:ext cx="384048" cy="274320"/>
          </a:xfrm>
          <a:prstGeom prst="rect">
            <a:avLst/>
          </a:prstGeom>
          <a:solidFill>
            <a:srgbClr val="BFC3D1"/>
          </a:solidFill>
          <a:ln w="12700">
            <a:solidFill>
              <a:srgbClr val="FFFFFF"/>
            </a:solidFill>
            <a:prstDash val="solid"/>
          </a:ln>
        </p:spPr>
      </p:sp>
      <p:sp>
        <p:nvSpPr>
          <p:cNvPr id="53" name="Shape 50"/>
          <p:cNvSpPr/>
          <p:nvPr/>
        </p:nvSpPr>
        <p:spPr>
          <a:xfrm>
            <a:off x="5760720" y="2560320"/>
            <a:ext cx="384048" cy="274320"/>
          </a:xfrm>
          <a:prstGeom prst="rect">
            <a:avLst/>
          </a:prstGeom>
          <a:solidFill>
            <a:srgbClr val="2A9D8F"/>
          </a:solidFill>
          <a:ln w="12700">
            <a:solidFill>
              <a:srgbClr val="FFFFFF"/>
            </a:solidFill>
            <a:prstDash val="solid"/>
          </a:ln>
        </p:spPr>
      </p:sp>
      <p:sp>
        <p:nvSpPr>
          <p:cNvPr id="54" name="Shape 51"/>
          <p:cNvSpPr/>
          <p:nvPr/>
        </p:nvSpPr>
        <p:spPr>
          <a:xfrm>
            <a:off x="6144768" y="2560320"/>
            <a:ext cx="384048" cy="274320"/>
          </a:xfrm>
          <a:prstGeom prst="rect">
            <a:avLst/>
          </a:prstGeom>
          <a:solidFill>
            <a:srgbClr val="BFC3D1"/>
          </a:solidFill>
          <a:ln w="12700">
            <a:solidFill>
              <a:srgbClr val="FFFFFF"/>
            </a:solidFill>
            <a:prstDash val="solid"/>
          </a:ln>
        </p:spPr>
      </p:sp>
      <p:sp>
        <p:nvSpPr>
          <p:cNvPr id="55" name="Shape 52"/>
          <p:cNvSpPr/>
          <p:nvPr/>
        </p:nvSpPr>
        <p:spPr>
          <a:xfrm>
            <a:off x="6528816" y="2560320"/>
            <a:ext cx="384048" cy="274320"/>
          </a:xfrm>
          <a:prstGeom prst="rect">
            <a:avLst/>
          </a:prstGeom>
          <a:solidFill>
            <a:srgbClr val="BFC3D1"/>
          </a:solidFill>
          <a:ln w="12700">
            <a:solidFill>
              <a:srgbClr val="FFFFFF"/>
            </a:solidFill>
            <a:prstDash val="solid"/>
          </a:ln>
        </p:spPr>
      </p:sp>
      <p:sp>
        <p:nvSpPr>
          <p:cNvPr id="56" name="Shape 53"/>
          <p:cNvSpPr/>
          <p:nvPr/>
        </p:nvSpPr>
        <p:spPr>
          <a:xfrm>
            <a:off x="5760720" y="2834640"/>
            <a:ext cx="384048" cy="274320"/>
          </a:xfrm>
          <a:prstGeom prst="rect">
            <a:avLst/>
          </a:prstGeom>
          <a:solidFill>
            <a:srgbClr val="2A9D8F"/>
          </a:solidFill>
          <a:ln w="12700">
            <a:solidFill>
              <a:srgbClr val="FFFFFF"/>
            </a:solidFill>
            <a:prstDash val="solid"/>
          </a:ln>
        </p:spPr>
      </p:sp>
      <p:sp>
        <p:nvSpPr>
          <p:cNvPr id="57" name="Shape 54"/>
          <p:cNvSpPr/>
          <p:nvPr/>
        </p:nvSpPr>
        <p:spPr>
          <a:xfrm>
            <a:off x="6144768" y="2834640"/>
            <a:ext cx="384048" cy="274320"/>
          </a:xfrm>
          <a:prstGeom prst="rect">
            <a:avLst/>
          </a:prstGeom>
          <a:solidFill>
            <a:srgbClr val="BFC3D1"/>
          </a:solidFill>
          <a:ln w="12700">
            <a:solidFill>
              <a:srgbClr val="FFFFFF"/>
            </a:solidFill>
            <a:prstDash val="solid"/>
          </a:ln>
        </p:spPr>
      </p:sp>
      <p:sp>
        <p:nvSpPr>
          <p:cNvPr id="58" name="Shape 55"/>
          <p:cNvSpPr/>
          <p:nvPr/>
        </p:nvSpPr>
        <p:spPr>
          <a:xfrm>
            <a:off x="6528816" y="2834640"/>
            <a:ext cx="384048" cy="274320"/>
          </a:xfrm>
          <a:prstGeom prst="rect">
            <a:avLst/>
          </a:prstGeom>
          <a:solidFill>
            <a:srgbClr val="BFC3D1"/>
          </a:solidFill>
          <a:ln w="12700">
            <a:solidFill>
              <a:srgbClr val="FFFFFF"/>
            </a:solidFill>
            <a:prstDash val="solid"/>
          </a:ln>
        </p:spPr>
      </p:sp>
      <p:sp>
        <p:nvSpPr>
          <p:cNvPr id="59" name="Shape 56"/>
          <p:cNvSpPr/>
          <p:nvPr/>
        </p:nvSpPr>
        <p:spPr>
          <a:xfrm>
            <a:off x="5760720" y="3108960"/>
            <a:ext cx="384048" cy="274320"/>
          </a:xfrm>
          <a:prstGeom prst="rect">
            <a:avLst/>
          </a:prstGeom>
          <a:solidFill>
            <a:srgbClr val="2A9D8F"/>
          </a:solidFill>
          <a:ln w="12700">
            <a:solidFill>
              <a:srgbClr val="FFFFFF"/>
            </a:solidFill>
            <a:prstDash val="solid"/>
          </a:ln>
        </p:spPr>
      </p:sp>
      <p:sp>
        <p:nvSpPr>
          <p:cNvPr id="60" name="Shape 57"/>
          <p:cNvSpPr/>
          <p:nvPr/>
        </p:nvSpPr>
        <p:spPr>
          <a:xfrm>
            <a:off x="6144768" y="3108960"/>
            <a:ext cx="384048" cy="274320"/>
          </a:xfrm>
          <a:prstGeom prst="rect">
            <a:avLst/>
          </a:prstGeom>
          <a:solidFill>
            <a:srgbClr val="BFC3D1"/>
          </a:solidFill>
          <a:ln w="12700">
            <a:solidFill>
              <a:srgbClr val="FFFFFF"/>
            </a:solidFill>
            <a:prstDash val="solid"/>
          </a:ln>
        </p:spPr>
      </p:sp>
      <p:sp>
        <p:nvSpPr>
          <p:cNvPr id="61" name="Shape 58"/>
          <p:cNvSpPr/>
          <p:nvPr/>
        </p:nvSpPr>
        <p:spPr>
          <a:xfrm>
            <a:off x="6528816" y="3108960"/>
            <a:ext cx="384048" cy="274320"/>
          </a:xfrm>
          <a:prstGeom prst="rect">
            <a:avLst/>
          </a:prstGeom>
          <a:solidFill>
            <a:srgbClr val="BFC3D1"/>
          </a:solidFill>
          <a:ln w="12700">
            <a:solidFill>
              <a:srgbClr val="FFFFFF"/>
            </a:solidFill>
            <a:prstDash val="solid"/>
          </a:ln>
        </p:spPr>
      </p:sp>
      <p:sp>
        <p:nvSpPr>
          <p:cNvPr id="62" name="Text 59"/>
          <p:cNvSpPr/>
          <p:nvPr/>
        </p:nvSpPr>
        <p:spPr>
          <a:xfrm>
            <a:off x="5394960" y="3456432"/>
            <a:ext cx="1883664" cy="365760"/>
          </a:xfrm>
          <a:prstGeom prst="rect">
            <a:avLst/>
          </a:prstGeom>
          <a:noFill/>
          <a:ln/>
        </p:spPr>
        <p:txBody>
          <a:bodyPr wrap="square" lIns="0" tIns="0" rIns="0" bIns="0" rtlCol="0" anchor="ctr"/>
          <a:lstStyle/>
          <a:p>
            <a:pPr algn="ctr" indent="0" marL="0">
              <a:buNone/>
            </a:pPr>
            <a:r>
              <a:rPr lang="en-US" sz="1700" b="1" i="1" dirty="0">
                <a:solidFill>
                  <a:srgbClr val="22223B"/>
                </a:solidFill>
                <a:latin typeface="Times New Roman" pitchFamily="34" charset="0"/>
                <a:ea typeface="Times New Roman" pitchFamily="34" charset="-122"/>
                <a:cs typeface="Times New Roman" pitchFamily="34" charset="-120"/>
              </a:rPr>
              <a:t>A</a:t>
            </a:r>
            <a:r>
              <a:rPr lang="en-US" sz="1700" b="1" i="1" baseline="-40000" dirty="0">
                <a:solidFill>
                  <a:srgbClr val="22223B"/>
                </a:solidFill>
                <a:latin typeface="Times New Roman" pitchFamily="34" charset="0"/>
                <a:ea typeface="Times New Roman" pitchFamily="34" charset="-122"/>
                <a:cs typeface="Times New Roman" pitchFamily="34" charset="-120"/>
              </a:rPr>
              <a:t>B</a:t>
            </a:r>
            <a:r>
              <a:rPr lang="en-US" sz="1700" b="1" i="1" baseline="30000" dirty="0">
                <a:solidFill>
                  <a:srgbClr val="22223B"/>
                </a:solidFill>
                <a:latin typeface="Times New Roman" pitchFamily="34" charset="0"/>
                <a:ea typeface="Times New Roman" pitchFamily="34" charset="-122"/>
                <a:cs typeface="Times New Roman" pitchFamily="34" charset="-120"/>
              </a:rPr>
              <a:t>(1)</a:t>
            </a:r>
            <a:endParaRPr lang="en-US" sz="1700" dirty="0"/>
          </a:p>
        </p:txBody>
      </p:sp>
      <p:sp>
        <p:nvSpPr>
          <p:cNvPr id="63" name="Text 60"/>
          <p:cNvSpPr/>
          <p:nvPr/>
        </p:nvSpPr>
        <p:spPr>
          <a:xfrm>
            <a:off x="7909560"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1</a:t>
            </a:r>
            <a:endParaRPr lang="en-US" sz="1200" dirty="0"/>
          </a:p>
        </p:txBody>
      </p:sp>
      <p:sp>
        <p:nvSpPr>
          <p:cNvPr id="64" name="Text 61"/>
          <p:cNvSpPr/>
          <p:nvPr/>
        </p:nvSpPr>
        <p:spPr>
          <a:xfrm>
            <a:off x="8293608"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2</a:t>
            </a:r>
            <a:endParaRPr lang="en-US" sz="1200" dirty="0"/>
          </a:p>
        </p:txBody>
      </p:sp>
      <p:sp>
        <p:nvSpPr>
          <p:cNvPr id="65" name="Text 62"/>
          <p:cNvSpPr/>
          <p:nvPr/>
        </p:nvSpPr>
        <p:spPr>
          <a:xfrm>
            <a:off x="8677656"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3</a:t>
            </a:r>
            <a:endParaRPr lang="en-US" sz="1200" dirty="0"/>
          </a:p>
        </p:txBody>
      </p:sp>
      <p:sp>
        <p:nvSpPr>
          <p:cNvPr id="66" name="Shape 63"/>
          <p:cNvSpPr/>
          <p:nvPr/>
        </p:nvSpPr>
        <p:spPr>
          <a:xfrm>
            <a:off x="7909560" y="2011680"/>
            <a:ext cx="384048" cy="274320"/>
          </a:xfrm>
          <a:prstGeom prst="rect">
            <a:avLst/>
          </a:prstGeom>
          <a:solidFill>
            <a:srgbClr val="BFC3D1"/>
          </a:solidFill>
          <a:ln w="12700">
            <a:solidFill>
              <a:srgbClr val="FFFFFF"/>
            </a:solidFill>
            <a:prstDash val="solid"/>
          </a:ln>
        </p:spPr>
      </p:sp>
      <p:sp>
        <p:nvSpPr>
          <p:cNvPr id="67" name="Shape 64"/>
          <p:cNvSpPr/>
          <p:nvPr/>
        </p:nvSpPr>
        <p:spPr>
          <a:xfrm>
            <a:off x="8293608" y="2011680"/>
            <a:ext cx="384048" cy="274320"/>
          </a:xfrm>
          <a:prstGeom prst="rect">
            <a:avLst/>
          </a:prstGeom>
          <a:solidFill>
            <a:srgbClr val="2A9D8F"/>
          </a:solidFill>
          <a:ln w="12700">
            <a:solidFill>
              <a:srgbClr val="FFFFFF"/>
            </a:solidFill>
            <a:prstDash val="solid"/>
          </a:ln>
        </p:spPr>
      </p:sp>
      <p:sp>
        <p:nvSpPr>
          <p:cNvPr id="68" name="Shape 65"/>
          <p:cNvSpPr/>
          <p:nvPr/>
        </p:nvSpPr>
        <p:spPr>
          <a:xfrm>
            <a:off x="8677656" y="2011680"/>
            <a:ext cx="384048" cy="274320"/>
          </a:xfrm>
          <a:prstGeom prst="rect">
            <a:avLst/>
          </a:prstGeom>
          <a:solidFill>
            <a:srgbClr val="BFC3D1"/>
          </a:solidFill>
          <a:ln w="12700">
            <a:solidFill>
              <a:srgbClr val="FFFFFF"/>
            </a:solidFill>
            <a:prstDash val="solid"/>
          </a:ln>
        </p:spPr>
      </p:sp>
      <p:sp>
        <p:nvSpPr>
          <p:cNvPr id="69" name="Shape 66"/>
          <p:cNvSpPr/>
          <p:nvPr/>
        </p:nvSpPr>
        <p:spPr>
          <a:xfrm>
            <a:off x="7909560" y="2286000"/>
            <a:ext cx="384048" cy="274320"/>
          </a:xfrm>
          <a:prstGeom prst="rect">
            <a:avLst/>
          </a:prstGeom>
          <a:solidFill>
            <a:srgbClr val="BFC3D1"/>
          </a:solidFill>
          <a:ln w="12700">
            <a:solidFill>
              <a:srgbClr val="FFFFFF"/>
            </a:solidFill>
            <a:prstDash val="solid"/>
          </a:ln>
        </p:spPr>
      </p:sp>
      <p:sp>
        <p:nvSpPr>
          <p:cNvPr id="70" name="Shape 67"/>
          <p:cNvSpPr/>
          <p:nvPr/>
        </p:nvSpPr>
        <p:spPr>
          <a:xfrm>
            <a:off x="8293608" y="2286000"/>
            <a:ext cx="384048" cy="274320"/>
          </a:xfrm>
          <a:prstGeom prst="rect">
            <a:avLst/>
          </a:prstGeom>
          <a:solidFill>
            <a:srgbClr val="2A9D8F"/>
          </a:solidFill>
          <a:ln w="12700">
            <a:solidFill>
              <a:srgbClr val="FFFFFF"/>
            </a:solidFill>
            <a:prstDash val="solid"/>
          </a:ln>
        </p:spPr>
      </p:sp>
      <p:sp>
        <p:nvSpPr>
          <p:cNvPr id="71" name="Shape 68"/>
          <p:cNvSpPr/>
          <p:nvPr/>
        </p:nvSpPr>
        <p:spPr>
          <a:xfrm>
            <a:off x="8677656" y="2286000"/>
            <a:ext cx="384048" cy="274320"/>
          </a:xfrm>
          <a:prstGeom prst="rect">
            <a:avLst/>
          </a:prstGeom>
          <a:solidFill>
            <a:srgbClr val="BFC3D1"/>
          </a:solidFill>
          <a:ln w="12700">
            <a:solidFill>
              <a:srgbClr val="FFFFFF"/>
            </a:solidFill>
            <a:prstDash val="solid"/>
          </a:ln>
        </p:spPr>
      </p:sp>
      <p:sp>
        <p:nvSpPr>
          <p:cNvPr id="72" name="Shape 69"/>
          <p:cNvSpPr/>
          <p:nvPr/>
        </p:nvSpPr>
        <p:spPr>
          <a:xfrm>
            <a:off x="7909560" y="2560320"/>
            <a:ext cx="384048" cy="274320"/>
          </a:xfrm>
          <a:prstGeom prst="rect">
            <a:avLst/>
          </a:prstGeom>
          <a:solidFill>
            <a:srgbClr val="BFC3D1"/>
          </a:solidFill>
          <a:ln w="12700">
            <a:solidFill>
              <a:srgbClr val="FFFFFF"/>
            </a:solidFill>
            <a:prstDash val="solid"/>
          </a:ln>
        </p:spPr>
      </p:sp>
      <p:sp>
        <p:nvSpPr>
          <p:cNvPr id="73" name="Shape 70"/>
          <p:cNvSpPr/>
          <p:nvPr/>
        </p:nvSpPr>
        <p:spPr>
          <a:xfrm>
            <a:off x="8293608" y="2560320"/>
            <a:ext cx="384048" cy="274320"/>
          </a:xfrm>
          <a:prstGeom prst="rect">
            <a:avLst/>
          </a:prstGeom>
          <a:solidFill>
            <a:srgbClr val="2A9D8F"/>
          </a:solidFill>
          <a:ln w="12700">
            <a:solidFill>
              <a:srgbClr val="FFFFFF"/>
            </a:solidFill>
            <a:prstDash val="solid"/>
          </a:ln>
        </p:spPr>
      </p:sp>
      <p:sp>
        <p:nvSpPr>
          <p:cNvPr id="74" name="Shape 71"/>
          <p:cNvSpPr/>
          <p:nvPr/>
        </p:nvSpPr>
        <p:spPr>
          <a:xfrm>
            <a:off x="8677656" y="2560320"/>
            <a:ext cx="384048" cy="274320"/>
          </a:xfrm>
          <a:prstGeom prst="rect">
            <a:avLst/>
          </a:prstGeom>
          <a:solidFill>
            <a:srgbClr val="BFC3D1"/>
          </a:solidFill>
          <a:ln w="12700">
            <a:solidFill>
              <a:srgbClr val="FFFFFF"/>
            </a:solidFill>
            <a:prstDash val="solid"/>
          </a:ln>
        </p:spPr>
      </p:sp>
      <p:sp>
        <p:nvSpPr>
          <p:cNvPr id="75" name="Shape 72"/>
          <p:cNvSpPr/>
          <p:nvPr/>
        </p:nvSpPr>
        <p:spPr>
          <a:xfrm>
            <a:off x="7909560" y="2834640"/>
            <a:ext cx="384048" cy="274320"/>
          </a:xfrm>
          <a:prstGeom prst="rect">
            <a:avLst/>
          </a:prstGeom>
          <a:solidFill>
            <a:srgbClr val="BFC3D1"/>
          </a:solidFill>
          <a:ln w="12700">
            <a:solidFill>
              <a:srgbClr val="FFFFFF"/>
            </a:solidFill>
            <a:prstDash val="solid"/>
          </a:ln>
        </p:spPr>
      </p:sp>
      <p:sp>
        <p:nvSpPr>
          <p:cNvPr id="76" name="Shape 73"/>
          <p:cNvSpPr/>
          <p:nvPr/>
        </p:nvSpPr>
        <p:spPr>
          <a:xfrm>
            <a:off x="8293608" y="2834640"/>
            <a:ext cx="384048" cy="274320"/>
          </a:xfrm>
          <a:prstGeom prst="rect">
            <a:avLst/>
          </a:prstGeom>
          <a:solidFill>
            <a:srgbClr val="2A9D8F"/>
          </a:solidFill>
          <a:ln w="12700">
            <a:solidFill>
              <a:srgbClr val="FFFFFF"/>
            </a:solidFill>
            <a:prstDash val="solid"/>
          </a:ln>
        </p:spPr>
      </p:sp>
      <p:sp>
        <p:nvSpPr>
          <p:cNvPr id="77" name="Shape 74"/>
          <p:cNvSpPr/>
          <p:nvPr/>
        </p:nvSpPr>
        <p:spPr>
          <a:xfrm>
            <a:off x="8677656" y="2834640"/>
            <a:ext cx="384048" cy="274320"/>
          </a:xfrm>
          <a:prstGeom prst="rect">
            <a:avLst/>
          </a:prstGeom>
          <a:solidFill>
            <a:srgbClr val="BFC3D1"/>
          </a:solidFill>
          <a:ln w="12700">
            <a:solidFill>
              <a:srgbClr val="FFFFFF"/>
            </a:solidFill>
            <a:prstDash val="solid"/>
          </a:ln>
        </p:spPr>
      </p:sp>
      <p:sp>
        <p:nvSpPr>
          <p:cNvPr id="78" name="Shape 75"/>
          <p:cNvSpPr/>
          <p:nvPr/>
        </p:nvSpPr>
        <p:spPr>
          <a:xfrm>
            <a:off x="7909560" y="3108960"/>
            <a:ext cx="384048" cy="274320"/>
          </a:xfrm>
          <a:prstGeom prst="rect">
            <a:avLst/>
          </a:prstGeom>
          <a:solidFill>
            <a:srgbClr val="BFC3D1"/>
          </a:solidFill>
          <a:ln w="12700">
            <a:solidFill>
              <a:srgbClr val="FFFFFF"/>
            </a:solidFill>
            <a:prstDash val="solid"/>
          </a:ln>
        </p:spPr>
      </p:sp>
      <p:sp>
        <p:nvSpPr>
          <p:cNvPr id="79" name="Shape 76"/>
          <p:cNvSpPr/>
          <p:nvPr/>
        </p:nvSpPr>
        <p:spPr>
          <a:xfrm>
            <a:off x="8293608" y="3108960"/>
            <a:ext cx="384048" cy="274320"/>
          </a:xfrm>
          <a:prstGeom prst="rect">
            <a:avLst/>
          </a:prstGeom>
          <a:solidFill>
            <a:srgbClr val="2A9D8F"/>
          </a:solidFill>
          <a:ln w="12700">
            <a:solidFill>
              <a:srgbClr val="FFFFFF"/>
            </a:solidFill>
            <a:prstDash val="solid"/>
          </a:ln>
        </p:spPr>
      </p:sp>
      <p:sp>
        <p:nvSpPr>
          <p:cNvPr id="80" name="Shape 77"/>
          <p:cNvSpPr/>
          <p:nvPr/>
        </p:nvSpPr>
        <p:spPr>
          <a:xfrm>
            <a:off x="8677656" y="3108960"/>
            <a:ext cx="384048" cy="274320"/>
          </a:xfrm>
          <a:prstGeom prst="rect">
            <a:avLst/>
          </a:prstGeom>
          <a:solidFill>
            <a:srgbClr val="BFC3D1"/>
          </a:solidFill>
          <a:ln w="12700">
            <a:solidFill>
              <a:srgbClr val="FFFFFF"/>
            </a:solidFill>
            <a:prstDash val="solid"/>
          </a:ln>
        </p:spPr>
      </p:sp>
      <p:sp>
        <p:nvSpPr>
          <p:cNvPr id="81" name="Text 78"/>
          <p:cNvSpPr/>
          <p:nvPr/>
        </p:nvSpPr>
        <p:spPr>
          <a:xfrm>
            <a:off x="7543800" y="3456432"/>
            <a:ext cx="1883664" cy="365760"/>
          </a:xfrm>
          <a:prstGeom prst="rect">
            <a:avLst/>
          </a:prstGeom>
          <a:noFill/>
          <a:ln/>
        </p:spPr>
        <p:txBody>
          <a:bodyPr wrap="square" lIns="0" tIns="0" rIns="0" bIns="0" rtlCol="0" anchor="ctr"/>
          <a:lstStyle/>
          <a:p>
            <a:pPr algn="ctr" indent="0" marL="0">
              <a:buNone/>
            </a:pPr>
            <a:r>
              <a:rPr lang="en-US" sz="1700" b="1" i="1" dirty="0">
                <a:solidFill>
                  <a:srgbClr val="22223B"/>
                </a:solidFill>
                <a:latin typeface="Times New Roman" pitchFamily="34" charset="0"/>
                <a:ea typeface="Times New Roman" pitchFamily="34" charset="-122"/>
                <a:cs typeface="Times New Roman" pitchFamily="34" charset="-120"/>
              </a:rPr>
              <a:t>A</a:t>
            </a:r>
            <a:r>
              <a:rPr lang="en-US" sz="1700" b="1" i="1" baseline="-40000" dirty="0">
                <a:solidFill>
                  <a:srgbClr val="22223B"/>
                </a:solidFill>
                <a:latin typeface="Times New Roman" pitchFamily="34" charset="0"/>
                <a:ea typeface="Times New Roman" pitchFamily="34" charset="-122"/>
                <a:cs typeface="Times New Roman" pitchFamily="34" charset="-120"/>
              </a:rPr>
              <a:t>B</a:t>
            </a:r>
            <a:r>
              <a:rPr lang="en-US" sz="1700" b="1" i="1" baseline="30000" dirty="0">
                <a:solidFill>
                  <a:srgbClr val="22223B"/>
                </a:solidFill>
                <a:latin typeface="Times New Roman" pitchFamily="34" charset="0"/>
                <a:ea typeface="Times New Roman" pitchFamily="34" charset="-122"/>
                <a:cs typeface="Times New Roman" pitchFamily="34" charset="-120"/>
              </a:rPr>
              <a:t>(2)</a:t>
            </a:r>
            <a:endParaRPr lang="en-US" sz="1700" dirty="0"/>
          </a:p>
        </p:txBody>
      </p:sp>
      <p:sp>
        <p:nvSpPr>
          <p:cNvPr id="82" name="Text 79"/>
          <p:cNvSpPr/>
          <p:nvPr/>
        </p:nvSpPr>
        <p:spPr>
          <a:xfrm>
            <a:off x="10058400"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1</a:t>
            </a:r>
            <a:endParaRPr lang="en-US" sz="1200" dirty="0"/>
          </a:p>
        </p:txBody>
      </p:sp>
      <p:sp>
        <p:nvSpPr>
          <p:cNvPr id="83" name="Text 80"/>
          <p:cNvSpPr/>
          <p:nvPr/>
        </p:nvSpPr>
        <p:spPr>
          <a:xfrm>
            <a:off x="10442448"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2</a:t>
            </a:r>
            <a:endParaRPr lang="en-US" sz="1200" dirty="0"/>
          </a:p>
        </p:txBody>
      </p:sp>
      <p:sp>
        <p:nvSpPr>
          <p:cNvPr id="84" name="Text 81"/>
          <p:cNvSpPr/>
          <p:nvPr/>
        </p:nvSpPr>
        <p:spPr>
          <a:xfrm>
            <a:off x="10826496" y="1737360"/>
            <a:ext cx="384048" cy="256032"/>
          </a:xfrm>
          <a:prstGeom prst="rect">
            <a:avLst/>
          </a:prstGeom>
          <a:noFill/>
          <a:ln/>
        </p:spPr>
        <p:txBody>
          <a:bodyPr wrap="square" lIns="0" tIns="0" rIns="0" bIns="0" rtlCol="0" anchor="ctr"/>
          <a:lstStyle/>
          <a:p>
            <a:pPr algn="ctr" indent="0" marL="0">
              <a:buNone/>
            </a:pPr>
            <a:r>
              <a:rPr lang="en-US" sz="1200" i="1" dirty="0">
                <a:solidFill>
                  <a:srgbClr val="6C6F7F"/>
                </a:solidFill>
                <a:latin typeface="Times New Roman" pitchFamily="34" charset="0"/>
                <a:ea typeface="Times New Roman" pitchFamily="34" charset="-122"/>
                <a:cs typeface="Times New Roman" pitchFamily="34" charset="-120"/>
              </a:rPr>
              <a:t>X</a:t>
            </a:r>
            <a:r>
              <a:rPr lang="en-US" sz="1200" i="1" baseline="-40000" dirty="0">
                <a:solidFill>
                  <a:srgbClr val="6C6F7F"/>
                </a:solidFill>
                <a:latin typeface="Times New Roman" pitchFamily="34" charset="0"/>
                <a:ea typeface="Times New Roman" pitchFamily="34" charset="-122"/>
                <a:cs typeface="Times New Roman" pitchFamily="34" charset="-120"/>
              </a:rPr>
              <a:t>3</a:t>
            </a:r>
            <a:endParaRPr lang="en-US" sz="1200" dirty="0"/>
          </a:p>
        </p:txBody>
      </p:sp>
      <p:sp>
        <p:nvSpPr>
          <p:cNvPr id="85" name="Shape 82"/>
          <p:cNvSpPr/>
          <p:nvPr/>
        </p:nvSpPr>
        <p:spPr>
          <a:xfrm>
            <a:off x="10058400" y="2011680"/>
            <a:ext cx="384048" cy="274320"/>
          </a:xfrm>
          <a:prstGeom prst="rect">
            <a:avLst/>
          </a:prstGeom>
          <a:solidFill>
            <a:srgbClr val="BFC3D1"/>
          </a:solidFill>
          <a:ln w="12700">
            <a:solidFill>
              <a:srgbClr val="FFFFFF"/>
            </a:solidFill>
            <a:prstDash val="solid"/>
          </a:ln>
        </p:spPr>
      </p:sp>
      <p:sp>
        <p:nvSpPr>
          <p:cNvPr id="86" name="Shape 83"/>
          <p:cNvSpPr/>
          <p:nvPr/>
        </p:nvSpPr>
        <p:spPr>
          <a:xfrm>
            <a:off x="10442448" y="2011680"/>
            <a:ext cx="384048" cy="274320"/>
          </a:xfrm>
          <a:prstGeom prst="rect">
            <a:avLst/>
          </a:prstGeom>
          <a:solidFill>
            <a:srgbClr val="BFC3D1"/>
          </a:solidFill>
          <a:ln w="12700">
            <a:solidFill>
              <a:srgbClr val="FFFFFF"/>
            </a:solidFill>
            <a:prstDash val="solid"/>
          </a:ln>
        </p:spPr>
      </p:sp>
      <p:sp>
        <p:nvSpPr>
          <p:cNvPr id="87" name="Shape 84"/>
          <p:cNvSpPr/>
          <p:nvPr/>
        </p:nvSpPr>
        <p:spPr>
          <a:xfrm>
            <a:off x="10826496" y="2011680"/>
            <a:ext cx="384048" cy="274320"/>
          </a:xfrm>
          <a:prstGeom prst="rect">
            <a:avLst/>
          </a:prstGeom>
          <a:solidFill>
            <a:srgbClr val="2A9D8F"/>
          </a:solidFill>
          <a:ln w="12700">
            <a:solidFill>
              <a:srgbClr val="FFFFFF"/>
            </a:solidFill>
            <a:prstDash val="solid"/>
          </a:ln>
        </p:spPr>
      </p:sp>
      <p:sp>
        <p:nvSpPr>
          <p:cNvPr id="88" name="Shape 85"/>
          <p:cNvSpPr/>
          <p:nvPr/>
        </p:nvSpPr>
        <p:spPr>
          <a:xfrm>
            <a:off x="10058400" y="2286000"/>
            <a:ext cx="384048" cy="274320"/>
          </a:xfrm>
          <a:prstGeom prst="rect">
            <a:avLst/>
          </a:prstGeom>
          <a:solidFill>
            <a:srgbClr val="BFC3D1"/>
          </a:solidFill>
          <a:ln w="12700">
            <a:solidFill>
              <a:srgbClr val="FFFFFF"/>
            </a:solidFill>
            <a:prstDash val="solid"/>
          </a:ln>
        </p:spPr>
      </p:sp>
      <p:sp>
        <p:nvSpPr>
          <p:cNvPr id="89" name="Shape 86"/>
          <p:cNvSpPr/>
          <p:nvPr/>
        </p:nvSpPr>
        <p:spPr>
          <a:xfrm>
            <a:off x="10442448" y="2286000"/>
            <a:ext cx="384048" cy="274320"/>
          </a:xfrm>
          <a:prstGeom prst="rect">
            <a:avLst/>
          </a:prstGeom>
          <a:solidFill>
            <a:srgbClr val="BFC3D1"/>
          </a:solidFill>
          <a:ln w="12700">
            <a:solidFill>
              <a:srgbClr val="FFFFFF"/>
            </a:solidFill>
            <a:prstDash val="solid"/>
          </a:ln>
        </p:spPr>
      </p:sp>
      <p:sp>
        <p:nvSpPr>
          <p:cNvPr id="90" name="Shape 87"/>
          <p:cNvSpPr/>
          <p:nvPr/>
        </p:nvSpPr>
        <p:spPr>
          <a:xfrm>
            <a:off x="10826496" y="2286000"/>
            <a:ext cx="384048" cy="274320"/>
          </a:xfrm>
          <a:prstGeom prst="rect">
            <a:avLst/>
          </a:prstGeom>
          <a:solidFill>
            <a:srgbClr val="2A9D8F"/>
          </a:solidFill>
          <a:ln w="12700">
            <a:solidFill>
              <a:srgbClr val="FFFFFF"/>
            </a:solidFill>
            <a:prstDash val="solid"/>
          </a:ln>
        </p:spPr>
      </p:sp>
      <p:sp>
        <p:nvSpPr>
          <p:cNvPr id="91" name="Shape 88"/>
          <p:cNvSpPr/>
          <p:nvPr/>
        </p:nvSpPr>
        <p:spPr>
          <a:xfrm>
            <a:off x="10058400" y="2560320"/>
            <a:ext cx="384048" cy="274320"/>
          </a:xfrm>
          <a:prstGeom prst="rect">
            <a:avLst/>
          </a:prstGeom>
          <a:solidFill>
            <a:srgbClr val="BFC3D1"/>
          </a:solidFill>
          <a:ln w="12700">
            <a:solidFill>
              <a:srgbClr val="FFFFFF"/>
            </a:solidFill>
            <a:prstDash val="solid"/>
          </a:ln>
        </p:spPr>
      </p:sp>
      <p:sp>
        <p:nvSpPr>
          <p:cNvPr id="92" name="Shape 89"/>
          <p:cNvSpPr/>
          <p:nvPr/>
        </p:nvSpPr>
        <p:spPr>
          <a:xfrm>
            <a:off x="10442448" y="2560320"/>
            <a:ext cx="384048" cy="274320"/>
          </a:xfrm>
          <a:prstGeom prst="rect">
            <a:avLst/>
          </a:prstGeom>
          <a:solidFill>
            <a:srgbClr val="BFC3D1"/>
          </a:solidFill>
          <a:ln w="12700">
            <a:solidFill>
              <a:srgbClr val="FFFFFF"/>
            </a:solidFill>
            <a:prstDash val="solid"/>
          </a:ln>
        </p:spPr>
      </p:sp>
      <p:sp>
        <p:nvSpPr>
          <p:cNvPr id="93" name="Shape 90"/>
          <p:cNvSpPr/>
          <p:nvPr/>
        </p:nvSpPr>
        <p:spPr>
          <a:xfrm>
            <a:off x="10826496" y="2560320"/>
            <a:ext cx="384048" cy="274320"/>
          </a:xfrm>
          <a:prstGeom prst="rect">
            <a:avLst/>
          </a:prstGeom>
          <a:solidFill>
            <a:srgbClr val="2A9D8F"/>
          </a:solidFill>
          <a:ln w="12700">
            <a:solidFill>
              <a:srgbClr val="FFFFFF"/>
            </a:solidFill>
            <a:prstDash val="solid"/>
          </a:ln>
        </p:spPr>
      </p:sp>
      <p:sp>
        <p:nvSpPr>
          <p:cNvPr id="94" name="Shape 91"/>
          <p:cNvSpPr/>
          <p:nvPr/>
        </p:nvSpPr>
        <p:spPr>
          <a:xfrm>
            <a:off x="10058400" y="2834640"/>
            <a:ext cx="384048" cy="274320"/>
          </a:xfrm>
          <a:prstGeom prst="rect">
            <a:avLst/>
          </a:prstGeom>
          <a:solidFill>
            <a:srgbClr val="BFC3D1"/>
          </a:solidFill>
          <a:ln w="12700">
            <a:solidFill>
              <a:srgbClr val="FFFFFF"/>
            </a:solidFill>
            <a:prstDash val="solid"/>
          </a:ln>
        </p:spPr>
      </p:sp>
      <p:sp>
        <p:nvSpPr>
          <p:cNvPr id="95" name="Shape 92"/>
          <p:cNvSpPr/>
          <p:nvPr/>
        </p:nvSpPr>
        <p:spPr>
          <a:xfrm>
            <a:off x="10442448" y="2834640"/>
            <a:ext cx="384048" cy="274320"/>
          </a:xfrm>
          <a:prstGeom prst="rect">
            <a:avLst/>
          </a:prstGeom>
          <a:solidFill>
            <a:srgbClr val="BFC3D1"/>
          </a:solidFill>
          <a:ln w="12700">
            <a:solidFill>
              <a:srgbClr val="FFFFFF"/>
            </a:solidFill>
            <a:prstDash val="solid"/>
          </a:ln>
        </p:spPr>
      </p:sp>
      <p:sp>
        <p:nvSpPr>
          <p:cNvPr id="96" name="Shape 93"/>
          <p:cNvSpPr/>
          <p:nvPr/>
        </p:nvSpPr>
        <p:spPr>
          <a:xfrm>
            <a:off x="10826496" y="2834640"/>
            <a:ext cx="384048" cy="274320"/>
          </a:xfrm>
          <a:prstGeom prst="rect">
            <a:avLst/>
          </a:prstGeom>
          <a:solidFill>
            <a:srgbClr val="2A9D8F"/>
          </a:solidFill>
          <a:ln w="12700">
            <a:solidFill>
              <a:srgbClr val="FFFFFF"/>
            </a:solidFill>
            <a:prstDash val="solid"/>
          </a:ln>
        </p:spPr>
      </p:sp>
      <p:sp>
        <p:nvSpPr>
          <p:cNvPr id="97" name="Shape 94"/>
          <p:cNvSpPr/>
          <p:nvPr/>
        </p:nvSpPr>
        <p:spPr>
          <a:xfrm>
            <a:off x="10058400" y="3108960"/>
            <a:ext cx="384048" cy="274320"/>
          </a:xfrm>
          <a:prstGeom prst="rect">
            <a:avLst/>
          </a:prstGeom>
          <a:solidFill>
            <a:srgbClr val="BFC3D1"/>
          </a:solidFill>
          <a:ln w="12700">
            <a:solidFill>
              <a:srgbClr val="FFFFFF"/>
            </a:solidFill>
            <a:prstDash val="solid"/>
          </a:ln>
        </p:spPr>
      </p:sp>
      <p:sp>
        <p:nvSpPr>
          <p:cNvPr id="98" name="Shape 95"/>
          <p:cNvSpPr/>
          <p:nvPr/>
        </p:nvSpPr>
        <p:spPr>
          <a:xfrm>
            <a:off x="10442448" y="3108960"/>
            <a:ext cx="384048" cy="274320"/>
          </a:xfrm>
          <a:prstGeom prst="rect">
            <a:avLst/>
          </a:prstGeom>
          <a:solidFill>
            <a:srgbClr val="BFC3D1"/>
          </a:solidFill>
          <a:ln w="12700">
            <a:solidFill>
              <a:srgbClr val="FFFFFF"/>
            </a:solidFill>
            <a:prstDash val="solid"/>
          </a:ln>
        </p:spPr>
      </p:sp>
      <p:sp>
        <p:nvSpPr>
          <p:cNvPr id="99" name="Shape 96"/>
          <p:cNvSpPr/>
          <p:nvPr/>
        </p:nvSpPr>
        <p:spPr>
          <a:xfrm>
            <a:off x="10826496" y="3108960"/>
            <a:ext cx="384048" cy="274320"/>
          </a:xfrm>
          <a:prstGeom prst="rect">
            <a:avLst/>
          </a:prstGeom>
          <a:solidFill>
            <a:srgbClr val="2A9D8F"/>
          </a:solidFill>
          <a:ln w="12700">
            <a:solidFill>
              <a:srgbClr val="FFFFFF"/>
            </a:solidFill>
            <a:prstDash val="solid"/>
          </a:ln>
        </p:spPr>
      </p:sp>
      <p:sp>
        <p:nvSpPr>
          <p:cNvPr id="100" name="Text 97"/>
          <p:cNvSpPr/>
          <p:nvPr/>
        </p:nvSpPr>
        <p:spPr>
          <a:xfrm>
            <a:off x="9692640" y="3456432"/>
            <a:ext cx="1883664" cy="365760"/>
          </a:xfrm>
          <a:prstGeom prst="rect">
            <a:avLst/>
          </a:prstGeom>
          <a:noFill/>
          <a:ln/>
        </p:spPr>
        <p:txBody>
          <a:bodyPr wrap="square" lIns="0" tIns="0" rIns="0" bIns="0" rtlCol="0" anchor="ctr"/>
          <a:lstStyle/>
          <a:p>
            <a:pPr algn="ctr" indent="0" marL="0">
              <a:buNone/>
            </a:pPr>
            <a:r>
              <a:rPr lang="en-US" sz="1700" b="1" i="1" dirty="0">
                <a:solidFill>
                  <a:srgbClr val="22223B"/>
                </a:solidFill>
                <a:latin typeface="Times New Roman" pitchFamily="34" charset="0"/>
                <a:ea typeface="Times New Roman" pitchFamily="34" charset="-122"/>
                <a:cs typeface="Times New Roman" pitchFamily="34" charset="-120"/>
              </a:rPr>
              <a:t>A</a:t>
            </a:r>
            <a:r>
              <a:rPr lang="en-US" sz="1700" b="1" i="1" baseline="-40000" dirty="0">
                <a:solidFill>
                  <a:srgbClr val="22223B"/>
                </a:solidFill>
                <a:latin typeface="Times New Roman" pitchFamily="34" charset="0"/>
                <a:ea typeface="Times New Roman" pitchFamily="34" charset="-122"/>
                <a:cs typeface="Times New Roman" pitchFamily="34" charset="-120"/>
              </a:rPr>
              <a:t>B</a:t>
            </a:r>
            <a:r>
              <a:rPr lang="en-US" sz="1700" b="1" i="1" baseline="30000" dirty="0">
                <a:solidFill>
                  <a:srgbClr val="22223B"/>
                </a:solidFill>
                <a:latin typeface="Times New Roman" pitchFamily="34" charset="0"/>
                <a:ea typeface="Times New Roman" pitchFamily="34" charset="-122"/>
                <a:cs typeface="Times New Roman" pitchFamily="34" charset="-120"/>
              </a:rPr>
              <a:t>(3)</a:t>
            </a:r>
            <a:endParaRPr lang="en-US" sz="1700" dirty="0"/>
          </a:p>
        </p:txBody>
      </p:sp>
      <p:sp>
        <p:nvSpPr>
          <p:cNvPr id="101" name="Shape 98"/>
          <p:cNvSpPr/>
          <p:nvPr/>
        </p:nvSpPr>
        <p:spPr>
          <a:xfrm>
            <a:off x="4937760" y="1783080"/>
            <a:ext cx="0" cy="2148840"/>
          </a:xfrm>
          <a:prstGeom prst="line">
            <a:avLst/>
          </a:prstGeom>
          <a:noFill/>
          <a:ln w="12700">
            <a:solidFill>
              <a:srgbClr val="DADDE6"/>
            </a:solidFill>
            <a:prstDash val="dash"/>
          </a:ln>
        </p:spPr>
      </p:sp>
      <p:sp>
        <p:nvSpPr>
          <p:cNvPr id="102" name="Text 99"/>
          <p:cNvSpPr/>
          <p:nvPr/>
        </p:nvSpPr>
        <p:spPr>
          <a:xfrm>
            <a:off x="5486400" y="3886200"/>
            <a:ext cx="6126480" cy="320040"/>
          </a:xfrm>
          <a:prstGeom prst="rect">
            <a:avLst/>
          </a:prstGeom>
          <a:noFill/>
          <a:ln/>
        </p:spPr>
        <p:txBody>
          <a:bodyPr wrap="square" lIns="0" tIns="0" rIns="0" bIns="0" rtlCol="0" anchor="ctr"/>
          <a:lstStyle/>
          <a:p>
            <a:pPr algn="ctr" indent="0" marL="0">
              <a:buNone/>
            </a:pPr>
            <a:r>
              <a:rPr lang="en-US" sz="1300" b="1" dirty="0">
                <a:solidFill>
                  <a:srgbClr val="2A9D8F"/>
                </a:solidFill>
                <a:latin typeface="BIZ UDGothic" pitchFamily="34" charset="0"/>
                <a:ea typeface="BIZ UDGothic" pitchFamily="34" charset="-122"/>
                <a:cs typeface="BIZ UDGothic" pitchFamily="34" charset="-120"/>
              </a:rPr>
              <a:t>列を1本だけ入れ替える</a:t>
            </a:r>
            <a:endParaRPr lang="en-US" sz="1300" dirty="0"/>
          </a:p>
        </p:txBody>
      </p:sp>
      <p:sp>
        <p:nvSpPr>
          <p:cNvPr id="103" name="Shape 100"/>
          <p:cNvSpPr/>
          <p:nvPr/>
        </p:nvSpPr>
        <p:spPr>
          <a:xfrm>
            <a:off x="548640" y="4389120"/>
            <a:ext cx="3515258" cy="1325880"/>
          </a:xfrm>
          <a:prstGeom prst="roundRect">
            <a:avLst>
              <a:gd name="adj" fmla="val 5517"/>
            </a:avLst>
          </a:prstGeom>
          <a:solidFill>
            <a:srgbClr val="FFFFFF"/>
          </a:solidFill>
          <a:ln w="9525">
            <a:solidFill>
              <a:srgbClr val="DADDE6"/>
            </a:solidFill>
            <a:prstDash val="solid"/>
          </a:ln>
        </p:spPr>
      </p:sp>
      <p:sp>
        <p:nvSpPr>
          <p:cNvPr id="104" name="Shape 101"/>
          <p:cNvSpPr/>
          <p:nvPr/>
        </p:nvSpPr>
        <p:spPr>
          <a:xfrm>
            <a:off x="731520" y="4572000"/>
            <a:ext cx="457200" cy="457200"/>
          </a:xfrm>
          <a:prstGeom prst="ellipse">
            <a:avLst/>
          </a:prstGeom>
          <a:solidFill>
            <a:srgbClr val="22223B"/>
          </a:solidFill>
          <a:ln/>
        </p:spPr>
      </p:sp>
      <p:sp>
        <p:nvSpPr>
          <p:cNvPr id="105" name="Text 102"/>
          <p:cNvSpPr/>
          <p:nvPr/>
        </p:nvSpPr>
        <p:spPr>
          <a:xfrm>
            <a:off x="731520" y="4572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Gothic" pitchFamily="34" charset="0"/>
                <a:ea typeface="BIZ UDGothic" pitchFamily="34" charset="-122"/>
                <a:cs typeface="BIZ UDGothic" pitchFamily="34" charset="-120"/>
              </a:rPr>
              <a:t>1</a:t>
            </a:r>
            <a:endParaRPr lang="en-US" sz="1600" dirty="0"/>
          </a:p>
        </p:txBody>
      </p:sp>
      <p:sp>
        <p:nvSpPr>
          <p:cNvPr id="106" name="Text 103"/>
          <p:cNvSpPr/>
          <p:nvPr/>
        </p:nvSpPr>
        <p:spPr>
          <a:xfrm>
            <a:off x="1325880" y="4526280"/>
            <a:ext cx="2555138" cy="1051560"/>
          </a:xfrm>
          <a:prstGeom prst="rect">
            <a:avLst/>
          </a:prstGeom>
          <a:noFill/>
          <a:ln/>
        </p:spPr>
        <p:txBody>
          <a:bodyPr wrap="square" lIns="0" tIns="0" rIns="0" bIns="0" rtlCol="0" anchor="ctr"/>
          <a:lstStyle/>
          <a:p>
            <a:pPr indent="0" marL="0">
              <a:buNone/>
            </a:pPr>
            <a:r>
              <a:rPr lang="en-US" sz="1500" i="1" dirty="0">
                <a:solidFill>
                  <a:srgbClr val="22223B"/>
                </a:solidFill>
                <a:latin typeface="Times New Roman" pitchFamily="34" charset="0"/>
                <a:ea typeface="Times New Roman" pitchFamily="34" charset="-122"/>
                <a:cs typeface="Times New Roman" pitchFamily="34" charset="-120"/>
              </a:rPr>
              <a:t>2d</a:t>
            </a:r>
            <a:r>
              <a:rPr lang="en-US" sz="1300" dirty="0">
                <a:solidFill>
                  <a:srgbClr val="22223B"/>
                </a:solidFill>
                <a:latin typeface="BIZ UDGothic" pitchFamily="34" charset="0"/>
                <a:ea typeface="BIZ UDGothic" pitchFamily="34" charset="-122"/>
                <a:cs typeface="BIZ UDGothic" pitchFamily="34" charset="-120"/>
              </a:rPr>
              <a:t> 列の（準）乱数を </a:t>
            </a:r>
            <a:r>
              <a:rPr lang="en-US" sz="1500" i="1" dirty="0">
                <a:solidFill>
                  <a:srgbClr val="22223B"/>
                </a:solidFill>
                <a:latin typeface="Times New Roman" pitchFamily="34" charset="0"/>
                <a:ea typeface="Times New Roman" pitchFamily="34" charset="-122"/>
                <a:cs typeface="Times New Roman" pitchFamily="34" charset="-120"/>
              </a:rPr>
              <a:t>N</a:t>
            </a:r>
            <a:r>
              <a:rPr lang="en-US" sz="1300" dirty="0">
                <a:solidFill>
                  <a:srgbClr val="22223B"/>
                </a:solidFill>
                <a:latin typeface="BIZ UDGothic" pitchFamily="34" charset="0"/>
                <a:ea typeface="BIZ UDGothic" pitchFamily="34" charset="-122"/>
                <a:cs typeface="BIZ UDGothic" pitchFamily="34" charset="-120"/>
              </a:rPr>
              <a:t> 行作り、左 </a:t>
            </a:r>
            <a:r>
              <a:rPr lang="en-US" sz="1500" i="1" dirty="0">
                <a:solidFill>
                  <a:srgbClr val="22223B"/>
                </a:solidFill>
                <a:latin typeface="Times New Roman" pitchFamily="34" charset="0"/>
                <a:ea typeface="Times New Roman" pitchFamily="34" charset="-122"/>
                <a:cs typeface="Times New Roman" pitchFamily="34" charset="-120"/>
              </a:rPr>
              <a:t>d</a:t>
            </a:r>
            <a:r>
              <a:rPr lang="en-US" sz="1300" dirty="0">
                <a:solidFill>
                  <a:srgbClr val="22223B"/>
                </a:solidFill>
                <a:latin typeface="BIZ UDGothic" pitchFamily="34" charset="0"/>
                <a:ea typeface="BIZ UDGothic" pitchFamily="34" charset="-122"/>
                <a:cs typeface="BIZ UDGothic" pitchFamily="34" charset="-120"/>
              </a:rPr>
              <a:t> 列を </a:t>
            </a:r>
            <a:r>
              <a:rPr lang="en-US" sz="1500" i="1" dirty="0">
                <a:solidFill>
                  <a:srgbClr val="22223B"/>
                </a:solidFill>
                <a:latin typeface="Times New Roman" pitchFamily="34" charset="0"/>
                <a:ea typeface="Times New Roman" pitchFamily="34" charset="-122"/>
                <a:cs typeface="Times New Roman" pitchFamily="34" charset="-120"/>
              </a:rPr>
              <a:t>A</a:t>
            </a:r>
            <a:r>
              <a:rPr lang="en-US" sz="1300" dirty="0">
                <a:solidFill>
                  <a:srgbClr val="22223B"/>
                </a:solidFill>
                <a:latin typeface="BIZ UDGothic" pitchFamily="34" charset="0"/>
                <a:ea typeface="BIZ UDGothic" pitchFamily="34" charset="-122"/>
                <a:cs typeface="BIZ UDGothic" pitchFamily="34" charset="-120"/>
              </a:rPr>
              <a:t>、右 </a:t>
            </a:r>
            <a:r>
              <a:rPr lang="en-US" sz="1500" i="1" dirty="0">
                <a:solidFill>
                  <a:srgbClr val="22223B"/>
                </a:solidFill>
                <a:latin typeface="Times New Roman" pitchFamily="34" charset="0"/>
                <a:ea typeface="Times New Roman" pitchFamily="34" charset="-122"/>
                <a:cs typeface="Times New Roman" pitchFamily="34" charset="-120"/>
              </a:rPr>
              <a:t>d</a:t>
            </a:r>
            <a:r>
              <a:rPr lang="en-US" sz="1300" dirty="0">
                <a:solidFill>
                  <a:srgbClr val="22223B"/>
                </a:solidFill>
                <a:latin typeface="BIZ UDGothic" pitchFamily="34" charset="0"/>
                <a:ea typeface="BIZ UDGothic" pitchFamily="34" charset="-122"/>
                <a:cs typeface="BIZ UDGothic" pitchFamily="34" charset="-120"/>
              </a:rPr>
              <a:t> 列を </a:t>
            </a:r>
            <a:r>
              <a:rPr lang="en-US" sz="1500" i="1" dirty="0">
                <a:solidFill>
                  <a:srgbClr val="22223B"/>
                </a:solidFill>
                <a:latin typeface="Times New Roman" pitchFamily="34" charset="0"/>
                <a:ea typeface="Times New Roman" pitchFamily="34" charset="-122"/>
                <a:cs typeface="Times New Roman" pitchFamily="34" charset="-120"/>
              </a:rPr>
              <a:t>B</a:t>
            </a:r>
            <a:r>
              <a:rPr lang="en-US" sz="1300" dirty="0">
                <a:solidFill>
                  <a:srgbClr val="22223B"/>
                </a:solidFill>
                <a:latin typeface="BIZ UDGothic" pitchFamily="34" charset="0"/>
                <a:ea typeface="BIZ UDGothic" pitchFamily="34" charset="-122"/>
                <a:cs typeface="BIZ UDGothic" pitchFamily="34" charset="-120"/>
              </a:rPr>
              <a:t> とする（入力の分布に変換）</a:t>
            </a:r>
            <a:endParaRPr lang="en-US" sz="1500" dirty="0"/>
          </a:p>
        </p:txBody>
      </p:sp>
      <p:sp>
        <p:nvSpPr>
          <p:cNvPr id="107" name="Shape 104"/>
          <p:cNvSpPr/>
          <p:nvPr/>
        </p:nvSpPr>
        <p:spPr>
          <a:xfrm>
            <a:off x="4338218" y="4389120"/>
            <a:ext cx="3515258" cy="1325880"/>
          </a:xfrm>
          <a:prstGeom prst="roundRect">
            <a:avLst>
              <a:gd name="adj" fmla="val 5517"/>
            </a:avLst>
          </a:prstGeom>
          <a:solidFill>
            <a:srgbClr val="FFFFFF"/>
          </a:solidFill>
          <a:ln w="9525">
            <a:solidFill>
              <a:srgbClr val="DADDE6"/>
            </a:solidFill>
            <a:prstDash val="solid"/>
          </a:ln>
        </p:spPr>
      </p:sp>
      <p:sp>
        <p:nvSpPr>
          <p:cNvPr id="108" name="Shape 105"/>
          <p:cNvSpPr/>
          <p:nvPr/>
        </p:nvSpPr>
        <p:spPr>
          <a:xfrm>
            <a:off x="4521098" y="4572000"/>
            <a:ext cx="457200" cy="457200"/>
          </a:xfrm>
          <a:prstGeom prst="ellipse">
            <a:avLst/>
          </a:prstGeom>
          <a:solidFill>
            <a:srgbClr val="22223B"/>
          </a:solidFill>
          <a:ln/>
        </p:spPr>
      </p:sp>
      <p:sp>
        <p:nvSpPr>
          <p:cNvPr id="109" name="Text 106"/>
          <p:cNvSpPr/>
          <p:nvPr/>
        </p:nvSpPr>
        <p:spPr>
          <a:xfrm>
            <a:off x="4521098" y="4572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Gothic" pitchFamily="34" charset="0"/>
                <a:ea typeface="BIZ UDGothic" pitchFamily="34" charset="-122"/>
                <a:cs typeface="BIZ UDGothic" pitchFamily="34" charset="-120"/>
              </a:rPr>
              <a:t>2</a:t>
            </a:r>
            <a:endParaRPr lang="en-US" sz="1600" dirty="0"/>
          </a:p>
        </p:txBody>
      </p:sp>
      <p:sp>
        <p:nvSpPr>
          <p:cNvPr id="110" name="Text 107"/>
          <p:cNvSpPr/>
          <p:nvPr/>
        </p:nvSpPr>
        <p:spPr>
          <a:xfrm>
            <a:off x="5115458" y="4526280"/>
            <a:ext cx="2555138" cy="1051560"/>
          </a:xfrm>
          <a:prstGeom prst="rect">
            <a:avLst/>
          </a:prstGeom>
          <a:noFill/>
          <a:ln/>
        </p:spPr>
        <p:txBody>
          <a:bodyPr wrap="square" lIns="0" tIns="0" rIns="0" bIns="0" rtlCol="0" anchor="ctr"/>
          <a:lstStyle/>
          <a:p>
            <a:pPr indent="0" marL="0">
              <a:buNone/>
            </a:pPr>
            <a:r>
              <a:rPr lang="en-US" sz="1300" dirty="0">
                <a:solidFill>
                  <a:srgbClr val="22223B"/>
                </a:solidFill>
                <a:latin typeface="BIZ UDGothic" pitchFamily="34" charset="0"/>
                <a:ea typeface="BIZ UDGothic" pitchFamily="34" charset="-122"/>
                <a:cs typeface="BIZ UDGothic" pitchFamily="34" charset="-120"/>
              </a:rPr>
              <a:t>入力 </a:t>
            </a:r>
            <a:r>
              <a:rPr lang="en-US" sz="1500" i="1" dirty="0">
                <a:solidFill>
                  <a:srgbClr val="22223B"/>
                </a:solidFill>
                <a:latin typeface="Times New Roman" pitchFamily="34" charset="0"/>
                <a:ea typeface="Times New Roman" pitchFamily="34" charset="-122"/>
                <a:cs typeface="Times New Roman" pitchFamily="34" charset="-120"/>
              </a:rPr>
              <a:t>i</a:t>
            </a:r>
            <a:r>
              <a:rPr lang="en-US" sz="1300" dirty="0">
                <a:solidFill>
                  <a:srgbClr val="22223B"/>
                </a:solidFill>
                <a:latin typeface="BIZ UDGothic" pitchFamily="34" charset="0"/>
                <a:ea typeface="BIZ UDGothic" pitchFamily="34" charset="-122"/>
                <a:cs typeface="BIZ UDGothic" pitchFamily="34" charset="-120"/>
              </a:rPr>
              <a:t> ごとに、</a:t>
            </a:r>
            <a:r>
              <a:rPr lang="en-US" sz="1500" i="1" dirty="0">
                <a:solidFill>
                  <a:srgbClr val="22223B"/>
                </a:solidFill>
                <a:latin typeface="Times New Roman" pitchFamily="34" charset="0"/>
                <a:ea typeface="Times New Roman" pitchFamily="34" charset="-122"/>
                <a:cs typeface="Times New Roman" pitchFamily="34" charset="-120"/>
              </a:rPr>
              <a:t>A</a:t>
            </a:r>
            <a:r>
              <a:rPr lang="en-US" sz="1300" dirty="0">
                <a:solidFill>
                  <a:srgbClr val="22223B"/>
                </a:solidFill>
                <a:latin typeface="BIZ UDGothic" pitchFamily="34" charset="0"/>
                <a:ea typeface="BIZ UDGothic" pitchFamily="34" charset="-122"/>
                <a:cs typeface="BIZ UDGothic" pitchFamily="34" charset="-120"/>
              </a:rPr>
              <a:t> の </a:t>
            </a:r>
            <a:r>
              <a:rPr lang="en-US" sz="1500" i="1" dirty="0">
                <a:solidFill>
                  <a:srgbClr val="22223B"/>
                </a:solidFill>
                <a:latin typeface="Times New Roman" pitchFamily="34" charset="0"/>
                <a:ea typeface="Times New Roman" pitchFamily="34" charset="-122"/>
                <a:cs typeface="Times New Roman" pitchFamily="34" charset="-120"/>
              </a:rPr>
              <a:t>i</a:t>
            </a:r>
            <a:r>
              <a:rPr lang="en-US" sz="1300" dirty="0">
                <a:solidFill>
                  <a:srgbClr val="22223B"/>
                </a:solidFill>
                <a:latin typeface="BIZ UDGothic" pitchFamily="34" charset="0"/>
                <a:ea typeface="BIZ UDGothic" pitchFamily="34" charset="-122"/>
                <a:cs typeface="BIZ UDGothic" pitchFamily="34" charset="-120"/>
              </a:rPr>
              <a:t> 列目を </a:t>
            </a:r>
            <a:r>
              <a:rPr lang="en-US" sz="1500" i="1" dirty="0">
                <a:solidFill>
                  <a:srgbClr val="22223B"/>
                </a:solidFill>
                <a:latin typeface="Times New Roman" pitchFamily="34" charset="0"/>
                <a:ea typeface="Times New Roman" pitchFamily="34" charset="-122"/>
                <a:cs typeface="Times New Roman" pitchFamily="34" charset="-120"/>
              </a:rPr>
              <a:t>B</a:t>
            </a:r>
            <a:r>
              <a:rPr lang="en-US" sz="1300" dirty="0">
                <a:solidFill>
                  <a:srgbClr val="22223B"/>
                </a:solidFill>
                <a:latin typeface="BIZ UDGothic" pitchFamily="34" charset="0"/>
                <a:ea typeface="BIZ UDGothic" pitchFamily="34" charset="-122"/>
                <a:cs typeface="BIZ UDGothic" pitchFamily="34" charset="-120"/>
              </a:rPr>
              <a:t> の </a:t>
            </a:r>
            <a:r>
              <a:rPr lang="en-US" sz="1500" i="1" dirty="0">
                <a:solidFill>
                  <a:srgbClr val="22223B"/>
                </a:solidFill>
                <a:latin typeface="Times New Roman" pitchFamily="34" charset="0"/>
                <a:ea typeface="Times New Roman" pitchFamily="34" charset="-122"/>
                <a:cs typeface="Times New Roman" pitchFamily="34" charset="-120"/>
              </a:rPr>
              <a:t>i</a:t>
            </a:r>
            <a:r>
              <a:rPr lang="en-US" sz="1300" dirty="0">
                <a:solidFill>
                  <a:srgbClr val="22223B"/>
                </a:solidFill>
                <a:latin typeface="BIZ UDGothic" pitchFamily="34" charset="0"/>
                <a:ea typeface="BIZ UDGothic" pitchFamily="34" charset="-122"/>
                <a:cs typeface="BIZ UDGothic" pitchFamily="34" charset="-120"/>
              </a:rPr>
              <a:t> 列目に入れ替えた </a:t>
            </a:r>
            <a:r>
              <a:rPr lang="en-US" sz="1500" i="1" dirty="0">
                <a:solidFill>
                  <a:srgbClr val="22223B"/>
                </a:solidFill>
                <a:latin typeface="Times New Roman" pitchFamily="34" charset="0"/>
                <a:ea typeface="Times New Roman" pitchFamily="34" charset="-122"/>
                <a:cs typeface="Times New Roman" pitchFamily="34" charset="-120"/>
              </a:rPr>
              <a:t>A</a:t>
            </a:r>
            <a:r>
              <a:rPr lang="en-US" sz="1500" i="1" baseline="-40000" dirty="0">
                <a:solidFill>
                  <a:srgbClr val="22223B"/>
                </a:solidFill>
                <a:latin typeface="Times New Roman" pitchFamily="34" charset="0"/>
                <a:ea typeface="Times New Roman" pitchFamily="34" charset="-122"/>
                <a:cs typeface="Times New Roman" pitchFamily="34" charset="-120"/>
              </a:rPr>
              <a:t>B</a:t>
            </a:r>
            <a:r>
              <a:rPr lang="en-US" sz="1500" i="1" baseline="30000" dirty="0">
                <a:solidFill>
                  <a:srgbClr val="22223B"/>
                </a:solidFill>
                <a:latin typeface="Times New Roman" pitchFamily="34" charset="0"/>
                <a:ea typeface="Times New Roman" pitchFamily="34" charset="-122"/>
                <a:cs typeface="Times New Roman" pitchFamily="34" charset="-120"/>
              </a:rPr>
              <a:t>(i)</a:t>
            </a:r>
            <a:r>
              <a:rPr lang="en-US" sz="1300" dirty="0">
                <a:solidFill>
                  <a:srgbClr val="22223B"/>
                </a:solidFill>
                <a:latin typeface="BIZ UDGothic" pitchFamily="34" charset="0"/>
                <a:ea typeface="BIZ UDGothic" pitchFamily="34" charset="-122"/>
                <a:cs typeface="BIZ UDGothic" pitchFamily="34" charset="-120"/>
              </a:rPr>
              <a:t> を作る（</a:t>
            </a:r>
            <a:r>
              <a:rPr lang="en-US" sz="1500" i="1" dirty="0">
                <a:solidFill>
                  <a:srgbClr val="22223B"/>
                </a:solidFill>
                <a:latin typeface="Times New Roman" pitchFamily="34" charset="0"/>
                <a:ea typeface="Times New Roman" pitchFamily="34" charset="-122"/>
                <a:cs typeface="Times New Roman" pitchFamily="34" charset="-120"/>
              </a:rPr>
              <a:t>d</a:t>
            </a:r>
            <a:r>
              <a:rPr lang="en-US" sz="1300" dirty="0">
                <a:solidFill>
                  <a:srgbClr val="22223B"/>
                </a:solidFill>
                <a:latin typeface="BIZ UDGothic" pitchFamily="34" charset="0"/>
                <a:ea typeface="BIZ UDGothic" pitchFamily="34" charset="-122"/>
                <a:cs typeface="BIZ UDGothic" pitchFamily="34" charset="-120"/>
              </a:rPr>
              <a:t> 個）</a:t>
            </a:r>
            <a:endParaRPr lang="en-US" sz="1300" dirty="0"/>
          </a:p>
        </p:txBody>
      </p:sp>
      <p:sp>
        <p:nvSpPr>
          <p:cNvPr id="111" name="Shape 108"/>
          <p:cNvSpPr/>
          <p:nvPr/>
        </p:nvSpPr>
        <p:spPr>
          <a:xfrm>
            <a:off x="8127797" y="4389120"/>
            <a:ext cx="3515258" cy="1325880"/>
          </a:xfrm>
          <a:prstGeom prst="roundRect">
            <a:avLst>
              <a:gd name="adj" fmla="val 5517"/>
            </a:avLst>
          </a:prstGeom>
          <a:solidFill>
            <a:srgbClr val="FFFFFF"/>
          </a:solidFill>
          <a:ln w="9525">
            <a:solidFill>
              <a:srgbClr val="DADDE6"/>
            </a:solidFill>
            <a:prstDash val="solid"/>
          </a:ln>
        </p:spPr>
      </p:sp>
      <p:sp>
        <p:nvSpPr>
          <p:cNvPr id="112" name="Shape 109"/>
          <p:cNvSpPr/>
          <p:nvPr/>
        </p:nvSpPr>
        <p:spPr>
          <a:xfrm>
            <a:off x="8310677" y="4572000"/>
            <a:ext cx="457200" cy="457200"/>
          </a:xfrm>
          <a:prstGeom prst="ellipse">
            <a:avLst/>
          </a:prstGeom>
          <a:solidFill>
            <a:srgbClr val="22223B"/>
          </a:solidFill>
          <a:ln/>
        </p:spPr>
      </p:sp>
      <p:sp>
        <p:nvSpPr>
          <p:cNvPr id="113" name="Text 110"/>
          <p:cNvSpPr/>
          <p:nvPr/>
        </p:nvSpPr>
        <p:spPr>
          <a:xfrm>
            <a:off x="8310677" y="4572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Gothic" pitchFamily="34" charset="0"/>
                <a:ea typeface="BIZ UDGothic" pitchFamily="34" charset="-122"/>
                <a:cs typeface="BIZ UDGothic" pitchFamily="34" charset="-120"/>
              </a:rPr>
              <a:t>3</a:t>
            </a:r>
            <a:endParaRPr lang="en-US" sz="1600" dirty="0"/>
          </a:p>
        </p:txBody>
      </p:sp>
      <p:sp>
        <p:nvSpPr>
          <p:cNvPr id="114" name="Text 111"/>
          <p:cNvSpPr/>
          <p:nvPr/>
        </p:nvSpPr>
        <p:spPr>
          <a:xfrm>
            <a:off x="8905037" y="4526280"/>
            <a:ext cx="2555138" cy="1051560"/>
          </a:xfrm>
          <a:prstGeom prst="rect">
            <a:avLst/>
          </a:prstGeom>
          <a:noFill/>
          <a:ln/>
        </p:spPr>
        <p:txBody>
          <a:bodyPr wrap="square" lIns="0" tIns="0" rIns="0" bIns="0" rtlCol="0" anchor="ctr"/>
          <a:lstStyle/>
          <a:p>
            <a:pPr indent="0" marL="0">
              <a:buNone/>
            </a:pPr>
            <a:r>
              <a:rPr lang="en-US" sz="1500" i="1" dirty="0">
                <a:solidFill>
                  <a:srgbClr val="22223B"/>
                </a:solidFill>
                <a:latin typeface="Times New Roman" pitchFamily="34" charset="0"/>
                <a:ea typeface="Times New Roman" pitchFamily="34" charset="-122"/>
                <a:cs typeface="Times New Roman" pitchFamily="34" charset="-120"/>
              </a:rPr>
              <a:t>A</a:t>
            </a:r>
            <a:r>
              <a:rPr lang="en-US" sz="1300" dirty="0">
                <a:solidFill>
                  <a:srgbClr val="22223B"/>
                </a:solidFill>
                <a:latin typeface="BIZ UDGothic" pitchFamily="34" charset="0"/>
                <a:ea typeface="BIZ UDGothic" pitchFamily="34" charset="-122"/>
                <a:cs typeface="BIZ UDGothic" pitchFamily="34" charset="-120"/>
              </a:rPr>
              <a:t>、</a:t>
            </a:r>
            <a:r>
              <a:rPr lang="en-US" sz="1500" i="1" dirty="0">
                <a:solidFill>
                  <a:srgbClr val="22223B"/>
                </a:solidFill>
                <a:latin typeface="Times New Roman" pitchFamily="34" charset="0"/>
                <a:ea typeface="Times New Roman" pitchFamily="34" charset="-122"/>
                <a:cs typeface="Times New Roman" pitchFamily="34" charset="-120"/>
              </a:rPr>
              <a:t>B</a:t>
            </a:r>
            <a:r>
              <a:rPr lang="en-US" sz="1300" dirty="0">
                <a:solidFill>
                  <a:srgbClr val="22223B"/>
                </a:solidFill>
                <a:latin typeface="BIZ UDGothic" pitchFamily="34" charset="0"/>
                <a:ea typeface="BIZ UDGothic" pitchFamily="34" charset="-122"/>
                <a:cs typeface="BIZ UDGothic" pitchFamily="34" charset="-120"/>
              </a:rPr>
              <a:t>、</a:t>
            </a:r>
            <a:r>
              <a:rPr lang="en-US" sz="1500" i="1" dirty="0">
                <a:solidFill>
                  <a:srgbClr val="22223B"/>
                </a:solidFill>
                <a:latin typeface="Times New Roman" pitchFamily="34" charset="0"/>
                <a:ea typeface="Times New Roman" pitchFamily="34" charset="-122"/>
                <a:cs typeface="Times New Roman" pitchFamily="34" charset="-120"/>
              </a:rPr>
              <a:t>A</a:t>
            </a:r>
            <a:r>
              <a:rPr lang="en-US" sz="1500" i="1" baseline="-40000" dirty="0">
                <a:solidFill>
                  <a:srgbClr val="22223B"/>
                </a:solidFill>
                <a:latin typeface="Times New Roman" pitchFamily="34" charset="0"/>
                <a:ea typeface="Times New Roman" pitchFamily="34" charset="-122"/>
                <a:cs typeface="Times New Roman" pitchFamily="34" charset="-120"/>
              </a:rPr>
              <a:t>B</a:t>
            </a:r>
            <a:r>
              <a:rPr lang="en-US" sz="1500" i="1" baseline="30000" dirty="0">
                <a:solidFill>
                  <a:srgbClr val="22223B"/>
                </a:solidFill>
                <a:latin typeface="Times New Roman" pitchFamily="34" charset="0"/>
                <a:ea typeface="Times New Roman" pitchFamily="34" charset="-122"/>
                <a:cs typeface="Times New Roman" pitchFamily="34" charset="-120"/>
              </a:rPr>
              <a:t>(1)</a:t>
            </a:r>
            <a:r>
              <a:rPr lang="en-US" sz="1300" dirty="0">
                <a:solidFill>
                  <a:srgbClr val="22223B"/>
                </a:solidFill>
                <a:latin typeface="BIZ UDGothic" pitchFamily="34" charset="0"/>
                <a:ea typeface="BIZ UDGothic" pitchFamily="34" charset="-122"/>
                <a:cs typeface="BIZ UDGothic" pitchFamily="34" charset="-120"/>
              </a:rPr>
              <a:t> … </a:t>
            </a:r>
            <a:r>
              <a:rPr lang="en-US" sz="1500" i="1" dirty="0">
                <a:solidFill>
                  <a:srgbClr val="22223B"/>
                </a:solidFill>
                <a:latin typeface="Times New Roman" pitchFamily="34" charset="0"/>
                <a:ea typeface="Times New Roman" pitchFamily="34" charset="-122"/>
                <a:cs typeface="Times New Roman" pitchFamily="34" charset="-120"/>
              </a:rPr>
              <a:t>A</a:t>
            </a:r>
            <a:r>
              <a:rPr lang="en-US" sz="1500" i="1" baseline="-40000" dirty="0">
                <a:solidFill>
                  <a:srgbClr val="22223B"/>
                </a:solidFill>
                <a:latin typeface="Times New Roman" pitchFamily="34" charset="0"/>
                <a:ea typeface="Times New Roman" pitchFamily="34" charset="-122"/>
                <a:cs typeface="Times New Roman" pitchFamily="34" charset="-120"/>
              </a:rPr>
              <a:t>B</a:t>
            </a:r>
            <a:r>
              <a:rPr lang="en-US" sz="1500" i="1" baseline="30000" dirty="0">
                <a:solidFill>
                  <a:srgbClr val="22223B"/>
                </a:solidFill>
                <a:latin typeface="Times New Roman" pitchFamily="34" charset="0"/>
                <a:ea typeface="Times New Roman" pitchFamily="34" charset="-122"/>
                <a:cs typeface="Times New Roman" pitchFamily="34" charset="-120"/>
              </a:rPr>
              <a:t>(d)</a:t>
            </a:r>
            <a:r>
              <a:rPr lang="en-US" sz="1300" dirty="0">
                <a:solidFill>
                  <a:srgbClr val="22223B"/>
                </a:solidFill>
                <a:latin typeface="BIZ UDGothic" pitchFamily="34" charset="0"/>
                <a:ea typeface="BIZ UDGothic" pitchFamily="34" charset="-122"/>
                <a:cs typeface="BIZ UDGothic" pitchFamily="34" charset="-120"/>
              </a:rPr>
              <a:t> の全行でモデルを計算 → 合計 </a:t>
            </a:r>
            <a:r>
              <a:rPr lang="en-US" sz="1500" i="1" dirty="0">
                <a:solidFill>
                  <a:srgbClr val="22223B"/>
                </a:solidFill>
                <a:latin typeface="Times New Roman" pitchFamily="34" charset="0"/>
                <a:ea typeface="Times New Roman" pitchFamily="34" charset="-122"/>
                <a:cs typeface="Times New Roman" pitchFamily="34" charset="-120"/>
              </a:rPr>
              <a:t>N(d + 2)</a:t>
            </a:r>
            <a:r>
              <a:rPr lang="en-US" sz="1300" dirty="0">
                <a:solidFill>
                  <a:srgbClr val="22223B"/>
                </a:solidFill>
                <a:latin typeface="BIZ UDGothic" pitchFamily="34" charset="0"/>
                <a:ea typeface="BIZ UDGothic" pitchFamily="34" charset="-122"/>
                <a:cs typeface="BIZ UDGothic" pitchFamily="34" charset="-120"/>
              </a:rPr>
              <a:t> 回</a:t>
            </a:r>
            <a:endParaRPr lang="en-US" sz="1500" dirty="0"/>
          </a:p>
        </p:txBody>
      </p:sp>
      <p:sp>
        <p:nvSpPr>
          <p:cNvPr id="115" name="Text 112"/>
          <p:cNvSpPr/>
          <p:nvPr/>
        </p:nvSpPr>
        <p:spPr>
          <a:xfrm>
            <a:off x="548640" y="5852160"/>
            <a:ext cx="11094415" cy="320040"/>
          </a:xfrm>
          <a:prstGeom prst="rect">
            <a:avLst/>
          </a:prstGeom>
          <a:noFill/>
          <a:ln/>
        </p:spPr>
        <p:txBody>
          <a:bodyPr wrap="square" lIns="0" tIns="0" rIns="0" bIns="0" rtlCol="0" anchor="ctr"/>
          <a:lstStyle/>
          <a:p>
            <a:pPr indent="0" marL="0">
              <a:buNone/>
            </a:pPr>
            <a:r>
              <a:rPr lang="en-US" sz="1200" dirty="0">
                <a:solidFill>
                  <a:srgbClr val="6C6F7F"/>
                </a:solidFill>
                <a:latin typeface="BIZ UDGothic" pitchFamily="34" charset="0"/>
                <a:ea typeface="BIZ UDGothic" pitchFamily="34" charset="-122"/>
                <a:cs typeface="BIZ UDGothic" pitchFamily="34" charset="-120"/>
              </a:rPr>
              <a:t>※ 2次の指数 </a:t>
            </a:r>
            <a:r>
              <a:rPr lang="en-US" sz="1300" i="1" dirty="0">
                <a:solidFill>
                  <a:srgbClr val="6C6F7F"/>
                </a:solidFill>
                <a:latin typeface="Times New Roman" pitchFamily="34" charset="0"/>
                <a:ea typeface="Times New Roman" pitchFamily="34" charset="-122"/>
                <a:cs typeface="Times New Roman" pitchFamily="34" charset="-120"/>
              </a:rPr>
              <a:t>S</a:t>
            </a:r>
            <a:r>
              <a:rPr lang="en-US" sz="1300" i="1" baseline="-40000" dirty="0">
                <a:solidFill>
                  <a:srgbClr val="6C6F7F"/>
                </a:solidFill>
                <a:latin typeface="Times New Roman" pitchFamily="34" charset="0"/>
                <a:ea typeface="Times New Roman" pitchFamily="34" charset="-122"/>
                <a:cs typeface="Times New Roman" pitchFamily="34" charset="-120"/>
              </a:rPr>
              <a:t>ij</a:t>
            </a:r>
            <a:r>
              <a:rPr lang="en-US" sz="1200" dirty="0">
                <a:solidFill>
                  <a:srgbClr val="6C6F7F"/>
                </a:solidFill>
                <a:latin typeface="BIZ UDGothic" pitchFamily="34" charset="0"/>
                <a:ea typeface="BIZ UDGothic" pitchFamily="34" charset="-122"/>
                <a:cs typeface="BIZ UDGothic" pitchFamily="34" charset="-120"/>
              </a:rPr>
              <a:t> も求める場合は、</a:t>
            </a:r>
            <a:r>
              <a:rPr lang="en-US" sz="1300" i="1" dirty="0">
                <a:solidFill>
                  <a:srgbClr val="6C6F7F"/>
                </a:solidFill>
                <a:latin typeface="Times New Roman" pitchFamily="34" charset="0"/>
                <a:ea typeface="Times New Roman" pitchFamily="34" charset="-122"/>
                <a:cs typeface="Times New Roman" pitchFamily="34" charset="-120"/>
              </a:rPr>
              <a:t>B</a:t>
            </a:r>
            <a:r>
              <a:rPr lang="en-US" sz="1200" dirty="0">
                <a:solidFill>
                  <a:srgbClr val="6C6F7F"/>
                </a:solidFill>
                <a:latin typeface="BIZ UDGothic" pitchFamily="34" charset="0"/>
                <a:ea typeface="BIZ UDGothic" pitchFamily="34" charset="-122"/>
                <a:cs typeface="BIZ UDGothic" pitchFamily="34" charset="-120"/>
              </a:rPr>
              <a:t> の列を </a:t>
            </a:r>
            <a:r>
              <a:rPr lang="en-US" sz="1300" i="1" dirty="0">
                <a:solidFill>
                  <a:srgbClr val="6C6F7F"/>
                </a:solidFill>
                <a:latin typeface="Times New Roman" pitchFamily="34" charset="0"/>
                <a:ea typeface="Times New Roman" pitchFamily="34" charset="-122"/>
                <a:cs typeface="Times New Roman" pitchFamily="34" charset="-120"/>
              </a:rPr>
              <a:t>A</a:t>
            </a:r>
            <a:r>
              <a:rPr lang="en-US" sz="1200" dirty="0">
                <a:solidFill>
                  <a:srgbClr val="6C6F7F"/>
                </a:solidFill>
                <a:latin typeface="BIZ UDGothic" pitchFamily="34" charset="0"/>
                <a:ea typeface="BIZ UDGothic" pitchFamily="34" charset="-122"/>
                <a:cs typeface="BIZ UDGothic" pitchFamily="34" charset="-120"/>
              </a:rPr>
              <a:t> に入れ替えた行列も加えて </a:t>
            </a:r>
            <a:r>
              <a:rPr lang="en-US" sz="1300" i="1" dirty="0">
                <a:solidFill>
                  <a:srgbClr val="6C6F7F"/>
                </a:solidFill>
                <a:latin typeface="Times New Roman" pitchFamily="34" charset="0"/>
                <a:ea typeface="Times New Roman" pitchFamily="34" charset="-122"/>
                <a:cs typeface="Times New Roman" pitchFamily="34" charset="-120"/>
              </a:rPr>
              <a:t>N(2d + 2)</a:t>
            </a:r>
            <a:r>
              <a:rPr lang="en-US" sz="1200" dirty="0">
                <a:solidFill>
                  <a:srgbClr val="6C6F7F"/>
                </a:solidFill>
                <a:latin typeface="BIZ UDGothic" pitchFamily="34" charset="0"/>
                <a:ea typeface="BIZ UDGothic" pitchFamily="34" charset="-122"/>
                <a:cs typeface="BIZ UDGothic" pitchFamily="34" charset="-120"/>
              </a:rPr>
              <a:t> 回</a:t>
            </a:r>
            <a:endParaRPr lang="en-US" sz="1200" dirty="0"/>
          </a:p>
        </p:txBody>
      </p:sp>
      <p:sp>
        <p:nvSpPr>
          <p:cNvPr id="116" name="Text 113"/>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117" name="Text 114"/>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03　推定のしくみ</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推定式 ― 行列どうしの「共通部分」を利用する</a:t>
            </a:r>
            <a:endParaRPr lang="en-US" sz="2800" dirty="0"/>
          </a:p>
        </p:txBody>
      </p:sp>
      <p:sp>
        <p:nvSpPr>
          <p:cNvPr id="5" name="Shape 2"/>
          <p:cNvSpPr/>
          <p:nvPr/>
        </p:nvSpPr>
        <p:spPr>
          <a:xfrm>
            <a:off x="548640" y="1417320"/>
            <a:ext cx="11094415" cy="2103120"/>
          </a:xfrm>
          <a:prstGeom prst="roundRect">
            <a:avLst>
              <a:gd name="adj" fmla="val 3478"/>
            </a:avLst>
          </a:prstGeom>
          <a:solidFill>
            <a:srgbClr val="FFFFFF"/>
          </a:solidFill>
          <a:ln w="9525">
            <a:solidFill>
              <a:srgbClr val="DADDE6"/>
            </a:solidFill>
            <a:prstDash val="solid"/>
          </a:ln>
        </p:spPr>
      </p:sp>
      <p:sp>
        <p:nvSpPr>
          <p:cNvPr id="6" name="Text 3"/>
          <p:cNvSpPr/>
          <p:nvPr/>
        </p:nvSpPr>
        <p:spPr>
          <a:xfrm>
            <a:off x="822960" y="1600200"/>
            <a:ext cx="2743200" cy="457200"/>
          </a:xfrm>
          <a:prstGeom prst="rect">
            <a:avLst/>
          </a:prstGeom>
          <a:noFill/>
          <a:ln/>
        </p:spPr>
        <p:txBody>
          <a:bodyPr wrap="square" lIns="0" tIns="0" rIns="0" bIns="0" rtlCol="0" anchor="ctr"/>
          <a:lstStyle/>
          <a:p>
            <a:pPr indent="0" marL="0">
              <a:buNone/>
            </a:pPr>
            <a:r>
              <a:rPr lang="en-US" sz="1900" b="1" dirty="0">
                <a:solidFill>
                  <a:srgbClr val="2A9D8F"/>
                </a:solidFill>
                <a:latin typeface="BIZ UDGothic" pitchFamily="34" charset="0"/>
                <a:ea typeface="BIZ UDGothic" pitchFamily="34" charset="-122"/>
                <a:cs typeface="BIZ UDGothic" pitchFamily="34" charset="-120"/>
              </a:rPr>
              <a:t>一次効果 </a:t>
            </a:r>
            <a:r>
              <a:rPr lang="en-US" sz="2100" b="1" i="1" dirty="0">
                <a:solidFill>
                  <a:srgbClr val="2A9D8F"/>
                </a:solidFill>
                <a:latin typeface="Times New Roman" pitchFamily="34" charset="0"/>
                <a:ea typeface="Times New Roman" pitchFamily="34" charset="-122"/>
                <a:cs typeface="Times New Roman" pitchFamily="34" charset="-120"/>
              </a:rPr>
              <a:t>S</a:t>
            </a:r>
            <a:r>
              <a:rPr lang="en-US" sz="2100" b="1" i="1" baseline="-40000" dirty="0">
                <a:solidFill>
                  <a:srgbClr val="2A9D8F"/>
                </a:solidFill>
                <a:latin typeface="Times New Roman" pitchFamily="34" charset="0"/>
                <a:ea typeface="Times New Roman" pitchFamily="34" charset="-122"/>
                <a:cs typeface="Times New Roman" pitchFamily="34" charset="-120"/>
              </a:rPr>
              <a:t>i</a:t>
            </a:r>
            <a:endParaRPr lang="en-US" sz="1900" dirty="0"/>
          </a:p>
        </p:txBody>
      </p:sp>
      <p:sp>
        <p:nvSpPr>
          <p:cNvPr id="7" name="Text 4"/>
          <p:cNvSpPr/>
          <p:nvPr/>
        </p:nvSpPr>
        <p:spPr>
          <a:xfrm>
            <a:off x="822960" y="2240280"/>
            <a:ext cx="822960" cy="329184"/>
          </a:xfrm>
          <a:prstGeom prst="rect">
            <a:avLst/>
          </a:prstGeom>
          <a:noFill/>
          <a:ln/>
        </p:spPr>
        <p:txBody>
          <a:bodyPr wrap="square" lIns="0" tIns="0" rIns="0" bIns="0" rtlCol="0" anchor="ctr"/>
          <a:lstStyle/>
          <a:p>
            <a:pPr indent="0" marL="0">
              <a:buNone/>
            </a:pPr>
            <a:r>
              <a:rPr lang="en-US" sz="1600" i="1" dirty="0">
                <a:solidFill>
                  <a:srgbClr val="22223B"/>
                </a:solidFill>
                <a:latin typeface="Times New Roman" pitchFamily="34" charset="0"/>
                <a:ea typeface="Times New Roman" pitchFamily="34" charset="-122"/>
                <a:cs typeface="Times New Roman" pitchFamily="34" charset="-120"/>
              </a:rPr>
              <a:t>B</a:t>
            </a:r>
            <a:endParaRPr lang="en-US" sz="1600" dirty="0"/>
          </a:p>
        </p:txBody>
      </p:sp>
      <p:sp>
        <p:nvSpPr>
          <p:cNvPr id="8" name="Shape 5"/>
          <p:cNvSpPr/>
          <p:nvPr/>
        </p:nvSpPr>
        <p:spPr>
          <a:xfrm>
            <a:off x="1691640" y="2240280"/>
            <a:ext cx="457200" cy="329184"/>
          </a:xfrm>
          <a:prstGeom prst="rect">
            <a:avLst/>
          </a:prstGeom>
          <a:solidFill>
            <a:srgbClr val="2A9D8F"/>
          </a:solidFill>
          <a:ln w="28575">
            <a:solidFill>
              <a:srgbClr val="2A9D8F"/>
            </a:solidFill>
            <a:prstDash val="solid"/>
          </a:ln>
        </p:spPr>
      </p:sp>
      <p:sp>
        <p:nvSpPr>
          <p:cNvPr id="9" name="Text 6"/>
          <p:cNvSpPr/>
          <p:nvPr/>
        </p:nvSpPr>
        <p:spPr>
          <a:xfrm>
            <a:off x="1691640" y="2240280"/>
            <a:ext cx="457200" cy="329184"/>
          </a:xfrm>
          <a:prstGeom prst="rect">
            <a:avLst/>
          </a:prstGeom>
          <a:noFill/>
          <a:ln/>
        </p:spPr>
        <p:txBody>
          <a:bodyPr wrap="square" lIns="0" tIns="0" rIns="0" bIns="0" rtlCol="0" anchor="ctr"/>
          <a:lstStyle/>
          <a:p>
            <a:pPr algn="ctr" indent="0" marL="0">
              <a:buNone/>
            </a:pPr>
            <a:r>
              <a:rPr lang="en-US" sz="1200" i="1" dirty="0">
                <a:solidFill>
                  <a:srgbClr val="FFFFFF"/>
                </a:solidFill>
                <a:latin typeface="Times New Roman" pitchFamily="34" charset="0"/>
                <a:ea typeface="Times New Roman" pitchFamily="34" charset="-122"/>
                <a:cs typeface="Times New Roman" pitchFamily="34" charset="-120"/>
              </a:rPr>
              <a:t>X</a:t>
            </a:r>
            <a:r>
              <a:rPr lang="en-US" sz="1200" i="1" baseline="-40000" dirty="0">
                <a:solidFill>
                  <a:srgbClr val="FFFFFF"/>
                </a:solidFill>
                <a:latin typeface="Times New Roman" pitchFamily="34" charset="0"/>
                <a:ea typeface="Times New Roman" pitchFamily="34" charset="-122"/>
                <a:cs typeface="Times New Roman" pitchFamily="34" charset="-120"/>
              </a:rPr>
              <a:t>1</a:t>
            </a:r>
            <a:endParaRPr lang="en-US" sz="1200" dirty="0"/>
          </a:p>
        </p:txBody>
      </p:sp>
      <p:sp>
        <p:nvSpPr>
          <p:cNvPr id="10" name="Shape 7"/>
          <p:cNvSpPr/>
          <p:nvPr/>
        </p:nvSpPr>
        <p:spPr>
          <a:xfrm>
            <a:off x="2148840" y="2240280"/>
            <a:ext cx="457200" cy="329184"/>
          </a:xfrm>
          <a:prstGeom prst="rect">
            <a:avLst/>
          </a:prstGeom>
          <a:solidFill>
            <a:srgbClr val="2A9D8F"/>
          </a:solidFill>
          <a:ln w="12700">
            <a:solidFill>
              <a:srgbClr val="FFFFFF"/>
            </a:solidFill>
            <a:prstDash val="solid"/>
          </a:ln>
        </p:spPr>
      </p:sp>
      <p:sp>
        <p:nvSpPr>
          <p:cNvPr id="11" name="Text 8"/>
          <p:cNvSpPr/>
          <p:nvPr/>
        </p:nvSpPr>
        <p:spPr>
          <a:xfrm>
            <a:off x="2148840" y="2240280"/>
            <a:ext cx="457200" cy="329184"/>
          </a:xfrm>
          <a:prstGeom prst="rect">
            <a:avLst/>
          </a:prstGeom>
          <a:noFill/>
          <a:ln/>
        </p:spPr>
        <p:txBody>
          <a:bodyPr wrap="square" lIns="0" tIns="0" rIns="0" bIns="0" rtlCol="0" anchor="ctr"/>
          <a:lstStyle/>
          <a:p>
            <a:pPr algn="ctr" indent="0" marL="0">
              <a:buNone/>
            </a:pPr>
            <a:r>
              <a:rPr lang="en-US" sz="1200" i="1" dirty="0">
                <a:solidFill>
                  <a:srgbClr val="FFFFFF"/>
                </a:solidFill>
                <a:latin typeface="Times New Roman" pitchFamily="34" charset="0"/>
                <a:ea typeface="Times New Roman" pitchFamily="34" charset="-122"/>
                <a:cs typeface="Times New Roman" pitchFamily="34" charset="-120"/>
              </a:rPr>
              <a:t>X</a:t>
            </a:r>
            <a:r>
              <a:rPr lang="en-US" sz="1200" i="1" baseline="-40000" dirty="0">
                <a:solidFill>
                  <a:srgbClr val="FFFFFF"/>
                </a:solidFill>
                <a:latin typeface="Times New Roman" pitchFamily="34" charset="0"/>
                <a:ea typeface="Times New Roman" pitchFamily="34" charset="-122"/>
                <a:cs typeface="Times New Roman" pitchFamily="34" charset="-120"/>
              </a:rPr>
              <a:t>2</a:t>
            </a:r>
            <a:endParaRPr lang="en-US" sz="1200" dirty="0"/>
          </a:p>
        </p:txBody>
      </p:sp>
      <p:sp>
        <p:nvSpPr>
          <p:cNvPr id="12" name="Shape 9"/>
          <p:cNvSpPr/>
          <p:nvPr/>
        </p:nvSpPr>
        <p:spPr>
          <a:xfrm>
            <a:off x="2606040" y="2240280"/>
            <a:ext cx="457200" cy="329184"/>
          </a:xfrm>
          <a:prstGeom prst="rect">
            <a:avLst/>
          </a:prstGeom>
          <a:solidFill>
            <a:srgbClr val="2A9D8F"/>
          </a:solidFill>
          <a:ln w="12700">
            <a:solidFill>
              <a:srgbClr val="FFFFFF"/>
            </a:solidFill>
            <a:prstDash val="solid"/>
          </a:ln>
        </p:spPr>
      </p:sp>
      <p:sp>
        <p:nvSpPr>
          <p:cNvPr id="13" name="Text 10"/>
          <p:cNvSpPr/>
          <p:nvPr/>
        </p:nvSpPr>
        <p:spPr>
          <a:xfrm>
            <a:off x="2606040" y="2240280"/>
            <a:ext cx="457200" cy="329184"/>
          </a:xfrm>
          <a:prstGeom prst="rect">
            <a:avLst/>
          </a:prstGeom>
          <a:noFill/>
          <a:ln/>
        </p:spPr>
        <p:txBody>
          <a:bodyPr wrap="square" lIns="0" tIns="0" rIns="0" bIns="0" rtlCol="0" anchor="ctr"/>
          <a:lstStyle/>
          <a:p>
            <a:pPr algn="ctr" indent="0" marL="0">
              <a:buNone/>
            </a:pPr>
            <a:r>
              <a:rPr lang="en-US" sz="1200" i="1" dirty="0">
                <a:solidFill>
                  <a:srgbClr val="FFFFFF"/>
                </a:solidFill>
                <a:latin typeface="Times New Roman" pitchFamily="34" charset="0"/>
                <a:ea typeface="Times New Roman" pitchFamily="34" charset="-122"/>
                <a:cs typeface="Times New Roman" pitchFamily="34" charset="-120"/>
              </a:rPr>
              <a:t>X</a:t>
            </a:r>
            <a:r>
              <a:rPr lang="en-US" sz="1200" i="1" baseline="-40000" dirty="0">
                <a:solidFill>
                  <a:srgbClr val="FFFFFF"/>
                </a:solidFill>
                <a:latin typeface="Times New Roman" pitchFamily="34" charset="0"/>
                <a:ea typeface="Times New Roman" pitchFamily="34" charset="-122"/>
                <a:cs typeface="Times New Roman" pitchFamily="34" charset="-120"/>
              </a:rPr>
              <a:t>3</a:t>
            </a:r>
            <a:endParaRPr lang="en-US" sz="1200" dirty="0"/>
          </a:p>
        </p:txBody>
      </p:sp>
      <p:sp>
        <p:nvSpPr>
          <p:cNvPr id="14" name="Text 11"/>
          <p:cNvSpPr/>
          <p:nvPr/>
        </p:nvSpPr>
        <p:spPr>
          <a:xfrm>
            <a:off x="822960" y="2679192"/>
            <a:ext cx="822960" cy="329184"/>
          </a:xfrm>
          <a:prstGeom prst="rect">
            <a:avLst/>
          </a:prstGeom>
          <a:noFill/>
          <a:ln/>
        </p:spPr>
        <p:txBody>
          <a:bodyPr wrap="square" lIns="0" tIns="0" rIns="0" bIns="0" rtlCol="0" anchor="ctr"/>
          <a:lstStyle/>
          <a:p>
            <a:pPr indent="0" marL="0">
              <a:buNone/>
            </a:pPr>
            <a:r>
              <a:rPr lang="en-US" sz="1600" i="1" dirty="0">
                <a:solidFill>
                  <a:srgbClr val="22223B"/>
                </a:solidFill>
                <a:latin typeface="Times New Roman" pitchFamily="34" charset="0"/>
                <a:ea typeface="Times New Roman" pitchFamily="34" charset="-122"/>
                <a:cs typeface="Times New Roman" pitchFamily="34" charset="-120"/>
              </a:rPr>
              <a:t>A</a:t>
            </a:r>
            <a:r>
              <a:rPr lang="en-US" sz="1600" i="1" baseline="-40000" dirty="0">
                <a:solidFill>
                  <a:srgbClr val="22223B"/>
                </a:solidFill>
                <a:latin typeface="Times New Roman" pitchFamily="34" charset="0"/>
                <a:ea typeface="Times New Roman" pitchFamily="34" charset="-122"/>
                <a:cs typeface="Times New Roman" pitchFamily="34" charset="-120"/>
              </a:rPr>
              <a:t>B</a:t>
            </a:r>
            <a:r>
              <a:rPr lang="en-US" sz="1600" i="1" baseline="30000" dirty="0">
                <a:solidFill>
                  <a:srgbClr val="22223B"/>
                </a:solidFill>
                <a:latin typeface="Times New Roman" pitchFamily="34" charset="0"/>
                <a:ea typeface="Times New Roman" pitchFamily="34" charset="-122"/>
                <a:cs typeface="Times New Roman" pitchFamily="34" charset="-120"/>
              </a:rPr>
              <a:t>(1)</a:t>
            </a:r>
            <a:endParaRPr lang="en-US" sz="1600" dirty="0"/>
          </a:p>
        </p:txBody>
      </p:sp>
      <p:sp>
        <p:nvSpPr>
          <p:cNvPr id="15" name="Shape 12"/>
          <p:cNvSpPr/>
          <p:nvPr/>
        </p:nvSpPr>
        <p:spPr>
          <a:xfrm>
            <a:off x="1691640" y="2679192"/>
            <a:ext cx="457200" cy="329184"/>
          </a:xfrm>
          <a:prstGeom prst="rect">
            <a:avLst/>
          </a:prstGeom>
          <a:solidFill>
            <a:srgbClr val="2A9D8F"/>
          </a:solidFill>
          <a:ln w="28575">
            <a:solidFill>
              <a:srgbClr val="2A9D8F"/>
            </a:solidFill>
            <a:prstDash val="solid"/>
          </a:ln>
        </p:spPr>
      </p:sp>
      <p:sp>
        <p:nvSpPr>
          <p:cNvPr id="16" name="Text 13"/>
          <p:cNvSpPr/>
          <p:nvPr/>
        </p:nvSpPr>
        <p:spPr>
          <a:xfrm>
            <a:off x="1691640" y="2679192"/>
            <a:ext cx="457200" cy="329184"/>
          </a:xfrm>
          <a:prstGeom prst="rect">
            <a:avLst/>
          </a:prstGeom>
          <a:noFill/>
          <a:ln/>
        </p:spPr>
        <p:txBody>
          <a:bodyPr wrap="square" lIns="0" tIns="0" rIns="0" bIns="0" rtlCol="0" anchor="ctr"/>
          <a:lstStyle/>
          <a:p>
            <a:pPr algn="ctr" indent="0" marL="0">
              <a:buNone/>
            </a:pPr>
            <a:r>
              <a:rPr lang="en-US" sz="1200" i="1" dirty="0">
                <a:solidFill>
                  <a:srgbClr val="FFFFFF"/>
                </a:solidFill>
                <a:latin typeface="Times New Roman" pitchFamily="34" charset="0"/>
                <a:ea typeface="Times New Roman" pitchFamily="34" charset="-122"/>
                <a:cs typeface="Times New Roman" pitchFamily="34" charset="-120"/>
              </a:rPr>
              <a:t>X</a:t>
            </a:r>
            <a:r>
              <a:rPr lang="en-US" sz="1200" i="1" baseline="-40000" dirty="0">
                <a:solidFill>
                  <a:srgbClr val="FFFFFF"/>
                </a:solidFill>
                <a:latin typeface="Times New Roman" pitchFamily="34" charset="0"/>
                <a:ea typeface="Times New Roman" pitchFamily="34" charset="-122"/>
                <a:cs typeface="Times New Roman" pitchFamily="34" charset="-120"/>
              </a:rPr>
              <a:t>1</a:t>
            </a:r>
            <a:endParaRPr lang="en-US" sz="1200" dirty="0"/>
          </a:p>
        </p:txBody>
      </p:sp>
      <p:sp>
        <p:nvSpPr>
          <p:cNvPr id="17" name="Shape 14"/>
          <p:cNvSpPr/>
          <p:nvPr/>
        </p:nvSpPr>
        <p:spPr>
          <a:xfrm>
            <a:off x="2148840" y="2679192"/>
            <a:ext cx="457200" cy="329184"/>
          </a:xfrm>
          <a:prstGeom prst="rect">
            <a:avLst/>
          </a:prstGeom>
          <a:solidFill>
            <a:srgbClr val="BFC3D1"/>
          </a:solidFill>
          <a:ln w="12700">
            <a:solidFill>
              <a:srgbClr val="FFFFFF"/>
            </a:solidFill>
            <a:prstDash val="solid"/>
          </a:ln>
        </p:spPr>
      </p:sp>
      <p:sp>
        <p:nvSpPr>
          <p:cNvPr id="18" name="Text 15"/>
          <p:cNvSpPr/>
          <p:nvPr/>
        </p:nvSpPr>
        <p:spPr>
          <a:xfrm>
            <a:off x="2148840" y="2679192"/>
            <a:ext cx="457200" cy="329184"/>
          </a:xfrm>
          <a:prstGeom prst="rect">
            <a:avLst/>
          </a:prstGeom>
          <a:noFill/>
          <a:ln/>
        </p:spPr>
        <p:txBody>
          <a:bodyPr wrap="square" lIns="0" tIns="0" rIns="0" bIns="0" rtlCol="0" anchor="ctr"/>
          <a:lstStyle/>
          <a:p>
            <a:pPr algn="ctr" indent="0" marL="0">
              <a:buNone/>
            </a:pPr>
            <a:r>
              <a:rPr lang="en-US" sz="1200" i="1" dirty="0">
                <a:solidFill>
                  <a:srgbClr val="FFFFFF"/>
                </a:solidFill>
                <a:latin typeface="Times New Roman" pitchFamily="34" charset="0"/>
                <a:ea typeface="Times New Roman" pitchFamily="34" charset="-122"/>
                <a:cs typeface="Times New Roman" pitchFamily="34" charset="-120"/>
              </a:rPr>
              <a:t>X</a:t>
            </a:r>
            <a:r>
              <a:rPr lang="en-US" sz="1200" i="1" baseline="-40000" dirty="0">
                <a:solidFill>
                  <a:srgbClr val="FFFFFF"/>
                </a:solidFill>
                <a:latin typeface="Times New Roman" pitchFamily="34" charset="0"/>
                <a:ea typeface="Times New Roman" pitchFamily="34" charset="-122"/>
                <a:cs typeface="Times New Roman" pitchFamily="34" charset="-120"/>
              </a:rPr>
              <a:t>2</a:t>
            </a:r>
            <a:endParaRPr lang="en-US" sz="1200" dirty="0"/>
          </a:p>
        </p:txBody>
      </p:sp>
      <p:sp>
        <p:nvSpPr>
          <p:cNvPr id="19" name="Shape 16"/>
          <p:cNvSpPr/>
          <p:nvPr/>
        </p:nvSpPr>
        <p:spPr>
          <a:xfrm>
            <a:off x="2606040" y="2679192"/>
            <a:ext cx="457200" cy="329184"/>
          </a:xfrm>
          <a:prstGeom prst="rect">
            <a:avLst/>
          </a:prstGeom>
          <a:solidFill>
            <a:srgbClr val="BFC3D1"/>
          </a:solidFill>
          <a:ln w="12700">
            <a:solidFill>
              <a:srgbClr val="FFFFFF"/>
            </a:solidFill>
            <a:prstDash val="solid"/>
          </a:ln>
        </p:spPr>
      </p:sp>
      <p:sp>
        <p:nvSpPr>
          <p:cNvPr id="20" name="Text 17"/>
          <p:cNvSpPr/>
          <p:nvPr/>
        </p:nvSpPr>
        <p:spPr>
          <a:xfrm>
            <a:off x="2606040" y="2679192"/>
            <a:ext cx="457200" cy="329184"/>
          </a:xfrm>
          <a:prstGeom prst="rect">
            <a:avLst/>
          </a:prstGeom>
          <a:noFill/>
          <a:ln/>
        </p:spPr>
        <p:txBody>
          <a:bodyPr wrap="square" lIns="0" tIns="0" rIns="0" bIns="0" rtlCol="0" anchor="ctr"/>
          <a:lstStyle/>
          <a:p>
            <a:pPr algn="ctr" indent="0" marL="0">
              <a:buNone/>
            </a:pPr>
            <a:r>
              <a:rPr lang="en-US" sz="1200" i="1" dirty="0">
                <a:solidFill>
                  <a:srgbClr val="FFFFFF"/>
                </a:solidFill>
                <a:latin typeface="Times New Roman" pitchFamily="34" charset="0"/>
                <a:ea typeface="Times New Roman" pitchFamily="34" charset="-122"/>
                <a:cs typeface="Times New Roman" pitchFamily="34" charset="-120"/>
              </a:rPr>
              <a:t>X</a:t>
            </a:r>
            <a:r>
              <a:rPr lang="en-US" sz="1200" i="1" baseline="-40000" dirty="0">
                <a:solidFill>
                  <a:srgbClr val="FFFFFF"/>
                </a:solidFill>
                <a:latin typeface="Times New Roman" pitchFamily="34" charset="0"/>
                <a:ea typeface="Times New Roman" pitchFamily="34" charset="-122"/>
                <a:cs typeface="Times New Roman" pitchFamily="34" charset="-120"/>
              </a:rPr>
              <a:t>3</a:t>
            </a:r>
            <a:endParaRPr lang="en-US" sz="1200" dirty="0"/>
          </a:p>
        </p:txBody>
      </p:sp>
      <p:sp>
        <p:nvSpPr>
          <p:cNvPr id="21" name="Text 18"/>
          <p:cNvSpPr/>
          <p:nvPr/>
        </p:nvSpPr>
        <p:spPr>
          <a:xfrm>
            <a:off x="3108960" y="2441448"/>
            <a:ext cx="822960" cy="274320"/>
          </a:xfrm>
          <a:prstGeom prst="rect">
            <a:avLst/>
          </a:prstGeom>
          <a:noFill/>
          <a:ln/>
        </p:spPr>
        <p:txBody>
          <a:bodyPr wrap="square" lIns="0" tIns="0" rIns="0" bIns="0" rtlCol="0" anchor="ctr"/>
          <a:lstStyle/>
          <a:p>
            <a:pPr indent="0" marL="0">
              <a:buNone/>
            </a:pPr>
            <a:r>
              <a:rPr lang="en-US" sz="1200" b="1" dirty="0">
                <a:solidFill>
                  <a:srgbClr val="2A9D8F"/>
                </a:solidFill>
                <a:latin typeface="BIZ UDGothic" pitchFamily="34" charset="0"/>
                <a:ea typeface="BIZ UDGothic" pitchFamily="34" charset="-122"/>
                <a:cs typeface="BIZ UDGothic" pitchFamily="34" charset="-120"/>
              </a:rPr>
              <a:t>← 同じ</a:t>
            </a:r>
            <a:endParaRPr lang="en-US" sz="1200" dirty="0"/>
          </a:p>
        </p:txBody>
      </p:sp>
      <p:sp>
        <p:nvSpPr>
          <p:cNvPr id="22" name="Text 19"/>
          <p:cNvSpPr/>
          <p:nvPr/>
        </p:nvSpPr>
        <p:spPr>
          <a:xfrm>
            <a:off x="4114800" y="1600200"/>
            <a:ext cx="7315200" cy="640080"/>
          </a:xfrm>
          <a:prstGeom prst="rect">
            <a:avLst/>
          </a:prstGeom>
          <a:noFill/>
          <a:ln/>
        </p:spPr>
        <p:txBody>
          <a:bodyPr wrap="square" lIns="0" tIns="0" rIns="0" bIns="0" rtlCol="0" anchor="ctr"/>
          <a:lstStyle/>
          <a:p>
            <a:pPr indent="0" marL="0">
              <a:buNone/>
            </a:pPr>
            <a:r>
              <a:rPr lang="en-US" sz="1500" i="1" dirty="0">
                <a:solidFill>
                  <a:srgbClr val="4A4E69"/>
                </a:solidFill>
                <a:latin typeface="Times New Roman" pitchFamily="34" charset="0"/>
                <a:ea typeface="Times New Roman" pitchFamily="34" charset="-122"/>
                <a:cs typeface="Times New Roman" pitchFamily="34" charset="-120"/>
              </a:rPr>
              <a:t>B</a:t>
            </a:r>
            <a:r>
              <a:rPr lang="en-US" sz="1300" dirty="0">
                <a:solidFill>
                  <a:srgbClr val="4A4E69"/>
                </a:solidFill>
                <a:latin typeface="BIZ UDGothic" pitchFamily="34" charset="0"/>
                <a:ea typeface="BIZ UDGothic" pitchFamily="34" charset="-122"/>
                <a:cs typeface="BIZ UDGothic" pitchFamily="34" charset="-120"/>
              </a:rPr>
              <a:t> と </a:t>
            </a:r>
            <a:r>
              <a:rPr lang="en-US" sz="1500" i="1" dirty="0">
                <a:solidFill>
                  <a:srgbClr val="4A4E69"/>
                </a:solidFill>
                <a:latin typeface="Times New Roman" pitchFamily="34" charset="0"/>
                <a:ea typeface="Times New Roman" pitchFamily="34" charset="-122"/>
                <a:cs typeface="Times New Roman" pitchFamily="34" charset="-120"/>
              </a:rPr>
              <a:t>A</a:t>
            </a:r>
            <a:r>
              <a:rPr lang="en-US" sz="1500" i="1" baseline="-40000" dirty="0">
                <a:solidFill>
                  <a:srgbClr val="4A4E69"/>
                </a:solidFill>
                <a:latin typeface="Times New Roman" pitchFamily="34" charset="0"/>
                <a:ea typeface="Times New Roman" pitchFamily="34" charset="-122"/>
                <a:cs typeface="Times New Roman" pitchFamily="34" charset="-120"/>
              </a:rPr>
              <a:t>B</a:t>
            </a:r>
            <a:r>
              <a:rPr lang="en-US" sz="1500" i="1" baseline="30000" dirty="0">
                <a:solidFill>
                  <a:srgbClr val="4A4E69"/>
                </a:solidFill>
                <a:latin typeface="Times New Roman" pitchFamily="34" charset="0"/>
                <a:ea typeface="Times New Roman" pitchFamily="34" charset="-122"/>
                <a:cs typeface="Times New Roman" pitchFamily="34" charset="-120"/>
              </a:rPr>
              <a:t>(i)</a:t>
            </a:r>
            <a:r>
              <a:rPr lang="en-US" sz="1300" dirty="0">
                <a:solidFill>
                  <a:srgbClr val="4A4E69"/>
                </a:solidFill>
                <a:latin typeface="BIZ UDGothic" pitchFamily="34" charset="0"/>
                <a:ea typeface="BIZ UDGothic" pitchFamily="34" charset="-122"/>
                <a:cs typeface="BIZ UDGothic" pitchFamily="34" charset="-120"/>
              </a:rPr>
              <a:t> は </a:t>
            </a:r>
            <a:r>
              <a:rPr lang="en-US" sz="1500" i="1" dirty="0">
                <a:solidFill>
                  <a:srgbClr val="4A4E69"/>
                </a:solidFill>
                <a:latin typeface="Times New Roman" pitchFamily="34" charset="0"/>
                <a:ea typeface="Times New Roman" pitchFamily="34" charset="-122"/>
                <a:cs typeface="Times New Roman" pitchFamily="34" charset="-120"/>
              </a:rPr>
              <a:t>X</a:t>
            </a:r>
            <a:r>
              <a:rPr lang="en-US" sz="1500" i="1" baseline="-40000" dirty="0">
                <a:solidFill>
                  <a:srgbClr val="4A4E69"/>
                </a:solidFill>
                <a:latin typeface="Times New Roman" pitchFamily="34" charset="0"/>
                <a:ea typeface="Times New Roman" pitchFamily="34" charset="-122"/>
                <a:cs typeface="Times New Roman" pitchFamily="34" charset="-120"/>
              </a:rPr>
              <a:t>i</a:t>
            </a:r>
            <a:r>
              <a:rPr lang="en-US" sz="1300" dirty="0">
                <a:solidFill>
                  <a:srgbClr val="4A4E69"/>
                </a:solidFill>
                <a:latin typeface="BIZ UDGothic" pitchFamily="34" charset="0"/>
                <a:ea typeface="BIZ UDGothic" pitchFamily="34" charset="-122"/>
                <a:cs typeface="BIZ UDGothic" pitchFamily="34" charset="-120"/>
              </a:rPr>
              <a:t> だけが共通 → 出力が一緒に動く度合い ＝ </a:t>
            </a:r>
            <a:r>
              <a:rPr lang="en-US" sz="1500" i="1" dirty="0">
                <a:solidFill>
                  <a:srgbClr val="4A4E69"/>
                </a:solidFill>
                <a:latin typeface="Times New Roman" pitchFamily="34" charset="0"/>
                <a:ea typeface="Times New Roman" pitchFamily="34" charset="-122"/>
                <a:cs typeface="Times New Roman" pitchFamily="34" charset="-120"/>
              </a:rPr>
              <a:t>X</a:t>
            </a:r>
            <a:r>
              <a:rPr lang="en-US" sz="1500" i="1" baseline="-40000" dirty="0">
                <a:solidFill>
                  <a:srgbClr val="4A4E69"/>
                </a:solidFill>
                <a:latin typeface="Times New Roman" pitchFamily="34" charset="0"/>
                <a:ea typeface="Times New Roman" pitchFamily="34" charset="-122"/>
                <a:cs typeface="Times New Roman" pitchFamily="34" charset="-120"/>
              </a:rPr>
              <a:t>i</a:t>
            </a:r>
            <a:r>
              <a:rPr lang="en-US" sz="1300" dirty="0">
                <a:solidFill>
                  <a:srgbClr val="4A4E69"/>
                </a:solidFill>
                <a:latin typeface="BIZ UDGothic" pitchFamily="34" charset="0"/>
                <a:ea typeface="BIZ UDGothic" pitchFamily="34" charset="-122"/>
                <a:cs typeface="BIZ UDGothic" pitchFamily="34" charset="-120"/>
              </a:rPr>
              <a:t> 単独の効き</a:t>
            </a:r>
            <a:endParaRPr lang="en-US" sz="1500" dirty="0"/>
          </a:p>
        </p:txBody>
      </p:sp>
      <p:sp>
        <p:nvSpPr>
          <p:cNvPr id="23" name="Shape 20"/>
          <p:cNvSpPr/>
          <p:nvPr/>
        </p:nvSpPr>
        <p:spPr>
          <a:xfrm>
            <a:off x="4114800" y="2286000"/>
            <a:ext cx="7315200" cy="1005840"/>
          </a:xfrm>
          <a:prstGeom prst="roundRect">
            <a:avLst>
              <a:gd name="adj" fmla="val 7273"/>
            </a:avLst>
          </a:prstGeom>
          <a:solidFill>
            <a:srgbClr val="D8F0ED"/>
          </a:solidFill>
          <a:ln/>
        </p:spPr>
      </p:sp>
      <p:sp>
        <p:nvSpPr>
          <p:cNvPr id="24" name="Text 21"/>
          <p:cNvSpPr/>
          <p:nvPr/>
        </p:nvSpPr>
        <p:spPr>
          <a:xfrm>
            <a:off x="4114800" y="2286000"/>
            <a:ext cx="5669280" cy="1005840"/>
          </a:xfrm>
          <a:prstGeom prst="rect">
            <a:avLst/>
          </a:prstGeom>
          <a:noFill/>
          <a:ln/>
        </p:spPr>
        <p:txBody>
          <a:bodyPr wrap="square" lIns="0" tIns="0" rIns="0" bIns="0" rtlCol="0" anchor="ctr"/>
          <a:lstStyle/>
          <a:p>
            <a:pPr algn="ctr" indent="0" marL="0">
              <a:buNone/>
            </a:pPr>
            <a:r>
              <a:rPr lang="en-US" sz="2400" i="1" dirty="0">
                <a:solidFill>
                  <a:srgbClr val="22223B"/>
                </a:solidFill>
                <a:latin typeface="Times New Roman" pitchFamily="34" charset="0"/>
                <a:ea typeface="Times New Roman" pitchFamily="34" charset="-122"/>
                <a:cs typeface="Times New Roman" pitchFamily="34" charset="-120"/>
              </a:rPr>
              <a:t>V</a:t>
            </a:r>
            <a:r>
              <a:rPr lang="en-US" sz="2400" i="1" baseline="-40000" dirty="0">
                <a:solidFill>
                  <a:srgbClr val="22223B"/>
                </a:solidFill>
                <a:latin typeface="Times New Roman" pitchFamily="34" charset="0"/>
                <a:ea typeface="Times New Roman" pitchFamily="34" charset="-122"/>
                <a:cs typeface="Times New Roman" pitchFamily="34" charset="-120"/>
              </a:rPr>
              <a:t>i</a:t>
            </a:r>
            <a:r>
              <a:rPr lang="en-US" sz="2100" dirty="0">
                <a:solidFill>
                  <a:srgbClr val="22223B"/>
                </a:solidFill>
                <a:latin typeface="BIZ UDGothic" pitchFamily="34" charset="0"/>
                <a:ea typeface="BIZ UDGothic" pitchFamily="34" charset="-122"/>
                <a:cs typeface="BIZ UDGothic" pitchFamily="34" charset="-120"/>
              </a:rPr>
              <a:t> ≈ </a:t>
            </a:r>
            <a:r>
              <a:rPr lang="en-US" sz="2400" i="1" dirty="0">
                <a:solidFill>
                  <a:srgbClr val="22223B"/>
                </a:solidFill>
                <a:latin typeface="Times New Roman" pitchFamily="34" charset="0"/>
                <a:ea typeface="Times New Roman" pitchFamily="34" charset="-122"/>
                <a:cs typeface="Times New Roman" pitchFamily="34" charset="-120"/>
              </a:rPr>
              <a:t>(1/N) Σ</a:t>
            </a:r>
            <a:r>
              <a:rPr lang="en-US" sz="2400" i="1" baseline="-40000" dirty="0">
                <a:solidFill>
                  <a:srgbClr val="22223B"/>
                </a:solidFill>
                <a:latin typeface="Times New Roman" pitchFamily="34" charset="0"/>
                <a:ea typeface="Times New Roman" pitchFamily="34" charset="-122"/>
                <a:cs typeface="Times New Roman" pitchFamily="34" charset="-120"/>
              </a:rPr>
              <a:t>j</a:t>
            </a:r>
            <a:r>
              <a:rPr lang="en-US" sz="2400" i="1" dirty="0">
                <a:solidFill>
                  <a:srgbClr val="22223B"/>
                </a:solidFill>
                <a:latin typeface="Times New Roman" pitchFamily="34" charset="0"/>
                <a:ea typeface="Times New Roman" pitchFamily="34" charset="-122"/>
                <a:cs typeface="Times New Roman" pitchFamily="34" charset="-120"/>
              </a:rPr>
              <a:t> f(B)</a:t>
            </a:r>
            <a:r>
              <a:rPr lang="en-US" sz="2400" i="1" baseline="-40000" dirty="0">
                <a:solidFill>
                  <a:srgbClr val="22223B"/>
                </a:solidFill>
                <a:latin typeface="Times New Roman" pitchFamily="34" charset="0"/>
                <a:ea typeface="Times New Roman" pitchFamily="34" charset="-122"/>
                <a:cs typeface="Times New Roman" pitchFamily="34" charset="-120"/>
              </a:rPr>
              <a:t>j</a:t>
            </a:r>
            <a:r>
              <a:rPr lang="en-US" sz="2400" i="1" dirty="0">
                <a:solidFill>
                  <a:srgbClr val="22223B"/>
                </a:solidFill>
                <a:latin typeface="Times New Roman" pitchFamily="34" charset="0"/>
                <a:ea typeface="Times New Roman" pitchFamily="34" charset="-122"/>
                <a:cs typeface="Times New Roman" pitchFamily="34" charset="-120"/>
              </a:rPr>
              <a:t> [ f(A</a:t>
            </a:r>
            <a:r>
              <a:rPr lang="en-US" sz="2400" i="1" baseline="-40000" dirty="0">
                <a:solidFill>
                  <a:srgbClr val="22223B"/>
                </a:solidFill>
                <a:latin typeface="Times New Roman" pitchFamily="34" charset="0"/>
                <a:ea typeface="Times New Roman" pitchFamily="34" charset="-122"/>
                <a:cs typeface="Times New Roman" pitchFamily="34" charset="-120"/>
              </a:rPr>
              <a:t>B</a:t>
            </a:r>
            <a:r>
              <a:rPr lang="en-US" sz="2400" i="1" baseline="30000" dirty="0">
                <a:solidFill>
                  <a:srgbClr val="22223B"/>
                </a:solidFill>
                <a:latin typeface="Times New Roman" pitchFamily="34" charset="0"/>
                <a:ea typeface="Times New Roman" pitchFamily="34" charset="-122"/>
                <a:cs typeface="Times New Roman" pitchFamily="34" charset="-120"/>
              </a:rPr>
              <a:t>(i)</a:t>
            </a:r>
            <a:r>
              <a:rPr lang="en-US" sz="2400" i="1" dirty="0">
                <a:solidFill>
                  <a:srgbClr val="22223B"/>
                </a:solidFill>
                <a:latin typeface="Times New Roman" pitchFamily="34" charset="0"/>
                <a:ea typeface="Times New Roman" pitchFamily="34" charset="-122"/>
                <a:cs typeface="Times New Roman" pitchFamily="34" charset="-120"/>
              </a:rPr>
              <a:t>)</a:t>
            </a:r>
            <a:r>
              <a:rPr lang="en-US" sz="2400" i="1" baseline="-40000" dirty="0">
                <a:solidFill>
                  <a:srgbClr val="22223B"/>
                </a:solidFill>
                <a:latin typeface="Times New Roman" pitchFamily="34" charset="0"/>
                <a:ea typeface="Times New Roman" pitchFamily="34" charset="-122"/>
                <a:cs typeface="Times New Roman" pitchFamily="34" charset="-120"/>
              </a:rPr>
              <a:t>j</a:t>
            </a:r>
            <a:r>
              <a:rPr lang="en-US" sz="2400" i="1" dirty="0">
                <a:solidFill>
                  <a:srgbClr val="22223B"/>
                </a:solidFill>
                <a:latin typeface="Times New Roman" pitchFamily="34" charset="0"/>
                <a:ea typeface="Times New Roman" pitchFamily="34" charset="-122"/>
                <a:cs typeface="Times New Roman" pitchFamily="34" charset="-120"/>
              </a:rPr>
              <a:t> − f(A)</a:t>
            </a:r>
            <a:r>
              <a:rPr lang="en-US" sz="2400" i="1" baseline="-40000" dirty="0">
                <a:solidFill>
                  <a:srgbClr val="22223B"/>
                </a:solidFill>
                <a:latin typeface="Times New Roman" pitchFamily="34" charset="0"/>
                <a:ea typeface="Times New Roman" pitchFamily="34" charset="-122"/>
                <a:cs typeface="Times New Roman" pitchFamily="34" charset="-120"/>
              </a:rPr>
              <a:t>j</a:t>
            </a:r>
            <a:r>
              <a:rPr lang="en-US" sz="2400" i="1" dirty="0">
                <a:solidFill>
                  <a:srgbClr val="22223B"/>
                </a:solidFill>
                <a:latin typeface="Times New Roman" pitchFamily="34" charset="0"/>
                <a:ea typeface="Times New Roman" pitchFamily="34" charset="-122"/>
                <a:cs typeface="Times New Roman" pitchFamily="34" charset="-120"/>
              </a:rPr>
              <a:t> ]</a:t>
            </a:r>
            <a:endParaRPr lang="en-US" sz="2400" dirty="0"/>
          </a:p>
        </p:txBody>
      </p:sp>
      <p:sp>
        <p:nvSpPr>
          <p:cNvPr id="25" name="Text 22"/>
          <p:cNvSpPr/>
          <p:nvPr/>
        </p:nvSpPr>
        <p:spPr>
          <a:xfrm>
            <a:off x="9784080" y="2286000"/>
            <a:ext cx="1554480" cy="1005840"/>
          </a:xfrm>
          <a:prstGeom prst="rect">
            <a:avLst/>
          </a:prstGeom>
          <a:noFill/>
          <a:ln/>
        </p:spPr>
        <p:txBody>
          <a:bodyPr wrap="square" lIns="0" tIns="0" rIns="0" bIns="0" rtlCol="0" anchor="ctr"/>
          <a:lstStyle/>
          <a:p>
            <a:pPr algn="r" indent="0" marL="0">
              <a:buNone/>
            </a:pPr>
            <a:r>
              <a:rPr lang="en-US" sz="1100" dirty="0">
                <a:solidFill>
                  <a:srgbClr val="6C6F7F"/>
                </a:solidFill>
                <a:latin typeface="BIZ UDGothic" pitchFamily="34" charset="0"/>
                <a:ea typeface="BIZ UDGothic" pitchFamily="34" charset="-122"/>
                <a:cs typeface="BIZ UDGothic" pitchFamily="34" charset="-120"/>
              </a:rPr>
              <a:t>Saltelli et al. (2010)</a:t>
            </a:r>
            <a:endParaRPr lang="en-US" sz="1100" dirty="0"/>
          </a:p>
        </p:txBody>
      </p:sp>
      <p:sp>
        <p:nvSpPr>
          <p:cNvPr id="26" name="Shape 23"/>
          <p:cNvSpPr/>
          <p:nvPr/>
        </p:nvSpPr>
        <p:spPr>
          <a:xfrm>
            <a:off x="548640" y="3749040"/>
            <a:ext cx="11094415" cy="2103120"/>
          </a:xfrm>
          <a:prstGeom prst="roundRect">
            <a:avLst>
              <a:gd name="adj" fmla="val 3478"/>
            </a:avLst>
          </a:prstGeom>
          <a:solidFill>
            <a:srgbClr val="FFFFFF"/>
          </a:solidFill>
          <a:ln w="9525">
            <a:solidFill>
              <a:srgbClr val="DADDE6"/>
            </a:solidFill>
            <a:prstDash val="solid"/>
          </a:ln>
        </p:spPr>
      </p:sp>
      <p:sp>
        <p:nvSpPr>
          <p:cNvPr id="27" name="Text 24"/>
          <p:cNvSpPr/>
          <p:nvPr/>
        </p:nvSpPr>
        <p:spPr>
          <a:xfrm>
            <a:off x="822960" y="3931920"/>
            <a:ext cx="2743200" cy="457200"/>
          </a:xfrm>
          <a:prstGeom prst="rect">
            <a:avLst/>
          </a:prstGeom>
          <a:noFill/>
          <a:ln/>
        </p:spPr>
        <p:txBody>
          <a:bodyPr wrap="square" lIns="0" tIns="0" rIns="0" bIns="0" rtlCol="0" anchor="ctr"/>
          <a:lstStyle/>
          <a:p>
            <a:pPr indent="0" marL="0">
              <a:buNone/>
            </a:pPr>
            <a:r>
              <a:rPr lang="en-US" sz="1900" b="1" dirty="0">
                <a:solidFill>
                  <a:srgbClr val="E76F51"/>
                </a:solidFill>
                <a:latin typeface="BIZ UDGothic" pitchFamily="34" charset="0"/>
                <a:ea typeface="BIZ UDGothic" pitchFamily="34" charset="-122"/>
                <a:cs typeface="BIZ UDGothic" pitchFamily="34" charset="-120"/>
              </a:rPr>
              <a:t>総合効果 </a:t>
            </a:r>
            <a:r>
              <a:rPr lang="en-US" sz="2100" b="1" i="1" dirty="0">
                <a:solidFill>
                  <a:srgbClr val="E76F51"/>
                </a:solidFill>
                <a:latin typeface="Times New Roman" pitchFamily="34" charset="0"/>
                <a:ea typeface="Times New Roman" pitchFamily="34" charset="-122"/>
                <a:cs typeface="Times New Roman" pitchFamily="34" charset="-120"/>
              </a:rPr>
              <a:t>S</a:t>
            </a:r>
            <a:r>
              <a:rPr lang="en-US" sz="2100" b="1" i="1" baseline="-40000" dirty="0">
                <a:solidFill>
                  <a:srgbClr val="E76F51"/>
                </a:solidFill>
                <a:latin typeface="Times New Roman" pitchFamily="34" charset="0"/>
                <a:ea typeface="Times New Roman" pitchFamily="34" charset="-122"/>
                <a:cs typeface="Times New Roman" pitchFamily="34" charset="-120"/>
              </a:rPr>
              <a:t>Ti</a:t>
            </a:r>
            <a:endParaRPr lang="en-US" sz="1900" dirty="0"/>
          </a:p>
        </p:txBody>
      </p:sp>
      <p:sp>
        <p:nvSpPr>
          <p:cNvPr id="28" name="Text 25"/>
          <p:cNvSpPr/>
          <p:nvPr/>
        </p:nvSpPr>
        <p:spPr>
          <a:xfrm>
            <a:off x="822960" y="4572000"/>
            <a:ext cx="822960" cy="329184"/>
          </a:xfrm>
          <a:prstGeom prst="rect">
            <a:avLst/>
          </a:prstGeom>
          <a:noFill/>
          <a:ln/>
        </p:spPr>
        <p:txBody>
          <a:bodyPr wrap="square" lIns="0" tIns="0" rIns="0" bIns="0" rtlCol="0" anchor="ctr"/>
          <a:lstStyle/>
          <a:p>
            <a:pPr indent="0" marL="0">
              <a:buNone/>
            </a:pPr>
            <a:r>
              <a:rPr lang="en-US" sz="1600" i="1" dirty="0">
                <a:solidFill>
                  <a:srgbClr val="22223B"/>
                </a:solidFill>
                <a:latin typeface="Times New Roman" pitchFamily="34" charset="0"/>
                <a:ea typeface="Times New Roman" pitchFamily="34" charset="-122"/>
                <a:cs typeface="Times New Roman" pitchFamily="34" charset="-120"/>
              </a:rPr>
              <a:t>A</a:t>
            </a:r>
            <a:endParaRPr lang="en-US" sz="1600" dirty="0"/>
          </a:p>
        </p:txBody>
      </p:sp>
      <p:sp>
        <p:nvSpPr>
          <p:cNvPr id="29" name="Shape 26"/>
          <p:cNvSpPr/>
          <p:nvPr/>
        </p:nvSpPr>
        <p:spPr>
          <a:xfrm>
            <a:off x="1691640" y="4572000"/>
            <a:ext cx="457200" cy="329184"/>
          </a:xfrm>
          <a:prstGeom prst="rect">
            <a:avLst/>
          </a:prstGeom>
          <a:solidFill>
            <a:srgbClr val="BFC3D1"/>
          </a:solidFill>
          <a:ln w="28575">
            <a:solidFill>
              <a:srgbClr val="E76F51"/>
            </a:solidFill>
            <a:prstDash val="solid"/>
          </a:ln>
        </p:spPr>
      </p:sp>
      <p:sp>
        <p:nvSpPr>
          <p:cNvPr id="30" name="Text 27"/>
          <p:cNvSpPr/>
          <p:nvPr/>
        </p:nvSpPr>
        <p:spPr>
          <a:xfrm>
            <a:off x="1691640" y="4572000"/>
            <a:ext cx="457200" cy="329184"/>
          </a:xfrm>
          <a:prstGeom prst="rect">
            <a:avLst/>
          </a:prstGeom>
          <a:noFill/>
          <a:ln/>
        </p:spPr>
        <p:txBody>
          <a:bodyPr wrap="square" lIns="0" tIns="0" rIns="0" bIns="0" rtlCol="0" anchor="ctr"/>
          <a:lstStyle/>
          <a:p>
            <a:pPr algn="ctr" indent="0" marL="0">
              <a:buNone/>
            </a:pPr>
            <a:r>
              <a:rPr lang="en-US" sz="1200" i="1" dirty="0">
                <a:solidFill>
                  <a:srgbClr val="FFFFFF"/>
                </a:solidFill>
                <a:latin typeface="Times New Roman" pitchFamily="34" charset="0"/>
                <a:ea typeface="Times New Roman" pitchFamily="34" charset="-122"/>
                <a:cs typeface="Times New Roman" pitchFamily="34" charset="-120"/>
              </a:rPr>
              <a:t>X</a:t>
            </a:r>
            <a:r>
              <a:rPr lang="en-US" sz="1200" i="1" baseline="-40000" dirty="0">
                <a:solidFill>
                  <a:srgbClr val="FFFFFF"/>
                </a:solidFill>
                <a:latin typeface="Times New Roman" pitchFamily="34" charset="0"/>
                <a:ea typeface="Times New Roman" pitchFamily="34" charset="-122"/>
                <a:cs typeface="Times New Roman" pitchFamily="34" charset="-120"/>
              </a:rPr>
              <a:t>1</a:t>
            </a:r>
            <a:endParaRPr lang="en-US" sz="1200" dirty="0"/>
          </a:p>
        </p:txBody>
      </p:sp>
      <p:sp>
        <p:nvSpPr>
          <p:cNvPr id="31" name="Shape 28"/>
          <p:cNvSpPr/>
          <p:nvPr/>
        </p:nvSpPr>
        <p:spPr>
          <a:xfrm>
            <a:off x="2148840" y="4572000"/>
            <a:ext cx="457200" cy="329184"/>
          </a:xfrm>
          <a:prstGeom prst="rect">
            <a:avLst/>
          </a:prstGeom>
          <a:solidFill>
            <a:srgbClr val="BFC3D1"/>
          </a:solidFill>
          <a:ln w="12700">
            <a:solidFill>
              <a:srgbClr val="FFFFFF"/>
            </a:solidFill>
            <a:prstDash val="solid"/>
          </a:ln>
        </p:spPr>
      </p:sp>
      <p:sp>
        <p:nvSpPr>
          <p:cNvPr id="32" name="Text 29"/>
          <p:cNvSpPr/>
          <p:nvPr/>
        </p:nvSpPr>
        <p:spPr>
          <a:xfrm>
            <a:off x="2148840" y="4572000"/>
            <a:ext cx="457200" cy="329184"/>
          </a:xfrm>
          <a:prstGeom prst="rect">
            <a:avLst/>
          </a:prstGeom>
          <a:noFill/>
          <a:ln/>
        </p:spPr>
        <p:txBody>
          <a:bodyPr wrap="square" lIns="0" tIns="0" rIns="0" bIns="0" rtlCol="0" anchor="ctr"/>
          <a:lstStyle/>
          <a:p>
            <a:pPr algn="ctr" indent="0" marL="0">
              <a:buNone/>
            </a:pPr>
            <a:r>
              <a:rPr lang="en-US" sz="1200" i="1" dirty="0">
                <a:solidFill>
                  <a:srgbClr val="FFFFFF"/>
                </a:solidFill>
                <a:latin typeface="Times New Roman" pitchFamily="34" charset="0"/>
                <a:ea typeface="Times New Roman" pitchFamily="34" charset="-122"/>
                <a:cs typeface="Times New Roman" pitchFamily="34" charset="-120"/>
              </a:rPr>
              <a:t>X</a:t>
            </a:r>
            <a:r>
              <a:rPr lang="en-US" sz="1200" i="1" baseline="-40000" dirty="0">
                <a:solidFill>
                  <a:srgbClr val="FFFFFF"/>
                </a:solidFill>
                <a:latin typeface="Times New Roman" pitchFamily="34" charset="0"/>
                <a:ea typeface="Times New Roman" pitchFamily="34" charset="-122"/>
                <a:cs typeface="Times New Roman" pitchFamily="34" charset="-120"/>
              </a:rPr>
              <a:t>2</a:t>
            </a:r>
            <a:endParaRPr lang="en-US" sz="1200" dirty="0"/>
          </a:p>
        </p:txBody>
      </p:sp>
      <p:sp>
        <p:nvSpPr>
          <p:cNvPr id="33" name="Shape 30"/>
          <p:cNvSpPr/>
          <p:nvPr/>
        </p:nvSpPr>
        <p:spPr>
          <a:xfrm>
            <a:off x="2606040" y="4572000"/>
            <a:ext cx="457200" cy="329184"/>
          </a:xfrm>
          <a:prstGeom prst="rect">
            <a:avLst/>
          </a:prstGeom>
          <a:solidFill>
            <a:srgbClr val="BFC3D1"/>
          </a:solidFill>
          <a:ln w="12700">
            <a:solidFill>
              <a:srgbClr val="FFFFFF"/>
            </a:solidFill>
            <a:prstDash val="solid"/>
          </a:ln>
        </p:spPr>
      </p:sp>
      <p:sp>
        <p:nvSpPr>
          <p:cNvPr id="34" name="Text 31"/>
          <p:cNvSpPr/>
          <p:nvPr/>
        </p:nvSpPr>
        <p:spPr>
          <a:xfrm>
            <a:off x="2606040" y="4572000"/>
            <a:ext cx="457200" cy="329184"/>
          </a:xfrm>
          <a:prstGeom prst="rect">
            <a:avLst/>
          </a:prstGeom>
          <a:noFill/>
          <a:ln/>
        </p:spPr>
        <p:txBody>
          <a:bodyPr wrap="square" lIns="0" tIns="0" rIns="0" bIns="0" rtlCol="0" anchor="ctr"/>
          <a:lstStyle/>
          <a:p>
            <a:pPr algn="ctr" indent="0" marL="0">
              <a:buNone/>
            </a:pPr>
            <a:r>
              <a:rPr lang="en-US" sz="1200" i="1" dirty="0">
                <a:solidFill>
                  <a:srgbClr val="FFFFFF"/>
                </a:solidFill>
                <a:latin typeface="Times New Roman" pitchFamily="34" charset="0"/>
                <a:ea typeface="Times New Roman" pitchFamily="34" charset="-122"/>
                <a:cs typeface="Times New Roman" pitchFamily="34" charset="-120"/>
              </a:rPr>
              <a:t>X</a:t>
            </a:r>
            <a:r>
              <a:rPr lang="en-US" sz="1200" i="1" baseline="-40000" dirty="0">
                <a:solidFill>
                  <a:srgbClr val="FFFFFF"/>
                </a:solidFill>
                <a:latin typeface="Times New Roman" pitchFamily="34" charset="0"/>
                <a:ea typeface="Times New Roman" pitchFamily="34" charset="-122"/>
                <a:cs typeface="Times New Roman" pitchFamily="34" charset="-120"/>
              </a:rPr>
              <a:t>3</a:t>
            </a:r>
            <a:endParaRPr lang="en-US" sz="1200" dirty="0"/>
          </a:p>
        </p:txBody>
      </p:sp>
      <p:sp>
        <p:nvSpPr>
          <p:cNvPr id="35" name="Text 32"/>
          <p:cNvSpPr/>
          <p:nvPr/>
        </p:nvSpPr>
        <p:spPr>
          <a:xfrm>
            <a:off x="822960" y="5010912"/>
            <a:ext cx="822960" cy="329184"/>
          </a:xfrm>
          <a:prstGeom prst="rect">
            <a:avLst/>
          </a:prstGeom>
          <a:noFill/>
          <a:ln/>
        </p:spPr>
        <p:txBody>
          <a:bodyPr wrap="square" lIns="0" tIns="0" rIns="0" bIns="0" rtlCol="0" anchor="ctr"/>
          <a:lstStyle/>
          <a:p>
            <a:pPr indent="0" marL="0">
              <a:buNone/>
            </a:pPr>
            <a:r>
              <a:rPr lang="en-US" sz="1600" i="1" dirty="0">
                <a:solidFill>
                  <a:srgbClr val="22223B"/>
                </a:solidFill>
                <a:latin typeface="Times New Roman" pitchFamily="34" charset="0"/>
                <a:ea typeface="Times New Roman" pitchFamily="34" charset="-122"/>
                <a:cs typeface="Times New Roman" pitchFamily="34" charset="-120"/>
              </a:rPr>
              <a:t>A</a:t>
            </a:r>
            <a:r>
              <a:rPr lang="en-US" sz="1600" i="1" baseline="-40000" dirty="0">
                <a:solidFill>
                  <a:srgbClr val="22223B"/>
                </a:solidFill>
                <a:latin typeface="Times New Roman" pitchFamily="34" charset="0"/>
                <a:ea typeface="Times New Roman" pitchFamily="34" charset="-122"/>
                <a:cs typeface="Times New Roman" pitchFamily="34" charset="-120"/>
              </a:rPr>
              <a:t>B</a:t>
            </a:r>
            <a:r>
              <a:rPr lang="en-US" sz="1600" i="1" baseline="30000" dirty="0">
                <a:solidFill>
                  <a:srgbClr val="22223B"/>
                </a:solidFill>
                <a:latin typeface="Times New Roman" pitchFamily="34" charset="0"/>
                <a:ea typeface="Times New Roman" pitchFamily="34" charset="-122"/>
                <a:cs typeface="Times New Roman" pitchFamily="34" charset="-120"/>
              </a:rPr>
              <a:t>(1)</a:t>
            </a:r>
            <a:endParaRPr lang="en-US" sz="1600" dirty="0"/>
          </a:p>
        </p:txBody>
      </p:sp>
      <p:sp>
        <p:nvSpPr>
          <p:cNvPr id="36" name="Shape 33"/>
          <p:cNvSpPr/>
          <p:nvPr/>
        </p:nvSpPr>
        <p:spPr>
          <a:xfrm>
            <a:off x="1691640" y="5010912"/>
            <a:ext cx="457200" cy="329184"/>
          </a:xfrm>
          <a:prstGeom prst="rect">
            <a:avLst/>
          </a:prstGeom>
          <a:solidFill>
            <a:srgbClr val="2A9D8F"/>
          </a:solidFill>
          <a:ln w="28575">
            <a:solidFill>
              <a:srgbClr val="E76F51"/>
            </a:solidFill>
            <a:prstDash val="solid"/>
          </a:ln>
        </p:spPr>
      </p:sp>
      <p:sp>
        <p:nvSpPr>
          <p:cNvPr id="37" name="Text 34"/>
          <p:cNvSpPr/>
          <p:nvPr/>
        </p:nvSpPr>
        <p:spPr>
          <a:xfrm>
            <a:off x="1691640" y="5010912"/>
            <a:ext cx="457200" cy="329184"/>
          </a:xfrm>
          <a:prstGeom prst="rect">
            <a:avLst/>
          </a:prstGeom>
          <a:noFill/>
          <a:ln/>
        </p:spPr>
        <p:txBody>
          <a:bodyPr wrap="square" lIns="0" tIns="0" rIns="0" bIns="0" rtlCol="0" anchor="ctr"/>
          <a:lstStyle/>
          <a:p>
            <a:pPr algn="ctr" indent="0" marL="0">
              <a:buNone/>
            </a:pPr>
            <a:r>
              <a:rPr lang="en-US" sz="1200" i="1" dirty="0">
                <a:solidFill>
                  <a:srgbClr val="FFFFFF"/>
                </a:solidFill>
                <a:latin typeface="Times New Roman" pitchFamily="34" charset="0"/>
                <a:ea typeface="Times New Roman" pitchFamily="34" charset="-122"/>
                <a:cs typeface="Times New Roman" pitchFamily="34" charset="-120"/>
              </a:rPr>
              <a:t>X</a:t>
            </a:r>
            <a:r>
              <a:rPr lang="en-US" sz="1200" i="1" baseline="-40000" dirty="0">
                <a:solidFill>
                  <a:srgbClr val="FFFFFF"/>
                </a:solidFill>
                <a:latin typeface="Times New Roman" pitchFamily="34" charset="0"/>
                <a:ea typeface="Times New Roman" pitchFamily="34" charset="-122"/>
                <a:cs typeface="Times New Roman" pitchFamily="34" charset="-120"/>
              </a:rPr>
              <a:t>1</a:t>
            </a:r>
            <a:endParaRPr lang="en-US" sz="1200" dirty="0"/>
          </a:p>
        </p:txBody>
      </p:sp>
      <p:sp>
        <p:nvSpPr>
          <p:cNvPr id="38" name="Shape 35"/>
          <p:cNvSpPr/>
          <p:nvPr/>
        </p:nvSpPr>
        <p:spPr>
          <a:xfrm>
            <a:off x="2148840" y="5010912"/>
            <a:ext cx="457200" cy="329184"/>
          </a:xfrm>
          <a:prstGeom prst="rect">
            <a:avLst/>
          </a:prstGeom>
          <a:solidFill>
            <a:srgbClr val="BFC3D1"/>
          </a:solidFill>
          <a:ln w="12700">
            <a:solidFill>
              <a:srgbClr val="FFFFFF"/>
            </a:solidFill>
            <a:prstDash val="solid"/>
          </a:ln>
        </p:spPr>
      </p:sp>
      <p:sp>
        <p:nvSpPr>
          <p:cNvPr id="39" name="Text 36"/>
          <p:cNvSpPr/>
          <p:nvPr/>
        </p:nvSpPr>
        <p:spPr>
          <a:xfrm>
            <a:off x="2148840" y="5010912"/>
            <a:ext cx="457200" cy="329184"/>
          </a:xfrm>
          <a:prstGeom prst="rect">
            <a:avLst/>
          </a:prstGeom>
          <a:noFill/>
          <a:ln/>
        </p:spPr>
        <p:txBody>
          <a:bodyPr wrap="square" lIns="0" tIns="0" rIns="0" bIns="0" rtlCol="0" anchor="ctr"/>
          <a:lstStyle/>
          <a:p>
            <a:pPr algn="ctr" indent="0" marL="0">
              <a:buNone/>
            </a:pPr>
            <a:r>
              <a:rPr lang="en-US" sz="1200" i="1" dirty="0">
                <a:solidFill>
                  <a:srgbClr val="FFFFFF"/>
                </a:solidFill>
                <a:latin typeface="Times New Roman" pitchFamily="34" charset="0"/>
                <a:ea typeface="Times New Roman" pitchFamily="34" charset="-122"/>
                <a:cs typeface="Times New Roman" pitchFamily="34" charset="-120"/>
              </a:rPr>
              <a:t>X</a:t>
            </a:r>
            <a:r>
              <a:rPr lang="en-US" sz="1200" i="1" baseline="-40000" dirty="0">
                <a:solidFill>
                  <a:srgbClr val="FFFFFF"/>
                </a:solidFill>
                <a:latin typeface="Times New Roman" pitchFamily="34" charset="0"/>
                <a:ea typeface="Times New Roman" pitchFamily="34" charset="-122"/>
                <a:cs typeface="Times New Roman" pitchFamily="34" charset="-120"/>
              </a:rPr>
              <a:t>2</a:t>
            </a:r>
            <a:endParaRPr lang="en-US" sz="1200" dirty="0"/>
          </a:p>
        </p:txBody>
      </p:sp>
      <p:sp>
        <p:nvSpPr>
          <p:cNvPr id="40" name="Shape 37"/>
          <p:cNvSpPr/>
          <p:nvPr/>
        </p:nvSpPr>
        <p:spPr>
          <a:xfrm>
            <a:off x="2606040" y="5010912"/>
            <a:ext cx="457200" cy="329184"/>
          </a:xfrm>
          <a:prstGeom prst="rect">
            <a:avLst/>
          </a:prstGeom>
          <a:solidFill>
            <a:srgbClr val="BFC3D1"/>
          </a:solidFill>
          <a:ln w="12700">
            <a:solidFill>
              <a:srgbClr val="FFFFFF"/>
            </a:solidFill>
            <a:prstDash val="solid"/>
          </a:ln>
        </p:spPr>
      </p:sp>
      <p:sp>
        <p:nvSpPr>
          <p:cNvPr id="41" name="Text 38"/>
          <p:cNvSpPr/>
          <p:nvPr/>
        </p:nvSpPr>
        <p:spPr>
          <a:xfrm>
            <a:off x="2606040" y="5010912"/>
            <a:ext cx="457200" cy="329184"/>
          </a:xfrm>
          <a:prstGeom prst="rect">
            <a:avLst/>
          </a:prstGeom>
          <a:noFill/>
          <a:ln/>
        </p:spPr>
        <p:txBody>
          <a:bodyPr wrap="square" lIns="0" tIns="0" rIns="0" bIns="0" rtlCol="0" anchor="ctr"/>
          <a:lstStyle/>
          <a:p>
            <a:pPr algn="ctr" indent="0" marL="0">
              <a:buNone/>
            </a:pPr>
            <a:r>
              <a:rPr lang="en-US" sz="1200" i="1" dirty="0">
                <a:solidFill>
                  <a:srgbClr val="FFFFFF"/>
                </a:solidFill>
                <a:latin typeface="Times New Roman" pitchFamily="34" charset="0"/>
                <a:ea typeface="Times New Roman" pitchFamily="34" charset="-122"/>
                <a:cs typeface="Times New Roman" pitchFamily="34" charset="-120"/>
              </a:rPr>
              <a:t>X</a:t>
            </a:r>
            <a:r>
              <a:rPr lang="en-US" sz="1200" i="1" baseline="-40000" dirty="0">
                <a:solidFill>
                  <a:srgbClr val="FFFFFF"/>
                </a:solidFill>
                <a:latin typeface="Times New Roman" pitchFamily="34" charset="0"/>
                <a:ea typeface="Times New Roman" pitchFamily="34" charset="-122"/>
                <a:cs typeface="Times New Roman" pitchFamily="34" charset="-120"/>
              </a:rPr>
              <a:t>3</a:t>
            </a:r>
            <a:endParaRPr lang="en-US" sz="1200" dirty="0"/>
          </a:p>
        </p:txBody>
      </p:sp>
      <p:sp>
        <p:nvSpPr>
          <p:cNvPr id="42" name="Text 39"/>
          <p:cNvSpPr/>
          <p:nvPr/>
        </p:nvSpPr>
        <p:spPr>
          <a:xfrm>
            <a:off x="3108960" y="4773168"/>
            <a:ext cx="822960" cy="274320"/>
          </a:xfrm>
          <a:prstGeom prst="rect">
            <a:avLst/>
          </a:prstGeom>
          <a:noFill/>
          <a:ln/>
        </p:spPr>
        <p:txBody>
          <a:bodyPr wrap="square" lIns="0" tIns="0" rIns="0" bIns="0" rtlCol="0" anchor="ctr"/>
          <a:lstStyle/>
          <a:p>
            <a:pPr indent="0" marL="0">
              <a:buNone/>
            </a:pPr>
            <a:r>
              <a:rPr lang="en-US" sz="1200" b="1" dirty="0">
                <a:solidFill>
                  <a:srgbClr val="E76F51"/>
                </a:solidFill>
                <a:latin typeface="BIZ UDGothic" pitchFamily="34" charset="0"/>
                <a:ea typeface="BIZ UDGothic" pitchFamily="34" charset="-122"/>
                <a:cs typeface="BIZ UDGothic" pitchFamily="34" charset="-120"/>
              </a:rPr>
              <a:t>← 違う</a:t>
            </a:r>
            <a:endParaRPr lang="en-US" sz="1200" dirty="0"/>
          </a:p>
        </p:txBody>
      </p:sp>
      <p:sp>
        <p:nvSpPr>
          <p:cNvPr id="43" name="Text 40"/>
          <p:cNvSpPr/>
          <p:nvPr/>
        </p:nvSpPr>
        <p:spPr>
          <a:xfrm>
            <a:off x="4114800" y="3931920"/>
            <a:ext cx="7315200" cy="640080"/>
          </a:xfrm>
          <a:prstGeom prst="rect">
            <a:avLst/>
          </a:prstGeom>
          <a:noFill/>
          <a:ln/>
        </p:spPr>
        <p:txBody>
          <a:bodyPr wrap="square" lIns="0" tIns="0" rIns="0" bIns="0" rtlCol="0" anchor="ctr"/>
          <a:lstStyle/>
          <a:p>
            <a:pPr indent="0" marL="0">
              <a:buNone/>
            </a:pPr>
            <a:r>
              <a:rPr lang="en-US" sz="1500" i="1" dirty="0">
                <a:solidFill>
                  <a:srgbClr val="4A4E69"/>
                </a:solidFill>
                <a:latin typeface="Times New Roman" pitchFamily="34" charset="0"/>
                <a:ea typeface="Times New Roman" pitchFamily="34" charset="-122"/>
                <a:cs typeface="Times New Roman" pitchFamily="34" charset="-120"/>
              </a:rPr>
              <a:t>A</a:t>
            </a:r>
            <a:r>
              <a:rPr lang="en-US" sz="1300" dirty="0">
                <a:solidFill>
                  <a:srgbClr val="4A4E69"/>
                </a:solidFill>
                <a:latin typeface="BIZ UDGothic" pitchFamily="34" charset="0"/>
                <a:ea typeface="BIZ UDGothic" pitchFamily="34" charset="-122"/>
                <a:cs typeface="BIZ UDGothic" pitchFamily="34" charset="-120"/>
              </a:rPr>
              <a:t> と </a:t>
            </a:r>
            <a:r>
              <a:rPr lang="en-US" sz="1500" i="1" dirty="0">
                <a:solidFill>
                  <a:srgbClr val="4A4E69"/>
                </a:solidFill>
                <a:latin typeface="Times New Roman" pitchFamily="34" charset="0"/>
                <a:ea typeface="Times New Roman" pitchFamily="34" charset="-122"/>
                <a:cs typeface="Times New Roman" pitchFamily="34" charset="-120"/>
              </a:rPr>
              <a:t>A</a:t>
            </a:r>
            <a:r>
              <a:rPr lang="en-US" sz="1500" i="1" baseline="-40000" dirty="0">
                <a:solidFill>
                  <a:srgbClr val="4A4E69"/>
                </a:solidFill>
                <a:latin typeface="Times New Roman" pitchFamily="34" charset="0"/>
                <a:ea typeface="Times New Roman" pitchFamily="34" charset="-122"/>
                <a:cs typeface="Times New Roman" pitchFamily="34" charset="-120"/>
              </a:rPr>
              <a:t>B</a:t>
            </a:r>
            <a:r>
              <a:rPr lang="en-US" sz="1500" i="1" baseline="30000" dirty="0">
                <a:solidFill>
                  <a:srgbClr val="4A4E69"/>
                </a:solidFill>
                <a:latin typeface="Times New Roman" pitchFamily="34" charset="0"/>
                <a:ea typeface="Times New Roman" pitchFamily="34" charset="-122"/>
                <a:cs typeface="Times New Roman" pitchFamily="34" charset="-120"/>
              </a:rPr>
              <a:t>(i)</a:t>
            </a:r>
            <a:r>
              <a:rPr lang="en-US" sz="1300" dirty="0">
                <a:solidFill>
                  <a:srgbClr val="4A4E69"/>
                </a:solidFill>
                <a:latin typeface="BIZ UDGothic" pitchFamily="34" charset="0"/>
                <a:ea typeface="BIZ UDGothic" pitchFamily="34" charset="-122"/>
                <a:cs typeface="BIZ UDGothic" pitchFamily="34" charset="-120"/>
              </a:rPr>
              <a:t> は </a:t>
            </a:r>
            <a:r>
              <a:rPr lang="en-US" sz="1500" i="1" dirty="0">
                <a:solidFill>
                  <a:srgbClr val="4A4E69"/>
                </a:solidFill>
                <a:latin typeface="Times New Roman" pitchFamily="34" charset="0"/>
                <a:ea typeface="Times New Roman" pitchFamily="34" charset="-122"/>
                <a:cs typeface="Times New Roman" pitchFamily="34" charset="-120"/>
              </a:rPr>
              <a:t>X</a:t>
            </a:r>
            <a:r>
              <a:rPr lang="en-US" sz="1500" i="1" baseline="-40000" dirty="0">
                <a:solidFill>
                  <a:srgbClr val="4A4E69"/>
                </a:solidFill>
                <a:latin typeface="Times New Roman" pitchFamily="34" charset="0"/>
                <a:ea typeface="Times New Roman" pitchFamily="34" charset="-122"/>
                <a:cs typeface="Times New Roman" pitchFamily="34" charset="-120"/>
              </a:rPr>
              <a:t>i</a:t>
            </a:r>
            <a:r>
              <a:rPr lang="en-US" sz="1300" dirty="0">
                <a:solidFill>
                  <a:srgbClr val="4A4E69"/>
                </a:solidFill>
                <a:latin typeface="BIZ UDGothic" pitchFamily="34" charset="0"/>
                <a:ea typeface="BIZ UDGothic" pitchFamily="34" charset="-122"/>
                <a:cs typeface="BIZ UDGothic" pitchFamily="34" charset="-120"/>
              </a:rPr>
              <a:t> だけが異なる → 出力の差 ＝ </a:t>
            </a:r>
            <a:r>
              <a:rPr lang="en-US" sz="1500" i="1" dirty="0">
                <a:solidFill>
                  <a:srgbClr val="4A4E69"/>
                </a:solidFill>
                <a:latin typeface="Times New Roman" pitchFamily="34" charset="0"/>
                <a:ea typeface="Times New Roman" pitchFamily="34" charset="-122"/>
                <a:cs typeface="Times New Roman" pitchFamily="34" charset="-120"/>
              </a:rPr>
              <a:t>X</a:t>
            </a:r>
            <a:r>
              <a:rPr lang="en-US" sz="1500" i="1" baseline="-40000" dirty="0">
                <a:solidFill>
                  <a:srgbClr val="4A4E69"/>
                </a:solidFill>
                <a:latin typeface="Times New Roman" pitchFamily="34" charset="0"/>
                <a:ea typeface="Times New Roman" pitchFamily="34" charset="-122"/>
                <a:cs typeface="Times New Roman" pitchFamily="34" charset="-120"/>
              </a:rPr>
              <a:t>i</a:t>
            </a:r>
            <a:r>
              <a:rPr lang="en-US" sz="1300" dirty="0">
                <a:solidFill>
                  <a:srgbClr val="4A4E69"/>
                </a:solidFill>
                <a:latin typeface="BIZ UDGothic" pitchFamily="34" charset="0"/>
                <a:ea typeface="BIZ UDGothic" pitchFamily="34" charset="-122"/>
                <a:cs typeface="BIZ UDGothic" pitchFamily="34" charset="-120"/>
              </a:rPr>
              <a:t> を動かしたときの変化（交互作用込み）</a:t>
            </a:r>
            <a:endParaRPr lang="en-US" sz="1500" dirty="0"/>
          </a:p>
        </p:txBody>
      </p:sp>
      <p:sp>
        <p:nvSpPr>
          <p:cNvPr id="44" name="Shape 41"/>
          <p:cNvSpPr/>
          <p:nvPr/>
        </p:nvSpPr>
        <p:spPr>
          <a:xfrm>
            <a:off x="4114800" y="4617720"/>
            <a:ext cx="7315200" cy="1005840"/>
          </a:xfrm>
          <a:prstGeom prst="roundRect">
            <a:avLst>
              <a:gd name="adj" fmla="val 7273"/>
            </a:avLst>
          </a:prstGeom>
          <a:solidFill>
            <a:srgbClr val="FBE3DC"/>
          </a:solidFill>
          <a:ln/>
        </p:spPr>
      </p:sp>
      <p:sp>
        <p:nvSpPr>
          <p:cNvPr id="45" name="Text 42"/>
          <p:cNvSpPr/>
          <p:nvPr/>
        </p:nvSpPr>
        <p:spPr>
          <a:xfrm>
            <a:off x="4114800" y="4617720"/>
            <a:ext cx="5669280" cy="1005840"/>
          </a:xfrm>
          <a:prstGeom prst="rect">
            <a:avLst/>
          </a:prstGeom>
          <a:noFill/>
          <a:ln/>
        </p:spPr>
        <p:txBody>
          <a:bodyPr wrap="square" lIns="0" tIns="0" rIns="0" bIns="0" rtlCol="0" anchor="ctr"/>
          <a:lstStyle/>
          <a:p>
            <a:pPr algn="ctr" indent="0" marL="0">
              <a:buNone/>
            </a:pPr>
            <a:r>
              <a:rPr lang="en-US" sz="2400" i="1" dirty="0">
                <a:solidFill>
                  <a:srgbClr val="22223B"/>
                </a:solidFill>
                <a:latin typeface="Times New Roman" pitchFamily="34" charset="0"/>
                <a:ea typeface="Times New Roman" pitchFamily="34" charset="-122"/>
                <a:cs typeface="Times New Roman" pitchFamily="34" charset="-120"/>
              </a:rPr>
              <a:t>V</a:t>
            </a:r>
            <a:r>
              <a:rPr lang="en-US" sz="2400" i="1" baseline="-40000" dirty="0">
                <a:solidFill>
                  <a:srgbClr val="22223B"/>
                </a:solidFill>
                <a:latin typeface="Times New Roman" pitchFamily="34" charset="0"/>
                <a:ea typeface="Times New Roman" pitchFamily="34" charset="-122"/>
                <a:cs typeface="Times New Roman" pitchFamily="34" charset="-120"/>
              </a:rPr>
              <a:t>Ti</a:t>
            </a:r>
            <a:r>
              <a:rPr lang="en-US" sz="2100" dirty="0">
                <a:solidFill>
                  <a:srgbClr val="22223B"/>
                </a:solidFill>
                <a:latin typeface="BIZ UDGothic" pitchFamily="34" charset="0"/>
                <a:ea typeface="BIZ UDGothic" pitchFamily="34" charset="-122"/>
                <a:cs typeface="BIZ UDGothic" pitchFamily="34" charset="-120"/>
              </a:rPr>
              <a:t> ≈ </a:t>
            </a:r>
            <a:r>
              <a:rPr lang="en-US" sz="2400" i="1" dirty="0">
                <a:solidFill>
                  <a:srgbClr val="22223B"/>
                </a:solidFill>
                <a:latin typeface="Times New Roman" pitchFamily="34" charset="0"/>
                <a:ea typeface="Times New Roman" pitchFamily="34" charset="-122"/>
                <a:cs typeface="Times New Roman" pitchFamily="34" charset="-120"/>
              </a:rPr>
              <a:t>(1/2N) Σ</a:t>
            </a:r>
            <a:r>
              <a:rPr lang="en-US" sz="2400" i="1" baseline="-40000" dirty="0">
                <a:solidFill>
                  <a:srgbClr val="22223B"/>
                </a:solidFill>
                <a:latin typeface="Times New Roman" pitchFamily="34" charset="0"/>
                <a:ea typeface="Times New Roman" pitchFamily="34" charset="-122"/>
                <a:cs typeface="Times New Roman" pitchFamily="34" charset="-120"/>
              </a:rPr>
              <a:t>j</a:t>
            </a:r>
            <a:r>
              <a:rPr lang="en-US" sz="2400" i="1" dirty="0">
                <a:solidFill>
                  <a:srgbClr val="22223B"/>
                </a:solidFill>
                <a:latin typeface="Times New Roman" pitchFamily="34" charset="0"/>
                <a:ea typeface="Times New Roman" pitchFamily="34" charset="-122"/>
                <a:cs typeface="Times New Roman" pitchFamily="34" charset="-120"/>
              </a:rPr>
              <a:t> [ f(A)</a:t>
            </a:r>
            <a:r>
              <a:rPr lang="en-US" sz="2400" i="1" baseline="-40000" dirty="0">
                <a:solidFill>
                  <a:srgbClr val="22223B"/>
                </a:solidFill>
                <a:latin typeface="Times New Roman" pitchFamily="34" charset="0"/>
                <a:ea typeface="Times New Roman" pitchFamily="34" charset="-122"/>
                <a:cs typeface="Times New Roman" pitchFamily="34" charset="-120"/>
              </a:rPr>
              <a:t>j</a:t>
            </a:r>
            <a:r>
              <a:rPr lang="en-US" sz="2400" i="1" dirty="0">
                <a:solidFill>
                  <a:srgbClr val="22223B"/>
                </a:solidFill>
                <a:latin typeface="Times New Roman" pitchFamily="34" charset="0"/>
                <a:ea typeface="Times New Roman" pitchFamily="34" charset="-122"/>
                <a:cs typeface="Times New Roman" pitchFamily="34" charset="-120"/>
              </a:rPr>
              <a:t> − f(A</a:t>
            </a:r>
            <a:r>
              <a:rPr lang="en-US" sz="2400" i="1" baseline="-40000" dirty="0">
                <a:solidFill>
                  <a:srgbClr val="22223B"/>
                </a:solidFill>
                <a:latin typeface="Times New Roman" pitchFamily="34" charset="0"/>
                <a:ea typeface="Times New Roman" pitchFamily="34" charset="-122"/>
                <a:cs typeface="Times New Roman" pitchFamily="34" charset="-120"/>
              </a:rPr>
              <a:t>B</a:t>
            </a:r>
            <a:r>
              <a:rPr lang="en-US" sz="2400" i="1" baseline="30000" dirty="0">
                <a:solidFill>
                  <a:srgbClr val="22223B"/>
                </a:solidFill>
                <a:latin typeface="Times New Roman" pitchFamily="34" charset="0"/>
                <a:ea typeface="Times New Roman" pitchFamily="34" charset="-122"/>
                <a:cs typeface="Times New Roman" pitchFamily="34" charset="-120"/>
              </a:rPr>
              <a:t>(i)</a:t>
            </a:r>
            <a:r>
              <a:rPr lang="en-US" sz="2400" i="1" dirty="0">
                <a:solidFill>
                  <a:srgbClr val="22223B"/>
                </a:solidFill>
                <a:latin typeface="Times New Roman" pitchFamily="34" charset="0"/>
                <a:ea typeface="Times New Roman" pitchFamily="34" charset="-122"/>
                <a:cs typeface="Times New Roman" pitchFamily="34" charset="-120"/>
              </a:rPr>
              <a:t>)</a:t>
            </a:r>
            <a:r>
              <a:rPr lang="en-US" sz="2400" i="1" baseline="-40000" dirty="0">
                <a:solidFill>
                  <a:srgbClr val="22223B"/>
                </a:solidFill>
                <a:latin typeface="Times New Roman" pitchFamily="34" charset="0"/>
                <a:ea typeface="Times New Roman" pitchFamily="34" charset="-122"/>
                <a:cs typeface="Times New Roman" pitchFamily="34" charset="-120"/>
              </a:rPr>
              <a:t>j</a:t>
            </a:r>
            <a:r>
              <a:rPr lang="en-US" sz="2400" i="1" dirty="0">
                <a:solidFill>
                  <a:srgbClr val="22223B"/>
                </a:solidFill>
                <a:latin typeface="Times New Roman" pitchFamily="34" charset="0"/>
                <a:ea typeface="Times New Roman" pitchFamily="34" charset="-122"/>
                <a:cs typeface="Times New Roman" pitchFamily="34" charset="-120"/>
              </a:rPr>
              <a:t> ]</a:t>
            </a:r>
            <a:r>
              <a:rPr lang="en-US" sz="2400" i="1" baseline="30000" dirty="0">
                <a:solidFill>
                  <a:srgbClr val="22223B"/>
                </a:solidFill>
                <a:latin typeface="Times New Roman" pitchFamily="34" charset="0"/>
                <a:ea typeface="Times New Roman" pitchFamily="34" charset="-122"/>
                <a:cs typeface="Times New Roman" pitchFamily="34" charset="-120"/>
              </a:rPr>
              <a:t>2</a:t>
            </a:r>
            <a:endParaRPr lang="en-US" sz="2400" dirty="0"/>
          </a:p>
        </p:txBody>
      </p:sp>
      <p:sp>
        <p:nvSpPr>
          <p:cNvPr id="46" name="Text 43"/>
          <p:cNvSpPr/>
          <p:nvPr/>
        </p:nvSpPr>
        <p:spPr>
          <a:xfrm>
            <a:off x="9784080" y="4617720"/>
            <a:ext cx="1554480" cy="1005840"/>
          </a:xfrm>
          <a:prstGeom prst="rect">
            <a:avLst/>
          </a:prstGeom>
          <a:noFill/>
          <a:ln/>
        </p:spPr>
        <p:txBody>
          <a:bodyPr wrap="square" lIns="0" tIns="0" rIns="0" bIns="0" rtlCol="0" anchor="ctr"/>
          <a:lstStyle/>
          <a:p>
            <a:pPr algn="r" indent="0" marL="0">
              <a:buNone/>
            </a:pPr>
            <a:r>
              <a:rPr lang="en-US" sz="1100" dirty="0">
                <a:solidFill>
                  <a:srgbClr val="6C6F7F"/>
                </a:solidFill>
                <a:latin typeface="BIZ UDGothic" pitchFamily="34" charset="0"/>
                <a:ea typeface="BIZ UDGothic" pitchFamily="34" charset="-122"/>
                <a:cs typeface="BIZ UDGothic" pitchFamily="34" charset="-120"/>
              </a:rPr>
              <a:t>Jansen (1999)</a:t>
            </a:r>
            <a:endParaRPr lang="en-US" sz="1100" dirty="0"/>
          </a:p>
        </p:txBody>
      </p:sp>
      <p:sp>
        <p:nvSpPr>
          <p:cNvPr id="47" name="Text 44"/>
          <p:cNvSpPr/>
          <p:nvPr/>
        </p:nvSpPr>
        <p:spPr>
          <a:xfrm>
            <a:off x="548640" y="5897880"/>
            <a:ext cx="11094415" cy="365760"/>
          </a:xfrm>
          <a:prstGeom prst="rect">
            <a:avLst/>
          </a:prstGeom>
          <a:noFill/>
          <a:ln/>
        </p:spPr>
        <p:txBody>
          <a:bodyPr wrap="square" lIns="0" tIns="0" rIns="0" bIns="0" rtlCol="0" anchor="ctr"/>
          <a:lstStyle/>
          <a:p>
            <a:pPr indent="0" marL="0">
              <a:buNone/>
            </a:pPr>
            <a:r>
              <a:rPr lang="en-US" sz="1500" i="1" dirty="0">
                <a:solidFill>
                  <a:srgbClr val="22223B"/>
                </a:solidFill>
                <a:latin typeface="Times New Roman" pitchFamily="34" charset="0"/>
                <a:ea typeface="Times New Roman" pitchFamily="34" charset="-122"/>
                <a:cs typeface="Times New Roman" pitchFamily="34" charset="-120"/>
              </a:rPr>
              <a:t>S</a:t>
            </a:r>
            <a:r>
              <a:rPr lang="en-US" sz="1500" i="1" baseline="-40000" dirty="0">
                <a:solidFill>
                  <a:srgbClr val="22223B"/>
                </a:solidFill>
                <a:latin typeface="Times New Roman" pitchFamily="34" charset="0"/>
                <a:ea typeface="Times New Roman" pitchFamily="34" charset="-122"/>
                <a:cs typeface="Times New Roman" pitchFamily="34" charset="-120"/>
              </a:rPr>
              <a:t>i</a:t>
            </a:r>
            <a:r>
              <a:rPr lang="en-US" sz="1500" i="1" dirty="0">
                <a:solidFill>
                  <a:srgbClr val="22223B"/>
                </a:solidFill>
                <a:latin typeface="Times New Roman" pitchFamily="34" charset="0"/>
                <a:ea typeface="Times New Roman" pitchFamily="34" charset="-122"/>
                <a:cs typeface="Times New Roman" pitchFamily="34" charset="-120"/>
              </a:rPr>
              <a:t> = V</a:t>
            </a:r>
            <a:r>
              <a:rPr lang="en-US" sz="1500" i="1" baseline="-40000" dirty="0">
                <a:solidFill>
                  <a:srgbClr val="22223B"/>
                </a:solidFill>
                <a:latin typeface="Times New Roman" pitchFamily="34" charset="0"/>
                <a:ea typeface="Times New Roman" pitchFamily="34" charset="-122"/>
                <a:cs typeface="Times New Roman" pitchFamily="34" charset="-120"/>
              </a:rPr>
              <a:t>i</a:t>
            </a:r>
            <a:r>
              <a:rPr lang="en-US" sz="1500" i="1" dirty="0">
                <a:solidFill>
                  <a:srgbClr val="22223B"/>
                </a:solidFill>
                <a:latin typeface="Times New Roman" pitchFamily="34" charset="0"/>
                <a:ea typeface="Times New Roman" pitchFamily="34" charset="-122"/>
                <a:cs typeface="Times New Roman" pitchFamily="34" charset="-120"/>
              </a:rPr>
              <a:t> / V(Y)</a:t>
            </a:r>
            <a:r>
              <a:rPr lang="en-US" sz="1300" dirty="0">
                <a:solidFill>
                  <a:srgbClr val="22223B"/>
                </a:solidFill>
                <a:latin typeface="BIZ UDGothic" pitchFamily="34" charset="0"/>
                <a:ea typeface="BIZ UDGothic" pitchFamily="34" charset="-122"/>
                <a:cs typeface="BIZ UDGothic" pitchFamily="34" charset="-120"/>
              </a:rPr>
              <a:t>,　</a:t>
            </a:r>
            <a:r>
              <a:rPr lang="en-US" sz="1500" i="1" dirty="0">
                <a:solidFill>
                  <a:srgbClr val="22223B"/>
                </a:solidFill>
                <a:latin typeface="Times New Roman" pitchFamily="34" charset="0"/>
                <a:ea typeface="Times New Roman" pitchFamily="34" charset="-122"/>
                <a:cs typeface="Times New Roman" pitchFamily="34" charset="-120"/>
              </a:rPr>
              <a:t>S</a:t>
            </a:r>
            <a:r>
              <a:rPr lang="en-US" sz="1500" i="1" baseline="-40000" dirty="0">
                <a:solidFill>
                  <a:srgbClr val="22223B"/>
                </a:solidFill>
                <a:latin typeface="Times New Roman" pitchFamily="34" charset="0"/>
                <a:ea typeface="Times New Roman" pitchFamily="34" charset="-122"/>
                <a:cs typeface="Times New Roman" pitchFamily="34" charset="-120"/>
              </a:rPr>
              <a:t>Ti</a:t>
            </a:r>
            <a:r>
              <a:rPr lang="en-US" sz="1500" i="1" dirty="0">
                <a:solidFill>
                  <a:srgbClr val="22223B"/>
                </a:solidFill>
                <a:latin typeface="Times New Roman" pitchFamily="34" charset="0"/>
                <a:ea typeface="Times New Roman" pitchFamily="34" charset="-122"/>
                <a:cs typeface="Times New Roman" pitchFamily="34" charset="-120"/>
              </a:rPr>
              <a:t> = V</a:t>
            </a:r>
            <a:r>
              <a:rPr lang="en-US" sz="1500" i="1" baseline="-40000" dirty="0">
                <a:solidFill>
                  <a:srgbClr val="22223B"/>
                </a:solidFill>
                <a:latin typeface="Times New Roman" pitchFamily="34" charset="0"/>
                <a:ea typeface="Times New Roman" pitchFamily="34" charset="-122"/>
                <a:cs typeface="Times New Roman" pitchFamily="34" charset="-120"/>
              </a:rPr>
              <a:t>Ti</a:t>
            </a:r>
            <a:r>
              <a:rPr lang="en-US" sz="1500" i="1" dirty="0">
                <a:solidFill>
                  <a:srgbClr val="22223B"/>
                </a:solidFill>
                <a:latin typeface="Times New Roman" pitchFamily="34" charset="0"/>
                <a:ea typeface="Times New Roman" pitchFamily="34" charset="-122"/>
                <a:cs typeface="Times New Roman" pitchFamily="34" charset="-120"/>
              </a:rPr>
              <a:t> / V(Y)</a:t>
            </a:r>
            <a:r>
              <a:rPr lang="en-US" sz="1300" dirty="0">
                <a:solidFill>
                  <a:srgbClr val="22223B"/>
                </a:solidFill>
                <a:latin typeface="BIZ UDGothic" pitchFamily="34" charset="0"/>
                <a:ea typeface="BIZ UDGothic" pitchFamily="34" charset="-122"/>
                <a:cs typeface="BIZ UDGothic" pitchFamily="34" charset="-120"/>
              </a:rPr>
              <a:t>（</a:t>
            </a:r>
            <a:r>
              <a:rPr lang="en-US" sz="1500" i="1" dirty="0">
                <a:solidFill>
                  <a:srgbClr val="22223B"/>
                </a:solidFill>
                <a:latin typeface="Times New Roman" pitchFamily="34" charset="0"/>
                <a:ea typeface="Times New Roman" pitchFamily="34" charset="-122"/>
                <a:cs typeface="Times New Roman" pitchFamily="34" charset="-120"/>
              </a:rPr>
              <a:t>V(Y)</a:t>
            </a:r>
            <a:r>
              <a:rPr lang="en-US" sz="1300" dirty="0">
                <a:solidFill>
                  <a:srgbClr val="22223B"/>
                </a:solidFill>
                <a:latin typeface="BIZ UDGothic" pitchFamily="34" charset="0"/>
                <a:ea typeface="BIZ UDGothic" pitchFamily="34" charset="-122"/>
                <a:cs typeface="BIZ UDGothic" pitchFamily="34" charset="-120"/>
              </a:rPr>
              <a:t> は </a:t>
            </a:r>
            <a:r>
              <a:rPr lang="en-US" sz="1500" i="1" dirty="0">
                <a:solidFill>
                  <a:srgbClr val="22223B"/>
                </a:solidFill>
                <a:latin typeface="Times New Roman" pitchFamily="34" charset="0"/>
                <a:ea typeface="Times New Roman" pitchFamily="34" charset="-122"/>
                <a:cs typeface="Times New Roman" pitchFamily="34" charset="-120"/>
              </a:rPr>
              <a:t>f(A)</a:t>
            </a:r>
            <a:r>
              <a:rPr lang="en-US" sz="1300" dirty="0">
                <a:solidFill>
                  <a:srgbClr val="22223B"/>
                </a:solidFill>
                <a:latin typeface="BIZ UDGothic" pitchFamily="34" charset="0"/>
                <a:ea typeface="BIZ UDGothic" pitchFamily="34" charset="-122"/>
                <a:cs typeface="BIZ UDGothic" pitchFamily="34" charset="-120"/>
              </a:rPr>
              <a:t> と </a:t>
            </a:r>
            <a:r>
              <a:rPr lang="en-US" sz="1500" i="1" dirty="0">
                <a:solidFill>
                  <a:srgbClr val="22223B"/>
                </a:solidFill>
                <a:latin typeface="Times New Roman" pitchFamily="34" charset="0"/>
                <a:ea typeface="Times New Roman" pitchFamily="34" charset="-122"/>
                <a:cs typeface="Times New Roman" pitchFamily="34" charset="-120"/>
              </a:rPr>
              <a:t>f(B)</a:t>
            </a:r>
            <a:r>
              <a:rPr lang="en-US" sz="1300" dirty="0">
                <a:solidFill>
                  <a:srgbClr val="22223B"/>
                </a:solidFill>
                <a:latin typeface="BIZ UDGothic" pitchFamily="34" charset="0"/>
                <a:ea typeface="BIZ UDGothic" pitchFamily="34" charset="-122"/>
                <a:cs typeface="BIZ UDGothic" pitchFamily="34" charset="-120"/>
              </a:rPr>
              <a:t> を合わせた標本分散）　※ SALib（v1.5.2）の sobol.analyze も同じ式</a:t>
            </a:r>
            <a:endParaRPr lang="en-US" sz="1500" dirty="0"/>
          </a:p>
        </p:txBody>
      </p:sp>
      <p:sp>
        <p:nvSpPr>
          <p:cNvPr id="48" name="Text 45"/>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49" name="Text 46"/>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03　推定のしくみ</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準乱数（Sobol列）でサンプルを均一に配置する</a:t>
            </a:r>
            <a:endParaRPr lang="en-US" sz="2800" dirty="0"/>
          </a:p>
        </p:txBody>
      </p:sp>
      <p:sp>
        <p:nvSpPr>
          <p:cNvPr id="5" name="Text 2"/>
          <p:cNvSpPr/>
          <p:nvPr/>
        </p:nvSpPr>
        <p:spPr>
          <a:xfrm>
            <a:off x="548640" y="1371600"/>
            <a:ext cx="3657600" cy="365760"/>
          </a:xfrm>
          <a:prstGeom prst="rect">
            <a:avLst/>
          </a:prstGeom>
          <a:noFill/>
          <a:ln/>
        </p:spPr>
        <p:txBody>
          <a:bodyPr wrap="square" lIns="0" tIns="0" rIns="0" bIns="0" rtlCol="0" anchor="ctr"/>
          <a:lstStyle/>
          <a:p>
            <a:pPr algn="ctr" indent="0" marL="0">
              <a:buNone/>
            </a:pPr>
            <a:r>
              <a:rPr lang="en-US" sz="1500" b="1" dirty="0">
                <a:solidFill>
                  <a:srgbClr val="22223B"/>
                </a:solidFill>
                <a:latin typeface="BIZ UDGothic" pitchFamily="34" charset="0"/>
                <a:ea typeface="BIZ UDGothic" pitchFamily="34" charset="-122"/>
                <a:cs typeface="BIZ UDGothic" pitchFamily="34" charset="-120"/>
              </a:rPr>
              <a:t>一様乱数（256点）</a:t>
            </a:r>
            <a:endParaRPr lang="en-US" sz="1500" dirty="0"/>
          </a:p>
        </p:txBody>
      </p:sp>
      <p:graphicFrame>
        <p:nvGraphicFramePr>
          <p:cNvPr id="6" name="Chart 0" descr=""/>
          <p:cNvGraphicFramePr/>
          <p:nvPr/>
        </p:nvGraphicFramePr>
        <p:xfrm>
          <a:off x="548640" y="1737360"/>
          <a:ext cx="3657600" cy="3657600"/>
        </p:xfrm>
        <a:graphic xmlns:a="http://schemas.openxmlformats.org/drawingml/2006/main">
          <a:graphicData uri="http://schemas.openxmlformats.org/drawingml/2006/chart">
            <c:chart xmlns:c="http://schemas.openxmlformats.org/drawingml/2006/chart" r:id="rId1"/>
          </a:graphicData>
        </a:graphic>
      </p:graphicFrame>
      <p:sp>
        <p:nvSpPr>
          <p:cNvPr id="7" name="Text 3"/>
          <p:cNvSpPr/>
          <p:nvPr/>
        </p:nvSpPr>
        <p:spPr>
          <a:xfrm>
            <a:off x="548640" y="5486400"/>
            <a:ext cx="3657600" cy="365760"/>
          </a:xfrm>
          <a:prstGeom prst="rect">
            <a:avLst/>
          </a:prstGeom>
          <a:noFill/>
          <a:ln/>
        </p:spPr>
        <p:txBody>
          <a:bodyPr wrap="square" lIns="0" tIns="0" rIns="0" bIns="0" rtlCol="0" anchor="ctr"/>
          <a:lstStyle/>
          <a:p>
            <a:pPr algn="ctr" indent="0" marL="0">
              <a:buNone/>
            </a:pPr>
            <a:r>
              <a:rPr lang="en-US" sz="1400" b="1" dirty="0">
                <a:solidFill>
                  <a:srgbClr val="6C6F7F"/>
                </a:solidFill>
                <a:latin typeface="BIZ UDGothic" pitchFamily="34" charset="0"/>
                <a:ea typeface="BIZ UDGothic" pitchFamily="34" charset="-122"/>
                <a:cs typeface="BIZ UDGothic" pitchFamily="34" charset="-120"/>
              </a:rPr>
              <a:t>ディスクレパンシー*　1.5 × </a:t>
            </a:r>
            <a:r>
              <a:rPr lang="en-US" sz="1600" b="1" i="1" dirty="0">
                <a:solidFill>
                  <a:srgbClr val="6C6F7F"/>
                </a:solidFill>
                <a:latin typeface="Times New Roman" pitchFamily="34" charset="0"/>
                <a:ea typeface="Times New Roman" pitchFamily="34" charset="-122"/>
                <a:cs typeface="Times New Roman" pitchFamily="34" charset="-120"/>
              </a:rPr>
              <a:t>10</a:t>
            </a:r>
            <a:r>
              <a:rPr lang="en-US" sz="1600" b="1" i="1" baseline="30000" dirty="0">
                <a:solidFill>
                  <a:srgbClr val="6C6F7F"/>
                </a:solidFill>
                <a:latin typeface="Times New Roman" pitchFamily="34" charset="0"/>
                <a:ea typeface="Times New Roman" pitchFamily="34" charset="-122"/>
                <a:cs typeface="Times New Roman" pitchFamily="34" charset="-120"/>
              </a:rPr>
              <a:t>−3</a:t>
            </a:r>
            <a:endParaRPr lang="en-US" sz="1400" dirty="0"/>
          </a:p>
        </p:txBody>
      </p:sp>
      <p:sp>
        <p:nvSpPr>
          <p:cNvPr id="8" name="Text 4"/>
          <p:cNvSpPr/>
          <p:nvPr/>
        </p:nvSpPr>
        <p:spPr>
          <a:xfrm>
            <a:off x="4480560" y="1371600"/>
            <a:ext cx="3657600" cy="365760"/>
          </a:xfrm>
          <a:prstGeom prst="rect">
            <a:avLst/>
          </a:prstGeom>
          <a:noFill/>
          <a:ln/>
        </p:spPr>
        <p:txBody>
          <a:bodyPr wrap="square" lIns="0" tIns="0" rIns="0" bIns="0" rtlCol="0" anchor="ctr"/>
          <a:lstStyle/>
          <a:p>
            <a:pPr algn="ctr" indent="0" marL="0">
              <a:buNone/>
            </a:pPr>
            <a:r>
              <a:rPr lang="en-US" sz="1500" b="1" dirty="0">
                <a:solidFill>
                  <a:srgbClr val="22223B"/>
                </a:solidFill>
                <a:latin typeface="BIZ UDGothic" pitchFamily="34" charset="0"/>
                <a:ea typeface="BIZ UDGothic" pitchFamily="34" charset="-122"/>
                <a:cs typeface="BIZ UDGothic" pitchFamily="34" charset="-120"/>
              </a:rPr>
              <a:t>Sobol列（256点、スクランブルあり）</a:t>
            </a:r>
            <a:endParaRPr lang="en-US" sz="1500" dirty="0"/>
          </a:p>
        </p:txBody>
      </p:sp>
      <p:graphicFrame>
        <p:nvGraphicFramePr>
          <p:cNvPr id="9" name="Chart 1" descr=""/>
          <p:cNvGraphicFramePr/>
          <p:nvPr/>
        </p:nvGraphicFramePr>
        <p:xfrm>
          <a:off x="4480560" y="1737360"/>
          <a:ext cx="3657600" cy="365760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p:nvPr/>
        </p:nvSpPr>
        <p:spPr>
          <a:xfrm>
            <a:off x="4480560" y="5486400"/>
            <a:ext cx="3657600" cy="365760"/>
          </a:xfrm>
          <a:prstGeom prst="rect">
            <a:avLst/>
          </a:prstGeom>
          <a:noFill/>
          <a:ln/>
        </p:spPr>
        <p:txBody>
          <a:bodyPr wrap="square" lIns="0" tIns="0" rIns="0" bIns="0" rtlCol="0" anchor="ctr"/>
          <a:lstStyle/>
          <a:p>
            <a:pPr algn="ctr" indent="0" marL="0">
              <a:buNone/>
            </a:pPr>
            <a:r>
              <a:rPr lang="en-US" sz="1400" b="1" dirty="0">
                <a:solidFill>
                  <a:srgbClr val="2A9D8F"/>
                </a:solidFill>
                <a:latin typeface="BIZ UDGothic" pitchFamily="34" charset="0"/>
                <a:ea typeface="BIZ UDGothic" pitchFamily="34" charset="-122"/>
                <a:cs typeface="BIZ UDGothic" pitchFamily="34" charset="-120"/>
              </a:rPr>
              <a:t>ディスクレパンシー*　1.1 × </a:t>
            </a:r>
            <a:r>
              <a:rPr lang="en-US" sz="1600" b="1" i="1" dirty="0">
                <a:solidFill>
                  <a:srgbClr val="2A9D8F"/>
                </a:solidFill>
                <a:latin typeface="Times New Roman" pitchFamily="34" charset="0"/>
                <a:ea typeface="Times New Roman" pitchFamily="34" charset="-122"/>
                <a:cs typeface="Times New Roman" pitchFamily="34" charset="-120"/>
              </a:rPr>
              <a:t>10</a:t>
            </a:r>
            <a:r>
              <a:rPr lang="en-US" sz="1600" b="1" i="1" baseline="30000" dirty="0">
                <a:solidFill>
                  <a:srgbClr val="2A9D8F"/>
                </a:solidFill>
                <a:latin typeface="Times New Roman" pitchFamily="34" charset="0"/>
                <a:ea typeface="Times New Roman" pitchFamily="34" charset="-122"/>
                <a:cs typeface="Times New Roman" pitchFamily="34" charset="-120"/>
              </a:rPr>
              <a:t>−5</a:t>
            </a:r>
            <a:endParaRPr lang="en-US" sz="1400" dirty="0"/>
          </a:p>
        </p:txBody>
      </p:sp>
      <p:sp>
        <p:nvSpPr>
          <p:cNvPr id="11" name="Shape 6"/>
          <p:cNvSpPr/>
          <p:nvPr/>
        </p:nvSpPr>
        <p:spPr>
          <a:xfrm>
            <a:off x="8412480" y="1463040"/>
            <a:ext cx="548640" cy="548640"/>
          </a:xfrm>
          <a:prstGeom prst="ellipse">
            <a:avLst/>
          </a:prstGeom>
          <a:solidFill>
            <a:srgbClr val="2A9D8F"/>
          </a:solidFill>
          <a:ln/>
        </p:spPr>
      </p:sp>
      <p:pic>
        <p:nvPicPr>
          <p:cNvPr id="12" name="Image 0" descr="preencoded.png">    </p:cNvPr>
          <p:cNvPicPr>
            <a:picLocks noChangeAspect="1"/>
          </p:cNvPicPr>
          <p:nvPr/>
        </p:nvPicPr>
        <p:blipFill>
          <a:blip r:embed="rId3"/>
          <a:stretch>
            <a:fillRect/>
          </a:stretch>
        </p:blipFill>
        <p:spPr>
          <a:xfrm>
            <a:off x="8533181" y="1583741"/>
            <a:ext cx="307238" cy="307238"/>
          </a:xfrm>
          <a:prstGeom prst="rect">
            <a:avLst/>
          </a:prstGeom>
        </p:spPr>
      </p:pic>
      <p:sp>
        <p:nvSpPr>
          <p:cNvPr id="13" name="Text 7"/>
          <p:cNvSpPr/>
          <p:nvPr/>
        </p:nvSpPr>
        <p:spPr>
          <a:xfrm>
            <a:off x="9144000" y="1463040"/>
            <a:ext cx="2499055" cy="548640"/>
          </a:xfrm>
          <a:prstGeom prst="rect">
            <a:avLst/>
          </a:prstGeom>
          <a:noFill/>
          <a:ln/>
        </p:spPr>
        <p:txBody>
          <a:bodyPr wrap="square" lIns="0" tIns="0" rIns="0" bIns="0" rtlCol="0" anchor="ctr"/>
          <a:lstStyle/>
          <a:p>
            <a:pPr indent="0" marL="0">
              <a:buNone/>
            </a:pPr>
            <a:r>
              <a:rPr lang="en-US" sz="1600" b="1" dirty="0">
                <a:solidFill>
                  <a:srgbClr val="22223B"/>
                </a:solidFill>
                <a:latin typeface="BIZ UDGothic" pitchFamily="34" charset="0"/>
                <a:ea typeface="BIZ UDGothic" pitchFamily="34" charset="-122"/>
                <a:cs typeface="BIZ UDGothic" pitchFamily="34" charset="-120"/>
              </a:rPr>
              <a:t>すき間や偏りが少ない</a:t>
            </a:r>
            <a:endParaRPr lang="en-US" sz="1600" dirty="0"/>
          </a:p>
        </p:txBody>
      </p:sp>
      <p:sp>
        <p:nvSpPr>
          <p:cNvPr id="14" name="Text 8"/>
          <p:cNvSpPr/>
          <p:nvPr/>
        </p:nvSpPr>
        <p:spPr>
          <a:xfrm>
            <a:off x="9144000" y="2011680"/>
            <a:ext cx="2499055" cy="685800"/>
          </a:xfrm>
          <a:prstGeom prst="rect">
            <a:avLst/>
          </a:prstGeom>
          <a:noFill/>
          <a:ln/>
        </p:spPr>
        <p:txBody>
          <a:bodyPr wrap="square" lIns="0" tIns="0" rIns="0" bIns="0" rtlCol="0" anchor="t"/>
          <a:lstStyle/>
          <a:p>
            <a:pPr indent="0" marL="0">
              <a:buNone/>
            </a:pPr>
            <a:r>
              <a:rPr lang="en-US" sz="1300" dirty="0">
                <a:solidFill>
                  <a:srgbClr val="4A4E69"/>
                </a:solidFill>
                <a:latin typeface="BIZ UDGothic" pitchFamily="34" charset="0"/>
                <a:ea typeface="BIZ UDGothic" pitchFamily="34" charset="-122"/>
                <a:cs typeface="BIZ UDGothic" pitchFamily="34" charset="-120"/>
              </a:rPr>
              <a:t>同じ点数でも、平均や分散の推定が安定しやすい</a:t>
            </a:r>
            <a:endParaRPr lang="en-US" sz="1300" dirty="0"/>
          </a:p>
        </p:txBody>
      </p:sp>
      <p:sp>
        <p:nvSpPr>
          <p:cNvPr id="15" name="Shape 9"/>
          <p:cNvSpPr/>
          <p:nvPr/>
        </p:nvSpPr>
        <p:spPr>
          <a:xfrm>
            <a:off x="8412480" y="2788920"/>
            <a:ext cx="548640" cy="548640"/>
          </a:xfrm>
          <a:prstGeom prst="ellipse">
            <a:avLst/>
          </a:prstGeom>
          <a:solidFill>
            <a:srgbClr val="4A4E69"/>
          </a:solidFill>
          <a:ln/>
        </p:spPr>
      </p:sp>
      <p:pic>
        <p:nvPicPr>
          <p:cNvPr id="16" name="Image 1" descr="preencoded.png">    </p:cNvPr>
          <p:cNvPicPr>
            <a:picLocks noChangeAspect="1"/>
          </p:cNvPicPr>
          <p:nvPr/>
        </p:nvPicPr>
        <p:blipFill>
          <a:blip r:embed="rId4"/>
          <a:stretch>
            <a:fillRect/>
          </a:stretch>
        </p:blipFill>
        <p:spPr>
          <a:xfrm>
            <a:off x="8533181" y="2909621"/>
            <a:ext cx="307238" cy="307238"/>
          </a:xfrm>
          <a:prstGeom prst="rect">
            <a:avLst/>
          </a:prstGeom>
        </p:spPr>
      </p:pic>
      <p:sp>
        <p:nvSpPr>
          <p:cNvPr id="17" name="Text 10"/>
          <p:cNvSpPr/>
          <p:nvPr/>
        </p:nvSpPr>
        <p:spPr>
          <a:xfrm>
            <a:off x="9144000" y="2788920"/>
            <a:ext cx="2499055" cy="548640"/>
          </a:xfrm>
          <a:prstGeom prst="rect">
            <a:avLst/>
          </a:prstGeom>
          <a:noFill/>
          <a:ln/>
        </p:spPr>
        <p:txBody>
          <a:bodyPr wrap="square" lIns="0" tIns="0" rIns="0" bIns="0" rtlCol="0" anchor="ctr"/>
          <a:lstStyle/>
          <a:p>
            <a:pPr indent="0" marL="0">
              <a:buNone/>
            </a:pPr>
            <a:r>
              <a:rPr lang="en-US" sz="1800" b="1" i="1" dirty="0">
                <a:solidFill>
                  <a:srgbClr val="22223B"/>
                </a:solidFill>
                <a:latin typeface="Times New Roman" pitchFamily="34" charset="0"/>
                <a:ea typeface="Times New Roman" pitchFamily="34" charset="-122"/>
                <a:cs typeface="Times New Roman" pitchFamily="34" charset="-120"/>
              </a:rPr>
              <a:t>N</a:t>
            </a:r>
            <a:r>
              <a:rPr lang="en-US" sz="1600" b="1" dirty="0">
                <a:solidFill>
                  <a:srgbClr val="22223B"/>
                </a:solidFill>
                <a:latin typeface="BIZ UDGothic" pitchFamily="34" charset="0"/>
                <a:ea typeface="BIZ UDGothic" pitchFamily="34" charset="-122"/>
                <a:cs typeface="BIZ UDGothic" pitchFamily="34" charset="-120"/>
              </a:rPr>
              <a:t> は2のべき乗にする</a:t>
            </a:r>
            <a:endParaRPr lang="en-US" sz="1800" dirty="0"/>
          </a:p>
        </p:txBody>
      </p:sp>
      <p:sp>
        <p:nvSpPr>
          <p:cNvPr id="18" name="Text 11"/>
          <p:cNvSpPr/>
          <p:nvPr/>
        </p:nvSpPr>
        <p:spPr>
          <a:xfrm>
            <a:off x="9144000" y="3337560"/>
            <a:ext cx="2499055" cy="685800"/>
          </a:xfrm>
          <a:prstGeom prst="rect">
            <a:avLst/>
          </a:prstGeom>
          <a:noFill/>
          <a:ln/>
        </p:spPr>
        <p:txBody>
          <a:bodyPr wrap="square" lIns="0" tIns="0" rIns="0" bIns="0" rtlCol="0" anchor="t"/>
          <a:lstStyle/>
          <a:p>
            <a:pPr indent="0" marL="0">
              <a:buNone/>
            </a:pPr>
            <a:r>
              <a:rPr lang="en-US" sz="1300" dirty="0">
                <a:solidFill>
                  <a:srgbClr val="4A4E69"/>
                </a:solidFill>
                <a:latin typeface="BIZ UDGothic" pitchFamily="34" charset="0"/>
                <a:ea typeface="BIZ UDGothic" pitchFamily="34" charset="-122"/>
                <a:cs typeface="BIZ UDGothic" pitchFamily="34" charset="-120"/>
              </a:rPr>
              <a:t>512、1,024、2,048 … のときに均一性が保たれる</a:t>
            </a:r>
            <a:endParaRPr lang="en-US" sz="1300" dirty="0"/>
          </a:p>
        </p:txBody>
      </p:sp>
      <p:sp>
        <p:nvSpPr>
          <p:cNvPr id="19" name="Shape 12"/>
          <p:cNvSpPr/>
          <p:nvPr/>
        </p:nvSpPr>
        <p:spPr>
          <a:xfrm>
            <a:off x="8412480" y="4114800"/>
            <a:ext cx="548640" cy="548640"/>
          </a:xfrm>
          <a:prstGeom prst="ellipse">
            <a:avLst/>
          </a:prstGeom>
          <a:solidFill>
            <a:srgbClr val="E76F51"/>
          </a:solidFill>
          <a:ln/>
        </p:spPr>
      </p:sp>
      <p:pic>
        <p:nvPicPr>
          <p:cNvPr id="20" name="Image 2" descr="preencoded.png">    </p:cNvPr>
          <p:cNvPicPr>
            <a:picLocks noChangeAspect="1"/>
          </p:cNvPicPr>
          <p:nvPr/>
        </p:nvPicPr>
        <p:blipFill>
          <a:blip r:embed="rId5"/>
          <a:stretch>
            <a:fillRect/>
          </a:stretch>
        </p:blipFill>
        <p:spPr>
          <a:xfrm>
            <a:off x="8533181" y="4235501"/>
            <a:ext cx="307238" cy="307238"/>
          </a:xfrm>
          <a:prstGeom prst="rect">
            <a:avLst/>
          </a:prstGeom>
        </p:spPr>
      </p:pic>
      <p:sp>
        <p:nvSpPr>
          <p:cNvPr id="21" name="Text 13"/>
          <p:cNvSpPr/>
          <p:nvPr/>
        </p:nvSpPr>
        <p:spPr>
          <a:xfrm>
            <a:off x="9144000" y="4114800"/>
            <a:ext cx="2499055" cy="548640"/>
          </a:xfrm>
          <a:prstGeom prst="rect">
            <a:avLst/>
          </a:prstGeom>
          <a:noFill/>
          <a:ln/>
        </p:spPr>
        <p:txBody>
          <a:bodyPr wrap="square" lIns="0" tIns="0" rIns="0" bIns="0" rtlCol="0" anchor="ctr"/>
          <a:lstStyle/>
          <a:p>
            <a:pPr indent="0" marL="0">
              <a:buNone/>
            </a:pPr>
            <a:r>
              <a:rPr lang="en-US" sz="1600" b="1" dirty="0">
                <a:solidFill>
                  <a:srgbClr val="22223B"/>
                </a:solidFill>
                <a:latin typeface="BIZ UDGothic" pitchFamily="34" charset="0"/>
                <a:ea typeface="BIZ UDGothic" pitchFamily="34" charset="-122"/>
                <a:cs typeface="BIZ UDGothic" pitchFamily="34" charset="-120"/>
              </a:rPr>
              <a:t>名前に注意</a:t>
            </a:r>
            <a:endParaRPr lang="en-US" sz="1600" dirty="0"/>
          </a:p>
        </p:txBody>
      </p:sp>
      <p:sp>
        <p:nvSpPr>
          <p:cNvPr id="22" name="Text 14"/>
          <p:cNvSpPr/>
          <p:nvPr/>
        </p:nvSpPr>
        <p:spPr>
          <a:xfrm>
            <a:off x="9144000" y="4663440"/>
            <a:ext cx="2499055" cy="685800"/>
          </a:xfrm>
          <a:prstGeom prst="rect">
            <a:avLst/>
          </a:prstGeom>
          <a:noFill/>
          <a:ln/>
        </p:spPr>
        <p:txBody>
          <a:bodyPr wrap="square" lIns="0" tIns="0" rIns="0" bIns="0" rtlCol="0" anchor="t"/>
          <a:lstStyle/>
          <a:p>
            <a:pPr indent="0" marL="0">
              <a:buNone/>
            </a:pPr>
            <a:r>
              <a:rPr lang="en-US" sz="1300" dirty="0">
                <a:solidFill>
                  <a:srgbClr val="4A4E69"/>
                </a:solidFill>
                <a:latin typeface="BIZ UDGothic" pitchFamily="34" charset="0"/>
                <a:ea typeface="BIZ UDGothic" pitchFamily="34" charset="-122"/>
                <a:cs typeface="BIZ UDGothic" pitchFamily="34" charset="-120"/>
              </a:rPr>
              <a:t>「Sobol列」は点の並べ方、「Sobol指数」は感度の指標。同じ人名だが別物</a:t>
            </a:r>
            <a:endParaRPr lang="en-US" sz="1300" dirty="0"/>
          </a:p>
        </p:txBody>
      </p:sp>
      <p:sp>
        <p:nvSpPr>
          <p:cNvPr id="23" name="Text 15"/>
          <p:cNvSpPr/>
          <p:nvPr/>
        </p:nvSpPr>
        <p:spPr>
          <a:xfrm>
            <a:off x="8412480" y="5486400"/>
            <a:ext cx="3230575" cy="548640"/>
          </a:xfrm>
          <a:prstGeom prst="rect">
            <a:avLst/>
          </a:prstGeom>
          <a:noFill/>
          <a:ln/>
        </p:spPr>
        <p:txBody>
          <a:bodyPr wrap="square" lIns="0" tIns="0" rIns="0" bIns="0" rtlCol="0" anchor="t"/>
          <a:lstStyle/>
          <a:p>
            <a:pPr indent="0" marL="0">
              <a:buNone/>
            </a:pPr>
            <a:r>
              <a:rPr lang="en-US" sz="1100" dirty="0">
                <a:solidFill>
                  <a:srgbClr val="6C6F7F"/>
                </a:solidFill>
                <a:latin typeface="BIZ UDGothic" pitchFamily="34" charset="0"/>
                <a:ea typeface="BIZ UDGothic" pitchFamily="34" charset="-122"/>
                <a:cs typeface="BIZ UDGothic" pitchFamily="34" charset="-120"/>
              </a:rPr>
              <a:t>* 中心化L2ディスクレパンシー（小さいほど均一）。SciPy の qmc.discrepancy で計算</a:t>
            </a:r>
            <a:endParaRPr lang="en-US" sz="1100" dirty="0"/>
          </a:p>
        </p:txBody>
      </p:sp>
      <p:sp>
        <p:nvSpPr>
          <p:cNvPr id="24" name="Text 16"/>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25" name="Text 17"/>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03　推定のしくみ</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収束と信頼区間 ― </a:t>
            </a:r>
            <a:r>
              <a:rPr lang="en-US" sz="3100" b="1" i="1" dirty="0">
                <a:solidFill>
                  <a:srgbClr val="22223B"/>
                </a:solidFill>
                <a:latin typeface="Times New Roman" pitchFamily="34" charset="0"/>
                <a:ea typeface="Times New Roman" pitchFamily="34" charset="-122"/>
                <a:cs typeface="Times New Roman" pitchFamily="34" charset="-120"/>
              </a:rPr>
              <a:t>N</a:t>
            </a:r>
            <a:r>
              <a:rPr lang="en-US" sz="2800" b="1" dirty="0">
                <a:solidFill>
                  <a:srgbClr val="22223B"/>
                </a:solidFill>
                <a:latin typeface="BIZ UDGothic" pitchFamily="34" charset="0"/>
                <a:ea typeface="BIZ UDGothic" pitchFamily="34" charset="-122"/>
                <a:cs typeface="BIZ UDGothic" pitchFamily="34" charset="-120"/>
              </a:rPr>
              <a:t> が小さいと推定はぶれる</a:t>
            </a:r>
            <a:endParaRPr lang="en-US" sz="2800" dirty="0"/>
          </a:p>
        </p:txBody>
      </p:sp>
      <p:sp>
        <p:nvSpPr>
          <p:cNvPr id="5" name="Text 2"/>
          <p:cNvSpPr/>
          <p:nvPr/>
        </p:nvSpPr>
        <p:spPr>
          <a:xfrm>
            <a:off x="548640" y="1371600"/>
            <a:ext cx="6766560" cy="365760"/>
          </a:xfrm>
          <a:prstGeom prst="rect">
            <a:avLst/>
          </a:prstGeom>
          <a:noFill/>
          <a:ln/>
        </p:spPr>
        <p:txBody>
          <a:bodyPr wrap="square" lIns="0" tIns="0" rIns="0" bIns="0" rtlCol="0" anchor="ctr"/>
          <a:lstStyle/>
          <a:p>
            <a:pPr indent="0" marL="0">
              <a:buNone/>
            </a:pPr>
            <a:r>
              <a:rPr lang="en-US" sz="1400" b="1" dirty="0">
                <a:solidFill>
                  <a:srgbClr val="22223B"/>
                </a:solidFill>
                <a:latin typeface="BIZ UDGothic" pitchFamily="34" charset="0"/>
                <a:ea typeface="BIZ UDGothic" pitchFamily="34" charset="-122"/>
                <a:cs typeface="BIZ UDGothic" pitchFamily="34" charset="-120"/>
              </a:rPr>
              <a:t>Ishigami関数の一次効果 </a:t>
            </a:r>
            <a:r>
              <a:rPr lang="en-US" sz="1600" b="1" i="1" dirty="0">
                <a:solidFill>
                  <a:srgbClr val="22223B"/>
                </a:solidFill>
                <a:latin typeface="Times New Roman" pitchFamily="34" charset="0"/>
                <a:ea typeface="Times New Roman" pitchFamily="34" charset="-122"/>
                <a:cs typeface="Times New Roman" pitchFamily="34" charset="-120"/>
              </a:rPr>
              <a:t>S</a:t>
            </a:r>
            <a:r>
              <a:rPr lang="en-US" sz="1600" b="1" i="1" baseline="-40000" dirty="0">
                <a:solidFill>
                  <a:srgbClr val="22223B"/>
                </a:solidFill>
                <a:latin typeface="Times New Roman" pitchFamily="34" charset="0"/>
                <a:ea typeface="Times New Roman" pitchFamily="34" charset="-122"/>
                <a:cs typeface="Times New Roman" pitchFamily="34" charset="-120"/>
              </a:rPr>
              <a:t>i</a:t>
            </a:r>
            <a:r>
              <a:rPr lang="en-US" sz="1400" b="1" dirty="0">
                <a:solidFill>
                  <a:srgbClr val="22223B"/>
                </a:solidFill>
                <a:latin typeface="BIZ UDGothic" pitchFamily="34" charset="0"/>
                <a:ea typeface="BIZ UDGothic" pitchFamily="34" charset="-122"/>
                <a:cs typeface="BIZ UDGothic" pitchFamily="34" charset="-120"/>
              </a:rPr>
              <a:t> の推定値（Sobol列、横軸はサンプル数 </a:t>
            </a:r>
            <a:r>
              <a:rPr lang="en-US" sz="1600" b="1" i="1" dirty="0">
                <a:solidFill>
                  <a:srgbClr val="22223B"/>
                </a:solidFill>
                <a:latin typeface="Times New Roman" pitchFamily="34" charset="0"/>
                <a:ea typeface="Times New Roman" pitchFamily="34" charset="-122"/>
                <a:cs typeface="Times New Roman" pitchFamily="34" charset="-120"/>
              </a:rPr>
              <a:t>N</a:t>
            </a:r>
            <a:r>
              <a:rPr lang="en-US" sz="1400" b="1" dirty="0">
                <a:solidFill>
                  <a:srgbClr val="22223B"/>
                </a:solidFill>
                <a:latin typeface="BIZ UDGothic" pitchFamily="34" charset="0"/>
                <a:ea typeface="BIZ UDGothic" pitchFamily="34" charset="-122"/>
                <a:cs typeface="BIZ UDGothic" pitchFamily="34" charset="-120"/>
              </a:rPr>
              <a:t>）</a:t>
            </a:r>
            <a:endParaRPr lang="en-US" sz="1400" dirty="0"/>
          </a:p>
        </p:txBody>
      </p:sp>
      <p:graphicFrame>
        <p:nvGraphicFramePr>
          <p:cNvPr id="6" name="Chart 0" descr=""/>
          <p:cNvGraphicFramePr/>
          <p:nvPr/>
        </p:nvGraphicFramePr>
        <p:xfrm>
          <a:off x="548640" y="1737360"/>
          <a:ext cx="6766560" cy="3794760"/>
        </p:xfrm>
        <a:graphic xmlns:a="http://schemas.openxmlformats.org/drawingml/2006/main">
          <a:graphicData uri="http://schemas.openxmlformats.org/drawingml/2006/chart">
            <c:chart xmlns:c="http://schemas.openxmlformats.org/drawingml/2006/chart" r:id="rId1"/>
          </a:graphicData>
        </a:graphic>
      </p:graphicFrame>
      <p:sp>
        <p:nvSpPr>
          <p:cNvPr id="7" name="Text 3"/>
          <p:cNvSpPr/>
          <p:nvPr/>
        </p:nvSpPr>
        <p:spPr>
          <a:xfrm>
            <a:off x="548640" y="5577840"/>
            <a:ext cx="6766560" cy="365760"/>
          </a:xfrm>
          <a:prstGeom prst="rect">
            <a:avLst/>
          </a:prstGeom>
          <a:noFill/>
          <a:ln/>
        </p:spPr>
        <p:txBody>
          <a:bodyPr wrap="square" lIns="0" tIns="0" rIns="0" bIns="0" rtlCol="0" anchor="ctr"/>
          <a:lstStyle/>
          <a:p>
            <a:pPr indent="0" marL="0">
              <a:buNone/>
            </a:pPr>
            <a:r>
              <a:rPr lang="en-US" sz="1300" dirty="0">
                <a:solidFill>
                  <a:srgbClr val="4A4E69"/>
                </a:solidFill>
                <a:latin typeface="BIZ UDGothic" pitchFamily="34" charset="0"/>
                <a:ea typeface="BIZ UDGothic" pitchFamily="34" charset="-122"/>
                <a:cs typeface="BIZ UDGothic" pitchFamily="34" charset="-120"/>
              </a:rPr>
              <a:t>理論値：</a:t>
            </a:r>
            <a:r>
              <a:rPr lang="en-US" sz="1500" i="1" dirty="0">
                <a:solidFill>
                  <a:srgbClr val="4A4E69"/>
                </a:solidFill>
                <a:latin typeface="Times New Roman" pitchFamily="34" charset="0"/>
                <a:ea typeface="Times New Roman" pitchFamily="34" charset="-122"/>
                <a:cs typeface="Times New Roman" pitchFamily="34" charset="-120"/>
              </a:rPr>
              <a:t>S</a:t>
            </a:r>
            <a:r>
              <a:rPr lang="en-US" sz="1500" i="1" baseline="-40000" dirty="0">
                <a:solidFill>
                  <a:srgbClr val="4A4E69"/>
                </a:solidFill>
                <a:latin typeface="Times New Roman" pitchFamily="34" charset="0"/>
                <a:ea typeface="Times New Roman" pitchFamily="34" charset="-122"/>
                <a:cs typeface="Times New Roman" pitchFamily="34" charset="-120"/>
              </a:rPr>
              <a:t>1</a:t>
            </a:r>
            <a:r>
              <a:rPr lang="en-US" sz="1300" dirty="0">
                <a:solidFill>
                  <a:srgbClr val="4A4E69"/>
                </a:solidFill>
                <a:latin typeface="BIZ UDGothic" pitchFamily="34" charset="0"/>
                <a:ea typeface="BIZ UDGothic" pitchFamily="34" charset="-122"/>
                <a:cs typeface="BIZ UDGothic" pitchFamily="34" charset="-120"/>
              </a:rPr>
              <a:t> = 0.314、</a:t>
            </a:r>
            <a:r>
              <a:rPr lang="en-US" sz="1500" i="1" dirty="0">
                <a:solidFill>
                  <a:srgbClr val="4A4E69"/>
                </a:solidFill>
                <a:latin typeface="Times New Roman" pitchFamily="34" charset="0"/>
                <a:ea typeface="Times New Roman" pitchFamily="34" charset="-122"/>
                <a:cs typeface="Times New Roman" pitchFamily="34" charset="-120"/>
              </a:rPr>
              <a:t>S</a:t>
            </a:r>
            <a:r>
              <a:rPr lang="en-US" sz="1500" i="1" baseline="-40000" dirty="0">
                <a:solidFill>
                  <a:srgbClr val="4A4E69"/>
                </a:solidFill>
                <a:latin typeface="Times New Roman" pitchFamily="34" charset="0"/>
                <a:ea typeface="Times New Roman" pitchFamily="34" charset="-122"/>
                <a:cs typeface="Times New Roman" pitchFamily="34" charset="-120"/>
              </a:rPr>
              <a:t>2</a:t>
            </a:r>
            <a:r>
              <a:rPr lang="en-US" sz="1300" dirty="0">
                <a:solidFill>
                  <a:srgbClr val="4A4E69"/>
                </a:solidFill>
                <a:latin typeface="BIZ UDGothic" pitchFamily="34" charset="0"/>
                <a:ea typeface="BIZ UDGothic" pitchFamily="34" charset="-122"/>
                <a:cs typeface="BIZ UDGothic" pitchFamily="34" charset="-120"/>
              </a:rPr>
              <a:t> = 0.442、</a:t>
            </a:r>
            <a:r>
              <a:rPr lang="en-US" sz="1500" i="1" dirty="0">
                <a:solidFill>
                  <a:srgbClr val="4A4E69"/>
                </a:solidFill>
                <a:latin typeface="Times New Roman" pitchFamily="34" charset="0"/>
                <a:ea typeface="Times New Roman" pitchFamily="34" charset="-122"/>
                <a:cs typeface="Times New Roman" pitchFamily="34" charset="-120"/>
              </a:rPr>
              <a:t>S</a:t>
            </a:r>
            <a:r>
              <a:rPr lang="en-US" sz="1500" i="1" baseline="-40000" dirty="0">
                <a:solidFill>
                  <a:srgbClr val="4A4E69"/>
                </a:solidFill>
                <a:latin typeface="Times New Roman" pitchFamily="34" charset="0"/>
                <a:ea typeface="Times New Roman" pitchFamily="34" charset="-122"/>
                <a:cs typeface="Times New Roman" pitchFamily="34" charset="-120"/>
              </a:rPr>
              <a:t>3</a:t>
            </a:r>
            <a:r>
              <a:rPr lang="en-US" sz="1300" dirty="0">
                <a:solidFill>
                  <a:srgbClr val="4A4E69"/>
                </a:solidFill>
                <a:latin typeface="BIZ UDGothic" pitchFamily="34" charset="0"/>
                <a:ea typeface="BIZ UDGothic" pitchFamily="34" charset="-122"/>
                <a:cs typeface="BIZ UDGothic" pitchFamily="34" charset="-120"/>
              </a:rPr>
              <a:t> = 0　（モデル計算回数 ＝ </a:t>
            </a:r>
            <a:r>
              <a:rPr lang="en-US" sz="1500" i="1" dirty="0">
                <a:solidFill>
                  <a:srgbClr val="4A4E69"/>
                </a:solidFill>
                <a:latin typeface="Times New Roman" pitchFamily="34" charset="0"/>
                <a:ea typeface="Times New Roman" pitchFamily="34" charset="-122"/>
                <a:cs typeface="Times New Roman" pitchFamily="34" charset="-120"/>
              </a:rPr>
              <a:t>N</a:t>
            </a:r>
            <a:r>
              <a:rPr lang="en-US" sz="1300" dirty="0">
                <a:solidFill>
                  <a:srgbClr val="4A4E69"/>
                </a:solidFill>
                <a:latin typeface="BIZ UDGothic" pitchFamily="34" charset="0"/>
                <a:ea typeface="BIZ UDGothic" pitchFamily="34" charset="-122"/>
                <a:cs typeface="BIZ UDGothic" pitchFamily="34" charset="-120"/>
              </a:rPr>
              <a:t> × 5）</a:t>
            </a:r>
            <a:endParaRPr lang="en-US" sz="1300" dirty="0"/>
          </a:p>
        </p:txBody>
      </p:sp>
      <p:sp>
        <p:nvSpPr>
          <p:cNvPr id="8" name="Text 4"/>
          <p:cNvSpPr/>
          <p:nvPr/>
        </p:nvSpPr>
        <p:spPr>
          <a:xfrm>
            <a:off x="7635240" y="1371600"/>
            <a:ext cx="4007815" cy="365760"/>
          </a:xfrm>
          <a:prstGeom prst="rect">
            <a:avLst/>
          </a:prstGeom>
          <a:noFill/>
          <a:ln/>
        </p:spPr>
        <p:txBody>
          <a:bodyPr wrap="square" lIns="0" tIns="0" rIns="0" bIns="0" rtlCol="0" anchor="ctr"/>
          <a:lstStyle/>
          <a:p>
            <a:pPr indent="0" marL="0">
              <a:buNone/>
            </a:pPr>
            <a:r>
              <a:rPr lang="en-US" sz="1400" b="1" dirty="0">
                <a:solidFill>
                  <a:srgbClr val="22223B"/>
                </a:solidFill>
                <a:latin typeface="BIZ UDGothic" pitchFamily="34" charset="0"/>
                <a:ea typeface="BIZ UDGothic" pitchFamily="34" charset="-122"/>
                <a:cs typeface="BIZ UDGothic" pitchFamily="34" charset="-120"/>
              </a:rPr>
              <a:t>N = 8,192（計算 40,960 回）の推定結果</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635240" y="1783080"/>
          <a:ext cx="4007815" cy="914400"/>
        </p:xfrm>
        <a:graphic>
          <a:graphicData uri="http://schemas.openxmlformats.org/drawingml/2006/table">
            <a:tbl>
              <a:tblPr/>
              <a:tblGrid>
                <a:gridCol w="822960"/>
                <a:gridCol w="1592428"/>
                <a:gridCol w="1592428"/>
              </a:tblGrid>
              <a:tr h="411480">
                <a:tc>
                  <a:txBody>
                    <a:bodyPr/>
                    <a:lstStyle/>
                    <a:p>
                      <a:pPr algn="ctr" indent="0" marL="0">
                        <a:buNone/>
                      </a:pPr>
                      <a:r>
                        <a:rPr lang="en-US" sz="1300" b="1" dirty="0">
                          <a:solidFill>
                            <a:srgbClr val="FFFFFF"/>
                          </a:solidFill>
                          <a:latin typeface="BIZ UDGothic" pitchFamily="34" charset="0"/>
                          <a:ea typeface="BIZ UDGothic" pitchFamily="34" charset="-122"/>
                          <a:cs typeface="BIZ UDGothic" pitchFamily="34" charset="-120"/>
                        </a:rPr>
                        <a:t>入力</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c>
                  <a:txBody>
                    <a:bodyPr/>
                    <a:lstStyle/>
                    <a:p>
                      <a:pPr algn="ctr" indent="0" marL="0">
                        <a:buNone/>
                      </a:pPr>
                      <a:r>
                        <a:rPr lang="en-US" sz="1500" b="1" i="1" dirty="0">
                          <a:solidFill>
                            <a:srgbClr val="FFFFFF"/>
                          </a:solidFill>
                          <a:latin typeface="Times New Roman" pitchFamily="34" charset="0"/>
                          <a:ea typeface="Times New Roman" pitchFamily="34" charset="-122"/>
                          <a:cs typeface="Times New Roman" pitchFamily="34" charset="-120"/>
                        </a:rPr>
                        <a:t>S</a:t>
                      </a:r>
                      <a:r>
                        <a:rPr lang="en-US" sz="1500" b="1" i="1" baseline="-40000" dirty="0">
                          <a:solidFill>
                            <a:srgbClr val="FFFFFF"/>
                          </a:solidFill>
                          <a:latin typeface="Times New Roman" pitchFamily="34" charset="0"/>
                          <a:ea typeface="Times New Roman" pitchFamily="34" charset="-122"/>
                          <a:cs typeface="Times New Roman" pitchFamily="34" charset="-120"/>
                        </a:rPr>
                        <a:t>i</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c>
                  <a:txBody>
                    <a:bodyPr/>
                    <a:lstStyle/>
                    <a:p>
                      <a:pPr algn="ctr" indent="0" marL="0">
                        <a:buNone/>
                      </a:pPr>
                      <a:r>
                        <a:rPr lang="en-US" sz="1500" b="1" i="1" dirty="0">
                          <a:solidFill>
                            <a:srgbClr val="FFFFFF"/>
                          </a:solidFill>
                          <a:latin typeface="Times New Roman" pitchFamily="34" charset="0"/>
                          <a:ea typeface="Times New Roman" pitchFamily="34" charset="-122"/>
                          <a:cs typeface="Times New Roman" pitchFamily="34" charset="-120"/>
                        </a:rPr>
                        <a:t>S</a:t>
                      </a:r>
                      <a:r>
                        <a:rPr lang="en-US" sz="1500" b="1" i="1" baseline="-40000" dirty="0">
                          <a:solidFill>
                            <a:srgbClr val="FFFFFF"/>
                          </a:solidFill>
                          <a:latin typeface="Times New Roman" pitchFamily="34" charset="0"/>
                          <a:ea typeface="Times New Roman" pitchFamily="34" charset="-122"/>
                          <a:cs typeface="Times New Roman" pitchFamily="34" charset="-120"/>
                        </a:rPr>
                        <a:t>Ti</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r>
              <a:tr h="411480">
                <a:tc>
                  <a:txBody>
                    <a:bodyPr/>
                    <a:lstStyle/>
                    <a:p>
                      <a:pPr algn="ctr" indent="0" marL="0">
                        <a:buNone/>
                      </a:pPr>
                      <a:r>
                        <a:rPr lang="en-US" sz="1500" b="1" i="1" dirty="0">
                          <a:solidFill>
                            <a:srgbClr val="E76F51"/>
                          </a:solidFill>
                          <a:latin typeface="Times New Roman" pitchFamily="34" charset="0"/>
                          <a:ea typeface="Times New Roman" pitchFamily="34" charset="-122"/>
                          <a:cs typeface="Times New Roman" pitchFamily="34" charset="-120"/>
                        </a:rPr>
                        <a:t>X</a:t>
                      </a:r>
                      <a:r>
                        <a:rPr lang="en-US" sz="1500" b="1" i="1" baseline="-40000" dirty="0">
                          <a:solidFill>
                            <a:srgbClr val="E76F51"/>
                          </a:solidFill>
                          <a:latin typeface="Times New Roman" pitchFamily="34" charset="0"/>
                          <a:ea typeface="Times New Roman" pitchFamily="34" charset="-122"/>
                          <a:cs typeface="Times New Roman" pitchFamily="34" charset="-120"/>
                        </a:rPr>
                        <a:t>1</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0.314 ± 0.031</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0.558 ± 0.032</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r>
              <a:tr h="411480">
                <a:tc>
                  <a:txBody>
                    <a:bodyPr/>
                    <a:lstStyle/>
                    <a:p>
                      <a:pPr algn="ctr" indent="0" marL="0">
                        <a:buNone/>
                      </a:pPr>
                      <a:r>
                        <a:rPr lang="en-US" sz="1500" b="1" i="1" dirty="0">
                          <a:solidFill>
                            <a:srgbClr val="2A9D8F"/>
                          </a:solidFill>
                          <a:latin typeface="Times New Roman" pitchFamily="34" charset="0"/>
                          <a:ea typeface="Times New Roman" pitchFamily="34" charset="-122"/>
                          <a:cs typeface="Times New Roman" pitchFamily="34" charset="-120"/>
                        </a:rPr>
                        <a:t>X</a:t>
                      </a:r>
                      <a:r>
                        <a:rPr lang="en-US" sz="1500" b="1" i="1" baseline="-40000" dirty="0">
                          <a:solidFill>
                            <a:srgbClr val="2A9D8F"/>
                          </a:solidFill>
                          <a:latin typeface="Times New Roman" pitchFamily="34" charset="0"/>
                          <a:ea typeface="Times New Roman" pitchFamily="34" charset="-122"/>
                          <a:cs typeface="Times New Roman" pitchFamily="34" charset="-120"/>
                        </a:rPr>
                        <a:t>2</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0.443 ± 0.028</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0.443 ± 0.014</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r>
              <a:tr h="411480">
                <a:tc>
                  <a:txBody>
                    <a:bodyPr/>
                    <a:lstStyle/>
                    <a:p>
                      <a:pPr algn="ctr" indent="0" marL="0">
                        <a:buNone/>
                      </a:pPr>
                      <a:r>
                        <a:rPr lang="en-US" sz="1500" b="1" i="1" dirty="0">
                          <a:solidFill>
                            <a:srgbClr val="9C7412"/>
                          </a:solidFill>
                          <a:latin typeface="Times New Roman" pitchFamily="34" charset="0"/>
                          <a:ea typeface="Times New Roman" pitchFamily="34" charset="-122"/>
                          <a:cs typeface="Times New Roman" pitchFamily="34" charset="-120"/>
                        </a:rPr>
                        <a:t>X</a:t>
                      </a:r>
                      <a:r>
                        <a:rPr lang="en-US" sz="1500" b="1" i="1" baseline="-40000" dirty="0">
                          <a:solidFill>
                            <a:srgbClr val="9C7412"/>
                          </a:solidFill>
                          <a:latin typeface="Times New Roman" pitchFamily="34" charset="0"/>
                          <a:ea typeface="Times New Roman" pitchFamily="34" charset="-122"/>
                          <a:cs typeface="Times New Roman" pitchFamily="34" charset="-120"/>
                        </a:rPr>
                        <a:t>3</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0.000 ± 0.024</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0.244 ± 0.010</a:t>
                      </a:r>
                      <a:endParaRPr lang="en-US" sz="1200" dirty="0"/>
                    </a:p>
                  </a:txBody>
                  <a:tcPr marL="91440" marR="91440"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r>
            </a:tbl>
          </a:graphicData>
        </a:graphic>
      </p:graphicFrame>
      <p:sp>
        <p:nvSpPr>
          <p:cNvPr id="10" name="Text 5"/>
          <p:cNvSpPr/>
          <p:nvPr/>
        </p:nvSpPr>
        <p:spPr>
          <a:xfrm>
            <a:off x="7635240" y="3474720"/>
            <a:ext cx="4007815" cy="320040"/>
          </a:xfrm>
          <a:prstGeom prst="rect">
            <a:avLst/>
          </a:prstGeom>
          <a:noFill/>
          <a:ln/>
        </p:spPr>
        <p:txBody>
          <a:bodyPr wrap="square" lIns="0" tIns="0" rIns="0" bIns="0" rtlCol="0" anchor="ctr"/>
          <a:lstStyle/>
          <a:p>
            <a:pPr indent="0" marL="0">
              <a:buNone/>
            </a:pPr>
            <a:r>
              <a:rPr lang="en-US" sz="1100" dirty="0">
                <a:solidFill>
                  <a:srgbClr val="6C6F7F"/>
                </a:solidFill>
                <a:latin typeface="BIZ UDGothic" pitchFamily="34" charset="0"/>
                <a:ea typeface="BIZ UDGothic" pitchFamily="34" charset="-122"/>
                <a:cs typeface="BIZ UDGothic" pitchFamily="34" charset="-120"/>
              </a:rPr>
              <a:t>± は95%信頼区間の半幅（ブートストラップ 1,000 回）</a:t>
            </a:r>
            <a:endParaRPr lang="en-US" sz="1100" dirty="0"/>
          </a:p>
        </p:txBody>
      </p:sp>
      <p:sp>
        <p:nvSpPr>
          <p:cNvPr id="11" name="Shape 6"/>
          <p:cNvSpPr/>
          <p:nvPr/>
        </p:nvSpPr>
        <p:spPr>
          <a:xfrm>
            <a:off x="7635240" y="3931920"/>
            <a:ext cx="4007815" cy="2194560"/>
          </a:xfrm>
          <a:prstGeom prst="roundRect">
            <a:avLst>
              <a:gd name="adj" fmla="val 3333"/>
            </a:avLst>
          </a:prstGeom>
          <a:solidFill>
            <a:srgbClr val="F3F4F8"/>
          </a:solidFill>
          <a:ln/>
        </p:spPr>
      </p:sp>
      <p:sp>
        <p:nvSpPr>
          <p:cNvPr id="12" name="Text 7"/>
          <p:cNvSpPr/>
          <p:nvPr/>
        </p:nvSpPr>
        <p:spPr>
          <a:xfrm>
            <a:off x="7863840" y="4069080"/>
            <a:ext cx="3550615"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2223B"/>
                </a:solidFill>
                <a:latin typeface="BIZ UDGothic" pitchFamily="34" charset="0"/>
                <a:ea typeface="BIZ UDGothic" pitchFamily="34" charset="-122"/>
                <a:cs typeface="BIZ UDGothic" pitchFamily="34" charset="-120"/>
              </a:rPr>
              <a:t>この例では </a:t>
            </a:r>
            <a:r>
              <a:rPr lang="en-US" sz="1500" i="1" dirty="0">
                <a:solidFill>
                  <a:srgbClr val="22223B"/>
                </a:solidFill>
                <a:latin typeface="Times New Roman" pitchFamily="34" charset="0"/>
                <a:ea typeface="Times New Roman" pitchFamily="34" charset="-122"/>
                <a:cs typeface="Times New Roman" pitchFamily="34" charset="-120"/>
              </a:rPr>
              <a:t>N</a:t>
            </a:r>
            <a:r>
              <a:rPr lang="en-US" sz="1300" dirty="0">
                <a:solidFill>
                  <a:srgbClr val="22223B"/>
                </a:solidFill>
                <a:latin typeface="BIZ UDGothic" pitchFamily="34" charset="0"/>
                <a:ea typeface="BIZ UDGothic" pitchFamily="34" charset="-122"/>
                <a:cs typeface="BIZ UDGothic" pitchFamily="34" charset="-120"/>
              </a:rPr>
              <a:t> = 64 で </a:t>
            </a:r>
            <a:r>
              <a:rPr lang="en-US" sz="1500" i="1" dirty="0">
                <a:solidFill>
                  <a:srgbClr val="22223B"/>
                </a:solidFill>
                <a:latin typeface="Times New Roman" pitchFamily="34" charset="0"/>
                <a:ea typeface="Times New Roman" pitchFamily="34" charset="-122"/>
                <a:cs typeface="Times New Roman" pitchFamily="34" charset="-120"/>
              </a:rPr>
              <a:t>S</a:t>
            </a:r>
            <a:r>
              <a:rPr lang="en-US" sz="1500" i="1" baseline="-40000" dirty="0">
                <a:solidFill>
                  <a:srgbClr val="22223B"/>
                </a:solidFill>
                <a:latin typeface="Times New Roman" pitchFamily="34" charset="0"/>
                <a:ea typeface="Times New Roman" pitchFamily="34" charset="-122"/>
                <a:cs typeface="Times New Roman" pitchFamily="34" charset="-120"/>
              </a:rPr>
              <a:t>3</a:t>
            </a:r>
            <a:r>
              <a:rPr lang="en-US" sz="1300" dirty="0">
                <a:solidFill>
                  <a:srgbClr val="22223B"/>
                </a:solidFill>
                <a:latin typeface="BIZ UDGothic" pitchFamily="34" charset="0"/>
                <a:ea typeface="BIZ UDGothic" pitchFamily="34" charset="-122"/>
                <a:cs typeface="BIZ UDGothic" pitchFamily="34" charset="-120"/>
              </a:rPr>
              <a:t> = −0.108（負の値）。推定誤差で負の値や </a:t>
            </a:r>
            <a:r>
              <a:rPr lang="en-US" sz="1500" i="1" dirty="0">
                <a:solidFill>
                  <a:srgbClr val="22223B"/>
                </a:solidFill>
                <a:latin typeface="Times New Roman" pitchFamily="34" charset="0"/>
                <a:ea typeface="Times New Roman" pitchFamily="34" charset="-122"/>
                <a:cs typeface="Times New Roman" pitchFamily="34" charset="-120"/>
              </a:rPr>
              <a:t>S</a:t>
            </a:r>
            <a:r>
              <a:rPr lang="en-US" sz="1500" i="1" baseline="-40000" dirty="0">
                <a:solidFill>
                  <a:srgbClr val="22223B"/>
                </a:solidFill>
                <a:latin typeface="Times New Roman" pitchFamily="34" charset="0"/>
                <a:ea typeface="Times New Roman" pitchFamily="34" charset="-122"/>
                <a:cs typeface="Times New Roman" pitchFamily="34" charset="-120"/>
              </a:rPr>
              <a:t>i</a:t>
            </a:r>
            <a:r>
              <a:rPr lang="en-US" sz="1300" dirty="0">
                <a:solidFill>
                  <a:srgbClr val="22223B"/>
                </a:solidFill>
                <a:latin typeface="BIZ UDGothic" pitchFamily="34" charset="0"/>
                <a:ea typeface="BIZ UDGothic" pitchFamily="34" charset="-122"/>
                <a:cs typeface="BIZ UDGothic" pitchFamily="34" charset="-120"/>
              </a:rPr>
              <a:t> &gt; </a:t>
            </a:r>
            <a:r>
              <a:rPr lang="en-US" sz="1500" i="1" dirty="0">
                <a:solidFill>
                  <a:srgbClr val="22223B"/>
                </a:solidFill>
                <a:latin typeface="Times New Roman" pitchFamily="34" charset="0"/>
                <a:ea typeface="Times New Roman" pitchFamily="34" charset="-122"/>
                <a:cs typeface="Times New Roman" pitchFamily="34" charset="-120"/>
              </a:rPr>
              <a:t>S</a:t>
            </a:r>
            <a:r>
              <a:rPr lang="en-US" sz="1500" i="1" baseline="-40000" dirty="0">
                <a:solidFill>
                  <a:srgbClr val="22223B"/>
                </a:solidFill>
                <a:latin typeface="Times New Roman" pitchFamily="34" charset="0"/>
                <a:ea typeface="Times New Roman" pitchFamily="34" charset="-122"/>
                <a:cs typeface="Times New Roman" pitchFamily="34" charset="-120"/>
              </a:rPr>
              <a:t>Ti</a:t>
            </a:r>
            <a:r>
              <a:rPr lang="en-US" sz="1300" dirty="0">
                <a:solidFill>
                  <a:srgbClr val="22223B"/>
                </a:solidFill>
                <a:latin typeface="BIZ UDGothic" pitchFamily="34" charset="0"/>
                <a:ea typeface="BIZ UDGothic" pitchFamily="34" charset="-122"/>
                <a:cs typeface="BIZ UDGothic" pitchFamily="34" charset="-120"/>
              </a:rPr>
              <a:t> も起こる</a:t>
            </a:r>
            <a:endParaRPr lang="en-US" sz="1300" dirty="0"/>
          </a:p>
          <a:p>
            <a:pPr marL="342900" indent="-342900">
              <a:spcAft>
                <a:spcPts val="600"/>
              </a:spcAft>
              <a:buSzPct val="100000"/>
              <a:buChar char="•"/>
            </a:pPr>
            <a:r>
              <a:rPr lang="en-US" sz="1500" i="1" dirty="0">
                <a:solidFill>
                  <a:srgbClr val="22223B"/>
                </a:solidFill>
                <a:latin typeface="Times New Roman" pitchFamily="34" charset="0"/>
                <a:ea typeface="Times New Roman" pitchFamily="34" charset="-122"/>
                <a:cs typeface="Times New Roman" pitchFamily="34" charset="-120"/>
              </a:rPr>
              <a:t>N</a:t>
            </a:r>
            <a:r>
              <a:rPr lang="en-US" sz="1300" dirty="0">
                <a:solidFill>
                  <a:srgbClr val="22223B"/>
                </a:solidFill>
                <a:latin typeface="BIZ UDGothic" pitchFamily="34" charset="0"/>
                <a:ea typeface="BIZ UDGothic" pitchFamily="34" charset="-122"/>
                <a:cs typeface="BIZ UDGothic" pitchFamily="34" charset="-120"/>
              </a:rPr>
              <a:t> を2倍ずつ増やし、値が落ち着くことを確認する</a:t>
            </a:r>
            <a:endParaRPr lang="en-US" sz="1300" dirty="0"/>
          </a:p>
          <a:p>
            <a:pPr marL="342900" indent="-342900">
              <a:spcAft>
                <a:spcPts val="600"/>
              </a:spcAft>
              <a:buSzPct val="100000"/>
              <a:buChar char="•"/>
            </a:pPr>
            <a:r>
              <a:rPr lang="en-US" sz="1300" dirty="0">
                <a:solidFill>
                  <a:srgbClr val="22223B"/>
                </a:solidFill>
                <a:latin typeface="BIZ UDGothic" pitchFamily="34" charset="0"/>
                <a:ea typeface="BIZ UDGothic" pitchFamily="34" charset="-122"/>
                <a:cs typeface="BIZ UDGothic" pitchFamily="34" charset="-120"/>
              </a:rPr>
              <a:t>結果は必ず信頼区間とセットで報告する</a:t>
            </a:r>
            <a:endParaRPr lang="en-US" sz="1300" dirty="0"/>
          </a:p>
        </p:txBody>
      </p:sp>
      <p:sp>
        <p:nvSpPr>
          <p:cNvPr id="13" name="Text 8"/>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14" name="Text 9"/>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04　実務で使うために</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実務の進め方 ― 6つのステップ</a:t>
            </a:r>
            <a:endParaRPr lang="en-US" sz="2800" dirty="0"/>
          </a:p>
        </p:txBody>
      </p:sp>
      <p:sp>
        <p:nvSpPr>
          <p:cNvPr id="5" name="Shape 2"/>
          <p:cNvSpPr/>
          <p:nvPr/>
        </p:nvSpPr>
        <p:spPr>
          <a:xfrm>
            <a:off x="548640" y="1463040"/>
            <a:ext cx="3393338" cy="2103120"/>
          </a:xfrm>
          <a:prstGeom prst="roundRect">
            <a:avLst>
              <a:gd name="adj" fmla="val 3478"/>
            </a:avLst>
          </a:prstGeom>
          <a:solidFill>
            <a:srgbClr val="FFFFFF"/>
          </a:solidFill>
          <a:ln w="9525">
            <a:solidFill>
              <a:srgbClr val="DADDE6"/>
            </a:solidFill>
            <a:prstDash val="solid"/>
          </a:ln>
        </p:spPr>
      </p:sp>
      <p:sp>
        <p:nvSpPr>
          <p:cNvPr id="6" name="Shape 3"/>
          <p:cNvSpPr/>
          <p:nvPr/>
        </p:nvSpPr>
        <p:spPr>
          <a:xfrm>
            <a:off x="777240" y="1691640"/>
            <a:ext cx="594360" cy="594360"/>
          </a:xfrm>
          <a:prstGeom prst="ellipse">
            <a:avLst/>
          </a:prstGeom>
          <a:solidFill>
            <a:srgbClr val="E76F51"/>
          </a:solidFill>
          <a:ln/>
        </p:spPr>
      </p:sp>
      <p:pic>
        <p:nvPicPr>
          <p:cNvPr id="7" name="Image 0" descr="preencoded.png">    </p:cNvPr>
          <p:cNvPicPr>
            <a:picLocks noChangeAspect="1"/>
          </p:cNvPicPr>
          <p:nvPr/>
        </p:nvPicPr>
        <p:blipFill>
          <a:blip r:embed="rId1"/>
          <a:stretch>
            <a:fillRect/>
          </a:stretch>
        </p:blipFill>
        <p:spPr>
          <a:xfrm>
            <a:off x="907999" y="1822399"/>
            <a:ext cx="332842" cy="332842"/>
          </a:xfrm>
          <a:prstGeom prst="rect">
            <a:avLst/>
          </a:prstGeom>
        </p:spPr>
      </p:pic>
      <p:sp>
        <p:nvSpPr>
          <p:cNvPr id="8" name="Text 4"/>
          <p:cNvSpPr/>
          <p:nvPr/>
        </p:nvSpPr>
        <p:spPr>
          <a:xfrm>
            <a:off x="2981858" y="1691640"/>
            <a:ext cx="731520" cy="594360"/>
          </a:xfrm>
          <a:prstGeom prst="rect">
            <a:avLst/>
          </a:prstGeom>
          <a:noFill/>
          <a:ln/>
        </p:spPr>
        <p:txBody>
          <a:bodyPr wrap="square" lIns="0" tIns="0" rIns="0" bIns="0" rtlCol="0" anchor="ctr"/>
          <a:lstStyle/>
          <a:p>
            <a:pPr algn="r" indent="0" marL="0">
              <a:buNone/>
            </a:pPr>
            <a:r>
              <a:rPr lang="en-US" sz="2800" b="1" dirty="0">
                <a:solidFill>
                  <a:srgbClr val="DADDE6"/>
                </a:solidFill>
                <a:latin typeface="BIZ UDGothic" pitchFamily="34" charset="0"/>
                <a:ea typeface="BIZ UDGothic" pitchFamily="34" charset="-122"/>
                <a:cs typeface="BIZ UDGothic" pitchFamily="34" charset="-120"/>
              </a:rPr>
              <a:t>01</a:t>
            </a:r>
            <a:endParaRPr lang="en-US" sz="2800" dirty="0"/>
          </a:p>
        </p:txBody>
      </p:sp>
      <p:sp>
        <p:nvSpPr>
          <p:cNvPr id="9" name="Text 5"/>
          <p:cNvSpPr/>
          <p:nvPr/>
        </p:nvSpPr>
        <p:spPr>
          <a:xfrm>
            <a:off x="777240" y="2377440"/>
            <a:ext cx="2936138" cy="457200"/>
          </a:xfrm>
          <a:prstGeom prst="rect">
            <a:avLst/>
          </a:prstGeom>
          <a:noFill/>
          <a:ln/>
        </p:spPr>
        <p:txBody>
          <a:bodyPr wrap="square" lIns="0" tIns="0" rIns="0" bIns="0" rtlCol="0" anchor="ctr"/>
          <a:lstStyle/>
          <a:p>
            <a:pPr indent="0" marL="0">
              <a:buNone/>
            </a:pPr>
            <a:r>
              <a:rPr lang="en-US" sz="1700" b="1" dirty="0">
                <a:solidFill>
                  <a:srgbClr val="22223B"/>
                </a:solidFill>
                <a:latin typeface="BIZ UDGothic" pitchFamily="34" charset="0"/>
                <a:ea typeface="BIZ UDGothic" pitchFamily="34" charset="-122"/>
                <a:cs typeface="BIZ UDGothic" pitchFamily="34" charset="-120"/>
              </a:rPr>
              <a:t>目的と出力 </a:t>
            </a:r>
            <a:r>
              <a:rPr lang="en-US" sz="1900" b="1" i="1" dirty="0">
                <a:solidFill>
                  <a:srgbClr val="22223B"/>
                </a:solidFill>
                <a:latin typeface="Times New Roman" pitchFamily="34" charset="0"/>
                <a:ea typeface="Times New Roman" pitchFamily="34" charset="-122"/>
                <a:cs typeface="Times New Roman" pitchFamily="34" charset="-120"/>
              </a:rPr>
              <a:t>Y</a:t>
            </a:r>
            <a:r>
              <a:rPr lang="en-US" sz="1700" b="1" dirty="0">
                <a:solidFill>
                  <a:srgbClr val="22223B"/>
                </a:solidFill>
                <a:latin typeface="BIZ UDGothic" pitchFamily="34" charset="0"/>
                <a:ea typeface="BIZ UDGothic" pitchFamily="34" charset="-122"/>
                <a:cs typeface="BIZ UDGothic" pitchFamily="34" charset="-120"/>
              </a:rPr>
              <a:t> を決める</a:t>
            </a:r>
            <a:endParaRPr lang="en-US" sz="1700" dirty="0"/>
          </a:p>
        </p:txBody>
      </p:sp>
      <p:sp>
        <p:nvSpPr>
          <p:cNvPr id="10" name="Text 6"/>
          <p:cNvSpPr/>
          <p:nvPr/>
        </p:nvSpPr>
        <p:spPr>
          <a:xfrm>
            <a:off x="777240" y="2834640"/>
            <a:ext cx="2936138" cy="658368"/>
          </a:xfrm>
          <a:prstGeom prst="rect">
            <a:avLst/>
          </a:prstGeom>
          <a:noFill/>
          <a:ln/>
        </p:spPr>
        <p:txBody>
          <a:bodyPr wrap="square" lIns="0" tIns="0" rIns="0" bIns="0" rtlCol="0" anchor="t"/>
          <a:lstStyle/>
          <a:p>
            <a:pPr indent="0" marL="0">
              <a:buNone/>
            </a:pPr>
            <a:r>
              <a:rPr lang="en-US" sz="1300" dirty="0">
                <a:solidFill>
                  <a:srgbClr val="4A4E69"/>
                </a:solidFill>
                <a:latin typeface="BIZ UDGothic" pitchFamily="34" charset="0"/>
                <a:ea typeface="BIZ UDGothic" pitchFamily="34" charset="-122"/>
                <a:cs typeface="BIZ UDGothic" pitchFamily="34" charset="-120"/>
              </a:rPr>
              <a:t>何を知りたいか（重要因子の特定／因子の固定）を決める。出力が複数なら1つずつ</a:t>
            </a:r>
            <a:endParaRPr lang="en-US" sz="1300" dirty="0"/>
          </a:p>
        </p:txBody>
      </p:sp>
      <p:sp>
        <p:nvSpPr>
          <p:cNvPr id="11" name="Shape 7"/>
          <p:cNvSpPr/>
          <p:nvPr/>
        </p:nvSpPr>
        <p:spPr>
          <a:xfrm>
            <a:off x="4015130" y="2514600"/>
            <a:ext cx="310896" cy="0"/>
          </a:xfrm>
          <a:prstGeom prst="line">
            <a:avLst/>
          </a:prstGeom>
          <a:noFill/>
          <a:ln w="25400">
            <a:solidFill>
              <a:srgbClr val="6C6F7F"/>
            </a:solidFill>
            <a:prstDash val="solid"/>
            <a:tailEnd type="triangle"/>
          </a:ln>
        </p:spPr>
      </p:sp>
      <p:sp>
        <p:nvSpPr>
          <p:cNvPr id="12" name="Shape 8"/>
          <p:cNvSpPr/>
          <p:nvPr/>
        </p:nvSpPr>
        <p:spPr>
          <a:xfrm>
            <a:off x="4399178" y="1463040"/>
            <a:ext cx="3393338" cy="2103120"/>
          </a:xfrm>
          <a:prstGeom prst="roundRect">
            <a:avLst>
              <a:gd name="adj" fmla="val 3478"/>
            </a:avLst>
          </a:prstGeom>
          <a:solidFill>
            <a:srgbClr val="FFFFFF"/>
          </a:solidFill>
          <a:ln w="9525">
            <a:solidFill>
              <a:srgbClr val="DADDE6"/>
            </a:solidFill>
            <a:prstDash val="solid"/>
          </a:ln>
        </p:spPr>
      </p:sp>
      <p:sp>
        <p:nvSpPr>
          <p:cNvPr id="13" name="Shape 9"/>
          <p:cNvSpPr/>
          <p:nvPr/>
        </p:nvSpPr>
        <p:spPr>
          <a:xfrm>
            <a:off x="4627778" y="1691640"/>
            <a:ext cx="594360" cy="594360"/>
          </a:xfrm>
          <a:prstGeom prst="ellipse">
            <a:avLst/>
          </a:prstGeom>
          <a:solidFill>
            <a:srgbClr val="E76F51"/>
          </a:solidFill>
          <a:ln/>
        </p:spPr>
      </p:sp>
      <p:pic>
        <p:nvPicPr>
          <p:cNvPr id="14" name="Image 1" descr="preencoded.png">    </p:cNvPr>
          <p:cNvPicPr>
            <a:picLocks noChangeAspect="1"/>
          </p:cNvPicPr>
          <p:nvPr/>
        </p:nvPicPr>
        <p:blipFill>
          <a:blip r:embed="rId2"/>
          <a:stretch>
            <a:fillRect/>
          </a:stretch>
        </p:blipFill>
        <p:spPr>
          <a:xfrm>
            <a:off x="4758538" y="1822399"/>
            <a:ext cx="332842" cy="332842"/>
          </a:xfrm>
          <a:prstGeom prst="rect">
            <a:avLst/>
          </a:prstGeom>
        </p:spPr>
      </p:pic>
      <p:sp>
        <p:nvSpPr>
          <p:cNvPr id="15" name="Text 10"/>
          <p:cNvSpPr/>
          <p:nvPr/>
        </p:nvSpPr>
        <p:spPr>
          <a:xfrm>
            <a:off x="6832397" y="1691640"/>
            <a:ext cx="731520" cy="594360"/>
          </a:xfrm>
          <a:prstGeom prst="rect">
            <a:avLst/>
          </a:prstGeom>
          <a:noFill/>
          <a:ln/>
        </p:spPr>
        <p:txBody>
          <a:bodyPr wrap="square" lIns="0" tIns="0" rIns="0" bIns="0" rtlCol="0" anchor="ctr"/>
          <a:lstStyle/>
          <a:p>
            <a:pPr algn="r" indent="0" marL="0">
              <a:buNone/>
            </a:pPr>
            <a:r>
              <a:rPr lang="en-US" sz="2800" b="1" dirty="0">
                <a:solidFill>
                  <a:srgbClr val="DADDE6"/>
                </a:solidFill>
                <a:latin typeface="BIZ UDGothic" pitchFamily="34" charset="0"/>
                <a:ea typeface="BIZ UDGothic" pitchFamily="34" charset="-122"/>
                <a:cs typeface="BIZ UDGothic" pitchFamily="34" charset="-120"/>
              </a:rPr>
              <a:t>02</a:t>
            </a:r>
            <a:endParaRPr lang="en-US" sz="2800" dirty="0"/>
          </a:p>
        </p:txBody>
      </p:sp>
      <p:sp>
        <p:nvSpPr>
          <p:cNvPr id="16" name="Text 11"/>
          <p:cNvSpPr/>
          <p:nvPr/>
        </p:nvSpPr>
        <p:spPr>
          <a:xfrm>
            <a:off x="4627778" y="2377440"/>
            <a:ext cx="2936138" cy="457200"/>
          </a:xfrm>
          <a:prstGeom prst="rect">
            <a:avLst/>
          </a:prstGeom>
          <a:noFill/>
          <a:ln/>
        </p:spPr>
        <p:txBody>
          <a:bodyPr wrap="square" lIns="0" tIns="0" rIns="0" bIns="0" rtlCol="0" anchor="ctr"/>
          <a:lstStyle/>
          <a:p>
            <a:pPr indent="0" marL="0">
              <a:buNone/>
            </a:pPr>
            <a:r>
              <a:rPr lang="en-US" sz="1700" b="1" dirty="0">
                <a:solidFill>
                  <a:srgbClr val="22223B"/>
                </a:solidFill>
                <a:latin typeface="BIZ UDGothic" pitchFamily="34" charset="0"/>
                <a:ea typeface="BIZ UDGothic" pitchFamily="34" charset="-122"/>
                <a:cs typeface="BIZ UDGothic" pitchFamily="34" charset="-120"/>
              </a:rPr>
              <a:t>入力と範囲・分布を決める</a:t>
            </a:r>
            <a:endParaRPr lang="en-US" sz="1700" dirty="0"/>
          </a:p>
        </p:txBody>
      </p:sp>
      <p:sp>
        <p:nvSpPr>
          <p:cNvPr id="17" name="Text 12"/>
          <p:cNvSpPr/>
          <p:nvPr/>
        </p:nvSpPr>
        <p:spPr>
          <a:xfrm>
            <a:off x="4627778" y="2834640"/>
            <a:ext cx="2936138" cy="658368"/>
          </a:xfrm>
          <a:prstGeom prst="rect">
            <a:avLst/>
          </a:prstGeom>
          <a:noFill/>
          <a:ln/>
        </p:spPr>
        <p:txBody>
          <a:bodyPr wrap="square" lIns="0" tIns="0" rIns="0" bIns="0" rtlCol="0" anchor="t"/>
          <a:lstStyle/>
          <a:p>
            <a:pPr indent="0" marL="0">
              <a:buNone/>
            </a:pPr>
            <a:r>
              <a:rPr lang="en-US" sz="1300" dirty="0">
                <a:solidFill>
                  <a:srgbClr val="4A4E69"/>
                </a:solidFill>
                <a:latin typeface="BIZ UDGothic" pitchFamily="34" charset="0"/>
                <a:ea typeface="BIZ UDGothic" pitchFamily="34" charset="-122"/>
                <a:cs typeface="BIZ UDGothic" pitchFamily="34" charset="-120"/>
              </a:rPr>
              <a:t>実際に起こりうる範囲を設定する。結果をもっとも左右するステップ</a:t>
            </a:r>
            <a:endParaRPr lang="en-US" sz="1300" dirty="0"/>
          </a:p>
        </p:txBody>
      </p:sp>
      <p:sp>
        <p:nvSpPr>
          <p:cNvPr id="18" name="Shape 13"/>
          <p:cNvSpPr/>
          <p:nvPr/>
        </p:nvSpPr>
        <p:spPr>
          <a:xfrm>
            <a:off x="7865669" y="2514600"/>
            <a:ext cx="310896" cy="0"/>
          </a:xfrm>
          <a:prstGeom prst="line">
            <a:avLst/>
          </a:prstGeom>
          <a:noFill/>
          <a:ln w="25400">
            <a:solidFill>
              <a:srgbClr val="6C6F7F"/>
            </a:solidFill>
            <a:prstDash val="solid"/>
            <a:tailEnd type="triangle"/>
          </a:ln>
        </p:spPr>
      </p:sp>
      <p:sp>
        <p:nvSpPr>
          <p:cNvPr id="19" name="Shape 14"/>
          <p:cNvSpPr/>
          <p:nvPr/>
        </p:nvSpPr>
        <p:spPr>
          <a:xfrm>
            <a:off x="8249717" y="1463040"/>
            <a:ext cx="3393338" cy="2103120"/>
          </a:xfrm>
          <a:prstGeom prst="roundRect">
            <a:avLst>
              <a:gd name="adj" fmla="val 3478"/>
            </a:avLst>
          </a:prstGeom>
          <a:solidFill>
            <a:srgbClr val="FFFFFF"/>
          </a:solidFill>
          <a:ln w="9525">
            <a:solidFill>
              <a:srgbClr val="DADDE6"/>
            </a:solidFill>
            <a:prstDash val="solid"/>
          </a:ln>
        </p:spPr>
      </p:sp>
      <p:sp>
        <p:nvSpPr>
          <p:cNvPr id="20" name="Shape 15"/>
          <p:cNvSpPr/>
          <p:nvPr/>
        </p:nvSpPr>
        <p:spPr>
          <a:xfrm>
            <a:off x="8478317" y="1691640"/>
            <a:ext cx="594360" cy="594360"/>
          </a:xfrm>
          <a:prstGeom prst="ellipse">
            <a:avLst/>
          </a:prstGeom>
          <a:solidFill>
            <a:srgbClr val="2A9D8F"/>
          </a:solidFill>
          <a:ln/>
        </p:spPr>
      </p:sp>
      <p:pic>
        <p:nvPicPr>
          <p:cNvPr id="21" name="Image 2" descr="preencoded.png">    </p:cNvPr>
          <p:cNvPicPr>
            <a:picLocks noChangeAspect="1"/>
          </p:cNvPicPr>
          <p:nvPr/>
        </p:nvPicPr>
        <p:blipFill>
          <a:blip r:embed="rId3"/>
          <a:stretch>
            <a:fillRect/>
          </a:stretch>
        </p:blipFill>
        <p:spPr>
          <a:xfrm>
            <a:off x="8609076" y="1822399"/>
            <a:ext cx="332842" cy="332842"/>
          </a:xfrm>
          <a:prstGeom prst="rect">
            <a:avLst/>
          </a:prstGeom>
        </p:spPr>
      </p:pic>
      <p:sp>
        <p:nvSpPr>
          <p:cNvPr id="22" name="Text 16"/>
          <p:cNvSpPr/>
          <p:nvPr/>
        </p:nvSpPr>
        <p:spPr>
          <a:xfrm>
            <a:off x="10682935" y="1691640"/>
            <a:ext cx="731520" cy="594360"/>
          </a:xfrm>
          <a:prstGeom prst="rect">
            <a:avLst/>
          </a:prstGeom>
          <a:noFill/>
          <a:ln/>
        </p:spPr>
        <p:txBody>
          <a:bodyPr wrap="square" lIns="0" tIns="0" rIns="0" bIns="0" rtlCol="0" anchor="ctr"/>
          <a:lstStyle/>
          <a:p>
            <a:pPr algn="r" indent="0" marL="0">
              <a:buNone/>
            </a:pPr>
            <a:r>
              <a:rPr lang="en-US" sz="2800" b="1" dirty="0">
                <a:solidFill>
                  <a:srgbClr val="DADDE6"/>
                </a:solidFill>
                <a:latin typeface="BIZ UDGothic" pitchFamily="34" charset="0"/>
                <a:ea typeface="BIZ UDGothic" pitchFamily="34" charset="-122"/>
                <a:cs typeface="BIZ UDGothic" pitchFamily="34" charset="-120"/>
              </a:rPr>
              <a:t>03</a:t>
            </a:r>
            <a:endParaRPr lang="en-US" sz="2800" dirty="0"/>
          </a:p>
        </p:txBody>
      </p:sp>
      <p:sp>
        <p:nvSpPr>
          <p:cNvPr id="23" name="Text 17"/>
          <p:cNvSpPr/>
          <p:nvPr/>
        </p:nvSpPr>
        <p:spPr>
          <a:xfrm>
            <a:off x="8478317" y="2377440"/>
            <a:ext cx="2936138" cy="457200"/>
          </a:xfrm>
          <a:prstGeom prst="rect">
            <a:avLst/>
          </a:prstGeom>
          <a:noFill/>
          <a:ln/>
        </p:spPr>
        <p:txBody>
          <a:bodyPr wrap="square" lIns="0" tIns="0" rIns="0" bIns="0" rtlCol="0" anchor="ctr"/>
          <a:lstStyle/>
          <a:p>
            <a:pPr indent="0" marL="0">
              <a:buNone/>
            </a:pPr>
            <a:r>
              <a:rPr lang="en-US" sz="1700" b="1" dirty="0">
                <a:solidFill>
                  <a:srgbClr val="22223B"/>
                </a:solidFill>
                <a:latin typeface="BIZ UDGothic" pitchFamily="34" charset="0"/>
                <a:ea typeface="BIZ UDGothic" pitchFamily="34" charset="-122"/>
                <a:cs typeface="BIZ UDGothic" pitchFamily="34" charset="-120"/>
              </a:rPr>
              <a:t>サンプルを作る</a:t>
            </a:r>
            <a:endParaRPr lang="en-US" sz="1700" dirty="0"/>
          </a:p>
        </p:txBody>
      </p:sp>
      <p:sp>
        <p:nvSpPr>
          <p:cNvPr id="24" name="Text 18"/>
          <p:cNvSpPr/>
          <p:nvPr/>
        </p:nvSpPr>
        <p:spPr>
          <a:xfrm>
            <a:off x="8478317" y="2834640"/>
            <a:ext cx="2936138" cy="658368"/>
          </a:xfrm>
          <a:prstGeom prst="rect">
            <a:avLst/>
          </a:prstGeom>
          <a:noFill/>
          <a:ln/>
        </p:spPr>
        <p:txBody>
          <a:bodyPr wrap="square" lIns="0" tIns="0" rIns="0" bIns="0" rtlCol="0" anchor="t"/>
          <a:lstStyle/>
          <a:p>
            <a:pPr indent="0" marL="0">
              <a:buNone/>
            </a:pPr>
            <a:r>
              <a:rPr lang="en-US" sz="1300" dirty="0">
                <a:solidFill>
                  <a:srgbClr val="4A4E69"/>
                </a:solidFill>
                <a:latin typeface="BIZ UDGothic" pitchFamily="34" charset="0"/>
                <a:ea typeface="BIZ UDGothic" pitchFamily="34" charset="-122"/>
                <a:cs typeface="BIZ UDGothic" pitchFamily="34" charset="-120"/>
              </a:rPr>
              <a:t>Saltelliサンプリング（Sobol列）。</a:t>
            </a:r>
            <a:r>
              <a:rPr lang="en-US" sz="1500" i="1" dirty="0">
                <a:solidFill>
                  <a:srgbClr val="4A4E69"/>
                </a:solidFill>
                <a:latin typeface="Times New Roman" pitchFamily="34" charset="0"/>
                <a:ea typeface="Times New Roman" pitchFamily="34" charset="-122"/>
                <a:cs typeface="Times New Roman" pitchFamily="34" charset="-120"/>
              </a:rPr>
              <a:t>N</a:t>
            </a:r>
            <a:r>
              <a:rPr lang="en-US" sz="1300" dirty="0">
                <a:solidFill>
                  <a:srgbClr val="4A4E69"/>
                </a:solidFill>
                <a:latin typeface="BIZ UDGothic" pitchFamily="34" charset="0"/>
                <a:ea typeface="BIZ UDGothic" pitchFamily="34" charset="-122"/>
                <a:cs typeface="BIZ UDGothic" pitchFamily="34" charset="-120"/>
              </a:rPr>
              <a:t> は2のべき乗で、まず小さく試す</a:t>
            </a:r>
            <a:endParaRPr lang="en-US" sz="1300" dirty="0"/>
          </a:p>
        </p:txBody>
      </p:sp>
      <p:sp>
        <p:nvSpPr>
          <p:cNvPr id="25" name="Shape 19"/>
          <p:cNvSpPr/>
          <p:nvPr/>
        </p:nvSpPr>
        <p:spPr>
          <a:xfrm>
            <a:off x="548640" y="3886200"/>
            <a:ext cx="3393338" cy="2103120"/>
          </a:xfrm>
          <a:prstGeom prst="roundRect">
            <a:avLst>
              <a:gd name="adj" fmla="val 3478"/>
            </a:avLst>
          </a:prstGeom>
          <a:solidFill>
            <a:srgbClr val="FFFFFF"/>
          </a:solidFill>
          <a:ln w="9525">
            <a:solidFill>
              <a:srgbClr val="DADDE6"/>
            </a:solidFill>
            <a:prstDash val="solid"/>
          </a:ln>
        </p:spPr>
      </p:sp>
      <p:sp>
        <p:nvSpPr>
          <p:cNvPr id="26" name="Shape 20"/>
          <p:cNvSpPr/>
          <p:nvPr/>
        </p:nvSpPr>
        <p:spPr>
          <a:xfrm>
            <a:off x="777240" y="4114800"/>
            <a:ext cx="594360" cy="594360"/>
          </a:xfrm>
          <a:prstGeom prst="ellipse">
            <a:avLst/>
          </a:prstGeom>
          <a:solidFill>
            <a:srgbClr val="2A9D8F"/>
          </a:solidFill>
          <a:ln/>
        </p:spPr>
      </p:sp>
      <p:pic>
        <p:nvPicPr>
          <p:cNvPr id="27" name="Image 3" descr="preencoded.png">    </p:cNvPr>
          <p:cNvPicPr>
            <a:picLocks noChangeAspect="1"/>
          </p:cNvPicPr>
          <p:nvPr/>
        </p:nvPicPr>
        <p:blipFill>
          <a:blip r:embed="rId4"/>
          <a:stretch>
            <a:fillRect/>
          </a:stretch>
        </p:blipFill>
        <p:spPr>
          <a:xfrm>
            <a:off x="907999" y="4245559"/>
            <a:ext cx="332842" cy="332842"/>
          </a:xfrm>
          <a:prstGeom prst="rect">
            <a:avLst/>
          </a:prstGeom>
        </p:spPr>
      </p:pic>
      <p:sp>
        <p:nvSpPr>
          <p:cNvPr id="28" name="Text 21"/>
          <p:cNvSpPr/>
          <p:nvPr/>
        </p:nvSpPr>
        <p:spPr>
          <a:xfrm>
            <a:off x="2981858" y="4114800"/>
            <a:ext cx="731520" cy="594360"/>
          </a:xfrm>
          <a:prstGeom prst="rect">
            <a:avLst/>
          </a:prstGeom>
          <a:noFill/>
          <a:ln/>
        </p:spPr>
        <p:txBody>
          <a:bodyPr wrap="square" lIns="0" tIns="0" rIns="0" bIns="0" rtlCol="0" anchor="ctr"/>
          <a:lstStyle/>
          <a:p>
            <a:pPr algn="r" indent="0" marL="0">
              <a:buNone/>
            </a:pPr>
            <a:r>
              <a:rPr lang="en-US" sz="2800" b="1" dirty="0">
                <a:solidFill>
                  <a:srgbClr val="DADDE6"/>
                </a:solidFill>
                <a:latin typeface="BIZ UDGothic" pitchFamily="34" charset="0"/>
                <a:ea typeface="BIZ UDGothic" pitchFamily="34" charset="-122"/>
                <a:cs typeface="BIZ UDGothic" pitchFamily="34" charset="-120"/>
              </a:rPr>
              <a:t>04</a:t>
            </a:r>
            <a:endParaRPr lang="en-US" sz="2800" dirty="0"/>
          </a:p>
        </p:txBody>
      </p:sp>
      <p:sp>
        <p:nvSpPr>
          <p:cNvPr id="29" name="Text 22"/>
          <p:cNvSpPr/>
          <p:nvPr/>
        </p:nvSpPr>
        <p:spPr>
          <a:xfrm>
            <a:off x="777240" y="4800600"/>
            <a:ext cx="2936138" cy="457200"/>
          </a:xfrm>
          <a:prstGeom prst="rect">
            <a:avLst/>
          </a:prstGeom>
          <a:noFill/>
          <a:ln/>
        </p:spPr>
        <p:txBody>
          <a:bodyPr wrap="square" lIns="0" tIns="0" rIns="0" bIns="0" rtlCol="0" anchor="ctr"/>
          <a:lstStyle/>
          <a:p>
            <a:pPr indent="0" marL="0">
              <a:buNone/>
            </a:pPr>
            <a:r>
              <a:rPr lang="en-US" sz="1700" b="1" dirty="0">
                <a:solidFill>
                  <a:srgbClr val="22223B"/>
                </a:solidFill>
                <a:latin typeface="BIZ UDGothic" pitchFamily="34" charset="0"/>
                <a:ea typeface="BIZ UDGothic" pitchFamily="34" charset="-122"/>
                <a:cs typeface="BIZ UDGothic" pitchFamily="34" charset="-120"/>
              </a:rPr>
              <a:t>モデルを計算する</a:t>
            </a:r>
            <a:endParaRPr lang="en-US" sz="1700" dirty="0"/>
          </a:p>
        </p:txBody>
      </p:sp>
      <p:sp>
        <p:nvSpPr>
          <p:cNvPr id="30" name="Text 23"/>
          <p:cNvSpPr/>
          <p:nvPr/>
        </p:nvSpPr>
        <p:spPr>
          <a:xfrm>
            <a:off x="777240" y="5257800"/>
            <a:ext cx="2936138" cy="658368"/>
          </a:xfrm>
          <a:prstGeom prst="rect">
            <a:avLst/>
          </a:prstGeom>
          <a:noFill/>
          <a:ln/>
        </p:spPr>
        <p:txBody>
          <a:bodyPr wrap="square" lIns="0" tIns="0" rIns="0" bIns="0" rtlCol="0" anchor="t"/>
          <a:lstStyle/>
          <a:p>
            <a:pPr indent="0" marL="0">
              <a:buNone/>
            </a:pPr>
            <a:r>
              <a:rPr lang="en-US" sz="1500" i="1" dirty="0">
                <a:solidFill>
                  <a:srgbClr val="4A4E69"/>
                </a:solidFill>
                <a:latin typeface="Times New Roman" pitchFamily="34" charset="0"/>
                <a:ea typeface="Times New Roman" pitchFamily="34" charset="-122"/>
                <a:cs typeface="Times New Roman" pitchFamily="34" charset="-120"/>
              </a:rPr>
              <a:t>N(d + 2)</a:t>
            </a:r>
            <a:r>
              <a:rPr lang="en-US" sz="1300" dirty="0">
                <a:solidFill>
                  <a:srgbClr val="4A4E69"/>
                </a:solidFill>
                <a:latin typeface="BIZ UDGothic" pitchFamily="34" charset="0"/>
                <a:ea typeface="BIZ UDGothic" pitchFamily="34" charset="-122"/>
                <a:cs typeface="BIZ UDGothic" pitchFamily="34" charset="-120"/>
              </a:rPr>
              <a:t> 回の計算。1回が重い場合は代理モデルを先に作る</a:t>
            </a:r>
            <a:endParaRPr lang="en-US" sz="1500" dirty="0"/>
          </a:p>
        </p:txBody>
      </p:sp>
      <p:sp>
        <p:nvSpPr>
          <p:cNvPr id="31" name="Shape 24"/>
          <p:cNvSpPr/>
          <p:nvPr/>
        </p:nvSpPr>
        <p:spPr>
          <a:xfrm>
            <a:off x="4015130" y="4937760"/>
            <a:ext cx="310896" cy="0"/>
          </a:xfrm>
          <a:prstGeom prst="line">
            <a:avLst/>
          </a:prstGeom>
          <a:noFill/>
          <a:ln w="25400">
            <a:solidFill>
              <a:srgbClr val="6C6F7F"/>
            </a:solidFill>
            <a:prstDash val="solid"/>
            <a:tailEnd type="triangle"/>
          </a:ln>
        </p:spPr>
      </p:sp>
      <p:sp>
        <p:nvSpPr>
          <p:cNvPr id="32" name="Shape 25"/>
          <p:cNvSpPr/>
          <p:nvPr/>
        </p:nvSpPr>
        <p:spPr>
          <a:xfrm>
            <a:off x="4399178" y="3886200"/>
            <a:ext cx="3393338" cy="2103120"/>
          </a:xfrm>
          <a:prstGeom prst="roundRect">
            <a:avLst>
              <a:gd name="adj" fmla="val 3478"/>
            </a:avLst>
          </a:prstGeom>
          <a:solidFill>
            <a:srgbClr val="FFFFFF"/>
          </a:solidFill>
          <a:ln w="9525">
            <a:solidFill>
              <a:srgbClr val="DADDE6"/>
            </a:solidFill>
            <a:prstDash val="solid"/>
          </a:ln>
        </p:spPr>
      </p:sp>
      <p:sp>
        <p:nvSpPr>
          <p:cNvPr id="33" name="Shape 26"/>
          <p:cNvSpPr/>
          <p:nvPr/>
        </p:nvSpPr>
        <p:spPr>
          <a:xfrm>
            <a:off x="4627778" y="4114800"/>
            <a:ext cx="594360" cy="594360"/>
          </a:xfrm>
          <a:prstGeom prst="ellipse">
            <a:avLst/>
          </a:prstGeom>
          <a:solidFill>
            <a:srgbClr val="8D6A9F"/>
          </a:solidFill>
          <a:ln/>
        </p:spPr>
      </p:sp>
      <p:pic>
        <p:nvPicPr>
          <p:cNvPr id="34" name="Image 4" descr="preencoded.png">    </p:cNvPr>
          <p:cNvPicPr>
            <a:picLocks noChangeAspect="1"/>
          </p:cNvPicPr>
          <p:nvPr/>
        </p:nvPicPr>
        <p:blipFill>
          <a:blip r:embed="rId5"/>
          <a:stretch>
            <a:fillRect/>
          </a:stretch>
        </p:blipFill>
        <p:spPr>
          <a:xfrm>
            <a:off x="4758538" y="4245559"/>
            <a:ext cx="332842" cy="332842"/>
          </a:xfrm>
          <a:prstGeom prst="rect">
            <a:avLst/>
          </a:prstGeom>
        </p:spPr>
      </p:pic>
      <p:sp>
        <p:nvSpPr>
          <p:cNvPr id="35" name="Text 27"/>
          <p:cNvSpPr/>
          <p:nvPr/>
        </p:nvSpPr>
        <p:spPr>
          <a:xfrm>
            <a:off x="6832397" y="4114800"/>
            <a:ext cx="731520" cy="594360"/>
          </a:xfrm>
          <a:prstGeom prst="rect">
            <a:avLst/>
          </a:prstGeom>
          <a:noFill/>
          <a:ln/>
        </p:spPr>
        <p:txBody>
          <a:bodyPr wrap="square" lIns="0" tIns="0" rIns="0" bIns="0" rtlCol="0" anchor="ctr"/>
          <a:lstStyle/>
          <a:p>
            <a:pPr algn="r" indent="0" marL="0">
              <a:buNone/>
            </a:pPr>
            <a:r>
              <a:rPr lang="en-US" sz="2800" b="1" dirty="0">
                <a:solidFill>
                  <a:srgbClr val="DADDE6"/>
                </a:solidFill>
                <a:latin typeface="BIZ UDGothic" pitchFamily="34" charset="0"/>
                <a:ea typeface="BIZ UDGothic" pitchFamily="34" charset="-122"/>
                <a:cs typeface="BIZ UDGothic" pitchFamily="34" charset="-120"/>
              </a:rPr>
              <a:t>05</a:t>
            </a:r>
            <a:endParaRPr lang="en-US" sz="2800" dirty="0"/>
          </a:p>
        </p:txBody>
      </p:sp>
      <p:sp>
        <p:nvSpPr>
          <p:cNvPr id="36" name="Text 28"/>
          <p:cNvSpPr/>
          <p:nvPr/>
        </p:nvSpPr>
        <p:spPr>
          <a:xfrm>
            <a:off x="4627778" y="4800600"/>
            <a:ext cx="2936138" cy="457200"/>
          </a:xfrm>
          <a:prstGeom prst="rect">
            <a:avLst/>
          </a:prstGeom>
          <a:noFill/>
          <a:ln/>
        </p:spPr>
        <p:txBody>
          <a:bodyPr wrap="square" lIns="0" tIns="0" rIns="0" bIns="0" rtlCol="0" anchor="ctr"/>
          <a:lstStyle/>
          <a:p>
            <a:pPr indent="0" marL="0">
              <a:buNone/>
            </a:pPr>
            <a:r>
              <a:rPr lang="en-US" sz="1700" b="1" dirty="0">
                <a:solidFill>
                  <a:srgbClr val="22223B"/>
                </a:solidFill>
                <a:latin typeface="BIZ UDGothic" pitchFamily="34" charset="0"/>
                <a:ea typeface="BIZ UDGothic" pitchFamily="34" charset="-122"/>
                <a:cs typeface="BIZ UDGothic" pitchFamily="34" charset="-120"/>
              </a:rPr>
              <a:t>指数を計算する</a:t>
            </a:r>
            <a:endParaRPr lang="en-US" sz="1700" dirty="0"/>
          </a:p>
        </p:txBody>
      </p:sp>
      <p:sp>
        <p:nvSpPr>
          <p:cNvPr id="37" name="Text 29"/>
          <p:cNvSpPr/>
          <p:nvPr/>
        </p:nvSpPr>
        <p:spPr>
          <a:xfrm>
            <a:off x="4627778" y="5257800"/>
            <a:ext cx="2936138" cy="658368"/>
          </a:xfrm>
          <a:prstGeom prst="rect">
            <a:avLst/>
          </a:prstGeom>
          <a:noFill/>
          <a:ln/>
        </p:spPr>
        <p:txBody>
          <a:bodyPr wrap="square" lIns="0" tIns="0" rIns="0" bIns="0" rtlCol="0" anchor="t"/>
          <a:lstStyle/>
          <a:p>
            <a:pPr indent="0" marL="0">
              <a:buNone/>
            </a:pPr>
            <a:r>
              <a:rPr lang="en-US" sz="1500" i="1" dirty="0">
                <a:solidFill>
                  <a:srgbClr val="4A4E69"/>
                </a:solidFill>
                <a:latin typeface="Times New Roman" pitchFamily="34" charset="0"/>
                <a:ea typeface="Times New Roman" pitchFamily="34" charset="-122"/>
                <a:cs typeface="Times New Roman" pitchFamily="34" charset="-120"/>
              </a:rPr>
              <a:t>S</a:t>
            </a:r>
            <a:r>
              <a:rPr lang="en-US" sz="1500" i="1" baseline="-40000" dirty="0">
                <a:solidFill>
                  <a:srgbClr val="4A4E69"/>
                </a:solidFill>
                <a:latin typeface="Times New Roman" pitchFamily="34" charset="0"/>
                <a:ea typeface="Times New Roman" pitchFamily="34" charset="-122"/>
                <a:cs typeface="Times New Roman" pitchFamily="34" charset="-120"/>
              </a:rPr>
              <a:t>i</a:t>
            </a:r>
            <a:r>
              <a:rPr lang="en-US" sz="1300" dirty="0">
                <a:solidFill>
                  <a:srgbClr val="4A4E69"/>
                </a:solidFill>
                <a:latin typeface="BIZ UDGothic" pitchFamily="34" charset="0"/>
                <a:ea typeface="BIZ UDGothic" pitchFamily="34" charset="-122"/>
                <a:cs typeface="BIZ UDGothic" pitchFamily="34" charset="-120"/>
              </a:rPr>
              <a:t>、</a:t>
            </a:r>
            <a:r>
              <a:rPr lang="en-US" sz="1500" i="1" dirty="0">
                <a:solidFill>
                  <a:srgbClr val="4A4E69"/>
                </a:solidFill>
                <a:latin typeface="Times New Roman" pitchFamily="34" charset="0"/>
                <a:ea typeface="Times New Roman" pitchFamily="34" charset="-122"/>
                <a:cs typeface="Times New Roman" pitchFamily="34" charset="-120"/>
              </a:rPr>
              <a:t>S</a:t>
            </a:r>
            <a:r>
              <a:rPr lang="en-US" sz="1500" i="1" baseline="-40000" dirty="0">
                <a:solidFill>
                  <a:srgbClr val="4A4E69"/>
                </a:solidFill>
                <a:latin typeface="Times New Roman" pitchFamily="34" charset="0"/>
                <a:ea typeface="Times New Roman" pitchFamily="34" charset="-122"/>
                <a:cs typeface="Times New Roman" pitchFamily="34" charset="-120"/>
              </a:rPr>
              <a:t>Ti</a:t>
            </a:r>
            <a:r>
              <a:rPr lang="en-US" sz="1300" dirty="0">
                <a:solidFill>
                  <a:srgbClr val="4A4E69"/>
                </a:solidFill>
                <a:latin typeface="BIZ UDGothic" pitchFamily="34" charset="0"/>
                <a:ea typeface="BIZ UDGothic" pitchFamily="34" charset="-122"/>
                <a:cs typeface="BIZ UDGothic" pitchFamily="34" charset="-120"/>
              </a:rPr>
              <a:t> と信頼区間を求め、</a:t>
            </a:r>
            <a:r>
              <a:rPr lang="en-US" sz="1500" i="1" dirty="0">
                <a:solidFill>
                  <a:srgbClr val="4A4E69"/>
                </a:solidFill>
                <a:latin typeface="Times New Roman" pitchFamily="34" charset="0"/>
                <a:ea typeface="Times New Roman" pitchFamily="34" charset="-122"/>
                <a:cs typeface="Times New Roman" pitchFamily="34" charset="-120"/>
              </a:rPr>
              <a:t>N</a:t>
            </a:r>
            <a:r>
              <a:rPr lang="en-US" sz="1300" dirty="0">
                <a:solidFill>
                  <a:srgbClr val="4A4E69"/>
                </a:solidFill>
                <a:latin typeface="BIZ UDGothic" pitchFamily="34" charset="0"/>
                <a:ea typeface="BIZ UDGothic" pitchFamily="34" charset="-122"/>
                <a:cs typeface="BIZ UDGothic" pitchFamily="34" charset="-120"/>
              </a:rPr>
              <a:t> を増やして収束を確認する</a:t>
            </a:r>
            <a:endParaRPr lang="en-US" sz="1500" dirty="0"/>
          </a:p>
        </p:txBody>
      </p:sp>
      <p:sp>
        <p:nvSpPr>
          <p:cNvPr id="38" name="Shape 30"/>
          <p:cNvSpPr/>
          <p:nvPr/>
        </p:nvSpPr>
        <p:spPr>
          <a:xfrm>
            <a:off x="7865669" y="4937760"/>
            <a:ext cx="310896" cy="0"/>
          </a:xfrm>
          <a:prstGeom prst="line">
            <a:avLst/>
          </a:prstGeom>
          <a:noFill/>
          <a:ln w="25400">
            <a:solidFill>
              <a:srgbClr val="6C6F7F"/>
            </a:solidFill>
            <a:prstDash val="solid"/>
            <a:tailEnd type="triangle"/>
          </a:ln>
        </p:spPr>
      </p:sp>
      <p:sp>
        <p:nvSpPr>
          <p:cNvPr id="39" name="Shape 31"/>
          <p:cNvSpPr/>
          <p:nvPr/>
        </p:nvSpPr>
        <p:spPr>
          <a:xfrm>
            <a:off x="8249717" y="3886200"/>
            <a:ext cx="3393338" cy="2103120"/>
          </a:xfrm>
          <a:prstGeom prst="roundRect">
            <a:avLst>
              <a:gd name="adj" fmla="val 3478"/>
            </a:avLst>
          </a:prstGeom>
          <a:solidFill>
            <a:srgbClr val="FFFFFF"/>
          </a:solidFill>
          <a:ln w="9525">
            <a:solidFill>
              <a:srgbClr val="DADDE6"/>
            </a:solidFill>
            <a:prstDash val="solid"/>
          </a:ln>
        </p:spPr>
      </p:sp>
      <p:sp>
        <p:nvSpPr>
          <p:cNvPr id="40" name="Shape 32"/>
          <p:cNvSpPr/>
          <p:nvPr/>
        </p:nvSpPr>
        <p:spPr>
          <a:xfrm>
            <a:off x="8478317" y="4114800"/>
            <a:ext cx="594360" cy="594360"/>
          </a:xfrm>
          <a:prstGeom prst="ellipse">
            <a:avLst/>
          </a:prstGeom>
          <a:solidFill>
            <a:srgbClr val="8D6A9F"/>
          </a:solidFill>
          <a:ln/>
        </p:spPr>
      </p:sp>
      <p:pic>
        <p:nvPicPr>
          <p:cNvPr id="41" name="Image 5" descr="preencoded.png">    </p:cNvPr>
          <p:cNvPicPr>
            <a:picLocks noChangeAspect="1"/>
          </p:cNvPicPr>
          <p:nvPr/>
        </p:nvPicPr>
        <p:blipFill>
          <a:blip r:embed="rId6"/>
          <a:stretch>
            <a:fillRect/>
          </a:stretch>
        </p:blipFill>
        <p:spPr>
          <a:xfrm>
            <a:off x="8609076" y="4245559"/>
            <a:ext cx="332842" cy="332842"/>
          </a:xfrm>
          <a:prstGeom prst="rect">
            <a:avLst/>
          </a:prstGeom>
        </p:spPr>
      </p:pic>
      <p:sp>
        <p:nvSpPr>
          <p:cNvPr id="42" name="Text 33"/>
          <p:cNvSpPr/>
          <p:nvPr/>
        </p:nvSpPr>
        <p:spPr>
          <a:xfrm>
            <a:off x="10682935" y="4114800"/>
            <a:ext cx="731520" cy="594360"/>
          </a:xfrm>
          <a:prstGeom prst="rect">
            <a:avLst/>
          </a:prstGeom>
          <a:noFill/>
          <a:ln/>
        </p:spPr>
        <p:txBody>
          <a:bodyPr wrap="square" lIns="0" tIns="0" rIns="0" bIns="0" rtlCol="0" anchor="ctr"/>
          <a:lstStyle/>
          <a:p>
            <a:pPr algn="r" indent="0" marL="0">
              <a:buNone/>
            </a:pPr>
            <a:r>
              <a:rPr lang="en-US" sz="2800" b="1" dirty="0">
                <a:solidFill>
                  <a:srgbClr val="DADDE6"/>
                </a:solidFill>
                <a:latin typeface="BIZ UDGothic" pitchFamily="34" charset="0"/>
                <a:ea typeface="BIZ UDGothic" pitchFamily="34" charset="-122"/>
                <a:cs typeface="BIZ UDGothic" pitchFamily="34" charset="-120"/>
              </a:rPr>
              <a:t>06</a:t>
            </a:r>
            <a:endParaRPr lang="en-US" sz="2800" dirty="0"/>
          </a:p>
        </p:txBody>
      </p:sp>
      <p:sp>
        <p:nvSpPr>
          <p:cNvPr id="43" name="Text 34"/>
          <p:cNvSpPr/>
          <p:nvPr/>
        </p:nvSpPr>
        <p:spPr>
          <a:xfrm>
            <a:off x="8478317" y="4800600"/>
            <a:ext cx="2936138" cy="457200"/>
          </a:xfrm>
          <a:prstGeom prst="rect">
            <a:avLst/>
          </a:prstGeom>
          <a:noFill/>
          <a:ln/>
        </p:spPr>
        <p:txBody>
          <a:bodyPr wrap="square" lIns="0" tIns="0" rIns="0" bIns="0" rtlCol="0" anchor="ctr"/>
          <a:lstStyle/>
          <a:p>
            <a:pPr indent="0" marL="0">
              <a:buNone/>
            </a:pPr>
            <a:r>
              <a:rPr lang="en-US" sz="1700" b="1" dirty="0">
                <a:solidFill>
                  <a:srgbClr val="22223B"/>
                </a:solidFill>
                <a:latin typeface="BIZ UDGothic" pitchFamily="34" charset="0"/>
                <a:ea typeface="BIZ UDGothic" pitchFamily="34" charset="-122"/>
                <a:cs typeface="BIZ UDGothic" pitchFamily="34" charset="-120"/>
              </a:rPr>
              <a:t>解釈して報告する</a:t>
            </a:r>
            <a:endParaRPr lang="en-US" sz="1700" dirty="0"/>
          </a:p>
        </p:txBody>
      </p:sp>
      <p:sp>
        <p:nvSpPr>
          <p:cNvPr id="44" name="Text 35"/>
          <p:cNvSpPr/>
          <p:nvPr/>
        </p:nvSpPr>
        <p:spPr>
          <a:xfrm>
            <a:off x="8478317" y="5257800"/>
            <a:ext cx="2936138" cy="658368"/>
          </a:xfrm>
          <a:prstGeom prst="rect">
            <a:avLst/>
          </a:prstGeom>
          <a:noFill/>
          <a:ln/>
        </p:spPr>
        <p:txBody>
          <a:bodyPr wrap="square" lIns="0" tIns="0" rIns="0" bIns="0" rtlCol="0" anchor="t"/>
          <a:lstStyle/>
          <a:p>
            <a:pPr indent="0" marL="0">
              <a:buNone/>
            </a:pPr>
            <a:r>
              <a:rPr lang="en-US" sz="1500" i="1" dirty="0">
                <a:solidFill>
                  <a:srgbClr val="4A4E69"/>
                </a:solidFill>
                <a:latin typeface="Times New Roman" pitchFamily="34" charset="0"/>
                <a:ea typeface="Times New Roman" pitchFamily="34" charset="-122"/>
                <a:cs typeface="Times New Roman" pitchFamily="34" charset="-120"/>
              </a:rPr>
              <a:t>Σ S</a:t>
            </a:r>
            <a:r>
              <a:rPr lang="en-US" sz="1500" i="1" baseline="-40000" dirty="0">
                <a:solidFill>
                  <a:srgbClr val="4A4E69"/>
                </a:solidFill>
                <a:latin typeface="Times New Roman" pitchFamily="34" charset="0"/>
                <a:ea typeface="Times New Roman" pitchFamily="34" charset="-122"/>
                <a:cs typeface="Times New Roman" pitchFamily="34" charset="-120"/>
              </a:rPr>
              <a:t>i</a:t>
            </a:r>
            <a:r>
              <a:rPr lang="en-US" sz="1300" dirty="0">
                <a:solidFill>
                  <a:srgbClr val="4A4E69"/>
                </a:solidFill>
                <a:latin typeface="BIZ UDGothic" pitchFamily="34" charset="0"/>
                <a:ea typeface="BIZ UDGothic" pitchFamily="34" charset="-122"/>
                <a:cs typeface="BIZ UDGothic" pitchFamily="34" charset="-120"/>
              </a:rPr>
              <a:t> や </a:t>
            </a:r>
            <a:r>
              <a:rPr lang="en-US" sz="1500" i="1" dirty="0">
                <a:solidFill>
                  <a:srgbClr val="4A4E69"/>
                </a:solidFill>
                <a:latin typeface="Times New Roman" pitchFamily="34" charset="0"/>
                <a:ea typeface="Times New Roman" pitchFamily="34" charset="-122"/>
                <a:cs typeface="Times New Roman" pitchFamily="34" charset="-120"/>
              </a:rPr>
              <a:t>S</a:t>
            </a:r>
            <a:r>
              <a:rPr lang="en-US" sz="1500" i="1" baseline="-40000" dirty="0">
                <a:solidFill>
                  <a:srgbClr val="4A4E69"/>
                </a:solidFill>
                <a:latin typeface="Times New Roman" pitchFamily="34" charset="0"/>
                <a:ea typeface="Times New Roman" pitchFamily="34" charset="-122"/>
                <a:cs typeface="Times New Roman" pitchFamily="34" charset="-120"/>
              </a:rPr>
              <a:t>Ti</a:t>
            </a:r>
            <a:r>
              <a:rPr lang="en-US" sz="1500" i="1" dirty="0">
                <a:solidFill>
                  <a:srgbClr val="4A4E69"/>
                </a:solidFill>
                <a:latin typeface="Times New Roman" pitchFamily="34" charset="0"/>
                <a:ea typeface="Times New Roman" pitchFamily="34" charset="-122"/>
                <a:cs typeface="Times New Roman" pitchFamily="34" charset="-120"/>
              </a:rPr>
              <a:t> − S</a:t>
            </a:r>
            <a:r>
              <a:rPr lang="en-US" sz="1500" i="1" baseline="-40000" dirty="0">
                <a:solidFill>
                  <a:srgbClr val="4A4E69"/>
                </a:solidFill>
                <a:latin typeface="Times New Roman" pitchFamily="34" charset="0"/>
                <a:ea typeface="Times New Roman" pitchFamily="34" charset="-122"/>
                <a:cs typeface="Times New Roman" pitchFamily="34" charset="-120"/>
              </a:rPr>
              <a:t>i</a:t>
            </a:r>
            <a:r>
              <a:rPr lang="en-US" sz="1300" dirty="0">
                <a:solidFill>
                  <a:srgbClr val="4A4E69"/>
                </a:solidFill>
                <a:latin typeface="BIZ UDGothic" pitchFamily="34" charset="0"/>
                <a:ea typeface="BIZ UDGothic" pitchFamily="34" charset="-122"/>
                <a:cs typeface="BIZ UDGothic" pitchFamily="34" charset="-120"/>
              </a:rPr>
              <a:t> を確認。範囲・分布などの前提も必ず明記する</a:t>
            </a:r>
            <a:endParaRPr lang="en-US" sz="1500" dirty="0"/>
          </a:p>
        </p:txBody>
      </p:sp>
      <p:sp>
        <p:nvSpPr>
          <p:cNvPr id="45" name="Text 36"/>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46" name="Text 37"/>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04　実務で使うために</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注意点と限界</a:t>
            </a:r>
            <a:endParaRPr lang="en-US" sz="2800" dirty="0"/>
          </a:p>
        </p:txBody>
      </p:sp>
      <p:sp>
        <p:nvSpPr>
          <p:cNvPr id="5" name="Shape 2"/>
          <p:cNvSpPr/>
          <p:nvPr/>
        </p:nvSpPr>
        <p:spPr>
          <a:xfrm>
            <a:off x="548640" y="1417320"/>
            <a:ext cx="3515258" cy="2240280"/>
          </a:xfrm>
          <a:prstGeom prst="roundRect">
            <a:avLst>
              <a:gd name="adj" fmla="val 3265"/>
            </a:avLst>
          </a:prstGeom>
          <a:solidFill>
            <a:srgbClr val="FFFFFF"/>
          </a:solidFill>
          <a:ln w="9525">
            <a:solidFill>
              <a:srgbClr val="DADDE6"/>
            </a:solidFill>
            <a:prstDash val="solid"/>
          </a:ln>
        </p:spPr>
      </p:sp>
      <p:sp>
        <p:nvSpPr>
          <p:cNvPr id="6" name="Shape 3"/>
          <p:cNvSpPr/>
          <p:nvPr/>
        </p:nvSpPr>
        <p:spPr>
          <a:xfrm>
            <a:off x="777240" y="1645920"/>
            <a:ext cx="548640" cy="548640"/>
          </a:xfrm>
          <a:prstGeom prst="ellipse">
            <a:avLst/>
          </a:prstGeom>
          <a:solidFill>
            <a:srgbClr val="E76F51"/>
          </a:solidFill>
          <a:ln/>
        </p:spPr>
      </p:sp>
      <p:pic>
        <p:nvPicPr>
          <p:cNvPr id="7" name="Image 0" descr="preencoded.png">    </p:cNvPr>
          <p:cNvPicPr>
            <a:picLocks noChangeAspect="1"/>
          </p:cNvPicPr>
          <p:nvPr/>
        </p:nvPicPr>
        <p:blipFill>
          <a:blip r:embed="rId1"/>
          <a:stretch>
            <a:fillRect/>
          </a:stretch>
        </p:blipFill>
        <p:spPr>
          <a:xfrm>
            <a:off x="897941" y="1766621"/>
            <a:ext cx="307238" cy="307238"/>
          </a:xfrm>
          <a:prstGeom prst="rect">
            <a:avLst/>
          </a:prstGeom>
        </p:spPr>
      </p:pic>
      <p:sp>
        <p:nvSpPr>
          <p:cNvPr id="8" name="Text 4"/>
          <p:cNvSpPr/>
          <p:nvPr/>
        </p:nvSpPr>
        <p:spPr>
          <a:xfrm>
            <a:off x="1463040" y="1645920"/>
            <a:ext cx="2417978" cy="548640"/>
          </a:xfrm>
          <a:prstGeom prst="rect">
            <a:avLst/>
          </a:prstGeom>
          <a:noFill/>
          <a:ln/>
        </p:spPr>
        <p:txBody>
          <a:bodyPr wrap="square" lIns="0" tIns="0" rIns="0" bIns="0" rtlCol="0" anchor="ctr"/>
          <a:lstStyle/>
          <a:p>
            <a:pPr indent="0" marL="0">
              <a:buNone/>
            </a:pPr>
            <a:r>
              <a:rPr lang="en-US" sz="1600" b="1" dirty="0">
                <a:solidFill>
                  <a:srgbClr val="22223B"/>
                </a:solidFill>
                <a:latin typeface="BIZ UDGothic" pitchFamily="34" charset="0"/>
                <a:ea typeface="BIZ UDGothic" pitchFamily="34" charset="-122"/>
                <a:cs typeface="BIZ UDGothic" pitchFamily="34" charset="-120"/>
              </a:rPr>
              <a:t>入力に相関がある</a:t>
            </a:r>
            <a:endParaRPr lang="en-US" sz="1600" dirty="0"/>
          </a:p>
        </p:txBody>
      </p:sp>
      <p:sp>
        <p:nvSpPr>
          <p:cNvPr id="9" name="Text 5"/>
          <p:cNvSpPr/>
          <p:nvPr/>
        </p:nvSpPr>
        <p:spPr>
          <a:xfrm>
            <a:off x="777240" y="2313432"/>
            <a:ext cx="3058058" cy="658368"/>
          </a:xfrm>
          <a:prstGeom prst="rect">
            <a:avLst/>
          </a:prstGeom>
          <a:noFill/>
          <a:ln/>
        </p:spPr>
        <p:txBody>
          <a:bodyPr wrap="square" lIns="0" tIns="0" rIns="0" bIns="0" rtlCol="0" anchor="t"/>
          <a:lstStyle/>
          <a:p>
            <a:pPr indent="0" marL="0">
              <a:buNone/>
            </a:pPr>
            <a:r>
              <a:rPr lang="en-US" sz="1300" dirty="0">
                <a:solidFill>
                  <a:srgbClr val="4A4E69"/>
                </a:solidFill>
                <a:latin typeface="BIZ UDGothic" pitchFamily="34" charset="0"/>
                <a:ea typeface="BIZ UDGothic" pitchFamily="34" charset="-122"/>
                <a:cs typeface="BIZ UDGothic" pitchFamily="34" charset="-120"/>
              </a:rPr>
              <a:t>独立性の前提が崩れ、分解の解釈があいまいになる</a:t>
            </a:r>
            <a:endParaRPr lang="en-US" sz="1300" dirty="0"/>
          </a:p>
        </p:txBody>
      </p:sp>
      <p:sp>
        <p:nvSpPr>
          <p:cNvPr id="10" name="Shape 6"/>
          <p:cNvSpPr/>
          <p:nvPr/>
        </p:nvSpPr>
        <p:spPr>
          <a:xfrm>
            <a:off x="731520" y="2971800"/>
            <a:ext cx="3149498" cy="548640"/>
          </a:xfrm>
          <a:prstGeom prst="roundRect">
            <a:avLst>
              <a:gd name="adj" fmla="val 13333"/>
            </a:avLst>
          </a:prstGeom>
          <a:solidFill>
            <a:srgbClr val="F3F4F8"/>
          </a:solidFill>
          <a:ln/>
        </p:spPr>
      </p:sp>
      <p:sp>
        <p:nvSpPr>
          <p:cNvPr id="11" name="Text 7"/>
          <p:cNvSpPr/>
          <p:nvPr/>
        </p:nvSpPr>
        <p:spPr>
          <a:xfrm>
            <a:off x="822960" y="2971800"/>
            <a:ext cx="2966618" cy="548640"/>
          </a:xfrm>
          <a:prstGeom prst="rect">
            <a:avLst/>
          </a:prstGeom>
          <a:noFill/>
          <a:ln/>
        </p:spPr>
        <p:txBody>
          <a:bodyPr wrap="square" lIns="0" tIns="0" rIns="0" bIns="0" rtlCol="0" anchor="ctr"/>
          <a:lstStyle/>
          <a:p>
            <a:pPr indent="0" marL="0">
              <a:buNone/>
            </a:pPr>
            <a:r>
              <a:rPr lang="en-US" sz="1200" b="1" dirty="0">
                <a:solidFill>
                  <a:srgbClr val="22223B"/>
                </a:solidFill>
                <a:latin typeface="BIZ UDGothic" pitchFamily="34" charset="0"/>
                <a:ea typeface="BIZ UDGothic" pitchFamily="34" charset="-122"/>
                <a:cs typeface="BIZ UDGothic" pitchFamily="34" charset="-120"/>
              </a:rPr>
              <a:t>対策：Shapley効果など、相関を扱える指標を検討</a:t>
            </a:r>
            <a:endParaRPr lang="en-US" sz="1200" dirty="0"/>
          </a:p>
        </p:txBody>
      </p:sp>
      <p:sp>
        <p:nvSpPr>
          <p:cNvPr id="12" name="Shape 8"/>
          <p:cNvSpPr/>
          <p:nvPr/>
        </p:nvSpPr>
        <p:spPr>
          <a:xfrm>
            <a:off x="4338218" y="1417320"/>
            <a:ext cx="3515258" cy="2240280"/>
          </a:xfrm>
          <a:prstGeom prst="roundRect">
            <a:avLst>
              <a:gd name="adj" fmla="val 3265"/>
            </a:avLst>
          </a:prstGeom>
          <a:solidFill>
            <a:srgbClr val="FFFFFF"/>
          </a:solidFill>
          <a:ln w="9525">
            <a:solidFill>
              <a:srgbClr val="DADDE6"/>
            </a:solidFill>
            <a:prstDash val="solid"/>
          </a:ln>
        </p:spPr>
      </p:sp>
      <p:sp>
        <p:nvSpPr>
          <p:cNvPr id="13" name="Shape 9"/>
          <p:cNvSpPr/>
          <p:nvPr/>
        </p:nvSpPr>
        <p:spPr>
          <a:xfrm>
            <a:off x="4566818" y="1645920"/>
            <a:ext cx="548640" cy="548640"/>
          </a:xfrm>
          <a:prstGeom prst="ellipse">
            <a:avLst/>
          </a:prstGeom>
          <a:solidFill>
            <a:srgbClr val="E76F51"/>
          </a:solidFill>
          <a:ln/>
        </p:spPr>
      </p:sp>
      <p:pic>
        <p:nvPicPr>
          <p:cNvPr id="14" name="Image 1" descr="preencoded.png">    </p:cNvPr>
          <p:cNvPicPr>
            <a:picLocks noChangeAspect="1"/>
          </p:cNvPicPr>
          <p:nvPr/>
        </p:nvPicPr>
        <p:blipFill>
          <a:blip r:embed="rId2"/>
          <a:stretch>
            <a:fillRect/>
          </a:stretch>
        </p:blipFill>
        <p:spPr>
          <a:xfrm>
            <a:off x="4687519" y="1766621"/>
            <a:ext cx="307238" cy="307238"/>
          </a:xfrm>
          <a:prstGeom prst="rect">
            <a:avLst/>
          </a:prstGeom>
        </p:spPr>
      </p:pic>
      <p:sp>
        <p:nvSpPr>
          <p:cNvPr id="15" name="Text 10"/>
          <p:cNvSpPr/>
          <p:nvPr/>
        </p:nvSpPr>
        <p:spPr>
          <a:xfrm>
            <a:off x="5252618" y="1645920"/>
            <a:ext cx="2417978" cy="548640"/>
          </a:xfrm>
          <a:prstGeom prst="rect">
            <a:avLst/>
          </a:prstGeom>
          <a:noFill/>
          <a:ln/>
        </p:spPr>
        <p:txBody>
          <a:bodyPr wrap="square" lIns="0" tIns="0" rIns="0" bIns="0" rtlCol="0" anchor="ctr"/>
          <a:lstStyle/>
          <a:p>
            <a:pPr indent="0" marL="0">
              <a:buNone/>
            </a:pPr>
            <a:r>
              <a:rPr lang="en-US" sz="1600" b="1" dirty="0">
                <a:solidFill>
                  <a:srgbClr val="22223B"/>
                </a:solidFill>
                <a:latin typeface="BIZ UDGothic" pitchFamily="34" charset="0"/>
                <a:ea typeface="BIZ UDGothic" pitchFamily="34" charset="-122"/>
                <a:cs typeface="BIZ UDGothic" pitchFamily="34" charset="-120"/>
              </a:rPr>
              <a:t>範囲・分布の設定に依存</a:t>
            </a:r>
            <a:endParaRPr lang="en-US" sz="1600" dirty="0"/>
          </a:p>
        </p:txBody>
      </p:sp>
      <p:sp>
        <p:nvSpPr>
          <p:cNvPr id="16" name="Text 11"/>
          <p:cNvSpPr/>
          <p:nvPr/>
        </p:nvSpPr>
        <p:spPr>
          <a:xfrm>
            <a:off x="4566818" y="2313432"/>
            <a:ext cx="3058058" cy="658368"/>
          </a:xfrm>
          <a:prstGeom prst="rect">
            <a:avLst/>
          </a:prstGeom>
          <a:noFill/>
          <a:ln/>
        </p:spPr>
        <p:txBody>
          <a:bodyPr wrap="square" lIns="0" tIns="0" rIns="0" bIns="0" rtlCol="0" anchor="t"/>
          <a:lstStyle/>
          <a:p>
            <a:pPr indent="0" marL="0">
              <a:buNone/>
            </a:pPr>
            <a:r>
              <a:rPr lang="en-US" sz="1300" dirty="0">
                <a:solidFill>
                  <a:srgbClr val="4A4E69"/>
                </a:solidFill>
                <a:latin typeface="BIZ UDGothic" pitchFamily="34" charset="0"/>
                <a:ea typeface="BIZ UDGothic" pitchFamily="34" charset="-122"/>
                <a:cs typeface="BIZ UDGothic" pitchFamily="34" charset="-120"/>
              </a:rPr>
              <a:t>範囲を広く取った入力ほど、寄与が大きく出る</a:t>
            </a:r>
            <a:endParaRPr lang="en-US" sz="1300" dirty="0"/>
          </a:p>
        </p:txBody>
      </p:sp>
      <p:sp>
        <p:nvSpPr>
          <p:cNvPr id="17" name="Shape 12"/>
          <p:cNvSpPr/>
          <p:nvPr/>
        </p:nvSpPr>
        <p:spPr>
          <a:xfrm>
            <a:off x="4521098" y="2971800"/>
            <a:ext cx="3149498" cy="548640"/>
          </a:xfrm>
          <a:prstGeom prst="roundRect">
            <a:avLst>
              <a:gd name="adj" fmla="val 13333"/>
            </a:avLst>
          </a:prstGeom>
          <a:solidFill>
            <a:srgbClr val="F3F4F8"/>
          </a:solidFill>
          <a:ln/>
        </p:spPr>
      </p:sp>
      <p:sp>
        <p:nvSpPr>
          <p:cNvPr id="18" name="Text 13"/>
          <p:cNvSpPr/>
          <p:nvPr/>
        </p:nvSpPr>
        <p:spPr>
          <a:xfrm>
            <a:off x="4612538" y="2971800"/>
            <a:ext cx="2966618" cy="548640"/>
          </a:xfrm>
          <a:prstGeom prst="rect">
            <a:avLst/>
          </a:prstGeom>
          <a:noFill/>
          <a:ln/>
        </p:spPr>
        <p:txBody>
          <a:bodyPr wrap="square" lIns="0" tIns="0" rIns="0" bIns="0" rtlCol="0" anchor="ctr"/>
          <a:lstStyle/>
          <a:p>
            <a:pPr indent="0" marL="0">
              <a:buNone/>
            </a:pPr>
            <a:r>
              <a:rPr lang="en-US" sz="1200" b="1" dirty="0">
                <a:solidFill>
                  <a:srgbClr val="22223B"/>
                </a:solidFill>
                <a:latin typeface="BIZ UDGothic" pitchFamily="34" charset="0"/>
                <a:ea typeface="BIZ UDGothic" pitchFamily="34" charset="-122"/>
                <a:cs typeface="BIZ UDGothic" pitchFamily="34" charset="-120"/>
              </a:rPr>
              <a:t>対策：設定の根拠を記録し、範囲を変えた場合も確認</a:t>
            </a:r>
            <a:endParaRPr lang="en-US" sz="1200" dirty="0"/>
          </a:p>
        </p:txBody>
      </p:sp>
      <p:sp>
        <p:nvSpPr>
          <p:cNvPr id="19" name="Shape 14"/>
          <p:cNvSpPr/>
          <p:nvPr/>
        </p:nvSpPr>
        <p:spPr>
          <a:xfrm>
            <a:off x="8127797" y="1417320"/>
            <a:ext cx="3515258" cy="2240280"/>
          </a:xfrm>
          <a:prstGeom prst="roundRect">
            <a:avLst>
              <a:gd name="adj" fmla="val 3265"/>
            </a:avLst>
          </a:prstGeom>
          <a:solidFill>
            <a:srgbClr val="FFFFFF"/>
          </a:solidFill>
          <a:ln w="9525">
            <a:solidFill>
              <a:srgbClr val="DADDE6"/>
            </a:solidFill>
            <a:prstDash val="solid"/>
          </a:ln>
        </p:spPr>
      </p:sp>
      <p:sp>
        <p:nvSpPr>
          <p:cNvPr id="20" name="Shape 15"/>
          <p:cNvSpPr/>
          <p:nvPr/>
        </p:nvSpPr>
        <p:spPr>
          <a:xfrm>
            <a:off x="8356397" y="1645920"/>
            <a:ext cx="548640" cy="548640"/>
          </a:xfrm>
          <a:prstGeom prst="ellipse">
            <a:avLst/>
          </a:prstGeom>
          <a:solidFill>
            <a:srgbClr val="8D6A9F"/>
          </a:solidFill>
          <a:ln/>
        </p:spPr>
      </p:sp>
      <p:pic>
        <p:nvPicPr>
          <p:cNvPr id="21" name="Image 2" descr="preencoded.png">    </p:cNvPr>
          <p:cNvPicPr>
            <a:picLocks noChangeAspect="1"/>
          </p:cNvPicPr>
          <p:nvPr/>
        </p:nvPicPr>
        <p:blipFill>
          <a:blip r:embed="rId3"/>
          <a:stretch>
            <a:fillRect/>
          </a:stretch>
        </p:blipFill>
        <p:spPr>
          <a:xfrm>
            <a:off x="8477098" y="1766621"/>
            <a:ext cx="307238" cy="307238"/>
          </a:xfrm>
          <a:prstGeom prst="rect">
            <a:avLst/>
          </a:prstGeom>
        </p:spPr>
      </p:pic>
      <p:sp>
        <p:nvSpPr>
          <p:cNvPr id="22" name="Text 16"/>
          <p:cNvSpPr/>
          <p:nvPr/>
        </p:nvSpPr>
        <p:spPr>
          <a:xfrm>
            <a:off x="9042197" y="1645920"/>
            <a:ext cx="2417978" cy="548640"/>
          </a:xfrm>
          <a:prstGeom prst="rect">
            <a:avLst/>
          </a:prstGeom>
          <a:noFill/>
          <a:ln/>
        </p:spPr>
        <p:txBody>
          <a:bodyPr wrap="square" lIns="0" tIns="0" rIns="0" bIns="0" rtlCol="0" anchor="ctr"/>
          <a:lstStyle/>
          <a:p>
            <a:pPr indent="0" marL="0">
              <a:buNone/>
            </a:pPr>
            <a:r>
              <a:rPr lang="en-US" sz="1600" b="1" dirty="0">
                <a:solidFill>
                  <a:srgbClr val="22223B"/>
                </a:solidFill>
                <a:latin typeface="BIZ UDGothic" pitchFamily="34" charset="0"/>
                <a:ea typeface="BIZ UDGothic" pitchFamily="34" charset="-122"/>
                <a:cs typeface="BIZ UDGothic" pitchFamily="34" charset="-120"/>
              </a:rPr>
              <a:t>分散しか見ていない</a:t>
            </a:r>
            <a:endParaRPr lang="en-US" sz="1600" dirty="0"/>
          </a:p>
        </p:txBody>
      </p:sp>
      <p:sp>
        <p:nvSpPr>
          <p:cNvPr id="23" name="Text 17"/>
          <p:cNvSpPr/>
          <p:nvPr/>
        </p:nvSpPr>
        <p:spPr>
          <a:xfrm>
            <a:off x="8356397" y="2313432"/>
            <a:ext cx="3058058" cy="658368"/>
          </a:xfrm>
          <a:prstGeom prst="rect">
            <a:avLst/>
          </a:prstGeom>
          <a:noFill/>
          <a:ln/>
        </p:spPr>
        <p:txBody>
          <a:bodyPr wrap="square" lIns="0" tIns="0" rIns="0" bIns="0" rtlCol="0" anchor="t"/>
          <a:lstStyle/>
          <a:p>
            <a:pPr indent="0" marL="0">
              <a:buNone/>
            </a:pPr>
            <a:r>
              <a:rPr lang="en-US" sz="1300" dirty="0">
                <a:solidFill>
                  <a:srgbClr val="4A4E69"/>
                </a:solidFill>
                <a:latin typeface="BIZ UDGothic" pitchFamily="34" charset="0"/>
                <a:ea typeface="BIZ UDGothic" pitchFamily="34" charset="-122"/>
                <a:cs typeface="BIZ UDGothic" pitchFamily="34" charset="-120"/>
              </a:rPr>
              <a:t>裾が重い・山が複数ある出力では、分散が「ばらつき」を表しにくい</a:t>
            </a:r>
            <a:endParaRPr lang="en-US" sz="1300" dirty="0"/>
          </a:p>
        </p:txBody>
      </p:sp>
      <p:sp>
        <p:nvSpPr>
          <p:cNvPr id="24" name="Shape 18"/>
          <p:cNvSpPr/>
          <p:nvPr/>
        </p:nvSpPr>
        <p:spPr>
          <a:xfrm>
            <a:off x="8310677" y="2971800"/>
            <a:ext cx="3149498" cy="548640"/>
          </a:xfrm>
          <a:prstGeom prst="roundRect">
            <a:avLst>
              <a:gd name="adj" fmla="val 13333"/>
            </a:avLst>
          </a:prstGeom>
          <a:solidFill>
            <a:srgbClr val="F3F4F8"/>
          </a:solidFill>
          <a:ln/>
        </p:spPr>
      </p:sp>
      <p:sp>
        <p:nvSpPr>
          <p:cNvPr id="25" name="Text 19"/>
          <p:cNvSpPr/>
          <p:nvPr/>
        </p:nvSpPr>
        <p:spPr>
          <a:xfrm>
            <a:off x="8402117" y="2971800"/>
            <a:ext cx="2966618" cy="548640"/>
          </a:xfrm>
          <a:prstGeom prst="rect">
            <a:avLst/>
          </a:prstGeom>
          <a:noFill/>
          <a:ln/>
        </p:spPr>
        <p:txBody>
          <a:bodyPr wrap="square" lIns="0" tIns="0" rIns="0" bIns="0" rtlCol="0" anchor="ctr"/>
          <a:lstStyle/>
          <a:p>
            <a:pPr indent="0" marL="0">
              <a:buNone/>
            </a:pPr>
            <a:r>
              <a:rPr lang="en-US" sz="1200" b="1" dirty="0">
                <a:solidFill>
                  <a:srgbClr val="22223B"/>
                </a:solidFill>
                <a:latin typeface="BIZ UDGothic" pitchFamily="34" charset="0"/>
                <a:ea typeface="BIZ UDGothic" pitchFamily="34" charset="-122"/>
                <a:cs typeface="BIZ UDGothic" pitchFamily="34" charset="-120"/>
              </a:rPr>
              <a:t>対策：分布全体を見る指標（Borgonovoのδ、PAWN）</a:t>
            </a:r>
            <a:endParaRPr lang="en-US" sz="1200" dirty="0"/>
          </a:p>
        </p:txBody>
      </p:sp>
      <p:sp>
        <p:nvSpPr>
          <p:cNvPr id="26" name="Shape 20"/>
          <p:cNvSpPr/>
          <p:nvPr/>
        </p:nvSpPr>
        <p:spPr>
          <a:xfrm>
            <a:off x="548640" y="3886200"/>
            <a:ext cx="3515258" cy="2240280"/>
          </a:xfrm>
          <a:prstGeom prst="roundRect">
            <a:avLst>
              <a:gd name="adj" fmla="val 3265"/>
            </a:avLst>
          </a:prstGeom>
          <a:solidFill>
            <a:srgbClr val="FFFFFF"/>
          </a:solidFill>
          <a:ln w="9525">
            <a:solidFill>
              <a:srgbClr val="DADDE6"/>
            </a:solidFill>
            <a:prstDash val="solid"/>
          </a:ln>
        </p:spPr>
      </p:sp>
      <p:sp>
        <p:nvSpPr>
          <p:cNvPr id="27" name="Shape 21"/>
          <p:cNvSpPr/>
          <p:nvPr/>
        </p:nvSpPr>
        <p:spPr>
          <a:xfrm>
            <a:off x="777240" y="4114800"/>
            <a:ext cx="548640" cy="548640"/>
          </a:xfrm>
          <a:prstGeom prst="ellipse">
            <a:avLst/>
          </a:prstGeom>
          <a:solidFill>
            <a:srgbClr val="2A9D8F"/>
          </a:solidFill>
          <a:ln/>
        </p:spPr>
      </p:sp>
      <p:pic>
        <p:nvPicPr>
          <p:cNvPr id="28" name="Image 3" descr="preencoded.png">    </p:cNvPr>
          <p:cNvPicPr>
            <a:picLocks noChangeAspect="1"/>
          </p:cNvPicPr>
          <p:nvPr/>
        </p:nvPicPr>
        <p:blipFill>
          <a:blip r:embed="rId4"/>
          <a:stretch>
            <a:fillRect/>
          </a:stretch>
        </p:blipFill>
        <p:spPr>
          <a:xfrm>
            <a:off x="897941" y="4235501"/>
            <a:ext cx="307238" cy="307238"/>
          </a:xfrm>
          <a:prstGeom prst="rect">
            <a:avLst/>
          </a:prstGeom>
        </p:spPr>
      </p:pic>
      <p:sp>
        <p:nvSpPr>
          <p:cNvPr id="29" name="Text 22"/>
          <p:cNvSpPr/>
          <p:nvPr/>
        </p:nvSpPr>
        <p:spPr>
          <a:xfrm>
            <a:off x="1463040" y="4114800"/>
            <a:ext cx="2417978" cy="548640"/>
          </a:xfrm>
          <a:prstGeom prst="rect">
            <a:avLst/>
          </a:prstGeom>
          <a:noFill/>
          <a:ln/>
        </p:spPr>
        <p:txBody>
          <a:bodyPr wrap="square" lIns="0" tIns="0" rIns="0" bIns="0" rtlCol="0" anchor="ctr"/>
          <a:lstStyle/>
          <a:p>
            <a:pPr indent="0" marL="0">
              <a:buNone/>
            </a:pPr>
            <a:r>
              <a:rPr lang="en-US" sz="1600" b="1" dirty="0">
                <a:solidFill>
                  <a:srgbClr val="22223B"/>
                </a:solidFill>
                <a:latin typeface="BIZ UDGothic" pitchFamily="34" charset="0"/>
                <a:ea typeface="BIZ UDGothic" pitchFamily="34" charset="-122"/>
                <a:cs typeface="BIZ UDGothic" pitchFamily="34" charset="-120"/>
              </a:rPr>
              <a:t>計算回数が多い</a:t>
            </a:r>
            <a:endParaRPr lang="en-US" sz="1600" dirty="0"/>
          </a:p>
        </p:txBody>
      </p:sp>
      <p:sp>
        <p:nvSpPr>
          <p:cNvPr id="30" name="Text 23"/>
          <p:cNvSpPr/>
          <p:nvPr/>
        </p:nvSpPr>
        <p:spPr>
          <a:xfrm>
            <a:off x="777240" y="4782312"/>
            <a:ext cx="3058058" cy="658368"/>
          </a:xfrm>
          <a:prstGeom prst="rect">
            <a:avLst/>
          </a:prstGeom>
          <a:noFill/>
          <a:ln/>
        </p:spPr>
        <p:txBody>
          <a:bodyPr wrap="square" lIns="0" tIns="0" rIns="0" bIns="0" rtlCol="0" anchor="t"/>
          <a:lstStyle/>
          <a:p>
            <a:pPr indent="0" marL="0">
              <a:buNone/>
            </a:pPr>
            <a:r>
              <a:rPr lang="en-US" sz="1500" i="1" dirty="0">
                <a:solidFill>
                  <a:srgbClr val="4A4E69"/>
                </a:solidFill>
                <a:latin typeface="Times New Roman" pitchFamily="34" charset="0"/>
                <a:ea typeface="Times New Roman" pitchFamily="34" charset="-122"/>
                <a:cs typeface="Times New Roman" pitchFamily="34" charset="-120"/>
              </a:rPr>
              <a:t>N(d + 2)</a:t>
            </a:r>
            <a:r>
              <a:rPr lang="en-US" sz="1300" dirty="0">
                <a:solidFill>
                  <a:srgbClr val="4A4E69"/>
                </a:solidFill>
                <a:latin typeface="BIZ UDGothic" pitchFamily="34" charset="0"/>
                <a:ea typeface="BIZ UDGothic" pitchFamily="34" charset="-122"/>
                <a:cs typeface="BIZ UDGothic" pitchFamily="34" charset="-120"/>
              </a:rPr>
              <a:t> 回。1回の計算が重いと現実的でない</a:t>
            </a:r>
            <a:endParaRPr lang="en-US" sz="1500" dirty="0"/>
          </a:p>
        </p:txBody>
      </p:sp>
      <p:sp>
        <p:nvSpPr>
          <p:cNvPr id="31" name="Shape 24"/>
          <p:cNvSpPr/>
          <p:nvPr/>
        </p:nvSpPr>
        <p:spPr>
          <a:xfrm>
            <a:off x="731520" y="5440680"/>
            <a:ext cx="3149498" cy="548640"/>
          </a:xfrm>
          <a:prstGeom prst="roundRect">
            <a:avLst>
              <a:gd name="adj" fmla="val 13333"/>
            </a:avLst>
          </a:prstGeom>
          <a:solidFill>
            <a:srgbClr val="F3F4F8"/>
          </a:solidFill>
          <a:ln/>
        </p:spPr>
      </p:sp>
      <p:sp>
        <p:nvSpPr>
          <p:cNvPr id="32" name="Text 25"/>
          <p:cNvSpPr/>
          <p:nvPr/>
        </p:nvSpPr>
        <p:spPr>
          <a:xfrm>
            <a:off x="822960" y="5440680"/>
            <a:ext cx="2966618" cy="548640"/>
          </a:xfrm>
          <a:prstGeom prst="rect">
            <a:avLst/>
          </a:prstGeom>
          <a:noFill/>
          <a:ln/>
        </p:spPr>
        <p:txBody>
          <a:bodyPr wrap="square" lIns="0" tIns="0" rIns="0" bIns="0" rtlCol="0" anchor="ctr"/>
          <a:lstStyle/>
          <a:p>
            <a:pPr indent="0" marL="0">
              <a:buNone/>
            </a:pPr>
            <a:r>
              <a:rPr lang="en-US" sz="1200" b="1" dirty="0">
                <a:solidFill>
                  <a:srgbClr val="22223B"/>
                </a:solidFill>
                <a:latin typeface="BIZ UDGothic" pitchFamily="34" charset="0"/>
                <a:ea typeface="BIZ UDGothic" pitchFamily="34" charset="-122"/>
                <a:cs typeface="BIZ UDGothic" pitchFamily="34" charset="-120"/>
              </a:rPr>
              <a:t>対策：代理モデル（ガウス過程回帰、多項式カオス展開）</a:t>
            </a:r>
            <a:endParaRPr lang="en-US" sz="1200" dirty="0"/>
          </a:p>
        </p:txBody>
      </p:sp>
      <p:sp>
        <p:nvSpPr>
          <p:cNvPr id="33" name="Shape 26"/>
          <p:cNvSpPr/>
          <p:nvPr/>
        </p:nvSpPr>
        <p:spPr>
          <a:xfrm>
            <a:off x="4338218" y="3886200"/>
            <a:ext cx="3515258" cy="2240280"/>
          </a:xfrm>
          <a:prstGeom prst="roundRect">
            <a:avLst>
              <a:gd name="adj" fmla="val 3265"/>
            </a:avLst>
          </a:prstGeom>
          <a:solidFill>
            <a:srgbClr val="FFFFFF"/>
          </a:solidFill>
          <a:ln w="9525">
            <a:solidFill>
              <a:srgbClr val="DADDE6"/>
            </a:solidFill>
            <a:prstDash val="solid"/>
          </a:ln>
        </p:spPr>
      </p:sp>
      <p:sp>
        <p:nvSpPr>
          <p:cNvPr id="34" name="Shape 27"/>
          <p:cNvSpPr/>
          <p:nvPr/>
        </p:nvSpPr>
        <p:spPr>
          <a:xfrm>
            <a:off x="4566818" y="4114800"/>
            <a:ext cx="548640" cy="548640"/>
          </a:xfrm>
          <a:prstGeom prst="ellipse">
            <a:avLst/>
          </a:prstGeom>
          <a:solidFill>
            <a:srgbClr val="9C7412"/>
          </a:solidFill>
          <a:ln/>
        </p:spPr>
      </p:sp>
      <p:pic>
        <p:nvPicPr>
          <p:cNvPr id="35" name="Image 4" descr="preencoded.png">    </p:cNvPr>
          <p:cNvPicPr>
            <a:picLocks noChangeAspect="1"/>
          </p:cNvPicPr>
          <p:nvPr/>
        </p:nvPicPr>
        <p:blipFill>
          <a:blip r:embed="rId5"/>
          <a:stretch>
            <a:fillRect/>
          </a:stretch>
        </p:blipFill>
        <p:spPr>
          <a:xfrm>
            <a:off x="4687519" y="4235501"/>
            <a:ext cx="307238" cy="307238"/>
          </a:xfrm>
          <a:prstGeom prst="rect">
            <a:avLst/>
          </a:prstGeom>
        </p:spPr>
      </p:pic>
      <p:sp>
        <p:nvSpPr>
          <p:cNvPr id="36" name="Text 28"/>
          <p:cNvSpPr/>
          <p:nvPr/>
        </p:nvSpPr>
        <p:spPr>
          <a:xfrm>
            <a:off x="5252618" y="4114800"/>
            <a:ext cx="2417978" cy="548640"/>
          </a:xfrm>
          <a:prstGeom prst="rect">
            <a:avLst/>
          </a:prstGeom>
          <a:noFill/>
          <a:ln/>
        </p:spPr>
        <p:txBody>
          <a:bodyPr wrap="square" lIns="0" tIns="0" rIns="0" bIns="0" rtlCol="0" anchor="ctr"/>
          <a:lstStyle/>
          <a:p>
            <a:pPr indent="0" marL="0">
              <a:buNone/>
            </a:pPr>
            <a:r>
              <a:rPr lang="en-US" sz="1600" b="1" dirty="0">
                <a:solidFill>
                  <a:srgbClr val="22223B"/>
                </a:solidFill>
                <a:latin typeface="BIZ UDGothic" pitchFamily="34" charset="0"/>
                <a:ea typeface="BIZ UDGothic" pitchFamily="34" charset="-122"/>
                <a:cs typeface="BIZ UDGothic" pitchFamily="34" charset="-120"/>
              </a:rPr>
              <a:t>推定誤差</a:t>
            </a:r>
            <a:endParaRPr lang="en-US" sz="1600" dirty="0"/>
          </a:p>
        </p:txBody>
      </p:sp>
      <p:sp>
        <p:nvSpPr>
          <p:cNvPr id="37" name="Text 29"/>
          <p:cNvSpPr/>
          <p:nvPr/>
        </p:nvSpPr>
        <p:spPr>
          <a:xfrm>
            <a:off x="4566818" y="4782312"/>
            <a:ext cx="3058058" cy="658368"/>
          </a:xfrm>
          <a:prstGeom prst="rect">
            <a:avLst/>
          </a:prstGeom>
          <a:noFill/>
          <a:ln/>
        </p:spPr>
        <p:txBody>
          <a:bodyPr wrap="square" lIns="0" tIns="0" rIns="0" bIns="0" rtlCol="0" anchor="t"/>
          <a:lstStyle/>
          <a:p>
            <a:pPr indent="0" marL="0">
              <a:buNone/>
            </a:pPr>
            <a:r>
              <a:rPr lang="en-US" sz="1500" i="1" dirty="0">
                <a:solidFill>
                  <a:srgbClr val="4A4E69"/>
                </a:solidFill>
                <a:latin typeface="Times New Roman" pitchFamily="34" charset="0"/>
                <a:ea typeface="Times New Roman" pitchFamily="34" charset="-122"/>
                <a:cs typeface="Times New Roman" pitchFamily="34" charset="-120"/>
              </a:rPr>
              <a:t>N</a:t>
            </a:r>
            <a:r>
              <a:rPr lang="en-US" sz="1300" dirty="0">
                <a:solidFill>
                  <a:srgbClr val="4A4E69"/>
                </a:solidFill>
                <a:latin typeface="BIZ UDGothic" pitchFamily="34" charset="0"/>
                <a:ea typeface="BIZ UDGothic" pitchFamily="34" charset="-122"/>
                <a:cs typeface="BIZ UDGothic" pitchFamily="34" charset="-120"/>
              </a:rPr>
              <a:t> が小さいと、負の値や </a:t>
            </a:r>
            <a:r>
              <a:rPr lang="en-US" sz="1500" i="1" dirty="0">
                <a:solidFill>
                  <a:srgbClr val="4A4E69"/>
                </a:solidFill>
                <a:latin typeface="Times New Roman" pitchFamily="34" charset="0"/>
                <a:ea typeface="Times New Roman" pitchFamily="34" charset="-122"/>
                <a:cs typeface="Times New Roman" pitchFamily="34" charset="-120"/>
              </a:rPr>
              <a:t>S</a:t>
            </a:r>
            <a:r>
              <a:rPr lang="en-US" sz="1500" i="1" baseline="-40000" dirty="0">
                <a:solidFill>
                  <a:srgbClr val="4A4E69"/>
                </a:solidFill>
                <a:latin typeface="Times New Roman" pitchFamily="34" charset="0"/>
                <a:ea typeface="Times New Roman" pitchFamily="34" charset="-122"/>
                <a:cs typeface="Times New Roman" pitchFamily="34" charset="-120"/>
              </a:rPr>
              <a:t>i</a:t>
            </a:r>
            <a:r>
              <a:rPr lang="en-US" sz="1300" dirty="0">
                <a:solidFill>
                  <a:srgbClr val="4A4E69"/>
                </a:solidFill>
                <a:latin typeface="BIZ UDGothic" pitchFamily="34" charset="0"/>
                <a:ea typeface="BIZ UDGothic" pitchFamily="34" charset="-122"/>
                <a:cs typeface="BIZ UDGothic" pitchFamily="34" charset="-120"/>
              </a:rPr>
              <a:t> &gt; </a:t>
            </a:r>
            <a:r>
              <a:rPr lang="en-US" sz="1500" i="1" dirty="0">
                <a:solidFill>
                  <a:srgbClr val="4A4E69"/>
                </a:solidFill>
                <a:latin typeface="Times New Roman" pitchFamily="34" charset="0"/>
                <a:ea typeface="Times New Roman" pitchFamily="34" charset="-122"/>
                <a:cs typeface="Times New Roman" pitchFamily="34" charset="-120"/>
              </a:rPr>
              <a:t>S</a:t>
            </a:r>
            <a:r>
              <a:rPr lang="en-US" sz="1500" i="1" baseline="-40000" dirty="0">
                <a:solidFill>
                  <a:srgbClr val="4A4E69"/>
                </a:solidFill>
                <a:latin typeface="Times New Roman" pitchFamily="34" charset="0"/>
                <a:ea typeface="Times New Roman" pitchFamily="34" charset="-122"/>
                <a:cs typeface="Times New Roman" pitchFamily="34" charset="-120"/>
              </a:rPr>
              <a:t>Ti</a:t>
            </a:r>
            <a:r>
              <a:rPr lang="en-US" sz="1300" dirty="0">
                <a:solidFill>
                  <a:srgbClr val="4A4E69"/>
                </a:solidFill>
                <a:latin typeface="BIZ UDGothic" pitchFamily="34" charset="0"/>
                <a:ea typeface="BIZ UDGothic" pitchFamily="34" charset="-122"/>
                <a:cs typeface="BIZ UDGothic" pitchFamily="34" charset="-120"/>
              </a:rPr>
              <a:t> が出る</a:t>
            </a:r>
            <a:endParaRPr lang="en-US" sz="1500" dirty="0"/>
          </a:p>
        </p:txBody>
      </p:sp>
      <p:sp>
        <p:nvSpPr>
          <p:cNvPr id="38" name="Shape 30"/>
          <p:cNvSpPr/>
          <p:nvPr/>
        </p:nvSpPr>
        <p:spPr>
          <a:xfrm>
            <a:off x="4521098" y="5440680"/>
            <a:ext cx="3149498" cy="548640"/>
          </a:xfrm>
          <a:prstGeom prst="roundRect">
            <a:avLst>
              <a:gd name="adj" fmla="val 13333"/>
            </a:avLst>
          </a:prstGeom>
          <a:solidFill>
            <a:srgbClr val="F3F4F8"/>
          </a:solidFill>
          <a:ln/>
        </p:spPr>
      </p:sp>
      <p:sp>
        <p:nvSpPr>
          <p:cNvPr id="39" name="Text 31"/>
          <p:cNvSpPr/>
          <p:nvPr/>
        </p:nvSpPr>
        <p:spPr>
          <a:xfrm>
            <a:off x="4612538" y="5440680"/>
            <a:ext cx="2966618" cy="548640"/>
          </a:xfrm>
          <a:prstGeom prst="rect">
            <a:avLst/>
          </a:prstGeom>
          <a:noFill/>
          <a:ln/>
        </p:spPr>
        <p:txBody>
          <a:bodyPr wrap="square" lIns="0" tIns="0" rIns="0" bIns="0" rtlCol="0" anchor="ctr"/>
          <a:lstStyle/>
          <a:p>
            <a:pPr indent="0" marL="0">
              <a:buNone/>
            </a:pPr>
            <a:r>
              <a:rPr lang="en-US" sz="1200" b="1" dirty="0">
                <a:solidFill>
                  <a:srgbClr val="22223B"/>
                </a:solidFill>
                <a:latin typeface="BIZ UDGothic" pitchFamily="34" charset="0"/>
                <a:ea typeface="BIZ UDGothic" pitchFamily="34" charset="-122"/>
                <a:cs typeface="BIZ UDGothic" pitchFamily="34" charset="-120"/>
              </a:rPr>
              <a:t>対策：</a:t>
            </a:r>
            <a:r>
              <a:rPr lang="en-US" sz="1300" b="1" i="1" dirty="0">
                <a:solidFill>
                  <a:srgbClr val="22223B"/>
                </a:solidFill>
                <a:latin typeface="Times New Roman" pitchFamily="34" charset="0"/>
                <a:ea typeface="Times New Roman" pitchFamily="34" charset="-122"/>
                <a:cs typeface="Times New Roman" pitchFamily="34" charset="-120"/>
              </a:rPr>
              <a:t>N</a:t>
            </a:r>
            <a:r>
              <a:rPr lang="en-US" sz="1200" b="1" dirty="0">
                <a:solidFill>
                  <a:srgbClr val="22223B"/>
                </a:solidFill>
                <a:latin typeface="BIZ UDGothic" pitchFamily="34" charset="0"/>
                <a:ea typeface="BIZ UDGothic" pitchFamily="34" charset="-122"/>
                <a:cs typeface="BIZ UDGothic" pitchFamily="34" charset="-120"/>
              </a:rPr>
              <a:t> を増やし、信頼区間で判断する</a:t>
            </a:r>
            <a:endParaRPr lang="en-US" sz="1200" dirty="0"/>
          </a:p>
        </p:txBody>
      </p:sp>
      <p:sp>
        <p:nvSpPr>
          <p:cNvPr id="40" name="Shape 32"/>
          <p:cNvSpPr/>
          <p:nvPr/>
        </p:nvSpPr>
        <p:spPr>
          <a:xfrm>
            <a:off x="8127797" y="3886200"/>
            <a:ext cx="3515258" cy="2240280"/>
          </a:xfrm>
          <a:prstGeom prst="roundRect">
            <a:avLst>
              <a:gd name="adj" fmla="val 3265"/>
            </a:avLst>
          </a:prstGeom>
          <a:solidFill>
            <a:srgbClr val="FFFFFF"/>
          </a:solidFill>
          <a:ln w="9525">
            <a:solidFill>
              <a:srgbClr val="DADDE6"/>
            </a:solidFill>
            <a:prstDash val="solid"/>
          </a:ln>
        </p:spPr>
      </p:sp>
      <p:sp>
        <p:nvSpPr>
          <p:cNvPr id="41" name="Shape 33"/>
          <p:cNvSpPr/>
          <p:nvPr/>
        </p:nvSpPr>
        <p:spPr>
          <a:xfrm>
            <a:off x="8356397" y="4114800"/>
            <a:ext cx="548640" cy="548640"/>
          </a:xfrm>
          <a:prstGeom prst="ellipse">
            <a:avLst/>
          </a:prstGeom>
          <a:solidFill>
            <a:srgbClr val="4A4E69"/>
          </a:solidFill>
          <a:ln/>
        </p:spPr>
      </p:sp>
      <p:pic>
        <p:nvPicPr>
          <p:cNvPr id="42" name="Image 5" descr="preencoded.png">    </p:cNvPr>
          <p:cNvPicPr>
            <a:picLocks noChangeAspect="1"/>
          </p:cNvPicPr>
          <p:nvPr/>
        </p:nvPicPr>
        <p:blipFill>
          <a:blip r:embed="rId6"/>
          <a:stretch>
            <a:fillRect/>
          </a:stretch>
        </p:blipFill>
        <p:spPr>
          <a:xfrm>
            <a:off x="8477098" y="4235501"/>
            <a:ext cx="307238" cy="307238"/>
          </a:xfrm>
          <a:prstGeom prst="rect">
            <a:avLst/>
          </a:prstGeom>
        </p:spPr>
      </p:pic>
      <p:sp>
        <p:nvSpPr>
          <p:cNvPr id="43" name="Text 34"/>
          <p:cNvSpPr/>
          <p:nvPr/>
        </p:nvSpPr>
        <p:spPr>
          <a:xfrm>
            <a:off x="9042197" y="4114800"/>
            <a:ext cx="2417978" cy="548640"/>
          </a:xfrm>
          <a:prstGeom prst="rect">
            <a:avLst/>
          </a:prstGeom>
          <a:noFill/>
          <a:ln/>
        </p:spPr>
        <p:txBody>
          <a:bodyPr wrap="square" lIns="0" tIns="0" rIns="0" bIns="0" rtlCol="0" anchor="ctr"/>
          <a:lstStyle/>
          <a:p>
            <a:pPr indent="0" marL="0">
              <a:buNone/>
            </a:pPr>
            <a:r>
              <a:rPr lang="en-US" sz="1600" b="1" dirty="0">
                <a:solidFill>
                  <a:srgbClr val="22223B"/>
                </a:solidFill>
                <a:latin typeface="BIZ UDGothic" pitchFamily="34" charset="0"/>
                <a:ea typeface="BIZ UDGothic" pitchFamily="34" charset="-122"/>
                <a:cs typeface="BIZ UDGothic" pitchFamily="34" charset="-120"/>
              </a:rPr>
              <a:t>出力が多い・時系列</a:t>
            </a:r>
            <a:endParaRPr lang="en-US" sz="1600" dirty="0"/>
          </a:p>
        </p:txBody>
      </p:sp>
      <p:sp>
        <p:nvSpPr>
          <p:cNvPr id="44" name="Text 35"/>
          <p:cNvSpPr/>
          <p:nvPr/>
        </p:nvSpPr>
        <p:spPr>
          <a:xfrm>
            <a:off x="8356397" y="4782312"/>
            <a:ext cx="3058058" cy="658368"/>
          </a:xfrm>
          <a:prstGeom prst="rect">
            <a:avLst/>
          </a:prstGeom>
          <a:noFill/>
          <a:ln/>
        </p:spPr>
        <p:txBody>
          <a:bodyPr wrap="square" lIns="0" tIns="0" rIns="0" bIns="0" rtlCol="0" anchor="t"/>
          <a:lstStyle/>
          <a:p>
            <a:pPr indent="0" marL="0">
              <a:buNone/>
            </a:pPr>
            <a:r>
              <a:rPr lang="en-US" sz="1300" dirty="0">
                <a:solidFill>
                  <a:srgbClr val="4A4E69"/>
                </a:solidFill>
                <a:latin typeface="BIZ UDGothic" pitchFamily="34" charset="0"/>
                <a:ea typeface="BIZ UDGothic" pitchFamily="34" charset="-122"/>
                <a:cs typeface="BIZ UDGothic" pitchFamily="34" charset="-120"/>
              </a:rPr>
              <a:t>指数は出力1つごとに定義される</a:t>
            </a:r>
            <a:endParaRPr lang="en-US" sz="1300" dirty="0"/>
          </a:p>
        </p:txBody>
      </p:sp>
      <p:sp>
        <p:nvSpPr>
          <p:cNvPr id="45" name="Shape 36"/>
          <p:cNvSpPr/>
          <p:nvPr/>
        </p:nvSpPr>
        <p:spPr>
          <a:xfrm>
            <a:off x="8310677" y="5440680"/>
            <a:ext cx="3149498" cy="548640"/>
          </a:xfrm>
          <a:prstGeom prst="roundRect">
            <a:avLst>
              <a:gd name="adj" fmla="val 13333"/>
            </a:avLst>
          </a:prstGeom>
          <a:solidFill>
            <a:srgbClr val="F3F4F8"/>
          </a:solidFill>
          <a:ln/>
        </p:spPr>
      </p:sp>
      <p:sp>
        <p:nvSpPr>
          <p:cNvPr id="46" name="Text 37"/>
          <p:cNvSpPr/>
          <p:nvPr/>
        </p:nvSpPr>
        <p:spPr>
          <a:xfrm>
            <a:off x="8402117" y="5440680"/>
            <a:ext cx="2966618" cy="548640"/>
          </a:xfrm>
          <a:prstGeom prst="rect">
            <a:avLst/>
          </a:prstGeom>
          <a:noFill/>
          <a:ln/>
        </p:spPr>
        <p:txBody>
          <a:bodyPr wrap="square" lIns="0" tIns="0" rIns="0" bIns="0" rtlCol="0" anchor="ctr"/>
          <a:lstStyle/>
          <a:p>
            <a:pPr indent="0" marL="0">
              <a:buNone/>
            </a:pPr>
            <a:r>
              <a:rPr lang="en-US" sz="1200" b="1" dirty="0">
                <a:solidFill>
                  <a:srgbClr val="22223B"/>
                </a:solidFill>
                <a:latin typeface="BIZ UDGothic" pitchFamily="34" charset="0"/>
                <a:ea typeface="BIZ UDGothic" pitchFamily="34" charset="-122"/>
                <a:cs typeface="BIZ UDGothic" pitchFamily="34" charset="-120"/>
              </a:rPr>
              <a:t>対策：出力ごと、または要約値（最大値・平均など）ごとに計算</a:t>
            </a:r>
            <a:endParaRPr lang="en-US" sz="1200" dirty="0"/>
          </a:p>
        </p:txBody>
      </p:sp>
      <p:sp>
        <p:nvSpPr>
          <p:cNvPr id="47" name="Text 38"/>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48" name="Text 39"/>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04　実務で使うために</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他の感度解析手法との比較</a:t>
            </a:r>
            <a:endParaRPr lang="en-US" sz="2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011680"/>
                <a:gridCol w="3063240"/>
                <a:gridCol w="1188720"/>
                <a:gridCol w="1325880"/>
                <a:gridCol w="1764792"/>
                <a:gridCol w="1737360"/>
              </a:tblGrid>
              <a:tr h="457200">
                <a:tc>
                  <a:txBody>
                    <a:bodyPr/>
                    <a:lstStyle/>
                    <a:p>
                      <a:pPr algn="ctr" indent="0" marL="0">
                        <a:buNone/>
                      </a:pPr>
                      <a:r>
                        <a:rPr lang="en-US" sz="1300" b="1" dirty="0">
                          <a:solidFill>
                            <a:srgbClr val="FFFFFF"/>
                          </a:solidFill>
                          <a:latin typeface="BIZ UDGothic" pitchFamily="34" charset="0"/>
                          <a:ea typeface="BIZ UDGothic" pitchFamily="34" charset="-122"/>
                          <a:cs typeface="BIZ UDGothic" pitchFamily="34" charset="-120"/>
                        </a:rPr>
                        <a:t>手法</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c>
                  <a:txBody>
                    <a:bodyPr/>
                    <a:lstStyle/>
                    <a:p>
                      <a:pPr algn="ctr" indent="0" marL="0">
                        <a:buNone/>
                      </a:pPr>
                      <a:r>
                        <a:rPr lang="en-US" sz="1300" b="1" dirty="0">
                          <a:solidFill>
                            <a:srgbClr val="FFFFFF"/>
                          </a:solidFill>
                          <a:latin typeface="BIZ UDGothic" pitchFamily="34" charset="0"/>
                          <a:ea typeface="BIZ UDGothic" pitchFamily="34" charset="-122"/>
                          <a:cs typeface="BIZ UDGothic" pitchFamily="34" charset="-120"/>
                        </a:rPr>
                        <a:t>考え方</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c>
                  <a:txBody>
                    <a:bodyPr/>
                    <a:lstStyle/>
                    <a:p>
                      <a:pPr algn="ctr" indent="0" marL="0">
                        <a:buNone/>
                      </a:pPr>
                      <a:r>
                        <a:rPr lang="en-US" sz="1300" b="1" dirty="0">
                          <a:solidFill>
                            <a:srgbClr val="FFFFFF"/>
                          </a:solidFill>
                          <a:latin typeface="BIZ UDGothic" pitchFamily="34" charset="0"/>
                          <a:ea typeface="BIZ UDGothic" pitchFamily="34" charset="-122"/>
                          <a:cs typeface="BIZ UDGothic" pitchFamily="34" charset="-120"/>
                        </a:rPr>
                        <a:t>非線形</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c>
                  <a:txBody>
                    <a:bodyPr/>
                    <a:lstStyle/>
                    <a:p>
                      <a:pPr algn="ctr" indent="0" marL="0">
                        <a:buNone/>
                      </a:pPr>
                      <a:r>
                        <a:rPr lang="en-US" sz="1300" b="1" dirty="0">
                          <a:solidFill>
                            <a:srgbClr val="FFFFFF"/>
                          </a:solidFill>
                          <a:latin typeface="BIZ UDGothic" pitchFamily="34" charset="0"/>
                          <a:ea typeface="BIZ UDGothic" pitchFamily="34" charset="-122"/>
                          <a:cs typeface="BIZ UDGothic" pitchFamily="34" charset="-120"/>
                        </a:rPr>
                        <a:t>交互作用</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c>
                  <a:txBody>
                    <a:bodyPr/>
                    <a:lstStyle/>
                    <a:p>
                      <a:pPr algn="ctr" indent="0" marL="0">
                        <a:buNone/>
                      </a:pPr>
                      <a:r>
                        <a:rPr lang="en-US" sz="1300" b="1" dirty="0">
                          <a:solidFill>
                            <a:srgbClr val="FFFFFF"/>
                          </a:solidFill>
                          <a:latin typeface="BIZ UDGothic" pitchFamily="34" charset="0"/>
                          <a:ea typeface="BIZ UDGothic" pitchFamily="34" charset="-122"/>
                          <a:cs typeface="BIZ UDGothic" pitchFamily="34" charset="-120"/>
                        </a:rPr>
                        <a:t>計算回数の目安</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c>
                  <a:txBody>
                    <a:bodyPr/>
                    <a:lstStyle/>
                    <a:p>
                      <a:pPr algn="ctr" indent="0" marL="0">
                        <a:buNone/>
                      </a:pPr>
                      <a:r>
                        <a:rPr lang="en-US" sz="1300" b="1" dirty="0">
                          <a:solidFill>
                            <a:srgbClr val="FFFFFF"/>
                          </a:solidFill>
                          <a:latin typeface="BIZ UDGothic" pitchFamily="34" charset="0"/>
                          <a:ea typeface="BIZ UDGothic" pitchFamily="34" charset="-122"/>
                          <a:cs typeface="BIZ UDGothic" pitchFamily="34" charset="-120"/>
                        </a:rPr>
                        <a:t>向いている場面</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4A4E69"/>
                    </a:solidFill>
                  </a:tcPr>
                </a:tc>
              </a:tr>
              <a:tr h="777240">
                <a:tc>
                  <a:txBody>
                    <a:bodyPr/>
                    <a:lstStyle/>
                    <a:p>
                      <a:pPr algn="l" indent="0" marL="0">
                        <a:buNone/>
                      </a:pPr>
                      <a:r>
                        <a:rPr lang="en-US" sz="1300" b="1" dirty="0">
                          <a:solidFill>
                            <a:srgbClr val="22223B"/>
                          </a:solidFill>
                          <a:latin typeface="BIZ UDGothic" pitchFamily="34" charset="0"/>
                          <a:ea typeface="BIZ UDGothic" pitchFamily="34" charset="-122"/>
                          <a:cs typeface="BIZ UDGothic" pitchFamily="34" charset="-120"/>
                        </a:rPr>
                        <a:t>OAT（1つずつ）</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3B"/>
                          </a:solidFill>
                          <a:latin typeface="BIZ UDGothic" pitchFamily="34" charset="0"/>
                          <a:ea typeface="BIZ UDGothic" pitchFamily="34" charset="-122"/>
                          <a:cs typeface="BIZ UDGothic" pitchFamily="34" charset="-120"/>
                        </a:rPr>
                        <a:t>基準点から入力を1つずつ動かす</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500" i="1" dirty="0">
                          <a:solidFill>
                            <a:srgbClr val="22223B"/>
                          </a:solidFill>
                          <a:latin typeface="Times New Roman" pitchFamily="34" charset="0"/>
                          <a:ea typeface="Times New Roman" pitchFamily="34" charset="-122"/>
                          <a:cs typeface="Times New Roman" pitchFamily="34" charset="-120"/>
                        </a:rPr>
                        <a:t>d</a:t>
                      </a:r>
                      <a:r>
                        <a:rPr lang="en-US" sz="1300" dirty="0">
                          <a:solidFill>
                            <a:srgbClr val="22223B"/>
                          </a:solidFill>
                          <a:latin typeface="BIZ UDGothic" pitchFamily="34" charset="0"/>
                          <a:ea typeface="BIZ UDGothic" pitchFamily="34" charset="-122"/>
                          <a:cs typeface="BIZ UDGothic" pitchFamily="34" charset="-120"/>
                        </a:rPr>
                        <a:t> + 1 回</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3B"/>
                          </a:solidFill>
                          <a:latin typeface="BIZ UDGothic" pitchFamily="34" charset="0"/>
                          <a:ea typeface="BIZ UDGothic" pitchFamily="34" charset="-122"/>
                          <a:cs typeface="BIZ UDGothic" pitchFamily="34" charset="-120"/>
                        </a:rPr>
                        <a:t>最初の当たりづけ</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r>
              <a:tr h="777240">
                <a:tc>
                  <a:txBody>
                    <a:bodyPr/>
                    <a:lstStyle/>
                    <a:p>
                      <a:pPr algn="l" indent="0" marL="0">
                        <a:buNone/>
                      </a:pPr>
                      <a:r>
                        <a:rPr lang="en-US" sz="1300" b="1" dirty="0">
                          <a:solidFill>
                            <a:srgbClr val="22223B"/>
                          </a:solidFill>
                          <a:latin typeface="BIZ UDGothic" pitchFamily="34" charset="0"/>
                          <a:ea typeface="BIZ UDGothic" pitchFamily="34" charset="-122"/>
                          <a:cs typeface="BIZ UDGothic" pitchFamily="34" charset="-120"/>
                        </a:rPr>
                        <a:t>標準化回帰係数（SRC）</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3B"/>
                          </a:solidFill>
                          <a:latin typeface="BIZ UDGothic" pitchFamily="34" charset="0"/>
                          <a:ea typeface="BIZ UDGothic" pitchFamily="34" charset="-122"/>
                          <a:cs typeface="BIZ UDGothic" pitchFamily="34" charset="-120"/>
                        </a:rPr>
                        <a:t>サンプルに線形回帰を当てはめ、標準化した係数を比べる</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 線形が前提</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数百回〜</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3B"/>
                          </a:solidFill>
                          <a:latin typeface="BIZ UDGothic" pitchFamily="34" charset="0"/>
                          <a:ea typeface="BIZ UDGothic" pitchFamily="34" charset="-122"/>
                          <a:cs typeface="BIZ UDGothic" pitchFamily="34" charset="-120"/>
                        </a:rPr>
                        <a:t>ほぼ線形なモデル（決定係数が高い）</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r>
              <a:tr h="777240">
                <a:tc>
                  <a:txBody>
                    <a:bodyPr/>
                    <a:lstStyle/>
                    <a:p>
                      <a:pPr algn="l" indent="0" marL="0">
                        <a:buNone/>
                      </a:pPr>
                      <a:r>
                        <a:rPr lang="en-US" sz="1300" b="1" dirty="0">
                          <a:solidFill>
                            <a:srgbClr val="22223B"/>
                          </a:solidFill>
                          <a:latin typeface="BIZ UDGothic" pitchFamily="34" charset="0"/>
                          <a:ea typeface="BIZ UDGothic" pitchFamily="34" charset="-122"/>
                          <a:cs typeface="BIZ UDGothic" pitchFamily="34" charset="-120"/>
                        </a:rPr>
                        <a:t>Morris法</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3B"/>
                          </a:solidFill>
                          <a:latin typeface="BIZ UDGothic" pitchFamily="34" charset="0"/>
                          <a:ea typeface="BIZ UDGothic" pitchFamily="34" charset="-122"/>
                          <a:cs typeface="BIZ UDGothic" pitchFamily="34" charset="-120"/>
                        </a:rPr>
                        <a:t>多くの点で1つずつ動かし、変化量の平均とばらつきを見る</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 有無の目安</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ctr" indent="0" marL="0">
                        <a:buNone/>
                      </a:pPr>
                      <a:r>
                        <a:rPr lang="en-US" sz="1500" i="1" dirty="0">
                          <a:solidFill>
                            <a:srgbClr val="22223B"/>
                          </a:solidFill>
                          <a:latin typeface="Times New Roman" pitchFamily="34" charset="0"/>
                          <a:ea typeface="Times New Roman" pitchFamily="34" charset="-122"/>
                          <a:cs typeface="Times New Roman" pitchFamily="34" charset="-120"/>
                        </a:rPr>
                        <a:t>r(d + 1)</a:t>
                      </a:r>
                      <a:r>
                        <a:rPr lang="en-US" sz="1300" dirty="0">
                          <a:solidFill>
                            <a:srgbClr val="22223B"/>
                          </a:solidFill>
                          <a:latin typeface="BIZ UDGothic" pitchFamily="34" charset="0"/>
                          <a:ea typeface="BIZ UDGothic" pitchFamily="34" charset="-122"/>
                          <a:cs typeface="BIZ UDGothic" pitchFamily="34" charset="-120"/>
                        </a:rPr>
                        <a:t> 回（</a:t>
                      </a:r>
                      <a:r>
                        <a:rPr lang="en-US" sz="1500" i="1" dirty="0">
                          <a:solidFill>
                            <a:srgbClr val="22223B"/>
                          </a:solidFill>
                          <a:latin typeface="Times New Roman" pitchFamily="34" charset="0"/>
                          <a:ea typeface="Times New Roman" pitchFamily="34" charset="-122"/>
                          <a:cs typeface="Times New Roman" pitchFamily="34" charset="-120"/>
                        </a:rPr>
                        <a:t>r</a:t>
                      </a:r>
                      <a:r>
                        <a:rPr lang="en-US" sz="1300" dirty="0">
                          <a:solidFill>
                            <a:srgbClr val="22223B"/>
                          </a:solidFill>
                          <a:latin typeface="BIZ UDGothic" pitchFamily="34" charset="0"/>
                          <a:ea typeface="BIZ UDGothic" pitchFamily="34" charset="-122"/>
                          <a:cs typeface="BIZ UDGothic" pitchFamily="34" charset="-120"/>
                        </a:rPr>
                        <a:t>：繰り返し数）</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3B"/>
                          </a:solidFill>
                          <a:latin typeface="BIZ UDGothic" pitchFamily="34" charset="0"/>
                          <a:ea typeface="BIZ UDGothic" pitchFamily="34" charset="-122"/>
                          <a:cs typeface="BIZ UDGothic" pitchFamily="34" charset="-120"/>
                        </a:rPr>
                        <a:t>入力が多いときのふるい分け</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FFFFFF"/>
                    </a:solidFill>
                  </a:tcPr>
                </a:tc>
              </a:tr>
              <a:tr h="777240">
                <a:tc>
                  <a:txBody>
                    <a:bodyPr/>
                    <a:lstStyle/>
                    <a:p>
                      <a:pPr algn="l" indent="0" marL="0">
                        <a:buNone/>
                      </a:pPr>
                      <a:r>
                        <a:rPr lang="en-US" sz="1300" b="1" dirty="0">
                          <a:solidFill>
                            <a:srgbClr val="22223B"/>
                          </a:solidFill>
                          <a:latin typeface="BIZ UDGothic" pitchFamily="34" charset="0"/>
                          <a:ea typeface="BIZ UDGothic" pitchFamily="34" charset="-122"/>
                          <a:cs typeface="BIZ UDGothic" pitchFamily="34" charset="-120"/>
                        </a:rPr>
                        <a:t>Sobol法</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D8F0ED"/>
                    </a:solidFill>
                  </a:tcPr>
                </a:tc>
                <a:tc>
                  <a:txBody>
                    <a:bodyPr/>
                    <a:lstStyle/>
                    <a:p>
                      <a:pPr algn="l" indent="0" marL="0">
                        <a:buNone/>
                      </a:pPr>
                      <a:r>
                        <a:rPr lang="en-US" sz="1300" dirty="0">
                          <a:solidFill>
                            <a:srgbClr val="22223B"/>
                          </a:solidFill>
                          <a:latin typeface="BIZ UDGothic" pitchFamily="34" charset="0"/>
                          <a:ea typeface="BIZ UDGothic" pitchFamily="34" charset="-122"/>
                          <a:cs typeface="BIZ UDGothic" pitchFamily="34" charset="-120"/>
                        </a:rPr>
                        <a:t>出力の分散を入力ごとに分解する</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D8F0ED"/>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D8F0ED"/>
                    </a:solidFill>
                  </a:tcPr>
                </a:tc>
                <a:tc>
                  <a:txBody>
                    <a:bodyPr/>
                    <a:lstStyle/>
                    <a:p>
                      <a:pPr algn="ctr" indent="0" marL="0">
                        <a:buNone/>
                      </a:pPr>
                      <a:r>
                        <a:rPr lang="en-US" sz="1300" dirty="0">
                          <a:solidFill>
                            <a:srgbClr val="22223B"/>
                          </a:solidFill>
                          <a:latin typeface="BIZ UDGothic" pitchFamily="34" charset="0"/>
                          <a:ea typeface="BIZ UDGothic" pitchFamily="34" charset="-122"/>
                          <a:cs typeface="BIZ UDGothic" pitchFamily="34" charset="-120"/>
                        </a:rPr>
                        <a:t>○ 定量化</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D8F0ED"/>
                    </a:solidFill>
                  </a:tcPr>
                </a:tc>
                <a:tc>
                  <a:txBody>
                    <a:bodyPr/>
                    <a:lstStyle/>
                    <a:p>
                      <a:pPr algn="ctr" indent="0" marL="0">
                        <a:buNone/>
                      </a:pPr>
                      <a:r>
                        <a:rPr lang="en-US" sz="1500" i="1" dirty="0">
                          <a:solidFill>
                            <a:srgbClr val="22223B"/>
                          </a:solidFill>
                          <a:latin typeface="Times New Roman" pitchFamily="34" charset="0"/>
                          <a:ea typeface="Times New Roman" pitchFamily="34" charset="-122"/>
                          <a:cs typeface="Times New Roman" pitchFamily="34" charset="-120"/>
                        </a:rPr>
                        <a:t>N(d + 2)</a:t>
                      </a:r>
                      <a:r>
                        <a:rPr lang="en-US" sz="1300" dirty="0">
                          <a:solidFill>
                            <a:srgbClr val="22223B"/>
                          </a:solidFill>
                          <a:latin typeface="BIZ UDGothic" pitchFamily="34" charset="0"/>
                          <a:ea typeface="BIZ UDGothic" pitchFamily="34" charset="-122"/>
                          <a:cs typeface="BIZ UDGothic" pitchFamily="34" charset="-120"/>
                        </a:rPr>
                        <a:t> 回</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D8F0ED"/>
                    </a:solidFill>
                  </a:tcPr>
                </a:tc>
                <a:tc>
                  <a:txBody>
                    <a:bodyPr/>
                    <a:lstStyle/>
                    <a:p>
                      <a:pPr algn="l" indent="0" marL="0">
                        <a:buNone/>
                      </a:pPr>
                      <a:r>
                        <a:rPr lang="en-US" sz="1300" dirty="0">
                          <a:solidFill>
                            <a:srgbClr val="22223B"/>
                          </a:solidFill>
                          <a:latin typeface="BIZ UDGothic" pitchFamily="34" charset="0"/>
                          <a:ea typeface="BIZ UDGothic" pitchFamily="34" charset="-122"/>
                          <a:cs typeface="BIZ UDGothic" pitchFamily="34" charset="-120"/>
                        </a:rPr>
                        <a:t>寄与の定量評価・報告</a:t>
                      </a:r>
                      <a:endParaRPr lang="en-US" sz="1200" dirty="0"/>
                    </a:p>
                  </a:txBody>
                  <a:tcPr marL="109728" marR="109728" marT="45720" marB="45720" anchor="ctr">
                    <a:lnL w="9525" cap="flat" cmpd="sng" algn="ctr">
                      <a:solidFill>
                        <a:srgbClr val="DADDE6"/>
                      </a:solidFill>
                      <a:prstDash val="solid"/>
                      <a:round/>
                      <a:headEnd type="none" w="med" len="med"/>
                      <a:tailEnd type="none" w="med" len="med"/>
                    </a:lnL>
                    <a:lnR w="9525" cap="flat" cmpd="sng" algn="ctr">
                      <a:solidFill>
                        <a:srgbClr val="DADDE6"/>
                      </a:solidFill>
                      <a:prstDash val="solid"/>
                      <a:round/>
                      <a:headEnd type="none" w="med" len="med"/>
                      <a:tailEnd type="none" w="med" len="med"/>
                    </a:lnR>
                    <a:lnT w="9525" cap="flat" cmpd="sng" algn="ctr">
                      <a:solidFill>
                        <a:srgbClr val="DADDE6"/>
                      </a:solidFill>
                      <a:prstDash val="solid"/>
                      <a:round/>
                      <a:headEnd type="none" w="med" len="med"/>
                      <a:tailEnd type="none" w="med" len="med"/>
                    </a:lnT>
                    <a:lnB w="9525" cap="flat" cmpd="sng" algn="ctr">
                      <a:solidFill>
                        <a:srgbClr val="DADDE6"/>
                      </a:solidFill>
                      <a:prstDash val="solid"/>
                      <a:round/>
                      <a:headEnd type="none" w="med" len="med"/>
                      <a:tailEnd type="none" w="med" len="med"/>
                    </a:lnB>
                    <a:solidFill>
                      <a:srgbClr val="D8F0ED"/>
                    </a:solidFill>
                  </a:tcPr>
                </a:tc>
              </a:tr>
            </a:tbl>
          </a:graphicData>
        </a:graphic>
      </p:graphicFrame>
      <p:sp>
        <p:nvSpPr>
          <p:cNvPr id="6" name="Shape 2"/>
          <p:cNvSpPr/>
          <p:nvPr/>
        </p:nvSpPr>
        <p:spPr>
          <a:xfrm>
            <a:off x="548640" y="5257800"/>
            <a:ext cx="11094415" cy="868680"/>
          </a:xfrm>
          <a:prstGeom prst="roundRect">
            <a:avLst>
              <a:gd name="adj" fmla="val 8421"/>
            </a:avLst>
          </a:prstGeom>
          <a:solidFill>
            <a:srgbClr val="F3F4F8"/>
          </a:solidFill>
          <a:ln/>
        </p:spPr>
      </p:sp>
      <p:sp>
        <p:nvSpPr>
          <p:cNvPr id="7" name="Shape 3"/>
          <p:cNvSpPr/>
          <p:nvPr/>
        </p:nvSpPr>
        <p:spPr>
          <a:xfrm>
            <a:off x="749808" y="5431536"/>
            <a:ext cx="521208" cy="521208"/>
          </a:xfrm>
          <a:prstGeom prst="ellipse">
            <a:avLst/>
          </a:prstGeom>
          <a:solidFill>
            <a:srgbClr val="2A9D8F"/>
          </a:solidFill>
          <a:ln/>
        </p:spPr>
      </p:sp>
      <p:pic>
        <p:nvPicPr>
          <p:cNvPr id="8" name="Image 0" descr="preencoded.png">    </p:cNvPr>
          <p:cNvPicPr>
            <a:picLocks noChangeAspect="1"/>
          </p:cNvPicPr>
          <p:nvPr/>
        </p:nvPicPr>
        <p:blipFill>
          <a:blip r:embed="rId1"/>
          <a:stretch>
            <a:fillRect/>
          </a:stretch>
        </p:blipFill>
        <p:spPr>
          <a:xfrm>
            <a:off x="864474" y="5546202"/>
            <a:ext cx="291876" cy="291876"/>
          </a:xfrm>
          <a:prstGeom prst="rect">
            <a:avLst/>
          </a:prstGeom>
        </p:spPr>
      </p:pic>
      <p:sp>
        <p:nvSpPr>
          <p:cNvPr id="9" name="Text 4"/>
          <p:cNvSpPr/>
          <p:nvPr/>
        </p:nvSpPr>
        <p:spPr>
          <a:xfrm>
            <a:off x="1463040" y="5257800"/>
            <a:ext cx="9997135" cy="868680"/>
          </a:xfrm>
          <a:prstGeom prst="rect">
            <a:avLst/>
          </a:prstGeom>
          <a:noFill/>
          <a:ln/>
        </p:spPr>
        <p:txBody>
          <a:bodyPr wrap="square" lIns="0" tIns="0" rIns="0" bIns="0" rtlCol="0" anchor="ctr"/>
          <a:lstStyle/>
          <a:p>
            <a:pPr indent="0" marL="0">
              <a:buNone/>
            </a:pPr>
            <a:r>
              <a:rPr lang="en-US" sz="1500" b="1" dirty="0">
                <a:solidFill>
                  <a:srgbClr val="22223B"/>
                </a:solidFill>
                <a:latin typeface="BIZ UDGothic" pitchFamily="34" charset="0"/>
                <a:ea typeface="BIZ UDGothic" pitchFamily="34" charset="-122"/>
                <a:cs typeface="BIZ UDGothic" pitchFamily="34" charset="-120"/>
              </a:rPr>
              <a:t>使い分けの例：入力が多い（数十個〜）→ Morris法で効かない入力をふるい落とす → 残った入力を Sobol法で定量化する</a:t>
            </a:r>
            <a:endParaRPr lang="en-US" sz="1500" dirty="0"/>
          </a:p>
        </p:txBody>
      </p:sp>
      <p:sp>
        <p:nvSpPr>
          <p:cNvPr id="10" name="Text 5"/>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11" name="Text 6"/>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274320"/>
            <a:ext cx="7315200" cy="274320"/>
          </a:xfrm>
          <a:prstGeom prst="rect">
            <a:avLst/>
          </a:prstGeom>
          <a:noFill/>
          <a:ln/>
        </p:spPr>
        <p:txBody>
          <a:bodyPr wrap="square" lIns="0" tIns="0" rIns="0" bIns="0" rtlCol="0" anchor="ctr"/>
          <a:lstStyle/>
          <a:p>
            <a:pPr indent="0" marL="0">
              <a:buNone/>
            </a:pPr>
            <a:r>
              <a:rPr lang="en-US" sz="1200" b="1" dirty="0">
                <a:solidFill>
                  <a:srgbClr val="6C6F7F"/>
                </a:solidFill>
                <a:latin typeface="BIZ UDGothic" pitchFamily="34" charset="0"/>
                <a:ea typeface="BIZ UDGothic" pitchFamily="34" charset="-122"/>
                <a:cs typeface="BIZ UDGothic" pitchFamily="34" charset="-120"/>
              </a:rPr>
              <a:t>04　実務で使うために</a:t>
            </a:r>
            <a:endParaRPr lang="en-US" sz="1200" dirty="0"/>
          </a:p>
        </p:txBody>
      </p:sp>
      <p:sp>
        <p:nvSpPr>
          <p:cNvPr id="4"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用語集</a:t>
            </a:r>
            <a:endParaRPr lang="en-US" sz="2800" dirty="0"/>
          </a:p>
        </p:txBody>
      </p:sp>
      <p:sp>
        <p:nvSpPr>
          <p:cNvPr id="5" name="Shape 2"/>
          <p:cNvSpPr/>
          <p:nvPr/>
        </p:nvSpPr>
        <p:spPr>
          <a:xfrm>
            <a:off x="548640" y="1417320"/>
            <a:ext cx="5410048" cy="822960"/>
          </a:xfrm>
          <a:prstGeom prst="roundRect">
            <a:avLst>
              <a:gd name="adj" fmla="val 8889"/>
            </a:avLst>
          </a:prstGeom>
          <a:solidFill>
            <a:srgbClr val="F3F4F8"/>
          </a:solidFill>
          <a:ln/>
        </p:spPr>
      </p:sp>
      <p:sp>
        <p:nvSpPr>
          <p:cNvPr id="6" name="Text 3"/>
          <p:cNvSpPr/>
          <p:nvPr/>
        </p:nvSpPr>
        <p:spPr>
          <a:xfrm>
            <a:off x="777240" y="1417320"/>
            <a:ext cx="2240280" cy="822960"/>
          </a:xfrm>
          <a:prstGeom prst="rect">
            <a:avLst/>
          </a:prstGeom>
          <a:noFill/>
          <a:ln/>
        </p:spPr>
        <p:txBody>
          <a:bodyPr wrap="square" lIns="0" tIns="0" rIns="0" bIns="0" rtlCol="0" anchor="ctr"/>
          <a:lstStyle/>
          <a:p>
            <a:pPr indent="0" marL="0">
              <a:buNone/>
            </a:pPr>
            <a:r>
              <a:rPr lang="en-US" sz="1400" b="1" dirty="0">
                <a:solidFill>
                  <a:srgbClr val="22223B"/>
                </a:solidFill>
                <a:latin typeface="BIZ UDGothic" pitchFamily="34" charset="0"/>
                <a:ea typeface="BIZ UDGothic" pitchFamily="34" charset="-122"/>
                <a:cs typeface="BIZ UDGothic" pitchFamily="34" charset="-120"/>
              </a:rPr>
              <a:t>グローバル感度解析</a:t>
            </a:r>
            <a:endParaRPr lang="en-US" sz="1400" dirty="0"/>
          </a:p>
        </p:txBody>
      </p:sp>
      <p:sp>
        <p:nvSpPr>
          <p:cNvPr id="7" name="Text 4"/>
          <p:cNvSpPr/>
          <p:nvPr/>
        </p:nvSpPr>
        <p:spPr>
          <a:xfrm>
            <a:off x="3108960" y="1417320"/>
            <a:ext cx="2666848" cy="822960"/>
          </a:xfrm>
          <a:prstGeom prst="rect">
            <a:avLst/>
          </a:prstGeom>
          <a:noFill/>
          <a:ln/>
        </p:spPr>
        <p:txBody>
          <a:bodyPr wrap="square" lIns="0" tIns="0" rIns="0" bIns="0" rtlCol="0" anchor="ctr"/>
          <a:lstStyle/>
          <a:p>
            <a:pPr indent="0" marL="0">
              <a:buNone/>
            </a:pPr>
            <a:r>
              <a:rPr lang="en-US" sz="1200" dirty="0">
                <a:solidFill>
                  <a:srgbClr val="4A4E69"/>
                </a:solidFill>
                <a:latin typeface="BIZ UDGothic" pitchFamily="34" charset="0"/>
                <a:ea typeface="BIZ UDGothic" pitchFamily="34" charset="-122"/>
                <a:cs typeface="BIZ UDGothic" pitchFamily="34" charset="-120"/>
              </a:rPr>
              <a:t>入力を取りうる範囲全体でばらつかせ、出力への影響を評価する方法</a:t>
            </a:r>
            <a:endParaRPr lang="en-US" sz="1200" dirty="0"/>
          </a:p>
        </p:txBody>
      </p:sp>
      <p:sp>
        <p:nvSpPr>
          <p:cNvPr id="8" name="Shape 5"/>
          <p:cNvSpPr/>
          <p:nvPr/>
        </p:nvSpPr>
        <p:spPr>
          <a:xfrm>
            <a:off x="6233008" y="1417320"/>
            <a:ext cx="5410048" cy="822960"/>
          </a:xfrm>
          <a:prstGeom prst="roundRect">
            <a:avLst>
              <a:gd name="adj" fmla="val 8889"/>
            </a:avLst>
          </a:prstGeom>
          <a:solidFill>
            <a:srgbClr val="FFFFFF"/>
          </a:solidFill>
          <a:ln w="9525">
            <a:solidFill>
              <a:srgbClr val="DADDE6"/>
            </a:solidFill>
            <a:prstDash val="solid"/>
          </a:ln>
        </p:spPr>
      </p:sp>
      <p:sp>
        <p:nvSpPr>
          <p:cNvPr id="9" name="Text 6"/>
          <p:cNvSpPr/>
          <p:nvPr/>
        </p:nvSpPr>
        <p:spPr>
          <a:xfrm>
            <a:off x="6461608" y="1417320"/>
            <a:ext cx="2240280" cy="822960"/>
          </a:xfrm>
          <a:prstGeom prst="rect">
            <a:avLst/>
          </a:prstGeom>
          <a:noFill/>
          <a:ln/>
        </p:spPr>
        <p:txBody>
          <a:bodyPr wrap="square" lIns="0" tIns="0" rIns="0" bIns="0" rtlCol="0" anchor="ctr"/>
          <a:lstStyle/>
          <a:p>
            <a:pPr indent="0" marL="0">
              <a:buNone/>
            </a:pPr>
            <a:r>
              <a:rPr lang="en-US" sz="1400" b="1" dirty="0">
                <a:solidFill>
                  <a:srgbClr val="22223B"/>
                </a:solidFill>
                <a:latin typeface="BIZ UDGothic" pitchFamily="34" charset="0"/>
                <a:ea typeface="BIZ UDGothic" pitchFamily="34" charset="-122"/>
                <a:cs typeface="BIZ UDGothic" pitchFamily="34" charset="-120"/>
              </a:rPr>
              <a:t>一次効果指数 </a:t>
            </a:r>
            <a:r>
              <a:rPr lang="en-US" sz="1600" b="1" i="1" dirty="0">
                <a:solidFill>
                  <a:srgbClr val="22223B"/>
                </a:solidFill>
                <a:latin typeface="Times New Roman" pitchFamily="34" charset="0"/>
                <a:ea typeface="Times New Roman" pitchFamily="34" charset="-122"/>
                <a:cs typeface="Times New Roman" pitchFamily="34" charset="-120"/>
              </a:rPr>
              <a:t>S</a:t>
            </a:r>
            <a:r>
              <a:rPr lang="en-US" sz="1600" b="1" i="1" baseline="-40000" dirty="0">
                <a:solidFill>
                  <a:srgbClr val="22223B"/>
                </a:solidFill>
                <a:latin typeface="Times New Roman" pitchFamily="34" charset="0"/>
                <a:ea typeface="Times New Roman" pitchFamily="34" charset="-122"/>
                <a:cs typeface="Times New Roman" pitchFamily="34" charset="-120"/>
              </a:rPr>
              <a:t>i</a:t>
            </a:r>
            <a:endParaRPr lang="en-US" sz="1400" dirty="0"/>
          </a:p>
        </p:txBody>
      </p:sp>
      <p:sp>
        <p:nvSpPr>
          <p:cNvPr id="10" name="Text 7"/>
          <p:cNvSpPr/>
          <p:nvPr/>
        </p:nvSpPr>
        <p:spPr>
          <a:xfrm>
            <a:off x="8793328" y="1417320"/>
            <a:ext cx="2666848" cy="822960"/>
          </a:xfrm>
          <a:prstGeom prst="rect">
            <a:avLst/>
          </a:prstGeom>
          <a:noFill/>
          <a:ln/>
        </p:spPr>
        <p:txBody>
          <a:bodyPr wrap="square" lIns="0" tIns="0" rIns="0" bIns="0" rtlCol="0" anchor="ctr"/>
          <a:lstStyle/>
          <a:p>
            <a:pPr indent="0" marL="0">
              <a:buNone/>
            </a:pPr>
            <a:r>
              <a:rPr lang="en-US" sz="1300" i="1" dirty="0">
                <a:solidFill>
                  <a:srgbClr val="4A4E69"/>
                </a:solidFill>
                <a:latin typeface="Times New Roman" pitchFamily="34" charset="0"/>
                <a:ea typeface="Times New Roman" pitchFamily="34" charset="-122"/>
                <a:cs typeface="Times New Roman" pitchFamily="34" charset="-120"/>
              </a:rPr>
              <a:t>X</a:t>
            </a:r>
            <a:r>
              <a:rPr lang="en-US" sz="1300" i="1" baseline="-40000" dirty="0">
                <a:solidFill>
                  <a:srgbClr val="4A4E69"/>
                </a:solidFill>
                <a:latin typeface="Times New Roman" pitchFamily="34" charset="0"/>
                <a:ea typeface="Times New Roman" pitchFamily="34" charset="-122"/>
                <a:cs typeface="Times New Roman" pitchFamily="34" charset="-120"/>
              </a:rPr>
              <a:t>i</a:t>
            </a:r>
            <a:r>
              <a:rPr lang="en-US" sz="1200" dirty="0">
                <a:solidFill>
                  <a:srgbClr val="4A4E69"/>
                </a:solidFill>
                <a:latin typeface="BIZ UDGothic" pitchFamily="34" charset="0"/>
                <a:ea typeface="BIZ UDGothic" pitchFamily="34" charset="-122"/>
                <a:cs typeface="BIZ UDGothic" pitchFamily="34" charset="-120"/>
              </a:rPr>
              <a:t> 単独で説明できる出力分散の割合（主効果）</a:t>
            </a:r>
            <a:endParaRPr lang="en-US" sz="1300" dirty="0"/>
          </a:p>
        </p:txBody>
      </p:sp>
      <p:sp>
        <p:nvSpPr>
          <p:cNvPr id="11" name="Shape 8"/>
          <p:cNvSpPr/>
          <p:nvPr/>
        </p:nvSpPr>
        <p:spPr>
          <a:xfrm>
            <a:off x="548640" y="2350008"/>
            <a:ext cx="5410048" cy="822960"/>
          </a:xfrm>
          <a:prstGeom prst="roundRect">
            <a:avLst>
              <a:gd name="adj" fmla="val 8889"/>
            </a:avLst>
          </a:prstGeom>
          <a:solidFill>
            <a:srgbClr val="FFFFFF"/>
          </a:solidFill>
          <a:ln w="9525">
            <a:solidFill>
              <a:srgbClr val="DADDE6"/>
            </a:solidFill>
            <a:prstDash val="solid"/>
          </a:ln>
        </p:spPr>
      </p:sp>
      <p:sp>
        <p:nvSpPr>
          <p:cNvPr id="12" name="Text 9"/>
          <p:cNvSpPr/>
          <p:nvPr/>
        </p:nvSpPr>
        <p:spPr>
          <a:xfrm>
            <a:off x="777240" y="2350008"/>
            <a:ext cx="2240280" cy="822960"/>
          </a:xfrm>
          <a:prstGeom prst="rect">
            <a:avLst/>
          </a:prstGeom>
          <a:noFill/>
          <a:ln/>
        </p:spPr>
        <p:txBody>
          <a:bodyPr wrap="square" lIns="0" tIns="0" rIns="0" bIns="0" rtlCol="0" anchor="ctr"/>
          <a:lstStyle/>
          <a:p>
            <a:pPr indent="0" marL="0">
              <a:buNone/>
            </a:pPr>
            <a:r>
              <a:rPr lang="en-US" sz="1400" b="1" dirty="0">
                <a:solidFill>
                  <a:srgbClr val="22223B"/>
                </a:solidFill>
                <a:latin typeface="BIZ UDGothic" pitchFamily="34" charset="0"/>
                <a:ea typeface="BIZ UDGothic" pitchFamily="34" charset="-122"/>
                <a:cs typeface="BIZ UDGothic" pitchFamily="34" charset="-120"/>
              </a:rPr>
              <a:t>総合効果指数 </a:t>
            </a:r>
            <a:r>
              <a:rPr lang="en-US" sz="1600" b="1" i="1" dirty="0">
                <a:solidFill>
                  <a:srgbClr val="22223B"/>
                </a:solidFill>
                <a:latin typeface="Times New Roman" pitchFamily="34" charset="0"/>
                <a:ea typeface="Times New Roman" pitchFamily="34" charset="-122"/>
                <a:cs typeface="Times New Roman" pitchFamily="34" charset="-120"/>
              </a:rPr>
              <a:t>S</a:t>
            </a:r>
            <a:r>
              <a:rPr lang="en-US" sz="1600" b="1" i="1" baseline="-40000" dirty="0">
                <a:solidFill>
                  <a:srgbClr val="22223B"/>
                </a:solidFill>
                <a:latin typeface="Times New Roman" pitchFamily="34" charset="0"/>
                <a:ea typeface="Times New Roman" pitchFamily="34" charset="-122"/>
                <a:cs typeface="Times New Roman" pitchFamily="34" charset="-120"/>
              </a:rPr>
              <a:t>Ti</a:t>
            </a:r>
            <a:endParaRPr lang="en-US" sz="1400" dirty="0"/>
          </a:p>
        </p:txBody>
      </p:sp>
      <p:sp>
        <p:nvSpPr>
          <p:cNvPr id="13" name="Text 10"/>
          <p:cNvSpPr/>
          <p:nvPr/>
        </p:nvSpPr>
        <p:spPr>
          <a:xfrm>
            <a:off x="3108960" y="2350008"/>
            <a:ext cx="2666848" cy="822960"/>
          </a:xfrm>
          <a:prstGeom prst="rect">
            <a:avLst/>
          </a:prstGeom>
          <a:noFill/>
          <a:ln/>
        </p:spPr>
        <p:txBody>
          <a:bodyPr wrap="square" lIns="0" tIns="0" rIns="0" bIns="0" rtlCol="0" anchor="ctr"/>
          <a:lstStyle/>
          <a:p>
            <a:pPr indent="0" marL="0">
              <a:buNone/>
            </a:pPr>
            <a:r>
              <a:rPr lang="en-US" sz="1300" i="1" dirty="0">
                <a:solidFill>
                  <a:srgbClr val="4A4E69"/>
                </a:solidFill>
                <a:latin typeface="Times New Roman" pitchFamily="34" charset="0"/>
                <a:ea typeface="Times New Roman" pitchFamily="34" charset="-122"/>
                <a:cs typeface="Times New Roman" pitchFamily="34" charset="-120"/>
              </a:rPr>
              <a:t>X</a:t>
            </a:r>
            <a:r>
              <a:rPr lang="en-US" sz="1300" i="1" baseline="-40000" dirty="0">
                <a:solidFill>
                  <a:srgbClr val="4A4E69"/>
                </a:solidFill>
                <a:latin typeface="Times New Roman" pitchFamily="34" charset="0"/>
                <a:ea typeface="Times New Roman" pitchFamily="34" charset="-122"/>
                <a:cs typeface="Times New Roman" pitchFamily="34" charset="-120"/>
              </a:rPr>
              <a:t>i</a:t>
            </a:r>
            <a:r>
              <a:rPr lang="en-US" sz="1200" dirty="0">
                <a:solidFill>
                  <a:srgbClr val="4A4E69"/>
                </a:solidFill>
                <a:latin typeface="BIZ UDGothic" pitchFamily="34" charset="0"/>
                <a:ea typeface="BIZ UDGothic" pitchFamily="34" charset="-122"/>
                <a:cs typeface="BIZ UDGothic" pitchFamily="34" charset="-120"/>
              </a:rPr>
              <a:t> が関わるすべての項（交互作用を含む）の分散の割合</a:t>
            </a:r>
            <a:endParaRPr lang="en-US" sz="1300" dirty="0"/>
          </a:p>
        </p:txBody>
      </p:sp>
      <p:sp>
        <p:nvSpPr>
          <p:cNvPr id="14" name="Shape 11"/>
          <p:cNvSpPr/>
          <p:nvPr/>
        </p:nvSpPr>
        <p:spPr>
          <a:xfrm>
            <a:off x="6233008" y="2350008"/>
            <a:ext cx="5410048" cy="822960"/>
          </a:xfrm>
          <a:prstGeom prst="roundRect">
            <a:avLst>
              <a:gd name="adj" fmla="val 8889"/>
            </a:avLst>
          </a:prstGeom>
          <a:solidFill>
            <a:srgbClr val="F3F4F8"/>
          </a:solidFill>
          <a:ln/>
        </p:spPr>
      </p:sp>
      <p:sp>
        <p:nvSpPr>
          <p:cNvPr id="15" name="Text 12"/>
          <p:cNvSpPr/>
          <p:nvPr/>
        </p:nvSpPr>
        <p:spPr>
          <a:xfrm>
            <a:off x="6461608" y="2350008"/>
            <a:ext cx="2240280" cy="822960"/>
          </a:xfrm>
          <a:prstGeom prst="rect">
            <a:avLst/>
          </a:prstGeom>
          <a:noFill/>
          <a:ln/>
        </p:spPr>
        <p:txBody>
          <a:bodyPr wrap="square" lIns="0" tIns="0" rIns="0" bIns="0" rtlCol="0" anchor="ctr"/>
          <a:lstStyle/>
          <a:p>
            <a:pPr indent="0" marL="0">
              <a:buNone/>
            </a:pPr>
            <a:r>
              <a:rPr lang="en-US" sz="1400" b="1" dirty="0">
                <a:solidFill>
                  <a:srgbClr val="22223B"/>
                </a:solidFill>
                <a:latin typeface="BIZ UDGothic" pitchFamily="34" charset="0"/>
                <a:ea typeface="BIZ UDGothic" pitchFamily="34" charset="-122"/>
                <a:cs typeface="BIZ UDGothic" pitchFamily="34" charset="-120"/>
              </a:rPr>
              <a:t>交互作用</a:t>
            </a:r>
            <a:endParaRPr lang="en-US" sz="1400" dirty="0"/>
          </a:p>
        </p:txBody>
      </p:sp>
      <p:sp>
        <p:nvSpPr>
          <p:cNvPr id="16" name="Text 13"/>
          <p:cNvSpPr/>
          <p:nvPr/>
        </p:nvSpPr>
        <p:spPr>
          <a:xfrm>
            <a:off x="8793328" y="2350008"/>
            <a:ext cx="2666848" cy="822960"/>
          </a:xfrm>
          <a:prstGeom prst="rect">
            <a:avLst/>
          </a:prstGeom>
          <a:noFill/>
          <a:ln/>
        </p:spPr>
        <p:txBody>
          <a:bodyPr wrap="square" lIns="0" tIns="0" rIns="0" bIns="0" rtlCol="0" anchor="ctr"/>
          <a:lstStyle/>
          <a:p>
            <a:pPr indent="0" marL="0">
              <a:buNone/>
            </a:pPr>
            <a:r>
              <a:rPr lang="en-US" sz="1200" dirty="0">
                <a:solidFill>
                  <a:srgbClr val="4A4E69"/>
                </a:solidFill>
                <a:latin typeface="BIZ UDGothic" pitchFamily="34" charset="0"/>
                <a:ea typeface="BIZ UDGothic" pitchFamily="34" charset="-122"/>
                <a:cs typeface="BIZ UDGothic" pitchFamily="34" charset="-120"/>
              </a:rPr>
              <a:t>複数の入力を組み合わせたときに初めて現れる効果</a:t>
            </a:r>
            <a:endParaRPr lang="en-US" sz="1200" dirty="0"/>
          </a:p>
        </p:txBody>
      </p:sp>
      <p:sp>
        <p:nvSpPr>
          <p:cNvPr id="17" name="Shape 14"/>
          <p:cNvSpPr/>
          <p:nvPr/>
        </p:nvSpPr>
        <p:spPr>
          <a:xfrm>
            <a:off x="548640" y="3282696"/>
            <a:ext cx="5410048" cy="822960"/>
          </a:xfrm>
          <a:prstGeom prst="roundRect">
            <a:avLst>
              <a:gd name="adj" fmla="val 8889"/>
            </a:avLst>
          </a:prstGeom>
          <a:solidFill>
            <a:srgbClr val="F3F4F8"/>
          </a:solidFill>
          <a:ln/>
        </p:spPr>
      </p:sp>
      <p:sp>
        <p:nvSpPr>
          <p:cNvPr id="18" name="Text 15"/>
          <p:cNvSpPr/>
          <p:nvPr/>
        </p:nvSpPr>
        <p:spPr>
          <a:xfrm>
            <a:off x="777240" y="3282696"/>
            <a:ext cx="2240280" cy="822960"/>
          </a:xfrm>
          <a:prstGeom prst="rect">
            <a:avLst/>
          </a:prstGeom>
          <a:noFill/>
          <a:ln/>
        </p:spPr>
        <p:txBody>
          <a:bodyPr wrap="square" lIns="0" tIns="0" rIns="0" bIns="0" rtlCol="0" anchor="ctr"/>
          <a:lstStyle/>
          <a:p>
            <a:pPr indent="0" marL="0">
              <a:buNone/>
            </a:pPr>
            <a:r>
              <a:rPr lang="en-US" sz="1400" b="1" dirty="0">
                <a:solidFill>
                  <a:srgbClr val="22223B"/>
                </a:solidFill>
                <a:latin typeface="BIZ UDGothic" pitchFamily="34" charset="0"/>
                <a:ea typeface="BIZ UDGothic" pitchFamily="34" charset="-122"/>
                <a:cs typeface="BIZ UDGothic" pitchFamily="34" charset="-120"/>
              </a:rPr>
              <a:t>ANOVA分解</a:t>
            </a:r>
            <a:endParaRPr lang="en-US" sz="1400" dirty="0"/>
          </a:p>
        </p:txBody>
      </p:sp>
      <p:sp>
        <p:nvSpPr>
          <p:cNvPr id="19" name="Text 16"/>
          <p:cNvSpPr/>
          <p:nvPr/>
        </p:nvSpPr>
        <p:spPr>
          <a:xfrm>
            <a:off x="3108960" y="3282696"/>
            <a:ext cx="2666848" cy="822960"/>
          </a:xfrm>
          <a:prstGeom prst="rect">
            <a:avLst/>
          </a:prstGeom>
          <a:noFill/>
          <a:ln/>
        </p:spPr>
        <p:txBody>
          <a:bodyPr wrap="square" lIns="0" tIns="0" rIns="0" bIns="0" rtlCol="0" anchor="ctr"/>
          <a:lstStyle/>
          <a:p>
            <a:pPr indent="0" marL="0">
              <a:buNone/>
            </a:pPr>
            <a:r>
              <a:rPr lang="en-US" sz="1200" dirty="0">
                <a:solidFill>
                  <a:srgbClr val="4A4E69"/>
                </a:solidFill>
                <a:latin typeface="BIZ UDGothic" pitchFamily="34" charset="0"/>
                <a:ea typeface="BIZ UDGothic" pitchFamily="34" charset="-122"/>
                <a:cs typeface="BIZ UDGothic" pitchFamily="34" charset="-120"/>
              </a:rPr>
              <a:t>モデルを定数項・主効果項・交互作用項の和に分けること</a:t>
            </a:r>
            <a:endParaRPr lang="en-US" sz="1200" dirty="0"/>
          </a:p>
        </p:txBody>
      </p:sp>
      <p:sp>
        <p:nvSpPr>
          <p:cNvPr id="20" name="Shape 17"/>
          <p:cNvSpPr/>
          <p:nvPr/>
        </p:nvSpPr>
        <p:spPr>
          <a:xfrm>
            <a:off x="6233008" y="3282696"/>
            <a:ext cx="5410048" cy="822960"/>
          </a:xfrm>
          <a:prstGeom prst="roundRect">
            <a:avLst>
              <a:gd name="adj" fmla="val 8889"/>
            </a:avLst>
          </a:prstGeom>
          <a:solidFill>
            <a:srgbClr val="FFFFFF"/>
          </a:solidFill>
          <a:ln w="9525">
            <a:solidFill>
              <a:srgbClr val="DADDE6"/>
            </a:solidFill>
            <a:prstDash val="solid"/>
          </a:ln>
        </p:spPr>
      </p:sp>
      <p:sp>
        <p:nvSpPr>
          <p:cNvPr id="21" name="Text 18"/>
          <p:cNvSpPr/>
          <p:nvPr/>
        </p:nvSpPr>
        <p:spPr>
          <a:xfrm>
            <a:off x="6461608" y="3282696"/>
            <a:ext cx="2240280" cy="822960"/>
          </a:xfrm>
          <a:prstGeom prst="rect">
            <a:avLst/>
          </a:prstGeom>
          <a:noFill/>
          <a:ln/>
        </p:spPr>
        <p:txBody>
          <a:bodyPr wrap="square" lIns="0" tIns="0" rIns="0" bIns="0" rtlCol="0" anchor="ctr"/>
          <a:lstStyle/>
          <a:p>
            <a:pPr indent="0" marL="0">
              <a:buNone/>
            </a:pPr>
            <a:r>
              <a:rPr lang="en-US" sz="1400" b="1" dirty="0">
                <a:solidFill>
                  <a:srgbClr val="22223B"/>
                </a:solidFill>
                <a:latin typeface="BIZ UDGothic" pitchFamily="34" charset="0"/>
                <a:ea typeface="BIZ UDGothic" pitchFamily="34" charset="-122"/>
                <a:cs typeface="BIZ UDGothic" pitchFamily="34" charset="-120"/>
              </a:rPr>
              <a:t>条件付き期待値 </a:t>
            </a:r>
            <a:r>
              <a:rPr lang="en-US" sz="1600" b="1" i="1" dirty="0">
                <a:solidFill>
                  <a:srgbClr val="22223B"/>
                </a:solidFill>
                <a:latin typeface="Times New Roman" pitchFamily="34" charset="0"/>
                <a:ea typeface="Times New Roman" pitchFamily="34" charset="-122"/>
                <a:cs typeface="Times New Roman" pitchFamily="34" charset="-120"/>
              </a:rPr>
              <a:t>E(Y|X</a:t>
            </a:r>
            <a:r>
              <a:rPr lang="en-US" sz="1600" b="1" i="1" baseline="-40000" dirty="0">
                <a:solidFill>
                  <a:srgbClr val="22223B"/>
                </a:solidFill>
                <a:latin typeface="Times New Roman" pitchFamily="34" charset="0"/>
                <a:ea typeface="Times New Roman" pitchFamily="34" charset="-122"/>
                <a:cs typeface="Times New Roman" pitchFamily="34" charset="-120"/>
              </a:rPr>
              <a:t>i</a:t>
            </a:r>
            <a:r>
              <a:rPr lang="en-US" sz="1600" b="1" i="1" dirty="0">
                <a:solidFill>
                  <a:srgbClr val="22223B"/>
                </a:solidFill>
                <a:latin typeface="Times New Roman" pitchFamily="34" charset="0"/>
                <a:ea typeface="Times New Roman" pitchFamily="34" charset="-122"/>
                <a:cs typeface="Times New Roman" pitchFamily="34" charset="-120"/>
              </a:rPr>
              <a:t>)</a:t>
            </a:r>
            <a:endParaRPr lang="en-US" sz="1400" dirty="0"/>
          </a:p>
        </p:txBody>
      </p:sp>
      <p:sp>
        <p:nvSpPr>
          <p:cNvPr id="22" name="Text 19"/>
          <p:cNvSpPr/>
          <p:nvPr/>
        </p:nvSpPr>
        <p:spPr>
          <a:xfrm>
            <a:off x="8793328" y="3282696"/>
            <a:ext cx="2666848" cy="822960"/>
          </a:xfrm>
          <a:prstGeom prst="rect">
            <a:avLst/>
          </a:prstGeom>
          <a:noFill/>
          <a:ln/>
        </p:spPr>
        <p:txBody>
          <a:bodyPr wrap="square" lIns="0" tIns="0" rIns="0" bIns="0" rtlCol="0" anchor="ctr"/>
          <a:lstStyle/>
          <a:p>
            <a:pPr indent="0" marL="0">
              <a:buNone/>
            </a:pPr>
            <a:r>
              <a:rPr lang="en-US" sz="1300" i="1" dirty="0">
                <a:solidFill>
                  <a:srgbClr val="4A4E69"/>
                </a:solidFill>
                <a:latin typeface="Times New Roman" pitchFamily="34" charset="0"/>
                <a:ea typeface="Times New Roman" pitchFamily="34" charset="-122"/>
                <a:cs typeface="Times New Roman" pitchFamily="34" charset="-120"/>
              </a:rPr>
              <a:t>X</a:t>
            </a:r>
            <a:r>
              <a:rPr lang="en-US" sz="1300" i="1" baseline="-40000" dirty="0">
                <a:solidFill>
                  <a:srgbClr val="4A4E69"/>
                </a:solidFill>
                <a:latin typeface="Times New Roman" pitchFamily="34" charset="0"/>
                <a:ea typeface="Times New Roman" pitchFamily="34" charset="-122"/>
                <a:cs typeface="Times New Roman" pitchFamily="34" charset="-120"/>
              </a:rPr>
              <a:t>i</a:t>
            </a:r>
            <a:r>
              <a:rPr lang="en-US" sz="1200" dirty="0">
                <a:solidFill>
                  <a:srgbClr val="4A4E69"/>
                </a:solidFill>
                <a:latin typeface="BIZ UDGothic" pitchFamily="34" charset="0"/>
                <a:ea typeface="BIZ UDGothic" pitchFamily="34" charset="-122"/>
                <a:cs typeface="BIZ UDGothic" pitchFamily="34" charset="-120"/>
              </a:rPr>
              <a:t> を固定し、他の入力をばらつかせたときの </a:t>
            </a:r>
            <a:r>
              <a:rPr lang="en-US" sz="1300" i="1" dirty="0">
                <a:solidFill>
                  <a:srgbClr val="4A4E69"/>
                </a:solidFill>
                <a:latin typeface="Times New Roman" pitchFamily="34" charset="0"/>
                <a:ea typeface="Times New Roman" pitchFamily="34" charset="-122"/>
                <a:cs typeface="Times New Roman" pitchFamily="34" charset="-120"/>
              </a:rPr>
              <a:t>Y</a:t>
            </a:r>
            <a:r>
              <a:rPr lang="en-US" sz="1200" dirty="0">
                <a:solidFill>
                  <a:srgbClr val="4A4E69"/>
                </a:solidFill>
                <a:latin typeface="BIZ UDGothic" pitchFamily="34" charset="0"/>
                <a:ea typeface="BIZ UDGothic" pitchFamily="34" charset="-122"/>
                <a:cs typeface="BIZ UDGothic" pitchFamily="34" charset="-120"/>
              </a:rPr>
              <a:t> の平均</a:t>
            </a:r>
            <a:endParaRPr lang="en-US" sz="1300" dirty="0"/>
          </a:p>
        </p:txBody>
      </p:sp>
      <p:sp>
        <p:nvSpPr>
          <p:cNvPr id="23" name="Shape 20"/>
          <p:cNvSpPr/>
          <p:nvPr/>
        </p:nvSpPr>
        <p:spPr>
          <a:xfrm>
            <a:off x="548640" y="4215384"/>
            <a:ext cx="5410048" cy="822960"/>
          </a:xfrm>
          <a:prstGeom prst="roundRect">
            <a:avLst>
              <a:gd name="adj" fmla="val 8889"/>
            </a:avLst>
          </a:prstGeom>
          <a:solidFill>
            <a:srgbClr val="FFFFFF"/>
          </a:solidFill>
          <a:ln w="9525">
            <a:solidFill>
              <a:srgbClr val="DADDE6"/>
            </a:solidFill>
            <a:prstDash val="solid"/>
          </a:ln>
        </p:spPr>
      </p:sp>
      <p:sp>
        <p:nvSpPr>
          <p:cNvPr id="24" name="Text 21"/>
          <p:cNvSpPr/>
          <p:nvPr/>
        </p:nvSpPr>
        <p:spPr>
          <a:xfrm>
            <a:off x="777240" y="4215384"/>
            <a:ext cx="2240280" cy="822960"/>
          </a:xfrm>
          <a:prstGeom prst="rect">
            <a:avLst/>
          </a:prstGeom>
          <a:noFill/>
          <a:ln/>
        </p:spPr>
        <p:txBody>
          <a:bodyPr wrap="square" lIns="0" tIns="0" rIns="0" bIns="0" rtlCol="0" anchor="ctr"/>
          <a:lstStyle/>
          <a:p>
            <a:pPr indent="0" marL="0">
              <a:buNone/>
            </a:pPr>
            <a:r>
              <a:rPr lang="en-US" sz="1400" b="1" dirty="0">
                <a:solidFill>
                  <a:srgbClr val="22223B"/>
                </a:solidFill>
                <a:latin typeface="BIZ UDGothic" pitchFamily="34" charset="0"/>
                <a:ea typeface="BIZ UDGothic" pitchFamily="34" charset="-122"/>
                <a:cs typeface="BIZ UDGothic" pitchFamily="34" charset="-120"/>
              </a:rPr>
              <a:t>Saltelliサンプリング</a:t>
            </a:r>
            <a:endParaRPr lang="en-US" sz="1400" dirty="0"/>
          </a:p>
        </p:txBody>
      </p:sp>
      <p:sp>
        <p:nvSpPr>
          <p:cNvPr id="25" name="Text 22"/>
          <p:cNvSpPr/>
          <p:nvPr/>
        </p:nvSpPr>
        <p:spPr>
          <a:xfrm>
            <a:off x="3108960" y="4215384"/>
            <a:ext cx="2666848" cy="822960"/>
          </a:xfrm>
          <a:prstGeom prst="rect">
            <a:avLst/>
          </a:prstGeom>
          <a:noFill/>
          <a:ln/>
        </p:spPr>
        <p:txBody>
          <a:bodyPr wrap="square" lIns="0" tIns="0" rIns="0" bIns="0" rtlCol="0" anchor="ctr"/>
          <a:lstStyle/>
          <a:p>
            <a:pPr indent="0" marL="0">
              <a:buNone/>
            </a:pPr>
            <a:r>
              <a:rPr lang="en-US" sz="1200" dirty="0">
                <a:solidFill>
                  <a:srgbClr val="4A4E69"/>
                </a:solidFill>
                <a:latin typeface="BIZ UDGothic" pitchFamily="34" charset="0"/>
                <a:ea typeface="BIZ UDGothic" pitchFamily="34" charset="-122"/>
                <a:cs typeface="BIZ UDGothic" pitchFamily="34" charset="-120"/>
              </a:rPr>
              <a:t>行列 </a:t>
            </a:r>
            <a:r>
              <a:rPr lang="en-US" sz="1300" i="1" dirty="0">
                <a:solidFill>
                  <a:srgbClr val="4A4E69"/>
                </a:solidFill>
                <a:latin typeface="Times New Roman" pitchFamily="34" charset="0"/>
                <a:ea typeface="Times New Roman" pitchFamily="34" charset="-122"/>
                <a:cs typeface="Times New Roman" pitchFamily="34" charset="-120"/>
              </a:rPr>
              <a:t>A</a:t>
            </a:r>
            <a:r>
              <a:rPr lang="en-US" sz="1200" dirty="0">
                <a:solidFill>
                  <a:srgbClr val="4A4E69"/>
                </a:solidFill>
                <a:latin typeface="BIZ UDGothic" pitchFamily="34" charset="0"/>
                <a:ea typeface="BIZ UDGothic" pitchFamily="34" charset="-122"/>
                <a:cs typeface="BIZ UDGothic" pitchFamily="34" charset="-120"/>
              </a:rPr>
              <a:t>、</a:t>
            </a:r>
            <a:r>
              <a:rPr lang="en-US" sz="1300" i="1" dirty="0">
                <a:solidFill>
                  <a:srgbClr val="4A4E69"/>
                </a:solidFill>
                <a:latin typeface="Times New Roman" pitchFamily="34" charset="0"/>
                <a:ea typeface="Times New Roman" pitchFamily="34" charset="-122"/>
                <a:cs typeface="Times New Roman" pitchFamily="34" charset="-120"/>
              </a:rPr>
              <a:t>B</a:t>
            </a:r>
            <a:r>
              <a:rPr lang="en-US" sz="1200" dirty="0">
                <a:solidFill>
                  <a:srgbClr val="4A4E69"/>
                </a:solidFill>
                <a:latin typeface="BIZ UDGothic" pitchFamily="34" charset="0"/>
                <a:ea typeface="BIZ UDGothic" pitchFamily="34" charset="-122"/>
                <a:cs typeface="BIZ UDGothic" pitchFamily="34" charset="-120"/>
              </a:rPr>
              <a:t>、</a:t>
            </a:r>
            <a:r>
              <a:rPr lang="en-US" sz="1300" i="1" dirty="0">
                <a:solidFill>
                  <a:srgbClr val="4A4E69"/>
                </a:solidFill>
                <a:latin typeface="Times New Roman" pitchFamily="34" charset="0"/>
                <a:ea typeface="Times New Roman" pitchFamily="34" charset="-122"/>
                <a:cs typeface="Times New Roman" pitchFamily="34" charset="-120"/>
              </a:rPr>
              <a:t>A</a:t>
            </a:r>
            <a:r>
              <a:rPr lang="en-US" sz="1300" i="1" baseline="-40000" dirty="0">
                <a:solidFill>
                  <a:srgbClr val="4A4E69"/>
                </a:solidFill>
                <a:latin typeface="Times New Roman" pitchFamily="34" charset="0"/>
                <a:ea typeface="Times New Roman" pitchFamily="34" charset="-122"/>
                <a:cs typeface="Times New Roman" pitchFamily="34" charset="-120"/>
              </a:rPr>
              <a:t>B</a:t>
            </a:r>
            <a:r>
              <a:rPr lang="en-US" sz="1300" i="1" baseline="30000" dirty="0">
                <a:solidFill>
                  <a:srgbClr val="4A4E69"/>
                </a:solidFill>
                <a:latin typeface="Times New Roman" pitchFamily="34" charset="0"/>
                <a:ea typeface="Times New Roman" pitchFamily="34" charset="-122"/>
                <a:cs typeface="Times New Roman" pitchFamily="34" charset="-120"/>
              </a:rPr>
              <a:t>(i)</a:t>
            </a:r>
            <a:r>
              <a:rPr lang="en-US" sz="1200" dirty="0">
                <a:solidFill>
                  <a:srgbClr val="4A4E69"/>
                </a:solidFill>
                <a:latin typeface="BIZ UDGothic" pitchFamily="34" charset="0"/>
                <a:ea typeface="BIZ UDGothic" pitchFamily="34" charset="-122"/>
                <a:cs typeface="BIZ UDGothic" pitchFamily="34" charset="-120"/>
              </a:rPr>
              <a:t> を使う、Sobol指数推定用のサンプル設計</a:t>
            </a:r>
            <a:endParaRPr lang="en-US" sz="1200" dirty="0"/>
          </a:p>
        </p:txBody>
      </p:sp>
      <p:sp>
        <p:nvSpPr>
          <p:cNvPr id="26" name="Shape 23"/>
          <p:cNvSpPr/>
          <p:nvPr/>
        </p:nvSpPr>
        <p:spPr>
          <a:xfrm>
            <a:off x="6233008" y="4215384"/>
            <a:ext cx="5410048" cy="822960"/>
          </a:xfrm>
          <a:prstGeom prst="roundRect">
            <a:avLst>
              <a:gd name="adj" fmla="val 8889"/>
            </a:avLst>
          </a:prstGeom>
          <a:solidFill>
            <a:srgbClr val="F3F4F8"/>
          </a:solidFill>
          <a:ln/>
        </p:spPr>
      </p:sp>
      <p:sp>
        <p:nvSpPr>
          <p:cNvPr id="27" name="Text 24"/>
          <p:cNvSpPr/>
          <p:nvPr/>
        </p:nvSpPr>
        <p:spPr>
          <a:xfrm>
            <a:off x="6461608" y="4215384"/>
            <a:ext cx="2240280" cy="822960"/>
          </a:xfrm>
          <a:prstGeom prst="rect">
            <a:avLst/>
          </a:prstGeom>
          <a:noFill/>
          <a:ln/>
        </p:spPr>
        <p:txBody>
          <a:bodyPr wrap="square" lIns="0" tIns="0" rIns="0" bIns="0" rtlCol="0" anchor="ctr"/>
          <a:lstStyle/>
          <a:p>
            <a:pPr indent="0" marL="0">
              <a:buNone/>
            </a:pPr>
            <a:r>
              <a:rPr lang="en-US" sz="1400" b="1" dirty="0">
                <a:solidFill>
                  <a:srgbClr val="22223B"/>
                </a:solidFill>
                <a:latin typeface="BIZ UDGothic" pitchFamily="34" charset="0"/>
                <a:ea typeface="BIZ UDGothic" pitchFamily="34" charset="-122"/>
                <a:cs typeface="BIZ UDGothic" pitchFamily="34" charset="-120"/>
              </a:rPr>
              <a:t>Sobol列（準乱数）</a:t>
            </a:r>
            <a:endParaRPr lang="en-US" sz="1400" dirty="0"/>
          </a:p>
        </p:txBody>
      </p:sp>
      <p:sp>
        <p:nvSpPr>
          <p:cNvPr id="28" name="Text 25"/>
          <p:cNvSpPr/>
          <p:nvPr/>
        </p:nvSpPr>
        <p:spPr>
          <a:xfrm>
            <a:off x="8793328" y="4215384"/>
            <a:ext cx="2666848" cy="822960"/>
          </a:xfrm>
          <a:prstGeom prst="rect">
            <a:avLst/>
          </a:prstGeom>
          <a:noFill/>
          <a:ln/>
        </p:spPr>
        <p:txBody>
          <a:bodyPr wrap="square" lIns="0" tIns="0" rIns="0" bIns="0" rtlCol="0" anchor="ctr"/>
          <a:lstStyle/>
          <a:p>
            <a:pPr indent="0" marL="0">
              <a:buNone/>
            </a:pPr>
            <a:r>
              <a:rPr lang="en-US" sz="1200" dirty="0">
                <a:solidFill>
                  <a:srgbClr val="4A4E69"/>
                </a:solidFill>
                <a:latin typeface="BIZ UDGothic" pitchFamily="34" charset="0"/>
                <a:ea typeface="BIZ UDGothic" pitchFamily="34" charset="-122"/>
                <a:cs typeface="BIZ UDGothic" pitchFamily="34" charset="-120"/>
              </a:rPr>
              <a:t>空間を均一に埋める点列。Sobol指数とは別のもの</a:t>
            </a:r>
            <a:endParaRPr lang="en-US" sz="1200" dirty="0"/>
          </a:p>
        </p:txBody>
      </p:sp>
      <p:sp>
        <p:nvSpPr>
          <p:cNvPr id="29" name="Shape 26"/>
          <p:cNvSpPr/>
          <p:nvPr/>
        </p:nvSpPr>
        <p:spPr>
          <a:xfrm>
            <a:off x="548640" y="5148072"/>
            <a:ext cx="5410048" cy="822960"/>
          </a:xfrm>
          <a:prstGeom prst="roundRect">
            <a:avLst>
              <a:gd name="adj" fmla="val 8889"/>
            </a:avLst>
          </a:prstGeom>
          <a:solidFill>
            <a:srgbClr val="F3F4F8"/>
          </a:solidFill>
          <a:ln/>
        </p:spPr>
      </p:sp>
      <p:sp>
        <p:nvSpPr>
          <p:cNvPr id="30" name="Text 27"/>
          <p:cNvSpPr/>
          <p:nvPr/>
        </p:nvSpPr>
        <p:spPr>
          <a:xfrm>
            <a:off x="777240" y="5148072"/>
            <a:ext cx="2240280" cy="822960"/>
          </a:xfrm>
          <a:prstGeom prst="rect">
            <a:avLst/>
          </a:prstGeom>
          <a:noFill/>
          <a:ln/>
        </p:spPr>
        <p:txBody>
          <a:bodyPr wrap="square" lIns="0" tIns="0" rIns="0" bIns="0" rtlCol="0" anchor="ctr"/>
          <a:lstStyle/>
          <a:p>
            <a:pPr indent="0" marL="0">
              <a:buNone/>
            </a:pPr>
            <a:r>
              <a:rPr lang="en-US" sz="1400" b="1" dirty="0">
                <a:solidFill>
                  <a:srgbClr val="22223B"/>
                </a:solidFill>
                <a:latin typeface="BIZ UDGothic" pitchFamily="34" charset="0"/>
                <a:ea typeface="BIZ UDGothic" pitchFamily="34" charset="-122"/>
                <a:cs typeface="BIZ UDGothic" pitchFamily="34" charset="-120"/>
              </a:rPr>
              <a:t>代理モデル</a:t>
            </a:r>
            <a:endParaRPr lang="en-US" sz="1400" dirty="0"/>
          </a:p>
        </p:txBody>
      </p:sp>
      <p:sp>
        <p:nvSpPr>
          <p:cNvPr id="31" name="Text 28"/>
          <p:cNvSpPr/>
          <p:nvPr/>
        </p:nvSpPr>
        <p:spPr>
          <a:xfrm>
            <a:off x="3108960" y="5148072"/>
            <a:ext cx="2666848" cy="822960"/>
          </a:xfrm>
          <a:prstGeom prst="rect">
            <a:avLst/>
          </a:prstGeom>
          <a:noFill/>
          <a:ln/>
        </p:spPr>
        <p:txBody>
          <a:bodyPr wrap="square" lIns="0" tIns="0" rIns="0" bIns="0" rtlCol="0" anchor="ctr"/>
          <a:lstStyle/>
          <a:p>
            <a:pPr indent="0" marL="0">
              <a:buNone/>
            </a:pPr>
            <a:r>
              <a:rPr lang="en-US" sz="1200" dirty="0">
                <a:solidFill>
                  <a:srgbClr val="4A4E69"/>
                </a:solidFill>
                <a:latin typeface="BIZ UDGothic" pitchFamily="34" charset="0"/>
                <a:ea typeface="BIZ UDGothic" pitchFamily="34" charset="-122"/>
                <a:cs typeface="BIZ UDGothic" pitchFamily="34" charset="-120"/>
              </a:rPr>
              <a:t>重いシミュレーションを近似する、計算の軽い予測モデル</a:t>
            </a:r>
            <a:endParaRPr lang="en-US" sz="1200" dirty="0"/>
          </a:p>
        </p:txBody>
      </p:sp>
      <p:sp>
        <p:nvSpPr>
          <p:cNvPr id="32" name="Shape 29"/>
          <p:cNvSpPr/>
          <p:nvPr/>
        </p:nvSpPr>
        <p:spPr>
          <a:xfrm>
            <a:off x="6233008" y="5148072"/>
            <a:ext cx="5410048" cy="822960"/>
          </a:xfrm>
          <a:prstGeom prst="roundRect">
            <a:avLst>
              <a:gd name="adj" fmla="val 8889"/>
            </a:avLst>
          </a:prstGeom>
          <a:solidFill>
            <a:srgbClr val="FFFFFF"/>
          </a:solidFill>
          <a:ln w="9525">
            <a:solidFill>
              <a:srgbClr val="DADDE6"/>
            </a:solidFill>
            <a:prstDash val="solid"/>
          </a:ln>
        </p:spPr>
      </p:sp>
      <p:sp>
        <p:nvSpPr>
          <p:cNvPr id="33" name="Text 30"/>
          <p:cNvSpPr/>
          <p:nvPr/>
        </p:nvSpPr>
        <p:spPr>
          <a:xfrm>
            <a:off x="6461608" y="5148072"/>
            <a:ext cx="2240280" cy="822960"/>
          </a:xfrm>
          <a:prstGeom prst="rect">
            <a:avLst/>
          </a:prstGeom>
          <a:noFill/>
          <a:ln/>
        </p:spPr>
        <p:txBody>
          <a:bodyPr wrap="square" lIns="0" tIns="0" rIns="0" bIns="0" rtlCol="0" anchor="ctr"/>
          <a:lstStyle/>
          <a:p>
            <a:pPr indent="0" marL="0">
              <a:buNone/>
            </a:pPr>
            <a:r>
              <a:rPr lang="en-US" sz="1400" b="1" dirty="0">
                <a:solidFill>
                  <a:srgbClr val="22223B"/>
                </a:solidFill>
                <a:latin typeface="BIZ UDGothic" pitchFamily="34" charset="0"/>
                <a:ea typeface="BIZ UDGothic" pitchFamily="34" charset="-122"/>
                <a:cs typeface="BIZ UDGothic" pitchFamily="34" charset="-120"/>
              </a:rPr>
              <a:t>SALib</a:t>
            </a:r>
            <a:endParaRPr lang="en-US" sz="1400" dirty="0"/>
          </a:p>
        </p:txBody>
      </p:sp>
      <p:sp>
        <p:nvSpPr>
          <p:cNvPr id="34" name="Text 31"/>
          <p:cNvSpPr/>
          <p:nvPr/>
        </p:nvSpPr>
        <p:spPr>
          <a:xfrm>
            <a:off x="8793328" y="5148072"/>
            <a:ext cx="2666848" cy="822960"/>
          </a:xfrm>
          <a:prstGeom prst="rect">
            <a:avLst/>
          </a:prstGeom>
          <a:noFill/>
          <a:ln/>
        </p:spPr>
        <p:txBody>
          <a:bodyPr wrap="square" lIns="0" tIns="0" rIns="0" bIns="0" rtlCol="0" anchor="ctr"/>
          <a:lstStyle/>
          <a:p>
            <a:pPr indent="0" marL="0">
              <a:buNone/>
            </a:pPr>
            <a:r>
              <a:rPr lang="en-US" sz="1200" dirty="0">
                <a:solidFill>
                  <a:srgbClr val="4A4E69"/>
                </a:solidFill>
                <a:latin typeface="BIZ UDGothic" pitchFamily="34" charset="0"/>
                <a:ea typeface="BIZ UDGothic" pitchFamily="34" charset="-122"/>
                <a:cs typeface="BIZ UDGothic" pitchFamily="34" charset="-120"/>
              </a:rPr>
              <a:t>Pythonの感度解析ライブラリ（Sobol法、Morris法などを実装）</a:t>
            </a:r>
            <a:endParaRPr lang="en-US" sz="1200" dirty="0"/>
          </a:p>
        </p:txBody>
      </p:sp>
      <p:sp>
        <p:nvSpPr>
          <p:cNvPr id="35" name="Text 32"/>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36" name="Text 33"/>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2223B"/>
        </a:solidFill>
      </p:bgPr>
    </p:bg>
    <p:spTree>
      <p:nvGrpSpPr>
        <p:cNvPr id="1" name=""/>
        <p:cNvGrpSpPr/>
        <p:nvPr/>
      </p:nvGrpSpPr>
      <p:grpSpPr>
        <a:xfrm>
          <a:off x="0" y="0"/>
          <a:ext cx="0" cy="0"/>
          <a:chOff x="0" y="0"/>
          <a:chExt cx="0" cy="0"/>
        </a:xfrm>
      </p:grpSpPr>
      <p:sp>
        <p:nvSpPr>
          <p:cNvPr id="3" name="Text 0"/>
          <p:cNvSpPr/>
          <p:nvPr/>
        </p:nvSpPr>
        <p:spPr>
          <a:xfrm>
            <a:off x="731520" y="502920"/>
            <a:ext cx="11094415" cy="731520"/>
          </a:xfrm>
          <a:prstGeom prst="rect">
            <a:avLst/>
          </a:prstGeom>
          <a:noFill/>
          <a:ln/>
        </p:spPr>
        <p:txBody>
          <a:bodyPr wrap="square" lIns="0" tIns="0" rIns="0" bIns="0" rtlCol="0" anchor="ctr"/>
          <a:lstStyle/>
          <a:p>
            <a:pPr indent="0" marL="0">
              <a:buNone/>
            </a:pPr>
            <a:r>
              <a:rPr lang="en-US" sz="3200" b="1" dirty="0">
                <a:solidFill>
                  <a:srgbClr val="FFFFFF"/>
                </a:solidFill>
                <a:latin typeface="BIZ UDGothic" pitchFamily="34" charset="0"/>
                <a:ea typeface="BIZ UDGothic" pitchFamily="34" charset="-122"/>
                <a:cs typeface="BIZ UDGothic" pitchFamily="34" charset="-120"/>
              </a:rPr>
              <a:t>まとめと次のステップ</a:t>
            </a:r>
            <a:endParaRPr lang="en-US" sz="3200" dirty="0"/>
          </a:p>
        </p:txBody>
      </p:sp>
      <p:sp>
        <p:nvSpPr>
          <p:cNvPr id="4" name="Shape 1"/>
          <p:cNvSpPr/>
          <p:nvPr/>
        </p:nvSpPr>
        <p:spPr>
          <a:xfrm>
            <a:off x="731520" y="1709928"/>
            <a:ext cx="502920" cy="502920"/>
          </a:xfrm>
          <a:prstGeom prst="ellipse">
            <a:avLst/>
          </a:prstGeom>
          <a:solidFill>
            <a:srgbClr val="E76F51"/>
          </a:solidFill>
          <a:ln/>
        </p:spPr>
      </p:sp>
      <p:sp>
        <p:nvSpPr>
          <p:cNvPr id="5" name="Text 2"/>
          <p:cNvSpPr/>
          <p:nvPr/>
        </p:nvSpPr>
        <p:spPr>
          <a:xfrm>
            <a:off x="731520" y="170992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Gothic" pitchFamily="34" charset="0"/>
                <a:ea typeface="BIZ UDGothic" pitchFamily="34" charset="-122"/>
                <a:cs typeface="BIZ UDGothic" pitchFamily="34" charset="-120"/>
              </a:rPr>
              <a:t>1</a:t>
            </a:r>
            <a:endParaRPr lang="en-US" sz="1600" dirty="0"/>
          </a:p>
        </p:txBody>
      </p:sp>
      <p:sp>
        <p:nvSpPr>
          <p:cNvPr id="6" name="Text 3"/>
          <p:cNvSpPr/>
          <p:nvPr/>
        </p:nvSpPr>
        <p:spPr>
          <a:xfrm>
            <a:off x="1463040" y="1600200"/>
            <a:ext cx="5394960" cy="731520"/>
          </a:xfrm>
          <a:prstGeom prst="rect">
            <a:avLst/>
          </a:prstGeom>
          <a:noFill/>
          <a:ln/>
        </p:spPr>
        <p:txBody>
          <a:bodyPr wrap="square" lIns="0" tIns="0" rIns="0" bIns="0" rtlCol="0" anchor="ctr"/>
          <a:lstStyle/>
          <a:p>
            <a:pPr indent="0" marL="0">
              <a:buNone/>
            </a:pPr>
            <a:r>
              <a:rPr lang="en-US" sz="1700" dirty="0">
                <a:solidFill>
                  <a:srgbClr val="FFFFFF"/>
                </a:solidFill>
                <a:latin typeface="BIZ UDGothic" pitchFamily="34" charset="0"/>
                <a:ea typeface="BIZ UDGothic" pitchFamily="34" charset="-122"/>
                <a:cs typeface="BIZ UDGothic" pitchFamily="34" charset="-120"/>
              </a:rPr>
              <a:t>Sobol法は、出力の分散を入力ごと・組み合わせごとに分解する</a:t>
            </a:r>
            <a:endParaRPr lang="en-US" sz="1700" dirty="0"/>
          </a:p>
        </p:txBody>
      </p:sp>
      <p:sp>
        <p:nvSpPr>
          <p:cNvPr id="7" name="Shape 4"/>
          <p:cNvSpPr/>
          <p:nvPr/>
        </p:nvSpPr>
        <p:spPr>
          <a:xfrm>
            <a:off x="731520" y="2788920"/>
            <a:ext cx="502920" cy="502920"/>
          </a:xfrm>
          <a:prstGeom prst="ellipse">
            <a:avLst/>
          </a:prstGeom>
          <a:solidFill>
            <a:srgbClr val="2A9D8F"/>
          </a:solidFill>
          <a:ln/>
        </p:spPr>
      </p:sp>
      <p:sp>
        <p:nvSpPr>
          <p:cNvPr id="8" name="Text 5"/>
          <p:cNvSpPr/>
          <p:nvPr/>
        </p:nvSpPr>
        <p:spPr>
          <a:xfrm>
            <a:off x="731520" y="27889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Gothic" pitchFamily="34" charset="0"/>
                <a:ea typeface="BIZ UDGothic" pitchFamily="34" charset="-122"/>
                <a:cs typeface="BIZ UDGothic" pitchFamily="34" charset="-120"/>
              </a:rPr>
              <a:t>2</a:t>
            </a:r>
            <a:endParaRPr lang="en-US" sz="1600" dirty="0"/>
          </a:p>
        </p:txBody>
      </p:sp>
      <p:sp>
        <p:nvSpPr>
          <p:cNvPr id="9" name="Text 6"/>
          <p:cNvSpPr/>
          <p:nvPr/>
        </p:nvSpPr>
        <p:spPr>
          <a:xfrm>
            <a:off x="1463040" y="2679192"/>
            <a:ext cx="5394960" cy="731520"/>
          </a:xfrm>
          <a:prstGeom prst="rect">
            <a:avLst/>
          </a:prstGeom>
          <a:noFill/>
          <a:ln/>
        </p:spPr>
        <p:txBody>
          <a:bodyPr wrap="square" lIns="0" tIns="0" rIns="0" bIns="0" rtlCol="0" anchor="ctr"/>
          <a:lstStyle/>
          <a:p>
            <a:pPr indent="0" marL="0">
              <a:buNone/>
            </a:pPr>
            <a:r>
              <a:rPr lang="en-US" sz="1900" i="1" dirty="0">
                <a:solidFill>
                  <a:srgbClr val="FFFFFF"/>
                </a:solidFill>
                <a:latin typeface="Times New Roman" pitchFamily="34" charset="0"/>
                <a:ea typeface="Times New Roman" pitchFamily="34" charset="-122"/>
                <a:cs typeface="Times New Roman" pitchFamily="34" charset="-120"/>
              </a:rPr>
              <a:t>S</a:t>
            </a:r>
            <a:r>
              <a:rPr lang="en-US" sz="1900" i="1" baseline="-40000" dirty="0">
                <a:solidFill>
                  <a:srgbClr val="FFFFFF"/>
                </a:solidFill>
                <a:latin typeface="Times New Roman" pitchFamily="34" charset="0"/>
                <a:ea typeface="Times New Roman" pitchFamily="34" charset="-122"/>
                <a:cs typeface="Times New Roman" pitchFamily="34" charset="-120"/>
              </a:rPr>
              <a:t>i</a:t>
            </a:r>
            <a:r>
              <a:rPr lang="en-US" sz="1700" dirty="0">
                <a:solidFill>
                  <a:srgbClr val="FFFFFF"/>
                </a:solidFill>
                <a:latin typeface="BIZ UDGothic" pitchFamily="34" charset="0"/>
                <a:ea typeface="BIZ UDGothic" pitchFamily="34" charset="-122"/>
                <a:cs typeface="BIZ UDGothic" pitchFamily="34" charset="-120"/>
              </a:rPr>
              <a:t> ＝ 単独の寄与、</a:t>
            </a:r>
            <a:r>
              <a:rPr lang="en-US" sz="1900" i="1" dirty="0">
                <a:solidFill>
                  <a:srgbClr val="FFFFFF"/>
                </a:solidFill>
                <a:latin typeface="Times New Roman" pitchFamily="34" charset="0"/>
                <a:ea typeface="Times New Roman" pitchFamily="34" charset="-122"/>
                <a:cs typeface="Times New Roman" pitchFamily="34" charset="-120"/>
              </a:rPr>
              <a:t>S</a:t>
            </a:r>
            <a:r>
              <a:rPr lang="en-US" sz="1900" i="1" baseline="-40000" dirty="0">
                <a:solidFill>
                  <a:srgbClr val="FFFFFF"/>
                </a:solidFill>
                <a:latin typeface="Times New Roman" pitchFamily="34" charset="0"/>
                <a:ea typeface="Times New Roman" pitchFamily="34" charset="-122"/>
                <a:cs typeface="Times New Roman" pitchFamily="34" charset="-120"/>
              </a:rPr>
              <a:t>Ti</a:t>
            </a:r>
            <a:r>
              <a:rPr lang="en-US" sz="1700" dirty="0">
                <a:solidFill>
                  <a:srgbClr val="FFFFFF"/>
                </a:solidFill>
                <a:latin typeface="BIZ UDGothic" pitchFamily="34" charset="0"/>
                <a:ea typeface="BIZ UDGothic" pitchFamily="34" charset="-122"/>
                <a:cs typeface="BIZ UDGothic" pitchFamily="34" charset="-120"/>
              </a:rPr>
              <a:t> ＝ 交互作用込みの寄与。その差が交互作用</a:t>
            </a:r>
            <a:endParaRPr lang="en-US" sz="1900" dirty="0"/>
          </a:p>
        </p:txBody>
      </p:sp>
      <p:sp>
        <p:nvSpPr>
          <p:cNvPr id="10" name="Shape 7"/>
          <p:cNvSpPr/>
          <p:nvPr/>
        </p:nvSpPr>
        <p:spPr>
          <a:xfrm>
            <a:off x="731520" y="3867912"/>
            <a:ext cx="502920" cy="502920"/>
          </a:xfrm>
          <a:prstGeom prst="ellipse">
            <a:avLst/>
          </a:prstGeom>
          <a:solidFill>
            <a:srgbClr val="8D6A9F"/>
          </a:solidFill>
          <a:ln/>
        </p:spPr>
      </p:sp>
      <p:sp>
        <p:nvSpPr>
          <p:cNvPr id="11" name="Text 8"/>
          <p:cNvSpPr/>
          <p:nvPr/>
        </p:nvSpPr>
        <p:spPr>
          <a:xfrm>
            <a:off x="731520" y="38679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Gothic" pitchFamily="34" charset="0"/>
                <a:ea typeface="BIZ UDGothic" pitchFamily="34" charset="-122"/>
                <a:cs typeface="BIZ UDGothic" pitchFamily="34" charset="-120"/>
              </a:rPr>
              <a:t>3</a:t>
            </a:r>
            <a:endParaRPr lang="en-US" sz="1600" dirty="0"/>
          </a:p>
        </p:txBody>
      </p:sp>
      <p:sp>
        <p:nvSpPr>
          <p:cNvPr id="12" name="Text 9"/>
          <p:cNvSpPr/>
          <p:nvPr/>
        </p:nvSpPr>
        <p:spPr>
          <a:xfrm>
            <a:off x="1463040" y="3758184"/>
            <a:ext cx="5394960" cy="731520"/>
          </a:xfrm>
          <a:prstGeom prst="rect">
            <a:avLst/>
          </a:prstGeom>
          <a:noFill/>
          <a:ln/>
        </p:spPr>
        <p:txBody>
          <a:bodyPr wrap="square" lIns="0" tIns="0" rIns="0" bIns="0" rtlCol="0" anchor="ctr"/>
          <a:lstStyle/>
          <a:p>
            <a:pPr indent="0" marL="0">
              <a:buNone/>
            </a:pPr>
            <a:r>
              <a:rPr lang="en-US" sz="1700" dirty="0">
                <a:solidFill>
                  <a:srgbClr val="FFFFFF"/>
                </a:solidFill>
                <a:latin typeface="BIZ UDGothic" pitchFamily="34" charset="0"/>
                <a:ea typeface="BIZ UDGothic" pitchFamily="34" charset="-122"/>
                <a:cs typeface="BIZ UDGothic" pitchFamily="34" charset="-120"/>
              </a:rPr>
              <a:t>推定は Saltelliサンプリングで </a:t>
            </a:r>
            <a:r>
              <a:rPr lang="en-US" sz="1900" i="1" dirty="0">
                <a:solidFill>
                  <a:srgbClr val="FFFFFF"/>
                </a:solidFill>
                <a:latin typeface="Times New Roman" pitchFamily="34" charset="0"/>
                <a:ea typeface="Times New Roman" pitchFamily="34" charset="-122"/>
                <a:cs typeface="Times New Roman" pitchFamily="34" charset="-120"/>
              </a:rPr>
              <a:t>N(d + 2)</a:t>
            </a:r>
            <a:r>
              <a:rPr lang="en-US" sz="1700" dirty="0">
                <a:solidFill>
                  <a:srgbClr val="FFFFFF"/>
                </a:solidFill>
                <a:latin typeface="BIZ UDGothic" pitchFamily="34" charset="0"/>
                <a:ea typeface="BIZ UDGothic" pitchFamily="34" charset="-122"/>
                <a:cs typeface="BIZ UDGothic" pitchFamily="34" charset="-120"/>
              </a:rPr>
              <a:t> 回。Sobol列と信頼区間で精度を確かめる</a:t>
            </a:r>
            <a:endParaRPr lang="en-US" sz="1700" dirty="0"/>
          </a:p>
        </p:txBody>
      </p:sp>
      <p:sp>
        <p:nvSpPr>
          <p:cNvPr id="13" name="Shape 10"/>
          <p:cNvSpPr/>
          <p:nvPr/>
        </p:nvSpPr>
        <p:spPr>
          <a:xfrm>
            <a:off x="731520" y="4946904"/>
            <a:ext cx="502920" cy="502920"/>
          </a:xfrm>
          <a:prstGeom prst="ellipse">
            <a:avLst/>
          </a:prstGeom>
          <a:solidFill>
            <a:srgbClr val="E9C46A"/>
          </a:solidFill>
          <a:ln/>
        </p:spPr>
      </p:sp>
      <p:sp>
        <p:nvSpPr>
          <p:cNvPr id="14" name="Text 11"/>
          <p:cNvSpPr/>
          <p:nvPr/>
        </p:nvSpPr>
        <p:spPr>
          <a:xfrm>
            <a:off x="731520" y="4946904"/>
            <a:ext cx="502920" cy="502920"/>
          </a:xfrm>
          <a:prstGeom prst="rect">
            <a:avLst/>
          </a:prstGeom>
          <a:noFill/>
          <a:ln/>
        </p:spPr>
        <p:txBody>
          <a:bodyPr wrap="square" lIns="0" tIns="0" rIns="0" bIns="0" rtlCol="0" anchor="ctr"/>
          <a:lstStyle/>
          <a:p>
            <a:pPr algn="ctr" indent="0" marL="0">
              <a:buNone/>
            </a:pPr>
            <a:r>
              <a:rPr lang="en-US" sz="1600" b="1" dirty="0">
                <a:solidFill>
                  <a:srgbClr val="22223B"/>
                </a:solidFill>
                <a:latin typeface="BIZ UDGothic" pitchFamily="34" charset="0"/>
                <a:ea typeface="BIZ UDGothic" pitchFamily="34" charset="-122"/>
                <a:cs typeface="BIZ UDGothic" pitchFamily="34" charset="-120"/>
              </a:rPr>
              <a:t>4</a:t>
            </a:r>
            <a:endParaRPr lang="en-US" sz="1600" dirty="0"/>
          </a:p>
        </p:txBody>
      </p:sp>
      <p:sp>
        <p:nvSpPr>
          <p:cNvPr id="15" name="Text 12"/>
          <p:cNvSpPr/>
          <p:nvPr/>
        </p:nvSpPr>
        <p:spPr>
          <a:xfrm>
            <a:off x="1463040" y="4837176"/>
            <a:ext cx="5394960" cy="731520"/>
          </a:xfrm>
          <a:prstGeom prst="rect">
            <a:avLst/>
          </a:prstGeom>
          <a:noFill/>
          <a:ln/>
        </p:spPr>
        <p:txBody>
          <a:bodyPr wrap="square" lIns="0" tIns="0" rIns="0" bIns="0" rtlCol="0" anchor="ctr"/>
          <a:lstStyle/>
          <a:p>
            <a:pPr indent="0" marL="0">
              <a:buNone/>
            </a:pPr>
            <a:r>
              <a:rPr lang="en-US" sz="1700" dirty="0">
                <a:solidFill>
                  <a:srgbClr val="FFFFFF"/>
                </a:solidFill>
                <a:latin typeface="BIZ UDGothic" pitchFamily="34" charset="0"/>
                <a:ea typeface="BIZ UDGothic" pitchFamily="34" charset="-122"/>
                <a:cs typeface="BIZ UDGothic" pitchFamily="34" charset="-120"/>
              </a:rPr>
              <a:t>結果は入力の範囲・分布と、独立性の前提に左右される</a:t>
            </a:r>
            <a:endParaRPr lang="en-US" sz="1700" dirty="0"/>
          </a:p>
        </p:txBody>
      </p:sp>
      <p:sp>
        <p:nvSpPr>
          <p:cNvPr id="16" name="Shape 13"/>
          <p:cNvSpPr/>
          <p:nvPr/>
        </p:nvSpPr>
        <p:spPr>
          <a:xfrm>
            <a:off x="7086600" y="1463040"/>
            <a:ext cx="4556455" cy="4572000"/>
          </a:xfrm>
          <a:prstGeom prst="roundRect">
            <a:avLst>
              <a:gd name="adj" fmla="val 1605"/>
            </a:avLst>
          </a:prstGeom>
          <a:solidFill>
            <a:srgbClr val="34365A"/>
          </a:solidFill>
          <a:ln/>
        </p:spPr>
      </p:sp>
      <p:sp>
        <p:nvSpPr>
          <p:cNvPr id="17" name="Shape 14"/>
          <p:cNvSpPr/>
          <p:nvPr/>
        </p:nvSpPr>
        <p:spPr>
          <a:xfrm>
            <a:off x="7360920" y="1691640"/>
            <a:ext cx="594360" cy="594360"/>
          </a:xfrm>
          <a:prstGeom prst="ellipse">
            <a:avLst/>
          </a:prstGeom>
          <a:solidFill>
            <a:srgbClr val="2A9D8F"/>
          </a:solidFill>
          <a:ln/>
        </p:spPr>
      </p:sp>
      <p:pic>
        <p:nvPicPr>
          <p:cNvPr id="18" name="Image 0" descr="preencoded.png">    </p:cNvPr>
          <p:cNvPicPr>
            <a:picLocks noChangeAspect="1"/>
          </p:cNvPicPr>
          <p:nvPr/>
        </p:nvPicPr>
        <p:blipFill>
          <a:blip r:embed="rId1"/>
          <a:stretch>
            <a:fillRect/>
          </a:stretch>
        </p:blipFill>
        <p:spPr>
          <a:xfrm>
            <a:off x="7491679" y="1822399"/>
            <a:ext cx="332842" cy="332842"/>
          </a:xfrm>
          <a:prstGeom prst="rect">
            <a:avLst/>
          </a:prstGeom>
        </p:spPr>
      </p:pic>
      <p:sp>
        <p:nvSpPr>
          <p:cNvPr id="19" name="Text 15"/>
          <p:cNvSpPr/>
          <p:nvPr/>
        </p:nvSpPr>
        <p:spPr>
          <a:xfrm>
            <a:off x="8138160" y="1691640"/>
            <a:ext cx="3276295" cy="594360"/>
          </a:xfrm>
          <a:prstGeom prst="rect">
            <a:avLst/>
          </a:prstGeom>
          <a:noFill/>
          <a:ln/>
        </p:spPr>
        <p:txBody>
          <a:bodyPr wrap="square" lIns="0" tIns="0" rIns="0" bIns="0" rtlCol="0" anchor="ctr"/>
          <a:lstStyle/>
          <a:p>
            <a:pPr indent="0" marL="0">
              <a:buNone/>
            </a:pPr>
            <a:r>
              <a:rPr lang="en-US" sz="1700" b="1" dirty="0">
                <a:solidFill>
                  <a:srgbClr val="FFFFFF"/>
                </a:solidFill>
                <a:latin typeface="BIZ UDGothic" pitchFamily="34" charset="0"/>
                <a:ea typeface="BIZ UDGothic" pitchFamily="34" charset="-122"/>
                <a:cs typeface="BIZ UDGothic" pitchFamily="34" charset="-120"/>
              </a:rPr>
              <a:t>次のステップ：Python実装</a:t>
            </a:r>
            <a:endParaRPr lang="en-US" sz="1700" dirty="0"/>
          </a:p>
        </p:txBody>
      </p:sp>
      <p:sp>
        <p:nvSpPr>
          <p:cNvPr id="20" name="Shape 16"/>
          <p:cNvSpPr/>
          <p:nvPr/>
        </p:nvSpPr>
        <p:spPr>
          <a:xfrm>
            <a:off x="7406640" y="2688336"/>
            <a:ext cx="384048" cy="384048"/>
          </a:xfrm>
          <a:prstGeom prst="ellipse">
            <a:avLst/>
          </a:prstGeom>
          <a:solidFill>
            <a:srgbClr val="A9ACC6"/>
          </a:solidFill>
          <a:ln/>
        </p:spPr>
      </p:sp>
      <p:sp>
        <p:nvSpPr>
          <p:cNvPr id="21" name="Text 17"/>
          <p:cNvSpPr/>
          <p:nvPr/>
        </p:nvSpPr>
        <p:spPr>
          <a:xfrm>
            <a:off x="7406640" y="2688336"/>
            <a:ext cx="384048" cy="384048"/>
          </a:xfrm>
          <a:prstGeom prst="rect">
            <a:avLst/>
          </a:prstGeom>
          <a:noFill/>
          <a:ln/>
        </p:spPr>
        <p:txBody>
          <a:bodyPr wrap="square" lIns="0" tIns="0" rIns="0" bIns="0" rtlCol="0" anchor="ctr"/>
          <a:lstStyle/>
          <a:p>
            <a:pPr algn="ctr" indent="0" marL="0">
              <a:buNone/>
            </a:pPr>
            <a:r>
              <a:rPr lang="en-US" sz="1300" b="1" dirty="0">
                <a:solidFill>
                  <a:srgbClr val="22223B"/>
                </a:solidFill>
                <a:latin typeface="BIZ UDGothic" pitchFamily="34" charset="0"/>
                <a:ea typeface="BIZ UDGothic" pitchFamily="34" charset="-122"/>
                <a:cs typeface="BIZ UDGothic" pitchFamily="34" charset="-120"/>
              </a:rPr>
              <a:t>1</a:t>
            </a:r>
            <a:endParaRPr lang="en-US" sz="1300" dirty="0"/>
          </a:p>
        </p:txBody>
      </p:sp>
      <p:sp>
        <p:nvSpPr>
          <p:cNvPr id="22" name="Text 18"/>
          <p:cNvSpPr/>
          <p:nvPr/>
        </p:nvSpPr>
        <p:spPr>
          <a:xfrm>
            <a:off x="8001000" y="2560320"/>
            <a:ext cx="3413455" cy="658368"/>
          </a:xfrm>
          <a:prstGeom prst="rect">
            <a:avLst/>
          </a:prstGeom>
          <a:noFill/>
          <a:ln/>
        </p:spPr>
        <p:txBody>
          <a:bodyPr wrap="square" lIns="0" tIns="0" rIns="0" bIns="0" rtlCol="0" anchor="ctr"/>
          <a:lstStyle/>
          <a:p>
            <a:pPr indent="0" marL="0">
              <a:buNone/>
            </a:pPr>
            <a:r>
              <a:rPr lang="en-US" sz="1400" dirty="0">
                <a:solidFill>
                  <a:srgbClr val="D9DBEA"/>
                </a:solidFill>
                <a:latin typeface="BIZ UDGothic" pitchFamily="34" charset="0"/>
                <a:ea typeface="BIZ UDGothic" pitchFamily="34" charset="-122"/>
                <a:cs typeface="BIZ UDGothic" pitchFamily="34" charset="-120"/>
              </a:rPr>
              <a:t>会社のPCで使えるライブラリを確認する（NumPy、SALib のインストール可否）</a:t>
            </a:r>
            <a:endParaRPr lang="en-US" sz="1400" dirty="0"/>
          </a:p>
        </p:txBody>
      </p:sp>
      <p:sp>
        <p:nvSpPr>
          <p:cNvPr id="23" name="Shape 19"/>
          <p:cNvSpPr/>
          <p:nvPr/>
        </p:nvSpPr>
        <p:spPr>
          <a:xfrm>
            <a:off x="7406640" y="3529584"/>
            <a:ext cx="384048" cy="384048"/>
          </a:xfrm>
          <a:prstGeom prst="ellipse">
            <a:avLst/>
          </a:prstGeom>
          <a:solidFill>
            <a:srgbClr val="A9ACC6"/>
          </a:solidFill>
          <a:ln/>
        </p:spPr>
      </p:sp>
      <p:sp>
        <p:nvSpPr>
          <p:cNvPr id="24" name="Text 20"/>
          <p:cNvSpPr/>
          <p:nvPr/>
        </p:nvSpPr>
        <p:spPr>
          <a:xfrm>
            <a:off x="7406640" y="3529584"/>
            <a:ext cx="384048" cy="384048"/>
          </a:xfrm>
          <a:prstGeom prst="rect">
            <a:avLst/>
          </a:prstGeom>
          <a:noFill/>
          <a:ln/>
        </p:spPr>
        <p:txBody>
          <a:bodyPr wrap="square" lIns="0" tIns="0" rIns="0" bIns="0" rtlCol="0" anchor="ctr"/>
          <a:lstStyle/>
          <a:p>
            <a:pPr algn="ctr" indent="0" marL="0">
              <a:buNone/>
            </a:pPr>
            <a:r>
              <a:rPr lang="en-US" sz="1300" b="1" dirty="0">
                <a:solidFill>
                  <a:srgbClr val="22223B"/>
                </a:solidFill>
                <a:latin typeface="BIZ UDGothic" pitchFamily="34" charset="0"/>
                <a:ea typeface="BIZ UDGothic" pitchFamily="34" charset="-122"/>
                <a:cs typeface="BIZ UDGothic" pitchFamily="34" charset="-120"/>
              </a:rPr>
              <a:t>2</a:t>
            </a:r>
            <a:endParaRPr lang="en-US" sz="1300" dirty="0"/>
          </a:p>
        </p:txBody>
      </p:sp>
      <p:sp>
        <p:nvSpPr>
          <p:cNvPr id="25" name="Text 21"/>
          <p:cNvSpPr/>
          <p:nvPr/>
        </p:nvSpPr>
        <p:spPr>
          <a:xfrm>
            <a:off x="8001000" y="3401568"/>
            <a:ext cx="3413455" cy="658368"/>
          </a:xfrm>
          <a:prstGeom prst="rect">
            <a:avLst/>
          </a:prstGeom>
          <a:noFill/>
          <a:ln/>
        </p:spPr>
        <p:txBody>
          <a:bodyPr wrap="square" lIns="0" tIns="0" rIns="0" bIns="0" rtlCol="0" anchor="ctr"/>
          <a:lstStyle/>
          <a:p>
            <a:pPr indent="0" marL="0">
              <a:buNone/>
            </a:pPr>
            <a:r>
              <a:rPr lang="en-US" sz="1400" dirty="0">
                <a:solidFill>
                  <a:srgbClr val="D9DBEA"/>
                </a:solidFill>
                <a:latin typeface="BIZ UDGothic" pitchFamily="34" charset="0"/>
                <a:ea typeface="BIZ UDGothic" pitchFamily="34" charset="-122"/>
                <a:cs typeface="BIZ UDGothic" pitchFamily="34" charset="-120"/>
              </a:rPr>
              <a:t>SALib が使えない場合でも、推定式は NumPy だけで実装できる</a:t>
            </a:r>
            <a:endParaRPr lang="en-US" sz="1400" dirty="0"/>
          </a:p>
        </p:txBody>
      </p:sp>
      <p:sp>
        <p:nvSpPr>
          <p:cNvPr id="26" name="Shape 22"/>
          <p:cNvSpPr/>
          <p:nvPr/>
        </p:nvSpPr>
        <p:spPr>
          <a:xfrm>
            <a:off x="7406640" y="4370832"/>
            <a:ext cx="384048" cy="384048"/>
          </a:xfrm>
          <a:prstGeom prst="ellipse">
            <a:avLst/>
          </a:prstGeom>
          <a:solidFill>
            <a:srgbClr val="A9ACC6"/>
          </a:solidFill>
          <a:ln/>
        </p:spPr>
      </p:sp>
      <p:sp>
        <p:nvSpPr>
          <p:cNvPr id="27" name="Text 23"/>
          <p:cNvSpPr/>
          <p:nvPr/>
        </p:nvSpPr>
        <p:spPr>
          <a:xfrm>
            <a:off x="7406640" y="4370832"/>
            <a:ext cx="384048" cy="384048"/>
          </a:xfrm>
          <a:prstGeom prst="rect">
            <a:avLst/>
          </a:prstGeom>
          <a:noFill/>
          <a:ln/>
        </p:spPr>
        <p:txBody>
          <a:bodyPr wrap="square" lIns="0" tIns="0" rIns="0" bIns="0" rtlCol="0" anchor="ctr"/>
          <a:lstStyle/>
          <a:p>
            <a:pPr algn="ctr" indent="0" marL="0">
              <a:buNone/>
            </a:pPr>
            <a:r>
              <a:rPr lang="en-US" sz="1300" b="1" dirty="0">
                <a:solidFill>
                  <a:srgbClr val="22223B"/>
                </a:solidFill>
                <a:latin typeface="BIZ UDGothic" pitchFamily="34" charset="0"/>
                <a:ea typeface="BIZ UDGothic" pitchFamily="34" charset="-122"/>
                <a:cs typeface="BIZ UDGothic" pitchFamily="34" charset="-120"/>
              </a:rPr>
              <a:t>3</a:t>
            </a:r>
            <a:endParaRPr lang="en-US" sz="1300" dirty="0"/>
          </a:p>
        </p:txBody>
      </p:sp>
      <p:sp>
        <p:nvSpPr>
          <p:cNvPr id="28" name="Text 24"/>
          <p:cNvSpPr/>
          <p:nvPr/>
        </p:nvSpPr>
        <p:spPr>
          <a:xfrm>
            <a:off x="8001000" y="4242816"/>
            <a:ext cx="3413455" cy="658368"/>
          </a:xfrm>
          <a:prstGeom prst="rect">
            <a:avLst/>
          </a:prstGeom>
          <a:noFill/>
          <a:ln/>
        </p:spPr>
        <p:txBody>
          <a:bodyPr wrap="square" lIns="0" tIns="0" rIns="0" bIns="0" rtlCol="0" anchor="ctr"/>
          <a:lstStyle/>
          <a:p>
            <a:pPr indent="0" marL="0">
              <a:buNone/>
            </a:pPr>
            <a:r>
              <a:rPr lang="en-US" sz="1400" dirty="0">
                <a:solidFill>
                  <a:srgbClr val="D9DBEA"/>
                </a:solidFill>
                <a:latin typeface="BIZ UDGothic" pitchFamily="34" charset="0"/>
                <a:ea typeface="BIZ UDGothic" pitchFamily="34" charset="-122"/>
                <a:cs typeface="BIZ UDGothic" pitchFamily="34" charset="-120"/>
              </a:rPr>
              <a:t>Ishigami関数で、理論値と一致するか検算する</a:t>
            </a:r>
            <a:endParaRPr lang="en-US" sz="1400" dirty="0"/>
          </a:p>
        </p:txBody>
      </p:sp>
      <p:sp>
        <p:nvSpPr>
          <p:cNvPr id="29" name="Shape 25"/>
          <p:cNvSpPr/>
          <p:nvPr/>
        </p:nvSpPr>
        <p:spPr>
          <a:xfrm>
            <a:off x="7406640" y="5212080"/>
            <a:ext cx="384048" cy="384048"/>
          </a:xfrm>
          <a:prstGeom prst="ellipse">
            <a:avLst/>
          </a:prstGeom>
          <a:solidFill>
            <a:srgbClr val="A9ACC6"/>
          </a:solidFill>
          <a:ln/>
        </p:spPr>
      </p:sp>
      <p:sp>
        <p:nvSpPr>
          <p:cNvPr id="30" name="Text 26"/>
          <p:cNvSpPr/>
          <p:nvPr/>
        </p:nvSpPr>
        <p:spPr>
          <a:xfrm>
            <a:off x="7406640" y="5212080"/>
            <a:ext cx="384048" cy="384048"/>
          </a:xfrm>
          <a:prstGeom prst="rect">
            <a:avLst/>
          </a:prstGeom>
          <a:noFill/>
          <a:ln/>
        </p:spPr>
        <p:txBody>
          <a:bodyPr wrap="square" lIns="0" tIns="0" rIns="0" bIns="0" rtlCol="0" anchor="ctr"/>
          <a:lstStyle/>
          <a:p>
            <a:pPr algn="ctr" indent="0" marL="0">
              <a:buNone/>
            </a:pPr>
            <a:r>
              <a:rPr lang="en-US" sz="1300" b="1" dirty="0">
                <a:solidFill>
                  <a:srgbClr val="22223B"/>
                </a:solidFill>
                <a:latin typeface="BIZ UDGothic" pitchFamily="34" charset="0"/>
                <a:ea typeface="BIZ UDGothic" pitchFamily="34" charset="-122"/>
                <a:cs typeface="BIZ UDGothic" pitchFamily="34" charset="-120"/>
              </a:rPr>
              <a:t>4</a:t>
            </a:r>
            <a:endParaRPr lang="en-US" sz="1300" dirty="0"/>
          </a:p>
        </p:txBody>
      </p:sp>
      <p:sp>
        <p:nvSpPr>
          <p:cNvPr id="31" name="Text 27"/>
          <p:cNvSpPr/>
          <p:nvPr/>
        </p:nvSpPr>
        <p:spPr>
          <a:xfrm>
            <a:off x="8001000" y="5084064"/>
            <a:ext cx="3413455" cy="658368"/>
          </a:xfrm>
          <a:prstGeom prst="rect">
            <a:avLst/>
          </a:prstGeom>
          <a:noFill/>
          <a:ln/>
        </p:spPr>
        <p:txBody>
          <a:bodyPr wrap="square" lIns="0" tIns="0" rIns="0" bIns="0" rtlCol="0" anchor="ctr"/>
          <a:lstStyle/>
          <a:p>
            <a:pPr indent="0" marL="0">
              <a:buNone/>
            </a:pPr>
            <a:r>
              <a:rPr lang="en-US" sz="1400" dirty="0">
                <a:solidFill>
                  <a:srgbClr val="D9DBEA"/>
                </a:solidFill>
                <a:latin typeface="BIZ UDGothic" pitchFamily="34" charset="0"/>
                <a:ea typeface="BIZ UDGothic" pitchFamily="34" charset="-122"/>
                <a:cs typeface="BIZ UDGothic" pitchFamily="34" charset="-120"/>
              </a:rPr>
              <a:t>自分のモデル・シミュレーションに適用し、結果をレポートにまとめる</a:t>
            </a:r>
            <a:endParaRPr lang="en-US" sz="1400" dirty="0"/>
          </a:p>
        </p:txBody>
      </p:sp>
      <p:sp>
        <p:nvSpPr>
          <p:cNvPr id="32" name="Text 28"/>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A9ACC6"/>
                </a:solidFill>
                <a:latin typeface="BIZ UDGothic" pitchFamily="34" charset="0"/>
                <a:ea typeface="BIZ UDGothic" pitchFamily="34" charset="-122"/>
                <a:cs typeface="BIZ UDGothic" pitchFamily="34" charset="-120"/>
              </a:rPr>
              <a:t>Sobol感度解析 入門</a:t>
            </a:r>
            <a:endParaRPr lang="en-US" sz="900" dirty="0"/>
          </a:p>
        </p:txBody>
      </p:sp>
      <p:sp>
        <p:nvSpPr>
          <p:cNvPr id="33" name="Text 29"/>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A9ACC6"/>
                </a:solidFill>
                <a:latin typeface="BIZ UDGothic" pitchFamily="34" charset="0"/>
                <a:ea typeface="BIZ UDGothic" pitchFamily="34" charset="-122"/>
                <a:cs typeface="BIZ UDGothic"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22223B"/>
                </a:solidFill>
                <a:latin typeface="BIZ UDGothic" pitchFamily="34" charset="0"/>
                <a:ea typeface="BIZ UDGothic" pitchFamily="34" charset="-122"/>
                <a:cs typeface="BIZ UDGothic" pitchFamily="34" charset="-120"/>
              </a:rPr>
              <a:t>参考文献</a:t>
            </a:r>
            <a:endParaRPr lang="en-US" sz="2800" dirty="0"/>
          </a:p>
        </p:txBody>
      </p:sp>
      <p:sp>
        <p:nvSpPr>
          <p:cNvPr id="4" name="Text 1"/>
          <p:cNvSpPr/>
          <p:nvPr/>
        </p:nvSpPr>
        <p:spPr>
          <a:xfrm>
            <a:off x="548640" y="1371600"/>
            <a:ext cx="11094415" cy="4069080"/>
          </a:xfrm>
          <a:prstGeom prst="rect">
            <a:avLst/>
          </a:prstGeom>
          <a:noFill/>
          <a:ln/>
        </p:spPr>
        <p:txBody>
          <a:bodyPr wrap="square" lIns="0" tIns="0" rIns="0" bIns="0" rtlCol="0" anchor="t"/>
          <a:lstStyle/>
          <a:p>
            <a:pPr indent="0" marL="0">
              <a:spcAft>
                <a:spcPts val="600"/>
              </a:spcAft>
              <a:buNone/>
            </a:pPr>
            <a:r>
              <a:rPr lang="en-US" sz="1150" dirty="0">
                <a:solidFill>
                  <a:srgbClr val="22223B"/>
                </a:solidFill>
                <a:latin typeface="Arial" pitchFamily="34" charset="0"/>
                <a:ea typeface="Arial" pitchFamily="34" charset="-122"/>
                <a:cs typeface="Arial" pitchFamily="34" charset="-120"/>
              </a:rPr>
              <a:t>[1]  I. M. Sobol' (1993). Sensitivity estimates for nonlinear mathematical models. Mathematical Modeling and Computational Experiment, 1(4), 407–414.</a:t>
            </a:r>
            <a:endParaRPr lang="en-US" sz="1150" dirty="0"/>
          </a:p>
          <a:p>
            <a:pPr indent="0" marL="0">
              <a:spcAft>
                <a:spcPts val="600"/>
              </a:spcAft>
              <a:buNone/>
            </a:pPr>
            <a:r>
              <a:rPr lang="en-US" sz="1150" dirty="0">
                <a:solidFill>
                  <a:srgbClr val="22223B"/>
                </a:solidFill>
                <a:latin typeface="Arial" pitchFamily="34" charset="0"/>
                <a:ea typeface="Arial" pitchFamily="34" charset="-122"/>
                <a:cs typeface="Arial" pitchFamily="34" charset="-120"/>
              </a:rPr>
              <a:t>[2]  I. M. Sobol' (2001). Global sensitivity indices for nonlinear mathematical models and their Monte Carlo estimates. Mathematics and Computers in Simulation, 55(1–3), 271–280.</a:t>
            </a:r>
            <a:endParaRPr lang="en-US" sz="1150" dirty="0"/>
          </a:p>
          <a:p>
            <a:pPr indent="0" marL="0">
              <a:spcAft>
                <a:spcPts val="600"/>
              </a:spcAft>
              <a:buNone/>
            </a:pPr>
            <a:r>
              <a:rPr lang="en-US" sz="1150" dirty="0">
                <a:solidFill>
                  <a:srgbClr val="22223B"/>
                </a:solidFill>
                <a:latin typeface="Arial" pitchFamily="34" charset="0"/>
                <a:ea typeface="Arial" pitchFamily="34" charset="-122"/>
                <a:cs typeface="Arial" pitchFamily="34" charset="-120"/>
              </a:rPr>
              <a:t>[3]  T. Homma, A. Saltelli (1996). Importance measures in global sensitivity analysis of nonlinear models. Reliability Engineering &amp; System Safety, 52(1), 1–17.</a:t>
            </a:r>
            <a:endParaRPr lang="en-US" sz="1150" dirty="0"/>
          </a:p>
          <a:p>
            <a:pPr indent="0" marL="0">
              <a:spcAft>
                <a:spcPts val="600"/>
              </a:spcAft>
              <a:buNone/>
            </a:pPr>
            <a:r>
              <a:rPr lang="en-US" sz="1150" dirty="0">
                <a:solidFill>
                  <a:srgbClr val="22223B"/>
                </a:solidFill>
                <a:latin typeface="Arial" pitchFamily="34" charset="0"/>
                <a:ea typeface="Arial" pitchFamily="34" charset="-122"/>
                <a:cs typeface="Arial" pitchFamily="34" charset="-120"/>
              </a:rPr>
              <a:t>[4]  M. J. W. Jansen (1999). Analysis of variance designs for model output. Computer Physics Communications, 117(1–2), 35–43.</a:t>
            </a:r>
            <a:endParaRPr lang="en-US" sz="1150" dirty="0"/>
          </a:p>
          <a:p>
            <a:pPr indent="0" marL="0">
              <a:spcAft>
                <a:spcPts val="600"/>
              </a:spcAft>
              <a:buNone/>
            </a:pPr>
            <a:r>
              <a:rPr lang="en-US" sz="1150" dirty="0">
                <a:solidFill>
                  <a:srgbClr val="22223B"/>
                </a:solidFill>
                <a:latin typeface="Arial" pitchFamily="34" charset="0"/>
                <a:ea typeface="Arial" pitchFamily="34" charset="-122"/>
                <a:cs typeface="Arial" pitchFamily="34" charset="-120"/>
              </a:rPr>
              <a:t>[5]  A. Saltelli, P. Annoni, I. Azzini, F. Campolongo, M. Ratto, S. Tarantola (2010). Variance based sensitivity analysis of model output. Design and estimator for the total sensitivity index. Computer Physics Communications, 181(2), 259–270.</a:t>
            </a:r>
            <a:endParaRPr lang="en-US" sz="1150" dirty="0"/>
          </a:p>
          <a:p>
            <a:pPr indent="0" marL="0">
              <a:spcAft>
                <a:spcPts val="600"/>
              </a:spcAft>
              <a:buNone/>
            </a:pPr>
            <a:r>
              <a:rPr lang="en-US" sz="1150" dirty="0">
                <a:solidFill>
                  <a:srgbClr val="22223B"/>
                </a:solidFill>
                <a:latin typeface="Arial" pitchFamily="34" charset="0"/>
                <a:ea typeface="Arial" pitchFamily="34" charset="-122"/>
                <a:cs typeface="Arial" pitchFamily="34" charset="-120"/>
              </a:rPr>
              <a:t>[6]  A. Saltelli et al. (2008). Global Sensitivity Analysis: The Primer. Wiley.</a:t>
            </a:r>
            <a:endParaRPr lang="en-US" sz="1150" dirty="0"/>
          </a:p>
          <a:p>
            <a:pPr indent="0" marL="0">
              <a:spcAft>
                <a:spcPts val="600"/>
              </a:spcAft>
              <a:buNone/>
            </a:pPr>
            <a:r>
              <a:rPr lang="en-US" sz="1150" dirty="0">
                <a:solidFill>
                  <a:srgbClr val="22223B"/>
                </a:solidFill>
                <a:latin typeface="Arial" pitchFamily="34" charset="0"/>
                <a:ea typeface="Arial" pitchFamily="34" charset="-122"/>
                <a:cs typeface="Arial" pitchFamily="34" charset="-120"/>
              </a:rPr>
              <a:t>[7]  T. Ishigami, T. Homma (1990). An importance quantification technique in uncertainty analysis for computer models. Proc. ISUMA '90, 398–403.</a:t>
            </a:r>
            <a:endParaRPr lang="en-US" sz="1150" dirty="0"/>
          </a:p>
          <a:p>
            <a:pPr indent="0" marL="0">
              <a:spcAft>
                <a:spcPts val="600"/>
              </a:spcAft>
              <a:buNone/>
            </a:pPr>
            <a:r>
              <a:rPr lang="en-US" sz="1150" dirty="0">
                <a:solidFill>
                  <a:srgbClr val="22223B"/>
                </a:solidFill>
                <a:latin typeface="Arial" pitchFamily="34" charset="0"/>
                <a:ea typeface="Arial" pitchFamily="34" charset="-122"/>
                <a:cs typeface="Arial" pitchFamily="34" charset="-120"/>
              </a:rPr>
              <a:t>[8]  I. M. Sobol' (1967). On the distribution of points in a cube and the approximate evaluation of integrals. USSR Computational Mathematics and Mathematical Physics, 7(4), 86–112.</a:t>
            </a:r>
            <a:endParaRPr lang="en-US" sz="1150" dirty="0"/>
          </a:p>
          <a:p>
            <a:pPr indent="0" marL="0">
              <a:spcAft>
                <a:spcPts val="600"/>
              </a:spcAft>
              <a:buNone/>
            </a:pPr>
            <a:r>
              <a:rPr lang="en-US" sz="1150" dirty="0">
                <a:solidFill>
                  <a:srgbClr val="22223B"/>
                </a:solidFill>
                <a:latin typeface="Arial" pitchFamily="34" charset="0"/>
                <a:ea typeface="Arial" pitchFamily="34" charset="-122"/>
                <a:cs typeface="Arial" pitchFamily="34" charset="-120"/>
              </a:rPr>
              <a:t>[9]  J. Herman, W. Usher (2017). SALib: An open-source Python library for Sensitivity Analysis. Journal of Open Source Software, 2(9), 97.</a:t>
            </a:r>
            <a:endParaRPr lang="en-US" sz="1150" dirty="0"/>
          </a:p>
        </p:txBody>
      </p:sp>
      <p:sp>
        <p:nvSpPr>
          <p:cNvPr id="5" name="Shape 2"/>
          <p:cNvSpPr/>
          <p:nvPr/>
        </p:nvSpPr>
        <p:spPr>
          <a:xfrm>
            <a:off x="548640" y="5532120"/>
            <a:ext cx="11094415" cy="640080"/>
          </a:xfrm>
          <a:prstGeom prst="roundRect">
            <a:avLst>
              <a:gd name="adj" fmla="val 11429"/>
            </a:avLst>
          </a:prstGeom>
          <a:solidFill>
            <a:srgbClr val="F3F4F8"/>
          </a:solidFill>
          <a:ln/>
        </p:spPr>
      </p:sp>
      <p:sp>
        <p:nvSpPr>
          <p:cNvPr id="6" name="Shape 3"/>
          <p:cNvSpPr/>
          <p:nvPr/>
        </p:nvSpPr>
        <p:spPr>
          <a:xfrm>
            <a:off x="731520" y="5605272"/>
            <a:ext cx="493776" cy="493776"/>
          </a:xfrm>
          <a:prstGeom prst="ellipse">
            <a:avLst/>
          </a:prstGeom>
          <a:solidFill>
            <a:srgbClr val="4A4E69"/>
          </a:solidFill>
          <a:ln/>
        </p:spPr>
      </p:sp>
      <p:pic>
        <p:nvPicPr>
          <p:cNvPr id="7" name="Image 0" descr="preencoded.png">    </p:cNvPr>
          <p:cNvPicPr>
            <a:picLocks noChangeAspect="1"/>
          </p:cNvPicPr>
          <p:nvPr/>
        </p:nvPicPr>
        <p:blipFill>
          <a:blip r:embed="rId1"/>
          <a:stretch>
            <a:fillRect/>
          </a:stretch>
        </p:blipFill>
        <p:spPr>
          <a:xfrm>
            <a:off x="840151" y="5713903"/>
            <a:ext cx="276515" cy="276515"/>
          </a:xfrm>
          <a:prstGeom prst="rect">
            <a:avLst/>
          </a:prstGeom>
        </p:spPr>
      </p:pic>
      <p:sp>
        <p:nvSpPr>
          <p:cNvPr id="8" name="Text 4"/>
          <p:cNvSpPr/>
          <p:nvPr/>
        </p:nvSpPr>
        <p:spPr>
          <a:xfrm>
            <a:off x="1417320" y="5532120"/>
            <a:ext cx="10088575" cy="640080"/>
          </a:xfrm>
          <a:prstGeom prst="rect">
            <a:avLst/>
          </a:prstGeom>
          <a:noFill/>
          <a:ln/>
        </p:spPr>
        <p:txBody>
          <a:bodyPr wrap="square" lIns="0" tIns="0" rIns="0" bIns="0" rtlCol="0" anchor="ctr"/>
          <a:lstStyle/>
          <a:p>
            <a:pPr indent="0" marL="0">
              <a:buNone/>
            </a:pPr>
            <a:r>
              <a:rPr lang="en-US" sz="1200" dirty="0">
                <a:solidFill>
                  <a:srgbClr val="22223B"/>
                </a:solidFill>
                <a:latin typeface="BIZ UDGothic" pitchFamily="34" charset="0"/>
                <a:ea typeface="BIZ UDGothic" pitchFamily="34" charset="-122"/>
                <a:cs typeface="BIZ UDGothic" pitchFamily="34" charset="-120"/>
              </a:rPr>
              <a:t>本資料の数値例（Ishigami関数の推定値・収束・散布図、Sobol列、例題の数値計算）は、NumPy 2.5 / SciPy 1.18 を使って本資料用に計算した結果です。</a:t>
            </a:r>
            <a:endParaRPr lang="en-US" sz="1200" dirty="0"/>
          </a:p>
        </p:txBody>
      </p:sp>
      <p:sp>
        <p:nvSpPr>
          <p:cNvPr id="9" name="Text 5"/>
          <p:cNvSpPr/>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6C6F7F"/>
                </a:solidFill>
                <a:latin typeface="BIZ UDGothic" pitchFamily="34" charset="0"/>
                <a:ea typeface="BIZ UDGothic" pitchFamily="34" charset="-122"/>
                <a:cs typeface="BIZ UDGothic" pitchFamily="34" charset="-120"/>
              </a:rPr>
              <a:t>Sobol感度解析 入門</a:t>
            </a:r>
            <a:endParaRPr lang="en-US" sz="900" dirty="0"/>
          </a:p>
        </p:txBody>
      </p:sp>
      <p:sp>
        <p:nvSpPr>
          <p:cNvPr id="10" name="Text 6"/>
          <p:cNvSpPr/>
          <p:nvPr/>
        </p:nvSpPr>
        <p:spPr>
          <a:xfrm>
            <a:off x="10728655" y="6473952"/>
            <a:ext cx="914400" cy="228600"/>
          </a:xfrm>
          <a:prstGeom prst="rect">
            <a:avLst/>
          </a:prstGeom>
          <a:noFill/>
          <a:ln/>
        </p:spPr>
        <p:txBody>
          <a:bodyPr wrap="square" lIns="0" tIns="0" rIns="0" bIns="0" rtlCol="0" anchor="ctr"/>
          <a:lstStyle/>
          <a:p>
            <a:pPr algn="r" indent="0" marL="0">
              <a:buNone/>
            </a:pPr>
            <a:r>
              <a:rPr lang="en-US" sz="1000" dirty="0">
                <a:solidFill>
                  <a:srgbClr val="6C6F7F"/>
                </a:solidFill>
                <a:latin typeface="BIZ UDGothic" pitchFamily="34" charset="0"/>
                <a:ea typeface="BIZ UDGothic" pitchFamily="34" charset="-122"/>
                <a:cs typeface="BIZ UDGothic" pitchFamily="34" charset="-120"/>
              </a:rPr>
              <a:t>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IZ UD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Sobol感度解析 入門 ― 概念と原理</dc:title>
  <dc:subject>PptxGenJS Presentation</dc:subject>
  <dc:creator>PptxGenJS</dc:creator>
  <cp:lastModifiedBy>PptxGenJS</cp:lastModifiedBy>
  <cp:revision>1</cp:revision>
  <dcterms:created xsi:type="dcterms:W3CDTF">2026-09-13T09:19:14Z</dcterms:created>
  <dcterms:modified xsi:type="dcterms:W3CDTF">2026-09-13T09:19:14Z</dcterms:modified>
</cp:coreProperties>
</file>